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68" r:id="rId55"/>
    <p:sldId id="369" r:id="rId56"/>
    <p:sldId id="370" r:id="rId57"/>
    <p:sldId id="371" r:id="rId58"/>
    <p:sldId id="372" r:id="rId59"/>
    <p:sldId id="373" r:id="rId60"/>
    <p:sldId id="374" r:id="rId61"/>
    <p:sldId id="384" r:id="rId62"/>
    <p:sldId id="385" r:id="rId63"/>
    <p:sldId id="386" r:id="rId64"/>
    <p:sldId id="375" r:id="rId65"/>
    <p:sldId id="376" r:id="rId66"/>
    <p:sldId id="380" r:id="rId67"/>
    <p:sldId id="381" r:id="rId68"/>
    <p:sldId id="377" r:id="rId69"/>
    <p:sldId id="378" r:id="rId70"/>
    <p:sldId id="379" r:id="rId71"/>
    <p:sldId id="387" r:id="rId72"/>
    <p:sldId id="388"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Lst>
  <p:sldSz cx="10058400" cy="7772400"/>
  <p:notesSz cx="10058400" cy="7772400"/>
  <p:embeddedFontLst>
    <p:embeddedFont>
      <p:font typeface="Nunito" panose="020B0604020202020204" charset="0"/>
      <p:regular r:id="rId119"/>
      <p:bold r:id="rId120"/>
      <p:italic r:id="rId121"/>
      <p:boldItalic r:id="rId122"/>
    </p:embeddedFont>
    <p:embeddedFont>
      <p:font typeface="Calibri" panose="020F0502020204030204" pitchFamily="34" charset="0"/>
      <p:regular r:id="rId123"/>
      <p:bold r:id="rId124"/>
      <p:italic r:id="rId125"/>
      <p:boldItalic r:id="rId126"/>
    </p:embeddedFont>
    <p:embeddedFont>
      <p:font typeface="Cambria Math" panose="02040503050406030204" pitchFamily="18" charset="0"/>
      <p:regular r:id="rId127"/>
    </p:embeddedFont>
    <p:embeddedFont>
      <p:font typeface="Roboto" panose="020B0604020202020204" charset="0"/>
      <p:regular r:id="rId128"/>
      <p:bold r:id="rId129"/>
      <p:italic r:id="rId130"/>
      <p:boldItalic r:id="rId1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32" roundtripDataSignature="AMtx7miOOkLgECu0nb89gat67NZb7ZT0y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85DE1A1-A1B0-44A0-A59F-CCC16BF1A76C}">
  <a:tblStyle styleId="{E85DE1A1-A1B0-44A0-A59F-CCC16BF1A76C}"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1" d="100"/>
          <a:sy n="61" d="100"/>
        </p:scale>
        <p:origin x="1482" y="78"/>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font" Target="fonts/font5.fntdata"/><Relationship Id="rId128" Type="http://schemas.openxmlformats.org/officeDocument/2006/relationships/font" Target="fonts/font10.fntdata"/><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notesMaster" Target="notesMasters/notesMaster1.xml"/><Relationship Id="rId134"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font" Target="fonts/font6.fntdata"/><Relationship Id="rId129" Type="http://schemas.openxmlformats.org/officeDocument/2006/relationships/font" Target="fonts/font11.fnt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font" Target="fonts/font1.fntdata"/><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font" Target="fonts/font12.fntdata"/><Relationship Id="rId135"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font" Target="fonts/font2.fntdata"/><Relationship Id="rId125" Type="http://schemas.openxmlformats.org/officeDocument/2006/relationships/font" Target="fonts/font7.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font" Target="fonts/font13.fntdata"/><Relationship Id="rId136"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font" Target="fonts/font8.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font" Target="fonts/font3.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customschemas.google.com/relationships/presentationmetadata" Target="meta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font" Target="fonts/font9.fntdata"/><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4359275" cy="38893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697538" y="0"/>
            <a:ext cx="4359275" cy="38893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1006475" y="3740150"/>
            <a:ext cx="8045450" cy="30607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7383463"/>
            <a:ext cx="4359275" cy="38893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697538" y="7383463"/>
            <a:ext cx="4359275" cy="38893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 name="Google Shape;45;p1: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2: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 name="Google Shape;52;p2: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3: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 name="Google Shape;59;p3: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 name="Google Shape;66;p4: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5: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 name="Google Shape;73;p5: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6: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 name="Google Shape;80;p6: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7: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7: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8: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8: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9: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9: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10: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10: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11: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11: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2: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 name="Google Shape;120;p12: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2ea231bf03_0_0: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2ea231bf03_0_0:notes"/>
          <p:cNvSpPr txBox="1">
            <a:spLocks noGrp="1"/>
          </p:cNvSpPr>
          <p:nvPr>
            <p:ph type="body" idx="1"/>
          </p:nvPr>
        </p:nvSpPr>
        <p:spPr>
          <a:xfrm>
            <a:off x="1006475" y="3740150"/>
            <a:ext cx="8045400" cy="306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g32ea231bf03_0_0:notes"/>
          <p:cNvSpPr txBox="1">
            <a:spLocks noGrp="1"/>
          </p:cNvSpPr>
          <p:nvPr>
            <p:ph type="sldNum" idx="12"/>
          </p:nvPr>
        </p:nvSpPr>
        <p:spPr>
          <a:xfrm>
            <a:off x="5697538" y="7383463"/>
            <a:ext cx="4359300" cy="388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13: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13: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4: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14: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5: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15: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6: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 name="Google Shape;169;p16: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7: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17: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18: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8: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9: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3" name="Google Shape;243;p19: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20: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3" name="Google Shape;273;p20: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21: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1" name="Google Shape;281;p21: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22: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22: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23: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1" name="Google Shape;311;p23: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24: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8" name="Google Shape;318;p24: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25: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 name="Google Shape;327;p25: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26: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6" name="Google Shape;336;p26: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27: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2" name="Google Shape;372;p27: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28: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9" name="Google Shape;379;p28: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29: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8" name="Google Shape;388;p29: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30: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8" name="Google Shape;398;p30: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31: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6" name="Google Shape;406;p31: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p32: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4" name="Google Shape;414;p32: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p33: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5" name="Google Shape;425;p33: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34: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2" name="Google Shape;432;p34: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p35: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0" name="Google Shape;440;p35: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p36: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7" name="Google Shape;447;p36: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p37: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4" name="Google Shape;454;p37: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p38: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3" name="Google Shape;463;p38: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p39: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2" name="Google Shape;472;p39: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40: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0" name="Google Shape;480;p40: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41: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7" name="Google Shape;487;p41: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p42: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5" name="Google Shape;495;p42: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p43: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4" name="Google Shape;514;p43: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p44: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1" name="Google Shape;521;p44: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p45: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5" name="Google Shape;535;p45: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p46: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2" name="Google Shape;542;p46: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47: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8" name="Google Shape;548;p47: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p48: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6" name="Google Shape;556;p48: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5"/>
        <p:cNvGrpSpPr/>
        <p:nvPr/>
      </p:nvGrpSpPr>
      <p:grpSpPr>
        <a:xfrm>
          <a:off x="0" y="0"/>
          <a:ext cx="0" cy="0"/>
          <a:chOff x="0" y="0"/>
          <a:chExt cx="0" cy="0"/>
        </a:xfrm>
      </p:grpSpPr>
      <p:sp>
        <p:nvSpPr>
          <p:cNvPr id="566" name="Google Shape;566;p49: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7" name="Google Shape;567;p49: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Google Shape;572;p50: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3" name="Google Shape;573;p50: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p51: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5" name="Google Shape;585;p51: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p52: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1" name="Google Shape;591;p52: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8"/>
        <p:cNvGrpSpPr/>
        <p:nvPr/>
      </p:nvGrpSpPr>
      <p:grpSpPr>
        <a:xfrm>
          <a:off x="0" y="0"/>
          <a:ext cx="0" cy="0"/>
          <a:chOff x="0" y="0"/>
          <a:chExt cx="0" cy="0"/>
        </a:xfrm>
      </p:grpSpPr>
      <p:sp>
        <p:nvSpPr>
          <p:cNvPr id="639" name="Google Shape;639;p60: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0" name="Google Shape;640;p60: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6035729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
        <p:cNvGrpSpPr/>
        <p:nvPr/>
      </p:nvGrpSpPr>
      <p:grpSpPr>
        <a:xfrm>
          <a:off x="0" y="0"/>
          <a:ext cx="0" cy="0"/>
          <a:chOff x="0" y="0"/>
          <a:chExt cx="0" cy="0"/>
        </a:xfrm>
      </p:grpSpPr>
      <p:sp>
        <p:nvSpPr>
          <p:cNvPr id="653" name="Google Shape;653;p61: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4" name="Google Shape;654;p61: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6560348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p:cNvGrpSpPr/>
        <p:nvPr/>
      </p:nvGrpSpPr>
      <p:grpSpPr>
        <a:xfrm>
          <a:off x="0" y="0"/>
          <a:ext cx="0" cy="0"/>
          <a:chOff x="0" y="0"/>
          <a:chExt cx="0" cy="0"/>
        </a:xfrm>
      </p:grpSpPr>
      <p:sp>
        <p:nvSpPr>
          <p:cNvPr id="660" name="Google Shape;660;p62: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1" name="Google Shape;661;p62: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9689979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p63: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9" name="Google Shape;669;p63: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5533082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p64: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6" name="Google Shape;676;p64: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9432124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0"/>
        <p:cNvGrpSpPr/>
        <p:nvPr/>
      </p:nvGrpSpPr>
      <p:grpSpPr>
        <a:xfrm>
          <a:off x="0" y="0"/>
          <a:ext cx="0" cy="0"/>
          <a:chOff x="0" y="0"/>
          <a:chExt cx="0" cy="0"/>
        </a:xfrm>
      </p:grpSpPr>
      <p:sp>
        <p:nvSpPr>
          <p:cNvPr id="681" name="Google Shape;681;p65: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2" name="Google Shape;682;p65: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9050900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p66: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0" name="Google Shape;690;p66: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8395089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p53: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8" name="Google Shape;598;p53: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2507176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3"/>
        <p:cNvGrpSpPr/>
        <p:nvPr/>
      </p:nvGrpSpPr>
      <p:grpSpPr>
        <a:xfrm>
          <a:off x="0" y="0"/>
          <a:ext cx="0" cy="0"/>
          <a:chOff x="0" y="0"/>
          <a:chExt cx="0" cy="0"/>
        </a:xfrm>
      </p:grpSpPr>
      <p:sp>
        <p:nvSpPr>
          <p:cNvPr id="604" name="Google Shape;604;p54: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5" name="Google Shape;605;p54: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83176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55: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3" name="Google Shape;613;p55: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5962884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9"/>
        <p:cNvGrpSpPr/>
        <p:nvPr/>
      </p:nvGrpSpPr>
      <p:grpSpPr>
        <a:xfrm>
          <a:off x="0" y="0"/>
          <a:ext cx="0" cy="0"/>
          <a:chOff x="0" y="0"/>
          <a:chExt cx="0" cy="0"/>
        </a:xfrm>
      </p:grpSpPr>
      <p:sp>
        <p:nvSpPr>
          <p:cNvPr id="620" name="Google Shape;620;p56: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1" name="Google Shape;621;p56: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0586521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9"/>
        <p:cNvGrpSpPr/>
        <p:nvPr/>
      </p:nvGrpSpPr>
      <p:grpSpPr>
        <a:xfrm>
          <a:off x="0" y="0"/>
          <a:ext cx="0" cy="0"/>
          <a:chOff x="0" y="0"/>
          <a:chExt cx="0" cy="0"/>
        </a:xfrm>
      </p:grpSpPr>
      <p:sp>
        <p:nvSpPr>
          <p:cNvPr id="620" name="Google Shape;620;p56: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1" name="Google Shape;621;p56: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6861493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9"/>
        <p:cNvGrpSpPr/>
        <p:nvPr/>
      </p:nvGrpSpPr>
      <p:grpSpPr>
        <a:xfrm>
          <a:off x="0" y="0"/>
          <a:ext cx="0" cy="0"/>
          <a:chOff x="0" y="0"/>
          <a:chExt cx="0" cy="0"/>
        </a:xfrm>
      </p:grpSpPr>
      <p:sp>
        <p:nvSpPr>
          <p:cNvPr id="620" name="Google Shape;620;p56: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1" name="Google Shape;621;p56: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666569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9"/>
        <p:cNvGrpSpPr/>
        <p:nvPr/>
      </p:nvGrpSpPr>
      <p:grpSpPr>
        <a:xfrm>
          <a:off x="0" y="0"/>
          <a:ext cx="0" cy="0"/>
          <a:chOff x="0" y="0"/>
          <a:chExt cx="0" cy="0"/>
        </a:xfrm>
      </p:grpSpPr>
      <p:sp>
        <p:nvSpPr>
          <p:cNvPr id="620" name="Google Shape;620;p56: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1" name="Google Shape;621;p56: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5144227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
        <p:cNvGrpSpPr/>
        <p:nvPr/>
      </p:nvGrpSpPr>
      <p:grpSpPr>
        <a:xfrm>
          <a:off x="0" y="0"/>
          <a:ext cx="0" cy="0"/>
          <a:chOff x="0" y="0"/>
          <a:chExt cx="0" cy="0"/>
        </a:xfrm>
      </p:grpSpPr>
      <p:sp>
        <p:nvSpPr>
          <p:cNvPr id="627" name="Google Shape;627;p57: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8" name="Google Shape;628;p57: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594332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p58: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4" name="Google Shape;634;p58: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7421695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p58: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4" name="Google Shape;634;p58: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9647365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p67: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7" name="Google Shape;697;p67: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2"/>
        <p:cNvGrpSpPr/>
        <p:nvPr/>
      </p:nvGrpSpPr>
      <p:grpSpPr>
        <a:xfrm>
          <a:off x="0" y="0"/>
          <a:ext cx="0" cy="0"/>
          <a:chOff x="0" y="0"/>
          <a:chExt cx="0" cy="0"/>
        </a:xfrm>
      </p:grpSpPr>
      <p:sp>
        <p:nvSpPr>
          <p:cNvPr id="703" name="Google Shape;703;p68: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4" name="Google Shape;704;p68: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8"/>
        <p:cNvGrpSpPr/>
        <p:nvPr/>
      </p:nvGrpSpPr>
      <p:grpSpPr>
        <a:xfrm>
          <a:off x="0" y="0"/>
          <a:ext cx="0" cy="0"/>
          <a:chOff x="0" y="0"/>
          <a:chExt cx="0" cy="0"/>
        </a:xfrm>
      </p:grpSpPr>
      <p:sp>
        <p:nvSpPr>
          <p:cNvPr id="709" name="Google Shape;709;p69: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0" name="Google Shape;710;p69: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5"/>
        <p:cNvGrpSpPr/>
        <p:nvPr/>
      </p:nvGrpSpPr>
      <p:grpSpPr>
        <a:xfrm>
          <a:off x="0" y="0"/>
          <a:ext cx="0" cy="0"/>
          <a:chOff x="0" y="0"/>
          <a:chExt cx="0" cy="0"/>
        </a:xfrm>
      </p:grpSpPr>
      <p:sp>
        <p:nvSpPr>
          <p:cNvPr id="716" name="Google Shape;716;p70: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7" name="Google Shape;717;p70: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3"/>
        <p:cNvGrpSpPr/>
        <p:nvPr/>
      </p:nvGrpSpPr>
      <p:grpSpPr>
        <a:xfrm>
          <a:off x="0" y="0"/>
          <a:ext cx="0" cy="0"/>
          <a:chOff x="0" y="0"/>
          <a:chExt cx="0" cy="0"/>
        </a:xfrm>
      </p:grpSpPr>
      <p:sp>
        <p:nvSpPr>
          <p:cNvPr id="724" name="Google Shape;724;p71: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5" name="Google Shape;725;p71: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p:cNvGrpSpPr/>
        <p:nvPr/>
      </p:nvGrpSpPr>
      <p:grpSpPr>
        <a:xfrm>
          <a:off x="0" y="0"/>
          <a:ext cx="0" cy="0"/>
          <a:chOff x="0" y="0"/>
          <a:chExt cx="0" cy="0"/>
        </a:xfrm>
      </p:grpSpPr>
      <p:sp>
        <p:nvSpPr>
          <p:cNvPr id="733" name="Google Shape;733;p72: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4" name="Google Shape;734;p72: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2"/>
        <p:cNvGrpSpPr/>
        <p:nvPr/>
      </p:nvGrpSpPr>
      <p:grpSpPr>
        <a:xfrm>
          <a:off x="0" y="0"/>
          <a:ext cx="0" cy="0"/>
          <a:chOff x="0" y="0"/>
          <a:chExt cx="0" cy="0"/>
        </a:xfrm>
      </p:grpSpPr>
      <p:sp>
        <p:nvSpPr>
          <p:cNvPr id="763" name="Google Shape;763;p73: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4" name="Google Shape;764;p73: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p74: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7" name="Google Shape;777;p74: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p:cNvGrpSpPr/>
        <p:nvPr/>
      </p:nvGrpSpPr>
      <p:grpSpPr>
        <a:xfrm>
          <a:off x="0" y="0"/>
          <a:ext cx="0" cy="0"/>
          <a:chOff x="0" y="0"/>
          <a:chExt cx="0" cy="0"/>
        </a:xfrm>
      </p:grpSpPr>
      <p:sp>
        <p:nvSpPr>
          <p:cNvPr id="807" name="Google Shape;807;p75: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8" name="Google Shape;808;p75: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2"/>
        <p:cNvGrpSpPr/>
        <p:nvPr/>
      </p:nvGrpSpPr>
      <p:grpSpPr>
        <a:xfrm>
          <a:off x="0" y="0"/>
          <a:ext cx="0" cy="0"/>
          <a:chOff x="0" y="0"/>
          <a:chExt cx="0" cy="0"/>
        </a:xfrm>
      </p:grpSpPr>
      <p:sp>
        <p:nvSpPr>
          <p:cNvPr id="823" name="Google Shape;823;p76: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4" name="Google Shape;824;p76: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p:cNvGrpSpPr/>
        <p:nvPr/>
      </p:nvGrpSpPr>
      <p:grpSpPr>
        <a:xfrm>
          <a:off x="0" y="0"/>
          <a:ext cx="0" cy="0"/>
          <a:chOff x="0" y="0"/>
          <a:chExt cx="0" cy="0"/>
        </a:xfrm>
      </p:grpSpPr>
      <p:sp>
        <p:nvSpPr>
          <p:cNvPr id="851" name="Google Shape;851;p77: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2" name="Google Shape;852;p77: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p78: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3" name="Google Shape;883;p78: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p79: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90" name="Google Shape;890;p79: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p:cNvGrpSpPr/>
        <p:nvPr/>
      </p:nvGrpSpPr>
      <p:grpSpPr>
        <a:xfrm>
          <a:off x="0" y="0"/>
          <a:ext cx="0" cy="0"/>
          <a:chOff x="0" y="0"/>
          <a:chExt cx="0" cy="0"/>
        </a:xfrm>
      </p:grpSpPr>
      <p:sp>
        <p:nvSpPr>
          <p:cNvPr id="896" name="Google Shape;896;p80: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97" name="Google Shape;897;p80: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2"/>
        <p:cNvGrpSpPr/>
        <p:nvPr/>
      </p:nvGrpSpPr>
      <p:grpSpPr>
        <a:xfrm>
          <a:off x="0" y="0"/>
          <a:ext cx="0" cy="0"/>
          <a:chOff x="0" y="0"/>
          <a:chExt cx="0" cy="0"/>
        </a:xfrm>
      </p:grpSpPr>
      <p:sp>
        <p:nvSpPr>
          <p:cNvPr id="903" name="Google Shape;903;p81: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4" name="Google Shape;904;p81: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9"/>
        <p:cNvGrpSpPr/>
        <p:nvPr/>
      </p:nvGrpSpPr>
      <p:grpSpPr>
        <a:xfrm>
          <a:off x="0" y="0"/>
          <a:ext cx="0" cy="0"/>
          <a:chOff x="0" y="0"/>
          <a:chExt cx="0" cy="0"/>
        </a:xfrm>
      </p:grpSpPr>
      <p:sp>
        <p:nvSpPr>
          <p:cNvPr id="910" name="Google Shape;910;p82: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1" name="Google Shape;911;p82: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6"/>
        <p:cNvGrpSpPr/>
        <p:nvPr/>
      </p:nvGrpSpPr>
      <p:grpSpPr>
        <a:xfrm>
          <a:off x="0" y="0"/>
          <a:ext cx="0" cy="0"/>
          <a:chOff x="0" y="0"/>
          <a:chExt cx="0" cy="0"/>
        </a:xfrm>
      </p:grpSpPr>
      <p:sp>
        <p:nvSpPr>
          <p:cNvPr id="917" name="Google Shape;917;p83: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8" name="Google Shape;918;p83: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3"/>
        <p:cNvGrpSpPr/>
        <p:nvPr/>
      </p:nvGrpSpPr>
      <p:grpSpPr>
        <a:xfrm>
          <a:off x="0" y="0"/>
          <a:ext cx="0" cy="0"/>
          <a:chOff x="0" y="0"/>
          <a:chExt cx="0" cy="0"/>
        </a:xfrm>
      </p:grpSpPr>
      <p:sp>
        <p:nvSpPr>
          <p:cNvPr id="924" name="Google Shape;924;p84: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5" name="Google Shape;925;p84: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0"/>
        <p:cNvGrpSpPr/>
        <p:nvPr/>
      </p:nvGrpSpPr>
      <p:grpSpPr>
        <a:xfrm>
          <a:off x="0" y="0"/>
          <a:ext cx="0" cy="0"/>
          <a:chOff x="0" y="0"/>
          <a:chExt cx="0" cy="0"/>
        </a:xfrm>
      </p:grpSpPr>
      <p:sp>
        <p:nvSpPr>
          <p:cNvPr id="931" name="Google Shape;931;p85: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2" name="Google Shape;932;p85: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7"/>
        <p:cNvGrpSpPr/>
        <p:nvPr/>
      </p:nvGrpSpPr>
      <p:grpSpPr>
        <a:xfrm>
          <a:off x="0" y="0"/>
          <a:ext cx="0" cy="0"/>
          <a:chOff x="0" y="0"/>
          <a:chExt cx="0" cy="0"/>
        </a:xfrm>
      </p:grpSpPr>
      <p:sp>
        <p:nvSpPr>
          <p:cNvPr id="938" name="Google Shape;938;p86: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9" name="Google Shape;939;p86: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4"/>
        <p:cNvGrpSpPr/>
        <p:nvPr/>
      </p:nvGrpSpPr>
      <p:grpSpPr>
        <a:xfrm>
          <a:off x="0" y="0"/>
          <a:ext cx="0" cy="0"/>
          <a:chOff x="0" y="0"/>
          <a:chExt cx="0" cy="0"/>
        </a:xfrm>
      </p:grpSpPr>
      <p:sp>
        <p:nvSpPr>
          <p:cNvPr id="945" name="Google Shape;945;p87: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6" name="Google Shape;946;p87: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1"/>
        <p:cNvGrpSpPr/>
        <p:nvPr/>
      </p:nvGrpSpPr>
      <p:grpSpPr>
        <a:xfrm>
          <a:off x="0" y="0"/>
          <a:ext cx="0" cy="0"/>
          <a:chOff x="0" y="0"/>
          <a:chExt cx="0" cy="0"/>
        </a:xfrm>
      </p:grpSpPr>
      <p:sp>
        <p:nvSpPr>
          <p:cNvPr id="952" name="Google Shape;952;p88: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3" name="Google Shape;953;p88: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8"/>
        <p:cNvGrpSpPr/>
        <p:nvPr/>
      </p:nvGrpSpPr>
      <p:grpSpPr>
        <a:xfrm>
          <a:off x="0" y="0"/>
          <a:ext cx="0" cy="0"/>
          <a:chOff x="0" y="0"/>
          <a:chExt cx="0" cy="0"/>
        </a:xfrm>
      </p:grpSpPr>
      <p:sp>
        <p:nvSpPr>
          <p:cNvPr id="959" name="Google Shape;959;p89: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0" name="Google Shape;960;p89: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
        <p:cNvGrpSpPr/>
        <p:nvPr/>
      </p:nvGrpSpPr>
      <p:grpSpPr>
        <a:xfrm>
          <a:off x="0" y="0"/>
          <a:ext cx="0" cy="0"/>
          <a:chOff x="0" y="0"/>
          <a:chExt cx="0" cy="0"/>
        </a:xfrm>
      </p:grpSpPr>
      <p:sp>
        <p:nvSpPr>
          <p:cNvPr id="965" name="Google Shape;965;p90: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6" name="Google Shape;966;p90: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0"/>
        <p:cNvGrpSpPr/>
        <p:nvPr/>
      </p:nvGrpSpPr>
      <p:grpSpPr>
        <a:xfrm>
          <a:off x="0" y="0"/>
          <a:ext cx="0" cy="0"/>
          <a:chOff x="0" y="0"/>
          <a:chExt cx="0" cy="0"/>
        </a:xfrm>
      </p:grpSpPr>
      <p:sp>
        <p:nvSpPr>
          <p:cNvPr id="971" name="Google Shape;971;p91: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2" name="Google Shape;972;p91: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6"/>
        <p:cNvGrpSpPr/>
        <p:nvPr/>
      </p:nvGrpSpPr>
      <p:grpSpPr>
        <a:xfrm>
          <a:off x="0" y="0"/>
          <a:ext cx="0" cy="0"/>
          <a:chOff x="0" y="0"/>
          <a:chExt cx="0" cy="0"/>
        </a:xfrm>
      </p:grpSpPr>
      <p:sp>
        <p:nvSpPr>
          <p:cNvPr id="977" name="Google Shape;977;p92: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8" name="Google Shape;978;p92: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3"/>
        <p:cNvGrpSpPr/>
        <p:nvPr/>
      </p:nvGrpSpPr>
      <p:grpSpPr>
        <a:xfrm>
          <a:off x="0" y="0"/>
          <a:ext cx="0" cy="0"/>
          <a:chOff x="0" y="0"/>
          <a:chExt cx="0" cy="0"/>
        </a:xfrm>
      </p:grpSpPr>
      <p:sp>
        <p:nvSpPr>
          <p:cNvPr id="984" name="Google Shape;984;p93: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5" name="Google Shape;985;p93: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0"/>
        <p:cNvGrpSpPr/>
        <p:nvPr/>
      </p:nvGrpSpPr>
      <p:grpSpPr>
        <a:xfrm>
          <a:off x="0" y="0"/>
          <a:ext cx="0" cy="0"/>
          <a:chOff x="0" y="0"/>
          <a:chExt cx="0" cy="0"/>
        </a:xfrm>
      </p:grpSpPr>
      <p:sp>
        <p:nvSpPr>
          <p:cNvPr id="991" name="Google Shape;991;p94: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2" name="Google Shape;992;p94: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p:cNvGrpSpPr/>
        <p:nvPr/>
      </p:nvGrpSpPr>
      <p:grpSpPr>
        <a:xfrm>
          <a:off x="0" y="0"/>
          <a:ext cx="0" cy="0"/>
          <a:chOff x="0" y="0"/>
          <a:chExt cx="0" cy="0"/>
        </a:xfrm>
      </p:grpSpPr>
      <p:sp>
        <p:nvSpPr>
          <p:cNvPr id="999" name="Google Shape;999;p95: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0" name="Google Shape;1000;p95: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7"/>
        <p:cNvGrpSpPr/>
        <p:nvPr/>
      </p:nvGrpSpPr>
      <p:grpSpPr>
        <a:xfrm>
          <a:off x="0" y="0"/>
          <a:ext cx="0" cy="0"/>
          <a:chOff x="0" y="0"/>
          <a:chExt cx="0" cy="0"/>
        </a:xfrm>
      </p:grpSpPr>
      <p:sp>
        <p:nvSpPr>
          <p:cNvPr id="1008" name="Google Shape;1008;p96: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9" name="Google Shape;1009;p96: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4"/>
        <p:cNvGrpSpPr/>
        <p:nvPr/>
      </p:nvGrpSpPr>
      <p:grpSpPr>
        <a:xfrm>
          <a:off x="0" y="0"/>
          <a:ext cx="0" cy="0"/>
          <a:chOff x="0" y="0"/>
          <a:chExt cx="0" cy="0"/>
        </a:xfrm>
      </p:grpSpPr>
      <p:sp>
        <p:nvSpPr>
          <p:cNvPr id="1015" name="Google Shape;1015;p97: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6" name="Google Shape;1016;p97: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0"/>
        <p:cNvGrpSpPr/>
        <p:nvPr/>
      </p:nvGrpSpPr>
      <p:grpSpPr>
        <a:xfrm>
          <a:off x="0" y="0"/>
          <a:ext cx="0" cy="0"/>
          <a:chOff x="0" y="0"/>
          <a:chExt cx="0" cy="0"/>
        </a:xfrm>
      </p:grpSpPr>
      <p:sp>
        <p:nvSpPr>
          <p:cNvPr id="1031" name="Google Shape;1031;p98: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2" name="Google Shape;1032;p98: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6"/>
        <p:cNvGrpSpPr/>
        <p:nvPr/>
      </p:nvGrpSpPr>
      <p:grpSpPr>
        <a:xfrm>
          <a:off x="0" y="0"/>
          <a:ext cx="0" cy="0"/>
          <a:chOff x="0" y="0"/>
          <a:chExt cx="0" cy="0"/>
        </a:xfrm>
      </p:grpSpPr>
      <p:sp>
        <p:nvSpPr>
          <p:cNvPr id="1037" name="Google Shape;1037;p99: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8" name="Google Shape;1038;p99: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p:cNvGrpSpPr/>
        <p:nvPr/>
      </p:nvGrpSpPr>
      <p:grpSpPr>
        <a:xfrm>
          <a:off x="0" y="0"/>
          <a:ext cx="0" cy="0"/>
          <a:chOff x="0" y="0"/>
          <a:chExt cx="0" cy="0"/>
        </a:xfrm>
      </p:grpSpPr>
      <p:sp>
        <p:nvSpPr>
          <p:cNvPr id="1043" name="Google Shape;1043;p100: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4" name="Google Shape;1044;p100: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8"/>
        <p:cNvGrpSpPr/>
        <p:nvPr/>
      </p:nvGrpSpPr>
      <p:grpSpPr>
        <a:xfrm>
          <a:off x="0" y="0"/>
          <a:ext cx="0" cy="0"/>
          <a:chOff x="0" y="0"/>
          <a:chExt cx="0" cy="0"/>
        </a:xfrm>
      </p:grpSpPr>
      <p:sp>
        <p:nvSpPr>
          <p:cNvPr id="1049" name="Google Shape;1049;p101: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0" name="Google Shape;1050;p101: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4"/>
        <p:cNvGrpSpPr/>
        <p:nvPr/>
      </p:nvGrpSpPr>
      <p:grpSpPr>
        <a:xfrm>
          <a:off x="0" y="0"/>
          <a:ext cx="0" cy="0"/>
          <a:chOff x="0" y="0"/>
          <a:chExt cx="0" cy="0"/>
        </a:xfrm>
      </p:grpSpPr>
      <p:sp>
        <p:nvSpPr>
          <p:cNvPr id="1055" name="Google Shape;1055;p102: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6" name="Google Shape;1056;p102: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1"/>
        <p:cNvGrpSpPr/>
        <p:nvPr/>
      </p:nvGrpSpPr>
      <p:grpSpPr>
        <a:xfrm>
          <a:off x="0" y="0"/>
          <a:ext cx="0" cy="0"/>
          <a:chOff x="0" y="0"/>
          <a:chExt cx="0" cy="0"/>
        </a:xfrm>
      </p:grpSpPr>
      <p:sp>
        <p:nvSpPr>
          <p:cNvPr id="1062" name="Google Shape;1062;p103: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3" name="Google Shape;1063;p103: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7"/>
        <p:cNvGrpSpPr/>
        <p:nvPr/>
      </p:nvGrpSpPr>
      <p:grpSpPr>
        <a:xfrm>
          <a:off x="0" y="0"/>
          <a:ext cx="0" cy="0"/>
          <a:chOff x="0" y="0"/>
          <a:chExt cx="0" cy="0"/>
        </a:xfrm>
      </p:grpSpPr>
      <p:sp>
        <p:nvSpPr>
          <p:cNvPr id="1068" name="Google Shape;1068;p104: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9" name="Google Shape;1069;p104: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3"/>
        <p:cNvGrpSpPr/>
        <p:nvPr/>
      </p:nvGrpSpPr>
      <p:grpSpPr>
        <a:xfrm>
          <a:off x="0" y="0"/>
          <a:ext cx="0" cy="0"/>
          <a:chOff x="0" y="0"/>
          <a:chExt cx="0" cy="0"/>
        </a:xfrm>
      </p:grpSpPr>
      <p:sp>
        <p:nvSpPr>
          <p:cNvPr id="1074" name="Google Shape;1074;p105: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5" name="Google Shape;1075;p105: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9"/>
        <p:cNvGrpSpPr/>
        <p:nvPr/>
      </p:nvGrpSpPr>
      <p:grpSpPr>
        <a:xfrm>
          <a:off x="0" y="0"/>
          <a:ext cx="0" cy="0"/>
          <a:chOff x="0" y="0"/>
          <a:chExt cx="0" cy="0"/>
        </a:xfrm>
      </p:grpSpPr>
      <p:sp>
        <p:nvSpPr>
          <p:cNvPr id="1080" name="Google Shape;1080;p106: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1" name="Google Shape;1081;p106: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5"/>
        <p:cNvGrpSpPr/>
        <p:nvPr/>
      </p:nvGrpSpPr>
      <p:grpSpPr>
        <a:xfrm>
          <a:off x="0" y="0"/>
          <a:ext cx="0" cy="0"/>
          <a:chOff x="0" y="0"/>
          <a:chExt cx="0" cy="0"/>
        </a:xfrm>
      </p:grpSpPr>
      <p:sp>
        <p:nvSpPr>
          <p:cNvPr id="1086" name="Google Shape;1086;p107: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7" name="Google Shape;1087;p107: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1"/>
        <p:cNvGrpSpPr/>
        <p:nvPr/>
      </p:nvGrpSpPr>
      <p:grpSpPr>
        <a:xfrm>
          <a:off x="0" y="0"/>
          <a:ext cx="0" cy="0"/>
          <a:chOff x="0" y="0"/>
          <a:chExt cx="0" cy="0"/>
        </a:xfrm>
      </p:grpSpPr>
      <p:sp>
        <p:nvSpPr>
          <p:cNvPr id="1092" name="Google Shape;1092;p108: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3" name="Google Shape;1093;p108: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7"/>
        <p:cNvGrpSpPr/>
        <p:nvPr/>
      </p:nvGrpSpPr>
      <p:grpSpPr>
        <a:xfrm>
          <a:off x="0" y="0"/>
          <a:ext cx="0" cy="0"/>
          <a:chOff x="0" y="0"/>
          <a:chExt cx="0" cy="0"/>
        </a:xfrm>
      </p:grpSpPr>
      <p:sp>
        <p:nvSpPr>
          <p:cNvPr id="1098" name="Google Shape;1098;p109: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9" name="Google Shape;1099;p109: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4"/>
        <p:cNvGrpSpPr/>
        <p:nvPr/>
      </p:nvGrpSpPr>
      <p:grpSpPr>
        <a:xfrm>
          <a:off x="0" y="0"/>
          <a:ext cx="0" cy="0"/>
          <a:chOff x="0" y="0"/>
          <a:chExt cx="0" cy="0"/>
        </a:xfrm>
      </p:grpSpPr>
      <p:sp>
        <p:nvSpPr>
          <p:cNvPr id="1105" name="Google Shape;1105;p110:notes"/>
          <p:cNvSpPr txBox="1">
            <a:spLocks noGrp="1"/>
          </p:cNvSpPr>
          <p:nvPr>
            <p:ph type="body" idx="1"/>
          </p:nvPr>
        </p:nvSpPr>
        <p:spPr>
          <a:xfrm>
            <a:off x="1006475" y="3740150"/>
            <a:ext cx="8045450" cy="3060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6" name="Google Shape;1106;p110:notes"/>
          <p:cNvSpPr>
            <a:spLocks noGrp="1" noRot="1" noChangeAspect="1"/>
          </p:cNvSpPr>
          <p:nvPr>
            <p:ph type="sldImg" idx="2"/>
          </p:nvPr>
        </p:nvSpPr>
        <p:spPr>
          <a:xfrm>
            <a:off x="3332163" y="971550"/>
            <a:ext cx="3394075" cy="262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obj">
  <p:cSld name="OBJECT">
    <p:spTree>
      <p:nvGrpSpPr>
        <p:cNvPr id="1" name="Shape 15"/>
        <p:cNvGrpSpPr/>
        <p:nvPr/>
      </p:nvGrpSpPr>
      <p:grpSpPr>
        <a:xfrm>
          <a:off x="0" y="0"/>
          <a:ext cx="0" cy="0"/>
          <a:chOff x="0" y="0"/>
          <a:chExt cx="0" cy="0"/>
        </a:xfrm>
      </p:grpSpPr>
      <p:sp>
        <p:nvSpPr>
          <p:cNvPr id="16" name="Google Shape;16;p112"/>
          <p:cNvSpPr txBox="1">
            <a:spLocks noGrp="1"/>
          </p:cNvSpPr>
          <p:nvPr>
            <p:ph type="title"/>
          </p:nvPr>
        </p:nvSpPr>
        <p:spPr>
          <a:xfrm>
            <a:off x="246634" y="1204722"/>
            <a:ext cx="8375015" cy="42989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65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12"/>
          <p:cNvSpPr txBox="1">
            <a:spLocks noGrp="1"/>
          </p:cNvSpPr>
          <p:nvPr>
            <p:ph type="ftr" idx="11"/>
          </p:nvPr>
        </p:nvSpPr>
        <p:spPr>
          <a:xfrm>
            <a:off x="3419856" y="7228332"/>
            <a:ext cx="3218688" cy="38862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112"/>
          <p:cNvSpPr txBox="1">
            <a:spLocks noGrp="1"/>
          </p:cNvSpPr>
          <p:nvPr>
            <p:ph type="dt" idx="10"/>
          </p:nvPr>
        </p:nvSpPr>
        <p:spPr>
          <a:xfrm>
            <a:off x="502920" y="7228332"/>
            <a:ext cx="2313432" cy="38862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12"/>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1800" b="0" i="0" u="none" strike="noStrike" cap="none">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0"/>
        <p:cNvGrpSpPr/>
        <p:nvPr/>
      </p:nvGrpSpPr>
      <p:grpSpPr>
        <a:xfrm>
          <a:off x="0" y="0"/>
          <a:ext cx="0" cy="0"/>
          <a:chOff x="0" y="0"/>
          <a:chExt cx="0" cy="0"/>
        </a:xfrm>
      </p:grpSpPr>
      <p:sp>
        <p:nvSpPr>
          <p:cNvPr id="21" name="Google Shape;21;p113"/>
          <p:cNvSpPr txBox="1">
            <a:spLocks noGrp="1"/>
          </p:cNvSpPr>
          <p:nvPr>
            <p:ph type="title"/>
          </p:nvPr>
        </p:nvSpPr>
        <p:spPr>
          <a:xfrm>
            <a:off x="246634" y="1204722"/>
            <a:ext cx="8375015" cy="42989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65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113"/>
          <p:cNvSpPr txBox="1">
            <a:spLocks noGrp="1"/>
          </p:cNvSpPr>
          <p:nvPr>
            <p:ph type="body" idx="1"/>
          </p:nvPr>
        </p:nvSpPr>
        <p:spPr>
          <a:xfrm>
            <a:off x="314452" y="2009140"/>
            <a:ext cx="9031605" cy="254825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1950" b="0" i="0">
                <a:solidFill>
                  <a:schemeClr val="dk1"/>
                </a:solidFill>
                <a:latin typeface="Calibri"/>
                <a:ea typeface="Calibri"/>
                <a:cs typeface="Calibri"/>
                <a:sym typeface="Calibri"/>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3" name="Google Shape;23;p113"/>
          <p:cNvSpPr txBox="1">
            <a:spLocks noGrp="1"/>
          </p:cNvSpPr>
          <p:nvPr>
            <p:ph type="ftr" idx="11"/>
          </p:nvPr>
        </p:nvSpPr>
        <p:spPr>
          <a:xfrm>
            <a:off x="3419856" y="7228332"/>
            <a:ext cx="3218688" cy="38862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113"/>
          <p:cNvSpPr txBox="1">
            <a:spLocks noGrp="1"/>
          </p:cNvSpPr>
          <p:nvPr>
            <p:ph type="dt" idx="10"/>
          </p:nvPr>
        </p:nvSpPr>
        <p:spPr>
          <a:xfrm>
            <a:off x="502920" y="7228332"/>
            <a:ext cx="2313432" cy="38862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13"/>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1800" b="0" i="0" u="none" strike="noStrike" cap="none">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26"/>
        <p:cNvGrpSpPr/>
        <p:nvPr/>
      </p:nvGrpSpPr>
      <p:grpSpPr>
        <a:xfrm>
          <a:off x="0" y="0"/>
          <a:ext cx="0" cy="0"/>
          <a:chOff x="0" y="0"/>
          <a:chExt cx="0" cy="0"/>
        </a:xfrm>
      </p:grpSpPr>
      <p:sp>
        <p:nvSpPr>
          <p:cNvPr id="27" name="Google Shape;27;p114"/>
          <p:cNvSpPr txBox="1">
            <a:spLocks noGrp="1"/>
          </p:cNvSpPr>
          <p:nvPr>
            <p:ph type="ftr" idx="11"/>
          </p:nvPr>
        </p:nvSpPr>
        <p:spPr>
          <a:xfrm>
            <a:off x="3419856" y="7228332"/>
            <a:ext cx="3218688" cy="38862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14"/>
          <p:cNvSpPr txBox="1">
            <a:spLocks noGrp="1"/>
          </p:cNvSpPr>
          <p:nvPr>
            <p:ph type="dt" idx="10"/>
          </p:nvPr>
        </p:nvSpPr>
        <p:spPr>
          <a:xfrm>
            <a:off x="502920" y="7228332"/>
            <a:ext cx="2313432" cy="38862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114"/>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1800" b="0" i="0" u="none" strike="noStrike" cap="none">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0"/>
        <p:cNvGrpSpPr/>
        <p:nvPr/>
      </p:nvGrpSpPr>
      <p:grpSpPr>
        <a:xfrm>
          <a:off x="0" y="0"/>
          <a:ext cx="0" cy="0"/>
          <a:chOff x="0" y="0"/>
          <a:chExt cx="0" cy="0"/>
        </a:xfrm>
      </p:grpSpPr>
      <p:sp>
        <p:nvSpPr>
          <p:cNvPr id="31" name="Google Shape;31;p115"/>
          <p:cNvSpPr txBox="1">
            <a:spLocks noGrp="1"/>
          </p:cNvSpPr>
          <p:nvPr>
            <p:ph type="title"/>
          </p:nvPr>
        </p:nvSpPr>
        <p:spPr>
          <a:xfrm>
            <a:off x="246634" y="1204722"/>
            <a:ext cx="8375015" cy="42989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65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115"/>
          <p:cNvSpPr txBox="1">
            <a:spLocks noGrp="1"/>
          </p:cNvSpPr>
          <p:nvPr>
            <p:ph type="body" idx="1"/>
          </p:nvPr>
        </p:nvSpPr>
        <p:spPr>
          <a:xfrm>
            <a:off x="611631" y="1881885"/>
            <a:ext cx="2691129" cy="471868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1950" b="0" i="0">
                <a:solidFill>
                  <a:schemeClr val="dk1"/>
                </a:solidFill>
                <a:latin typeface="Calibri"/>
                <a:ea typeface="Calibri"/>
                <a:cs typeface="Calibri"/>
                <a:sym typeface="Calibri"/>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3" name="Google Shape;33;p115"/>
          <p:cNvSpPr txBox="1">
            <a:spLocks noGrp="1"/>
          </p:cNvSpPr>
          <p:nvPr>
            <p:ph type="body" idx="2"/>
          </p:nvPr>
        </p:nvSpPr>
        <p:spPr>
          <a:xfrm>
            <a:off x="5180076" y="1787652"/>
            <a:ext cx="4375404" cy="512978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4" name="Google Shape;34;p115"/>
          <p:cNvSpPr txBox="1">
            <a:spLocks noGrp="1"/>
          </p:cNvSpPr>
          <p:nvPr>
            <p:ph type="ftr" idx="11"/>
          </p:nvPr>
        </p:nvSpPr>
        <p:spPr>
          <a:xfrm>
            <a:off x="3419856" y="7228332"/>
            <a:ext cx="3218688" cy="38862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15"/>
          <p:cNvSpPr txBox="1">
            <a:spLocks noGrp="1"/>
          </p:cNvSpPr>
          <p:nvPr>
            <p:ph type="dt" idx="10"/>
          </p:nvPr>
        </p:nvSpPr>
        <p:spPr>
          <a:xfrm>
            <a:off x="502920" y="7228332"/>
            <a:ext cx="2313432" cy="38862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115"/>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7"/>
        <p:cNvGrpSpPr/>
        <p:nvPr/>
      </p:nvGrpSpPr>
      <p:grpSpPr>
        <a:xfrm>
          <a:off x="0" y="0"/>
          <a:ext cx="0" cy="0"/>
          <a:chOff x="0" y="0"/>
          <a:chExt cx="0" cy="0"/>
        </a:xfrm>
      </p:grpSpPr>
      <p:sp>
        <p:nvSpPr>
          <p:cNvPr id="38" name="Google Shape;38;p116"/>
          <p:cNvSpPr txBox="1">
            <a:spLocks noGrp="1"/>
          </p:cNvSpPr>
          <p:nvPr>
            <p:ph type="ctrTitle"/>
          </p:nvPr>
        </p:nvSpPr>
        <p:spPr>
          <a:xfrm>
            <a:off x="754380" y="2409444"/>
            <a:ext cx="8549640" cy="163220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116"/>
          <p:cNvSpPr txBox="1">
            <a:spLocks noGrp="1"/>
          </p:cNvSpPr>
          <p:nvPr>
            <p:ph type="subTitle" idx="1"/>
          </p:nvPr>
        </p:nvSpPr>
        <p:spPr>
          <a:xfrm>
            <a:off x="1508760" y="4352544"/>
            <a:ext cx="7040880" cy="19431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116"/>
          <p:cNvSpPr txBox="1">
            <a:spLocks noGrp="1"/>
          </p:cNvSpPr>
          <p:nvPr>
            <p:ph type="ftr" idx="11"/>
          </p:nvPr>
        </p:nvSpPr>
        <p:spPr>
          <a:xfrm>
            <a:off x="3419856" y="7228332"/>
            <a:ext cx="3218688" cy="38862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116"/>
          <p:cNvSpPr txBox="1">
            <a:spLocks noGrp="1"/>
          </p:cNvSpPr>
          <p:nvPr>
            <p:ph type="dt" idx="10"/>
          </p:nvPr>
        </p:nvSpPr>
        <p:spPr>
          <a:xfrm>
            <a:off x="502920" y="7228332"/>
            <a:ext cx="2313432" cy="38862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16"/>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11"/>
          <p:cNvSpPr txBox="1">
            <a:spLocks noGrp="1"/>
          </p:cNvSpPr>
          <p:nvPr>
            <p:ph type="title"/>
          </p:nvPr>
        </p:nvSpPr>
        <p:spPr>
          <a:xfrm>
            <a:off x="246634" y="1204722"/>
            <a:ext cx="8375015" cy="429894"/>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265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11"/>
          <p:cNvSpPr txBox="1">
            <a:spLocks noGrp="1"/>
          </p:cNvSpPr>
          <p:nvPr>
            <p:ph type="body" idx="1"/>
          </p:nvPr>
        </p:nvSpPr>
        <p:spPr>
          <a:xfrm>
            <a:off x="314452" y="2009140"/>
            <a:ext cx="9031605" cy="2548254"/>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95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2" name="Google Shape;12;p111"/>
          <p:cNvSpPr txBox="1">
            <a:spLocks noGrp="1"/>
          </p:cNvSpPr>
          <p:nvPr>
            <p:ph type="ftr" idx="11"/>
          </p:nvPr>
        </p:nvSpPr>
        <p:spPr>
          <a:xfrm>
            <a:off x="3419856" y="7228332"/>
            <a:ext cx="3218688" cy="388620"/>
          </a:xfrm>
          <a:prstGeom prst="rect">
            <a:avLst/>
          </a:prstGeom>
          <a:noFill/>
          <a:ln>
            <a:noFill/>
          </a:ln>
        </p:spPr>
        <p:txBody>
          <a:bodyPr spcFirstLastPara="1" wrap="square" lIns="0" tIns="0" rIns="0" bIns="0" anchor="t" anchorCtr="0">
            <a:spAutoFit/>
          </a:bodyPr>
          <a:lstStyle>
            <a:lvl1pPr marR="0" lvl="0" algn="ctr" rtl="0">
              <a:spcBef>
                <a:spcPts val="0"/>
              </a:spcBef>
              <a:spcAft>
                <a:spcPts val="0"/>
              </a:spcAft>
              <a:buSzPts val="1400"/>
              <a:buNone/>
              <a:defRPr sz="18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11"/>
          <p:cNvSpPr txBox="1">
            <a:spLocks noGrp="1"/>
          </p:cNvSpPr>
          <p:nvPr>
            <p:ph type="dt" idx="10"/>
          </p:nvPr>
        </p:nvSpPr>
        <p:spPr>
          <a:xfrm>
            <a:off x="502920" y="7228332"/>
            <a:ext cx="2313432" cy="38862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11"/>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lvl1pPr marL="0" marR="0" lvl="0" indent="0" algn="r" rtl="0">
              <a:spcBef>
                <a:spcPts val="0"/>
              </a:spcBef>
              <a:buNone/>
              <a:defRPr sz="1800" b="0" i="0" u="none" strike="noStrike" cap="none">
                <a:solidFill>
                  <a:srgbClr val="888888"/>
                </a:solidFill>
                <a:latin typeface="Calibri"/>
                <a:ea typeface="Calibri"/>
                <a:cs typeface="Calibri"/>
                <a:sym typeface="Calibri"/>
              </a:defRPr>
            </a:lvl1pPr>
            <a:lvl2pPr marL="0" marR="0" lvl="1" indent="0" algn="r" rtl="0">
              <a:spcBef>
                <a:spcPts val="0"/>
              </a:spcBef>
              <a:buNone/>
              <a:defRPr sz="1800" b="0" i="0" u="none" strike="noStrike" cap="none">
                <a:solidFill>
                  <a:srgbClr val="888888"/>
                </a:solidFill>
                <a:latin typeface="Calibri"/>
                <a:ea typeface="Calibri"/>
                <a:cs typeface="Calibri"/>
                <a:sym typeface="Calibri"/>
              </a:defRPr>
            </a:lvl2pPr>
            <a:lvl3pPr marL="0" marR="0" lvl="2" indent="0" algn="r" rtl="0">
              <a:spcBef>
                <a:spcPts val="0"/>
              </a:spcBef>
              <a:buNone/>
              <a:defRPr sz="1800" b="0" i="0" u="none" strike="noStrike" cap="none">
                <a:solidFill>
                  <a:srgbClr val="888888"/>
                </a:solidFill>
                <a:latin typeface="Calibri"/>
                <a:ea typeface="Calibri"/>
                <a:cs typeface="Calibri"/>
                <a:sym typeface="Calibri"/>
              </a:defRPr>
            </a:lvl3pPr>
            <a:lvl4pPr marL="0" marR="0" lvl="3" indent="0" algn="r" rtl="0">
              <a:spcBef>
                <a:spcPts val="0"/>
              </a:spcBef>
              <a:buNone/>
              <a:defRPr sz="1800" b="0" i="0" u="none" strike="noStrike" cap="none">
                <a:solidFill>
                  <a:srgbClr val="888888"/>
                </a:solidFill>
                <a:latin typeface="Calibri"/>
                <a:ea typeface="Calibri"/>
                <a:cs typeface="Calibri"/>
                <a:sym typeface="Calibri"/>
              </a:defRPr>
            </a:lvl4pPr>
            <a:lvl5pPr marL="0" marR="0" lvl="4" indent="0" algn="r" rtl="0">
              <a:spcBef>
                <a:spcPts val="0"/>
              </a:spcBef>
              <a:buNone/>
              <a:defRPr sz="1800" b="0" i="0" u="none" strike="noStrike" cap="none">
                <a:solidFill>
                  <a:srgbClr val="888888"/>
                </a:solidFill>
                <a:latin typeface="Calibri"/>
                <a:ea typeface="Calibri"/>
                <a:cs typeface="Calibri"/>
                <a:sym typeface="Calibri"/>
              </a:defRPr>
            </a:lvl5pPr>
            <a:lvl6pPr marL="0" marR="0" lvl="5" indent="0" algn="r" rtl="0">
              <a:spcBef>
                <a:spcPts val="0"/>
              </a:spcBef>
              <a:buNone/>
              <a:defRPr sz="1800" b="0" i="0" u="none" strike="noStrike" cap="none">
                <a:solidFill>
                  <a:srgbClr val="888888"/>
                </a:solidFill>
                <a:latin typeface="Calibri"/>
                <a:ea typeface="Calibri"/>
                <a:cs typeface="Calibri"/>
                <a:sym typeface="Calibri"/>
              </a:defRPr>
            </a:lvl6pPr>
            <a:lvl7pPr marL="0" marR="0" lvl="6" indent="0" algn="r" rtl="0">
              <a:spcBef>
                <a:spcPts val="0"/>
              </a:spcBef>
              <a:buNone/>
              <a:defRPr sz="1800" b="0" i="0" u="none" strike="noStrike" cap="none">
                <a:solidFill>
                  <a:srgbClr val="888888"/>
                </a:solidFill>
                <a:latin typeface="Calibri"/>
                <a:ea typeface="Calibri"/>
                <a:cs typeface="Calibri"/>
                <a:sym typeface="Calibri"/>
              </a:defRPr>
            </a:lvl7pPr>
            <a:lvl8pPr marL="0" marR="0" lvl="7" indent="0" algn="r" rtl="0">
              <a:spcBef>
                <a:spcPts val="0"/>
              </a:spcBef>
              <a:buNone/>
              <a:defRPr sz="1800" b="0" i="0" u="none" strike="noStrike" cap="none">
                <a:solidFill>
                  <a:srgbClr val="888888"/>
                </a:solidFill>
                <a:latin typeface="Calibri"/>
                <a:ea typeface="Calibri"/>
                <a:cs typeface="Calibri"/>
                <a:sym typeface="Calibri"/>
              </a:defRPr>
            </a:lvl8pPr>
            <a:lvl9pPr marL="0" marR="0" lvl="8" indent="0" algn="r" rtl="0">
              <a:spcBef>
                <a:spcPts val="0"/>
              </a:spcBef>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ibm.com/in-en/topics/artificial-intelligence"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ibm.com/in-en/topics/deep-learning"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8.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3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42.xml"/><Relationship Id="rId1" Type="http://schemas.openxmlformats.org/officeDocument/2006/relationships/slideLayout" Target="../slideLayouts/slideLayout3.xml"/><Relationship Id="rId4" Type="http://schemas.openxmlformats.org/officeDocument/2006/relationships/image" Target="../media/image11.jpg"/></Relationships>
</file>

<file path=ppt/slides/_rels/slide4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44.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23.jp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hyperlink" Target="https://en.wikipedia.org/wiki/Information_extraction" TargetMode="External"/><Relationship Id="rId2" Type="http://schemas.openxmlformats.org/officeDocument/2006/relationships/notesSlide" Target="../notesSlides/notesSlide61.xml"/><Relationship Id="rId1" Type="http://schemas.openxmlformats.org/officeDocument/2006/relationships/slideLayout" Target="../slideLayouts/slideLayout2.xml"/><Relationship Id="rId6" Type="http://schemas.openxmlformats.org/officeDocument/2006/relationships/hyperlink" Target="https://en.wikipedia.org/wiki/Medical_classification" TargetMode="External"/><Relationship Id="rId5" Type="http://schemas.openxmlformats.org/officeDocument/2006/relationships/hyperlink" Target="https://en.wikipedia.org/wiki/Unstructured_data" TargetMode="External"/><Relationship Id="rId4" Type="http://schemas.openxmlformats.org/officeDocument/2006/relationships/hyperlink" Target="https://en.wikipedia.org/wiki/Named_entity" TargetMode="External"/></Relationships>
</file>

<file path=ppt/slides/_rels/slide6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hyperlink" Target="https://www.geeksforgeeks.org/difference-between-statistical-model-and-machine-learning/" TargetMode="External"/><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hyperlink" Target="https://spotintelligence.com/2022/12/19/translate-text-python/" TargetMode="External"/><Relationship Id="rId2" Type="http://schemas.openxmlformats.org/officeDocument/2006/relationships/hyperlink" Target="https://spotintelligence.com/2022/12/06/ner/" TargetMode="Externa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4.xml"/><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91.xml"/><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92.xml"/><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01.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104.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102.xml"/><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3" Type="http://schemas.openxmlformats.org/officeDocument/2006/relationships/hyperlink" Target="https://www.youtube.com/watch?v=YlL0YARYK-o" TargetMode="External"/><Relationship Id="rId2" Type="http://schemas.openxmlformats.org/officeDocument/2006/relationships/notesSlide" Target="../notesSlides/notesSlide104.xml"/><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09.xml"/><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6"/>
        <p:cNvGrpSpPr/>
        <p:nvPr/>
      </p:nvGrpSpPr>
      <p:grpSpPr>
        <a:xfrm>
          <a:off x="0" y="0"/>
          <a:ext cx="0" cy="0"/>
          <a:chOff x="0" y="0"/>
          <a:chExt cx="0" cy="0"/>
        </a:xfrm>
      </p:grpSpPr>
      <p:sp>
        <p:nvSpPr>
          <p:cNvPr id="47" name="Google Shape;47;p1"/>
          <p:cNvSpPr txBox="1">
            <a:spLocks noGrp="1"/>
          </p:cNvSpPr>
          <p:nvPr>
            <p:ph type="title"/>
          </p:nvPr>
        </p:nvSpPr>
        <p:spPr>
          <a:xfrm>
            <a:off x="3429000" y="304800"/>
            <a:ext cx="7236459" cy="78041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950" b="1"/>
              <a:t>Unit 2</a:t>
            </a:r>
            <a:endParaRPr sz="4950" b="1"/>
          </a:p>
        </p:txBody>
      </p:sp>
      <p:pic>
        <p:nvPicPr>
          <p:cNvPr id="48" name="Google Shape;48;p1"/>
          <p:cNvPicPr preferRelativeResize="0"/>
          <p:nvPr/>
        </p:nvPicPr>
        <p:blipFill rotWithShape="1">
          <a:blip r:embed="rId3">
            <a:alphaModFix/>
          </a:blip>
          <a:srcRect/>
          <a:stretch/>
        </p:blipFill>
        <p:spPr>
          <a:xfrm>
            <a:off x="381000" y="1371600"/>
            <a:ext cx="9296400" cy="5553723"/>
          </a:xfrm>
          <a:prstGeom prst="rect">
            <a:avLst/>
          </a:prstGeom>
          <a:noFill/>
          <a:ln>
            <a:noFill/>
          </a:ln>
        </p:spPr>
      </p:pic>
      <p:sp>
        <p:nvSpPr>
          <p:cNvPr id="49" name="Google Shape;49;p1"/>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2"/>
          <p:cNvSpPr txBox="1">
            <a:spLocks noGrp="1"/>
          </p:cNvSpPr>
          <p:nvPr>
            <p:ph type="body" idx="1"/>
          </p:nvPr>
        </p:nvSpPr>
        <p:spPr>
          <a:xfrm>
            <a:off x="286378" y="1371600"/>
            <a:ext cx="9362948" cy="6032421"/>
          </a:xfrm>
          <a:prstGeom prst="rect">
            <a:avLst/>
          </a:prstGeom>
          <a:noFill/>
          <a:ln>
            <a:noFill/>
          </a:ln>
        </p:spPr>
        <p:txBody>
          <a:bodyPr spcFirstLastPara="1" wrap="square" lIns="0" tIns="0" rIns="0" bIns="0" anchor="t" anchorCtr="0">
            <a:spAutoFit/>
          </a:bodyPr>
          <a:lstStyle/>
          <a:p>
            <a:pPr marL="0" lvl="0" indent="0" algn="just" rtl="0">
              <a:spcBef>
                <a:spcPts val="0"/>
              </a:spcBef>
              <a:spcAft>
                <a:spcPts val="0"/>
              </a:spcAft>
              <a:buNone/>
            </a:pPr>
            <a:r>
              <a:rPr lang="en-US" sz="2800">
                <a:latin typeface="Times New Roman"/>
                <a:ea typeface="Times New Roman"/>
                <a:cs typeface="Times New Roman"/>
                <a:sym typeface="Times New Roman"/>
              </a:rPr>
              <a:t>Natural Language Processing (NLP) refers to the branch of computer science—and more specifically, the branch of </a:t>
            </a:r>
            <a:r>
              <a:rPr lang="en-US" sz="2800" u="sng">
                <a:solidFill>
                  <a:schemeClr val="hlink"/>
                </a:solidFill>
                <a:latin typeface="Times New Roman"/>
                <a:ea typeface="Times New Roman"/>
                <a:cs typeface="Times New Roman"/>
                <a:sym typeface="Times New Roman"/>
                <a:hlinkClick r:id="rId3"/>
              </a:rPr>
              <a:t>artificial intelligence</a:t>
            </a:r>
            <a:r>
              <a:rPr lang="en-US" sz="2800">
                <a:latin typeface="Times New Roman"/>
                <a:ea typeface="Times New Roman"/>
                <a:cs typeface="Times New Roman"/>
                <a:sym typeface="Times New Roman"/>
              </a:rPr>
              <a:t> concerned with giving computers the ability to understand text and spoken words in much the same way human beings can.</a:t>
            </a:r>
            <a:endParaRPr/>
          </a:p>
          <a:p>
            <a:pPr marL="0" lvl="0" indent="0" algn="just" rtl="0">
              <a:spcBef>
                <a:spcPts val="0"/>
              </a:spcBef>
              <a:spcAft>
                <a:spcPts val="0"/>
              </a:spcAft>
              <a:buNone/>
            </a:pPr>
            <a:endParaRPr sz="2800">
              <a:latin typeface="Times New Roman"/>
              <a:ea typeface="Times New Roman"/>
              <a:cs typeface="Times New Roman"/>
              <a:sym typeface="Times New Roman"/>
            </a:endParaRPr>
          </a:p>
          <a:p>
            <a:pPr marL="0" lvl="0" indent="0" algn="just" rtl="0">
              <a:spcBef>
                <a:spcPts val="0"/>
              </a:spcBef>
              <a:spcAft>
                <a:spcPts val="0"/>
              </a:spcAft>
              <a:buNone/>
            </a:pPr>
            <a:r>
              <a:rPr lang="en-US" sz="2800">
                <a:latin typeface="Times New Roman"/>
                <a:ea typeface="Times New Roman"/>
                <a:cs typeface="Times New Roman"/>
                <a:sym typeface="Times New Roman"/>
              </a:rPr>
              <a:t>NLP combines computational linguistics—rule-based modeling of human language—with statistical, machine learning, and deep learning models. Together, these technologies enable computers to process human language in the form of text or voice data and to ‘understand’ its full meaning, complete with the speaker or writer’s intent and sentiment.</a:t>
            </a:r>
            <a:endParaRPr/>
          </a:p>
          <a:p>
            <a:pPr marL="0" lvl="0" indent="0" algn="just" rtl="0">
              <a:spcBef>
                <a:spcPts val="0"/>
              </a:spcBef>
              <a:spcAft>
                <a:spcPts val="0"/>
              </a:spcAft>
              <a:buNone/>
            </a:pPr>
            <a:endParaRPr sz="2800">
              <a:latin typeface="Times New Roman"/>
              <a:ea typeface="Times New Roman"/>
              <a:cs typeface="Times New Roman"/>
              <a:sym typeface="Times New Roman"/>
            </a:endParaRPr>
          </a:p>
          <a:p>
            <a:pPr marL="0" lvl="0" indent="0" algn="just" rtl="0">
              <a:spcBef>
                <a:spcPts val="0"/>
              </a:spcBef>
              <a:spcAft>
                <a:spcPts val="0"/>
              </a:spcAft>
              <a:buNone/>
            </a:pPr>
            <a:endParaRPr sz="2800">
              <a:latin typeface="Times New Roman"/>
              <a:ea typeface="Times New Roman"/>
              <a:cs typeface="Times New Roman"/>
              <a:sym typeface="Times New Roman"/>
            </a:endParaRPr>
          </a:p>
        </p:txBody>
      </p:sp>
      <p:sp>
        <p:nvSpPr>
          <p:cNvPr id="55" name="Google Shape;55;p2"/>
          <p:cNvSpPr txBox="1"/>
          <p:nvPr/>
        </p:nvSpPr>
        <p:spPr>
          <a:xfrm>
            <a:off x="286378" y="457200"/>
            <a:ext cx="8375015" cy="6771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4400" b="1" i="0" u="none" strike="noStrike" cap="none">
                <a:solidFill>
                  <a:srgbClr val="0070C0"/>
                </a:solidFill>
                <a:latin typeface="Times New Roman"/>
                <a:ea typeface="Times New Roman"/>
                <a:cs typeface="Times New Roman"/>
                <a:sym typeface="Times New Roman"/>
              </a:rPr>
              <a:t>Natural Language Processing</a:t>
            </a:r>
            <a:endParaRPr sz="4400" b="1" i="0" u="none" strike="noStrike" cap="none">
              <a:solidFill>
                <a:srgbClr val="0070C0"/>
              </a:solidFill>
              <a:latin typeface="Calibri"/>
              <a:ea typeface="Calibri"/>
              <a:cs typeface="Calibri"/>
              <a:sym typeface="Calibri"/>
            </a:endParaRPr>
          </a:p>
        </p:txBody>
      </p:sp>
      <p:sp>
        <p:nvSpPr>
          <p:cNvPr id="56" name="Google Shape;56;p2"/>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3"/>
          <p:cNvSpPr txBox="1">
            <a:spLocks noGrp="1"/>
          </p:cNvSpPr>
          <p:nvPr>
            <p:ph type="title"/>
          </p:nvPr>
        </p:nvSpPr>
        <p:spPr>
          <a:xfrm>
            <a:off x="533400" y="457200"/>
            <a:ext cx="8375015" cy="1107996"/>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sz="3600" b="1">
                <a:solidFill>
                  <a:srgbClr val="0070C0"/>
                </a:solidFill>
                <a:latin typeface="Times New Roman"/>
                <a:ea typeface="Times New Roman"/>
                <a:cs typeface="Times New Roman"/>
                <a:sym typeface="Times New Roman"/>
              </a:rPr>
              <a:t>Natural Language Processing (contd)</a:t>
            </a:r>
            <a:r>
              <a:rPr lang="en-US" sz="3600" b="1">
                <a:solidFill>
                  <a:srgbClr val="0070C0"/>
                </a:solidFill>
              </a:rPr>
              <a:t/>
            </a:r>
            <a:br>
              <a:rPr lang="en-US" sz="3600" b="1">
                <a:solidFill>
                  <a:srgbClr val="0070C0"/>
                </a:solidFill>
              </a:rPr>
            </a:br>
            <a:endParaRPr sz="3600">
              <a:solidFill>
                <a:srgbClr val="0070C0"/>
              </a:solidFill>
            </a:endParaRPr>
          </a:p>
        </p:txBody>
      </p:sp>
      <p:sp>
        <p:nvSpPr>
          <p:cNvPr id="62" name="Google Shape;62;p3"/>
          <p:cNvSpPr txBox="1">
            <a:spLocks noGrp="1"/>
          </p:cNvSpPr>
          <p:nvPr>
            <p:ph type="body" idx="1"/>
          </p:nvPr>
        </p:nvSpPr>
        <p:spPr>
          <a:xfrm>
            <a:off x="246634" y="1455764"/>
            <a:ext cx="9439148" cy="6463308"/>
          </a:xfrm>
          <a:prstGeom prst="rect">
            <a:avLst/>
          </a:prstGeom>
          <a:noFill/>
          <a:ln>
            <a:noFill/>
          </a:ln>
        </p:spPr>
        <p:txBody>
          <a:bodyPr spcFirstLastPara="1" wrap="square" lIns="0" tIns="0" rIns="0" bIns="0" anchor="t" anchorCtr="0">
            <a:spAutoFit/>
          </a:bodyPr>
          <a:lstStyle/>
          <a:p>
            <a:pPr marL="457200" lvl="0" indent="-457200" algn="just" rtl="0">
              <a:spcBef>
                <a:spcPts val="0"/>
              </a:spcBef>
              <a:spcAft>
                <a:spcPts val="0"/>
              </a:spcAft>
              <a:buClr>
                <a:schemeClr val="dk1"/>
              </a:buClr>
              <a:buSzPts val="2800"/>
              <a:buFont typeface="Arial"/>
              <a:buChar char="•"/>
            </a:pPr>
            <a:r>
              <a:rPr lang="en-US" sz="2800">
                <a:latin typeface="Times New Roman"/>
                <a:ea typeface="Times New Roman"/>
                <a:cs typeface="Times New Roman"/>
                <a:sym typeface="Times New Roman"/>
              </a:rPr>
              <a:t>NLP drives computer programs that translate text from one language to another, respond to spoken commands, and summarize large volumes of text rapidly—even in real time. </a:t>
            </a:r>
            <a:endParaRPr/>
          </a:p>
          <a:p>
            <a:pPr marL="457200" lvl="0" indent="-279400" algn="just" rtl="0">
              <a:spcBef>
                <a:spcPts val="0"/>
              </a:spcBef>
              <a:spcAft>
                <a:spcPts val="0"/>
              </a:spcAft>
              <a:buClr>
                <a:schemeClr val="dk1"/>
              </a:buClr>
              <a:buSzPts val="2800"/>
              <a:buFont typeface="Arial"/>
              <a:buNone/>
            </a:pPr>
            <a:endParaRPr sz="2800">
              <a:latin typeface="Times New Roman"/>
              <a:ea typeface="Times New Roman"/>
              <a:cs typeface="Times New Roman"/>
              <a:sym typeface="Times New Roman"/>
            </a:endParaRPr>
          </a:p>
          <a:p>
            <a:pPr marL="457200" lvl="0" indent="-457200" algn="just" rtl="0">
              <a:spcBef>
                <a:spcPts val="0"/>
              </a:spcBef>
              <a:spcAft>
                <a:spcPts val="0"/>
              </a:spcAft>
              <a:buClr>
                <a:schemeClr val="dk1"/>
              </a:buClr>
              <a:buSzPts val="2800"/>
              <a:buFont typeface="Arial"/>
              <a:buChar char="•"/>
            </a:pPr>
            <a:r>
              <a:rPr lang="en-US" sz="2800">
                <a:latin typeface="Times New Roman"/>
                <a:ea typeface="Times New Roman"/>
                <a:cs typeface="Times New Roman"/>
                <a:sym typeface="Times New Roman"/>
              </a:rPr>
              <a:t>One may have interacted with NLP in the form of </a:t>
            </a:r>
            <a:endParaRPr/>
          </a:p>
          <a:p>
            <a:pPr marL="457200" lvl="0" indent="-457200" algn="just" rtl="0">
              <a:spcBef>
                <a:spcPts val="0"/>
              </a:spcBef>
              <a:spcAft>
                <a:spcPts val="0"/>
              </a:spcAft>
              <a:buClr>
                <a:schemeClr val="dk1"/>
              </a:buClr>
              <a:buSzPts val="2800"/>
              <a:buFont typeface="Arial"/>
              <a:buChar char="•"/>
            </a:pPr>
            <a:r>
              <a:rPr lang="en-US" sz="2800">
                <a:latin typeface="Times New Roman"/>
                <a:ea typeface="Times New Roman"/>
                <a:cs typeface="Times New Roman"/>
                <a:sym typeface="Times New Roman"/>
              </a:rPr>
              <a:t>voice-operated GPS systems, </a:t>
            </a:r>
            <a:endParaRPr/>
          </a:p>
          <a:p>
            <a:pPr marL="457200" lvl="0" indent="-457200" algn="just" rtl="0">
              <a:spcBef>
                <a:spcPts val="0"/>
              </a:spcBef>
              <a:spcAft>
                <a:spcPts val="0"/>
              </a:spcAft>
              <a:buClr>
                <a:schemeClr val="dk1"/>
              </a:buClr>
              <a:buSzPts val="2800"/>
              <a:buFont typeface="Arial"/>
              <a:buChar char="•"/>
            </a:pPr>
            <a:r>
              <a:rPr lang="en-US" sz="2800">
                <a:latin typeface="Times New Roman"/>
                <a:ea typeface="Times New Roman"/>
                <a:cs typeface="Times New Roman"/>
                <a:sym typeface="Times New Roman"/>
              </a:rPr>
              <a:t>digital assistants, </a:t>
            </a:r>
            <a:endParaRPr/>
          </a:p>
          <a:p>
            <a:pPr marL="457200" lvl="0" indent="-457200" algn="just" rtl="0">
              <a:spcBef>
                <a:spcPts val="0"/>
              </a:spcBef>
              <a:spcAft>
                <a:spcPts val="0"/>
              </a:spcAft>
              <a:buClr>
                <a:schemeClr val="dk1"/>
              </a:buClr>
              <a:buSzPts val="2800"/>
              <a:buFont typeface="Arial"/>
              <a:buChar char="•"/>
            </a:pPr>
            <a:r>
              <a:rPr lang="en-US" sz="2800">
                <a:latin typeface="Times New Roman"/>
                <a:ea typeface="Times New Roman"/>
                <a:cs typeface="Times New Roman"/>
                <a:sym typeface="Times New Roman"/>
              </a:rPr>
              <a:t>speech-to-text dictation software, </a:t>
            </a:r>
            <a:endParaRPr/>
          </a:p>
          <a:p>
            <a:pPr marL="457200" lvl="0" indent="-457200" algn="just" rtl="0">
              <a:spcBef>
                <a:spcPts val="0"/>
              </a:spcBef>
              <a:spcAft>
                <a:spcPts val="0"/>
              </a:spcAft>
              <a:buClr>
                <a:schemeClr val="dk1"/>
              </a:buClr>
              <a:buSzPts val="2800"/>
              <a:buFont typeface="Arial"/>
              <a:buChar char="•"/>
            </a:pPr>
            <a:r>
              <a:rPr lang="en-US" sz="2800">
                <a:latin typeface="Times New Roman"/>
                <a:ea typeface="Times New Roman"/>
                <a:cs typeface="Times New Roman"/>
                <a:sym typeface="Times New Roman"/>
              </a:rPr>
              <a:t>customer service chatbots, and </a:t>
            </a:r>
            <a:endParaRPr/>
          </a:p>
          <a:p>
            <a:pPr marL="457200" lvl="0" indent="-457200" algn="just" rtl="0">
              <a:spcBef>
                <a:spcPts val="0"/>
              </a:spcBef>
              <a:spcAft>
                <a:spcPts val="0"/>
              </a:spcAft>
              <a:buClr>
                <a:schemeClr val="dk1"/>
              </a:buClr>
              <a:buSzPts val="2800"/>
              <a:buFont typeface="Arial"/>
              <a:buChar char="•"/>
            </a:pPr>
            <a:r>
              <a:rPr lang="en-US" sz="2800">
                <a:latin typeface="Times New Roman"/>
                <a:ea typeface="Times New Roman"/>
                <a:cs typeface="Times New Roman"/>
                <a:sym typeface="Times New Roman"/>
              </a:rPr>
              <a:t>other consumer conveniences. </a:t>
            </a:r>
            <a:endParaRPr/>
          </a:p>
          <a:p>
            <a:pPr marL="457200" lvl="0" indent="-279400" algn="just" rtl="0">
              <a:spcBef>
                <a:spcPts val="0"/>
              </a:spcBef>
              <a:spcAft>
                <a:spcPts val="0"/>
              </a:spcAft>
              <a:buClr>
                <a:schemeClr val="dk1"/>
              </a:buClr>
              <a:buSzPts val="2800"/>
              <a:buFont typeface="Arial"/>
              <a:buNone/>
            </a:pPr>
            <a:endParaRPr sz="2800">
              <a:latin typeface="Times New Roman"/>
              <a:ea typeface="Times New Roman"/>
              <a:cs typeface="Times New Roman"/>
              <a:sym typeface="Times New Roman"/>
            </a:endParaRPr>
          </a:p>
          <a:p>
            <a:pPr marL="457200" lvl="0" indent="-457200" algn="just" rtl="0">
              <a:spcBef>
                <a:spcPts val="0"/>
              </a:spcBef>
              <a:spcAft>
                <a:spcPts val="0"/>
              </a:spcAft>
              <a:buClr>
                <a:schemeClr val="dk1"/>
              </a:buClr>
              <a:buSzPts val="2800"/>
              <a:buFont typeface="Arial"/>
              <a:buChar char="•"/>
            </a:pPr>
            <a:r>
              <a:rPr lang="en-US" sz="2800">
                <a:latin typeface="Times New Roman"/>
                <a:ea typeface="Times New Roman"/>
                <a:cs typeface="Times New Roman"/>
                <a:sym typeface="Times New Roman"/>
              </a:rPr>
              <a:t>But NLP also plays a growing role in enterprise solutions that help streamline business operations, increase employee productivity, and simplify mission-critical business processes.</a:t>
            </a:r>
            <a:endParaRPr/>
          </a:p>
          <a:p>
            <a:pPr marL="457200" lvl="0" indent="-279400" algn="l" rtl="0">
              <a:spcBef>
                <a:spcPts val="0"/>
              </a:spcBef>
              <a:spcAft>
                <a:spcPts val="0"/>
              </a:spcAft>
              <a:buClr>
                <a:schemeClr val="dk1"/>
              </a:buClr>
              <a:buSzPts val="2800"/>
              <a:buFont typeface="Arial"/>
              <a:buNone/>
            </a:pPr>
            <a:endParaRPr sz="2800"/>
          </a:p>
        </p:txBody>
      </p:sp>
      <p:sp>
        <p:nvSpPr>
          <p:cNvPr id="63" name="Google Shape;63;p3"/>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4"/>
          <p:cNvSpPr txBox="1">
            <a:spLocks noGrp="1"/>
          </p:cNvSpPr>
          <p:nvPr>
            <p:ph type="title"/>
          </p:nvPr>
        </p:nvSpPr>
        <p:spPr>
          <a:xfrm>
            <a:off x="246634" y="1204722"/>
            <a:ext cx="8375015" cy="429894"/>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endParaRPr/>
          </a:p>
        </p:txBody>
      </p:sp>
      <p:sp>
        <p:nvSpPr>
          <p:cNvPr id="69" name="Google Shape;69;p4"/>
          <p:cNvSpPr txBox="1">
            <a:spLocks noGrp="1"/>
          </p:cNvSpPr>
          <p:nvPr>
            <p:ph type="body" idx="1"/>
          </p:nvPr>
        </p:nvSpPr>
        <p:spPr>
          <a:xfrm>
            <a:off x="1524000" y="2743200"/>
            <a:ext cx="9031605" cy="677108"/>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sz="4400" b="1">
                <a:solidFill>
                  <a:srgbClr val="0070C0"/>
                </a:solidFill>
                <a:latin typeface="Times New Roman"/>
                <a:ea typeface="Times New Roman"/>
                <a:cs typeface="Times New Roman"/>
                <a:sym typeface="Times New Roman"/>
              </a:rPr>
              <a:t>NLP tools and approaches</a:t>
            </a:r>
            <a:endParaRPr sz="4400"/>
          </a:p>
        </p:txBody>
      </p:sp>
      <p:sp>
        <p:nvSpPr>
          <p:cNvPr id="70" name="Google Shape;70;p4"/>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5"/>
          <p:cNvSpPr txBox="1">
            <a:spLocks noGrp="1"/>
          </p:cNvSpPr>
          <p:nvPr>
            <p:ph type="title"/>
          </p:nvPr>
        </p:nvSpPr>
        <p:spPr>
          <a:xfrm>
            <a:off x="152400" y="381000"/>
            <a:ext cx="9448800" cy="984885"/>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sz="3200" b="1">
                <a:solidFill>
                  <a:srgbClr val="0070C0"/>
                </a:solidFill>
                <a:latin typeface="Times New Roman"/>
                <a:ea typeface="Times New Roman"/>
                <a:cs typeface="Times New Roman"/>
                <a:sym typeface="Times New Roman"/>
              </a:rPr>
              <a:t/>
            </a:r>
            <a:br>
              <a:rPr lang="en-US" sz="3200" b="1">
                <a:solidFill>
                  <a:srgbClr val="0070C0"/>
                </a:solidFill>
                <a:latin typeface="Times New Roman"/>
                <a:ea typeface="Times New Roman"/>
                <a:cs typeface="Times New Roman"/>
                <a:sym typeface="Times New Roman"/>
              </a:rPr>
            </a:br>
            <a:endParaRPr sz="3200" b="1">
              <a:solidFill>
                <a:srgbClr val="0070C0"/>
              </a:solidFill>
              <a:latin typeface="Times New Roman"/>
              <a:ea typeface="Times New Roman"/>
              <a:cs typeface="Times New Roman"/>
              <a:sym typeface="Times New Roman"/>
            </a:endParaRPr>
          </a:p>
        </p:txBody>
      </p:sp>
      <p:sp>
        <p:nvSpPr>
          <p:cNvPr id="76" name="Google Shape;76;p5"/>
          <p:cNvSpPr txBox="1">
            <a:spLocks noGrp="1"/>
          </p:cNvSpPr>
          <p:nvPr>
            <p:ph type="body" idx="1"/>
          </p:nvPr>
        </p:nvSpPr>
        <p:spPr>
          <a:xfrm>
            <a:off x="156410" y="20053"/>
            <a:ext cx="9749589" cy="8186857"/>
          </a:xfrm>
          <a:prstGeom prst="rect">
            <a:avLst/>
          </a:prstGeom>
          <a:noFill/>
          <a:ln>
            <a:noFill/>
          </a:ln>
        </p:spPr>
        <p:txBody>
          <a:bodyPr spcFirstLastPara="1" wrap="square" lIns="0" tIns="0" rIns="0" bIns="0" anchor="t" anchorCtr="0">
            <a:spAutoFit/>
          </a:bodyPr>
          <a:lstStyle/>
          <a:p>
            <a:pPr marL="514350" lvl="0" indent="-514350" algn="just" rtl="0">
              <a:spcBef>
                <a:spcPts val="0"/>
              </a:spcBef>
              <a:spcAft>
                <a:spcPts val="0"/>
              </a:spcAft>
              <a:buClr>
                <a:srgbClr val="0070C0"/>
              </a:buClr>
              <a:buSzPts val="2800"/>
              <a:buFont typeface="Times New Roman"/>
              <a:buAutoNum type="arabicParenR"/>
            </a:pPr>
            <a:r>
              <a:rPr lang="en-US" sz="2800" b="1">
                <a:solidFill>
                  <a:srgbClr val="0070C0"/>
                </a:solidFill>
                <a:latin typeface="Times New Roman"/>
                <a:ea typeface="Times New Roman"/>
                <a:cs typeface="Times New Roman"/>
                <a:sym typeface="Times New Roman"/>
              </a:rPr>
              <a:t>Python and the Natural Language Toolkit (NLTK)</a:t>
            </a:r>
            <a:endParaRPr/>
          </a:p>
          <a:p>
            <a:pPr marL="0" lvl="0" indent="0" algn="just" rtl="0">
              <a:spcBef>
                <a:spcPts val="0"/>
              </a:spcBef>
              <a:spcAft>
                <a:spcPts val="0"/>
              </a:spcAft>
              <a:buNone/>
            </a:pPr>
            <a:endParaRPr sz="2800" b="1">
              <a:latin typeface="Times New Roman"/>
              <a:ea typeface="Times New Roman"/>
              <a:cs typeface="Times New Roman"/>
              <a:sym typeface="Times New Roman"/>
            </a:endParaRPr>
          </a:p>
          <a:p>
            <a:pPr marL="457200" lvl="0" indent="-457200" algn="just" rtl="0">
              <a:spcBef>
                <a:spcPts val="0"/>
              </a:spcBef>
              <a:spcAft>
                <a:spcPts val="0"/>
              </a:spcAft>
              <a:buClr>
                <a:schemeClr val="dk1"/>
              </a:buClr>
              <a:buSzPts val="2800"/>
              <a:buFont typeface="Arial"/>
              <a:buChar char="•"/>
            </a:pPr>
            <a:r>
              <a:rPr lang="en-US" sz="2800">
                <a:latin typeface="Times New Roman"/>
                <a:ea typeface="Times New Roman"/>
                <a:cs typeface="Times New Roman"/>
                <a:sym typeface="Times New Roman"/>
              </a:rPr>
              <a:t>The Python programing language provides a wide range of tools and libraries for attacking specific NLP tasks. Many of these are found in the Natural Language Toolkit, or NLTK, an open source collection of libraries, programs, and education resources for building NLP programs.</a:t>
            </a:r>
            <a:endParaRPr/>
          </a:p>
          <a:p>
            <a:pPr marL="457200" lvl="0" indent="-279400" algn="just" rtl="0">
              <a:spcBef>
                <a:spcPts val="0"/>
              </a:spcBef>
              <a:spcAft>
                <a:spcPts val="0"/>
              </a:spcAft>
              <a:buClr>
                <a:schemeClr val="dk1"/>
              </a:buClr>
              <a:buSzPts val="2800"/>
              <a:buFont typeface="Arial"/>
              <a:buNone/>
            </a:pPr>
            <a:endParaRPr sz="2800">
              <a:latin typeface="Times New Roman"/>
              <a:ea typeface="Times New Roman"/>
              <a:cs typeface="Times New Roman"/>
              <a:sym typeface="Times New Roman"/>
            </a:endParaRPr>
          </a:p>
          <a:p>
            <a:pPr marL="457200" lvl="0" indent="-457200" algn="just" rtl="0">
              <a:spcBef>
                <a:spcPts val="0"/>
              </a:spcBef>
              <a:spcAft>
                <a:spcPts val="0"/>
              </a:spcAft>
              <a:buClr>
                <a:schemeClr val="dk1"/>
              </a:buClr>
              <a:buSzPts val="2800"/>
              <a:buFont typeface="Arial"/>
              <a:buChar char="•"/>
            </a:pPr>
            <a:r>
              <a:rPr lang="en-US" sz="2800">
                <a:latin typeface="Times New Roman"/>
                <a:ea typeface="Times New Roman"/>
                <a:cs typeface="Times New Roman"/>
                <a:sym typeface="Times New Roman"/>
              </a:rPr>
              <a:t>The NLTK includes libraries for many of the NLP tasks listed above, plus libraries for subtasks, such as sentence parsing, word segmentation, stemming and lemmatization (methods of trimming words down to their roots), and tokenization (for breaking phrases, sentences, paragraphs and passages into tokens that help the computer better understand the text).</a:t>
            </a:r>
            <a:endParaRPr/>
          </a:p>
          <a:p>
            <a:pPr marL="457200" lvl="0" indent="-279400" algn="just" rtl="0">
              <a:spcBef>
                <a:spcPts val="0"/>
              </a:spcBef>
              <a:spcAft>
                <a:spcPts val="0"/>
              </a:spcAft>
              <a:buClr>
                <a:schemeClr val="dk1"/>
              </a:buClr>
              <a:buSzPts val="2800"/>
              <a:buFont typeface="Arial"/>
              <a:buNone/>
            </a:pPr>
            <a:endParaRPr sz="2800">
              <a:latin typeface="Times New Roman"/>
              <a:ea typeface="Times New Roman"/>
              <a:cs typeface="Times New Roman"/>
              <a:sym typeface="Times New Roman"/>
            </a:endParaRPr>
          </a:p>
          <a:p>
            <a:pPr marL="457200" lvl="0" indent="-457200" algn="just" rtl="0">
              <a:spcBef>
                <a:spcPts val="0"/>
              </a:spcBef>
              <a:spcAft>
                <a:spcPts val="0"/>
              </a:spcAft>
              <a:buClr>
                <a:schemeClr val="dk1"/>
              </a:buClr>
              <a:buSzPts val="2800"/>
              <a:buFont typeface="Arial"/>
              <a:buChar char="•"/>
            </a:pPr>
            <a:r>
              <a:rPr lang="en-US" sz="2800">
                <a:latin typeface="Times New Roman"/>
                <a:ea typeface="Times New Roman"/>
                <a:cs typeface="Times New Roman"/>
                <a:sym typeface="Times New Roman"/>
              </a:rPr>
              <a:t>It also includes libraries for implementing capabilities such as semantic reasoning, the ability to reach logical conclusions based on facts extracted from text.</a:t>
            </a:r>
            <a:endParaRPr/>
          </a:p>
          <a:p>
            <a:pPr marL="0" lvl="0" indent="0" algn="just" rtl="0">
              <a:spcBef>
                <a:spcPts val="0"/>
              </a:spcBef>
              <a:spcAft>
                <a:spcPts val="0"/>
              </a:spcAft>
              <a:buNone/>
            </a:pPr>
            <a:endParaRPr sz="2800">
              <a:latin typeface="Times New Roman"/>
              <a:ea typeface="Times New Roman"/>
              <a:cs typeface="Times New Roman"/>
              <a:sym typeface="Times New Roman"/>
            </a:endParaRPr>
          </a:p>
        </p:txBody>
      </p:sp>
      <p:sp>
        <p:nvSpPr>
          <p:cNvPr id="77" name="Google Shape;77;p5"/>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6"/>
          <p:cNvSpPr txBox="1">
            <a:spLocks noGrp="1"/>
          </p:cNvSpPr>
          <p:nvPr>
            <p:ph type="title"/>
          </p:nvPr>
        </p:nvSpPr>
        <p:spPr>
          <a:xfrm>
            <a:off x="238252" y="304800"/>
            <a:ext cx="9743948" cy="1392689"/>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sz="3200" b="1">
                <a:solidFill>
                  <a:srgbClr val="0070C0"/>
                </a:solidFill>
                <a:latin typeface="Times New Roman"/>
                <a:ea typeface="Times New Roman"/>
                <a:cs typeface="Times New Roman"/>
                <a:sym typeface="Times New Roman"/>
              </a:rPr>
              <a:t>2) Statistical NLP, machine learning, and deep learning</a:t>
            </a:r>
            <a:r>
              <a:rPr lang="en-US" sz="2400" b="1">
                <a:solidFill>
                  <a:srgbClr val="0070C0"/>
                </a:solidFill>
                <a:latin typeface="Times New Roman"/>
                <a:ea typeface="Times New Roman"/>
                <a:cs typeface="Times New Roman"/>
                <a:sym typeface="Times New Roman"/>
              </a:rPr>
              <a:t/>
            </a:r>
            <a:br>
              <a:rPr lang="en-US" sz="2400" b="1">
                <a:solidFill>
                  <a:srgbClr val="0070C0"/>
                </a:solidFill>
                <a:latin typeface="Times New Roman"/>
                <a:ea typeface="Times New Roman"/>
                <a:cs typeface="Times New Roman"/>
                <a:sym typeface="Times New Roman"/>
              </a:rPr>
            </a:br>
            <a:endParaRPr b="1">
              <a:solidFill>
                <a:srgbClr val="0070C0"/>
              </a:solidFill>
            </a:endParaRPr>
          </a:p>
        </p:txBody>
      </p:sp>
      <p:sp>
        <p:nvSpPr>
          <p:cNvPr id="83" name="Google Shape;83;p6"/>
          <p:cNvSpPr txBox="1">
            <a:spLocks noGrp="1"/>
          </p:cNvSpPr>
          <p:nvPr>
            <p:ph type="body" idx="1"/>
          </p:nvPr>
        </p:nvSpPr>
        <p:spPr>
          <a:xfrm>
            <a:off x="220579" y="838200"/>
            <a:ext cx="9591548" cy="7325082"/>
          </a:xfrm>
          <a:prstGeom prst="rect">
            <a:avLst/>
          </a:prstGeom>
          <a:noFill/>
          <a:ln>
            <a:noFill/>
          </a:ln>
        </p:spPr>
        <p:txBody>
          <a:bodyPr spcFirstLastPara="1" wrap="square" lIns="0" tIns="0" rIns="0" bIns="0" anchor="t" anchorCtr="0">
            <a:spAutoFit/>
          </a:bodyPr>
          <a:lstStyle/>
          <a:p>
            <a:pPr marL="457200" lvl="0" indent="-457200" algn="just" rtl="0">
              <a:spcBef>
                <a:spcPts val="0"/>
              </a:spcBef>
              <a:spcAft>
                <a:spcPts val="0"/>
              </a:spcAft>
              <a:buClr>
                <a:schemeClr val="dk1"/>
              </a:buClr>
              <a:buSzPts val="2800"/>
              <a:buFont typeface="Arial"/>
              <a:buChar char="•"/>
            </a:pPr>
            <a:r>
              <a:rPr lang="en-US" sz="2800">
                <a:latin typeface="Times New Roman"/>
                <a:ea typeface="Times New Roman"/>
                <a:cs typeface="Times New Roman"/>
                <a:sym typeface="Times New Roman"/>
              </a:rPr>
              <a:t>The earliest NLP applications were hand-coded, rules-based systems that could perform certain NLP tasks, but couldn't easily scale to accommodate a seemingly endless stream of exceptions or the increasing volumes of text and voice data.</a:t>
            </a:r>
            <a:endParaRPr/>
          </a:p>
          <a:p>
            <a:pPr marL="457200" lvl="0" indent="-279400" algn="just" rtl="0">
              <a:spcBef>
                <a:spcPts val="0"/>
              </a:spcBef>
              <a:spcAft>
                <a:spcPts val="0"/>
              </a:spcAft>
              <a:buClr>
                <a:schemeClr val="dk1"/>
              </a:buClr>
              <a:buSzPts val="2800"/>
              <a:buFont typeface="Arial"/>
              <a:buNone/>
            </a:pPr>
            <a:endParaRPr sz="2800">
              <a:latin typeface="Times New Roman"/>
              <a:ea typeface="Times New Roman"/>
              <a:cs typeface="Times New Roman"/>
              <a:sym typeface="Times New Roman"/>
            </a:endParaRPr>
          </a:p>
          <a:p>
            <a:pPr marL="457200" lvl="0" indent="-457200" algn="just" rtl="0">
              <a:spcBef>
                <a:spcPts val="0"/>
              </a:spcBef>
              <a:spcAft>
                <a:spcPts val="0"/>
              </a:spcAft>
              <a:buClr>
                <a:schemeClr val="dk1"/>
              </a:buClr>
              <a:buSzPts val="2800"/>
              <a:buFont typeface="Arial"/>
              <a:buChar char="•"/>
            </a:pPr>
            <a:r>
              <a:rPr lang="en-US" sz="2800">
                <a:latin typeface="Times New Roman"/>
                <a:ea typeface="Times New Roman"/>
                <a:cs typeface="Times New Roman"/>
                <a:sym typeface="Times New Roman"/>
              </a:rPr>
              <a:t>Statistical NLP combines computer algorithms with machine learning and </a:t>
            </a:r>
            <a:r>
              <a:rPr lang="en-US" sz="2800" u="sng">
                <a:solidFill>
                  <a:schemeClr val="hlink"/>
                </a:solidFill>
                <a:latin typeface="Times New Roman"/>
                <a:ea typeface="Times New Roman"/>
                <a:cs typeface="Times New Roman"/>
                <a:sym typeface="Times New Roman"/>
                <a:hlinkClick r:id="rId3"/>
              </a:rPr>
              <a:t>deep learning</a:t>
            </a:r>
            <a:r>
              <a:rPr lang="en-US" sz="2800">
                <a:latin typeface="Times New Roman"/>
                <a:ea typeface="Times New Roman"/>
                <a:cs typeface="Times New Roman"/>
                <a:sym typeface="Times New Roman"/>
              </a:rPr>
              <a:t> models to automatically extract, classify, and label elements of text and voice data and then assign a statistical likelihood to each possible meaning of those elements.</a:t>
            </a:r>
            <a:endParaRPr/>
          </a:p>
          <a:p>
            <a:pPr marL="457200" lvl="0" indent="-279400" algn="just" rtl="0">
              <a:spcBef>
                <a:spcPts val="0"/>
              </a:spcBef>
              <a:spcAft>
                <a:spcPts val="0"/>
              </a:spcAft>
              <a:buClr>
                <a:schemeClr val="dk1"/>
              </a:buClr>
              <a:buSzPts val="2800"/>
              <a:buFont typeface="Arial"/>
              <a:buNone/>
            </a:pPr>
            <a:endParaRPr sz="2800">
              <a:latin typeface="Times New Roman"/>
              <a:ea typeface="Times New Roman"/>
              <a:cs typeface="Times New Roman"/>
              <a:sym typeface="Times New Roman"/>
            </a:endParaRPr>
          </a:p>
          <a:p>
            <a:pPr marL="457200" lvl="0" indent="-457200" algn="just" rtl="0">
              <a:spcBef>
                <a:spcPts val="0"/>
              </a:spcBef>
              <a:spcAft>
                <a:spcPts val="0"/>
              </a:spcAft>
              <a:buClr>
                <a:schemeClr val="dk1"/>
              </a:buClr>
              <a:buSzPts val="2800"/>
              <a:buFont typeface="Arial"/>
              <a:buChar char="•"/>
            </a:pPr>
            <a:r>
              <a:rPr lang="en-US" sz="2800">
                <a:latin typeface="Times New Roman"/>
                <a:ea typeface="Times New Roman"/>
                <a:cs typeface="Times New Roman"/>
                <a:sym typeface="Times New Roman"/>
              </a:rPr>
              <a:t>Today, deep learning models and learning techniques based on convolutional neural networks (CNNs) and recurrent neural networks (RNNs) enable NLP systems that 'learn' as they work and extract ever more accurate meaning from huge volumes of raw, unstructured, and unlabeled text and voice data sets. </a:t>
            </a:r>
            <a:endParaRPr/>
          </a:p>
          <a:p>
            <a:pPr marL="457200" lvl="0" indent="-279400" algn="just" rtl="0">
              <a:spcBef>
                <a:spcPts val="0"/>
              </a:spcBef>
              <a:spcAft>
                <a:spcPts val="0"/>
              </a:spcAft>
              <a:buClr>
                <a:schemeClr val="dk1"/>
              </a:buClr>
              <a:buSzPts val="2800"/>
              <a:buFont typeface="Arial"/>
              <a:buNone/>
            </a:pPr>
            <a:endParaRPr sz="2800">
              <a:latin typeface="Times New Roman"/>
              <a:ea typeface="Times New Roman"/>
              <a:cs typeface="Times New Roman"/>
              <a:sym typeface="Times New Roman"/>
            </a:endParaRPr>
          </a:p>
        </p:txBody>
      </p:sp>
      <p:sp>
        <p:nvSpPr>
          <p:cNvPr id="84" name="Google Shape;84;p6"/>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88"/>
        <p:cNvGrpSpPr/>
        <p:nvPr/>
      </p:nvGrpSpPr>
      <p:grpSpPr>
        <a:xfrm>
          <a:off x="0" y="0"/>
          <a:ext cx="0" cy="0"/>
          <a:chOff x="0" y="0"/>
          <a:chExt cx="0" cy="0"/>
        </a:xfrm>
      </p:grpSpPr>
      <p:sp>
        <p:nvSpPr>
          <p:cNvPr id="89" name="Google Shape;89;p7"/>
          <p:cNvSpPr txBox="1">
            <a:spLocks noGrp="1"/>
          </p:cNvSpPr>
          <p:nvPr>
            <p:ph type="title"/>
          </p:nvPr>
        </p:nvSpPr>
        <p:spPr>
          <a:xfrm>
            <a:off x="754126" y="1263396"/>
            <a:ext cx="685800" cy="52895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300"/>
              <a:t>NLP</a:t>
            </a:r>
            <a:endParaRPr sz="3300"/>
          </a:p>
        </p:txBody>
      </p:sp>
      <p:sp>
        <p:nvSpPr>
          <p:cNvPr id="90" name="Google Shape;90;p7"/>
          <p:cNvSpPr txBox="1"/>
          <p:nvPr/>
        </p:nvSpPr>
        <p:spPr>
          <a:xfrm>
            <a:off x="267208" y="2116074"/>
            <a:ext cx="8884920" cy="4323715"/>
          </a:xfrm>
          <a:prstGeom prst="rect">
            <a:avLst/>
          </a:prstGeom>
          <a:noFill/>
          <a:ln>
            <a:noFill/>
          </a:ln>
        </p:spPr>
        <p:txBody>
          <a:bodyPr spcFirstLastPara="1" wrap="square" lIns="0" tIns="50150" rIns="0" bIns="0" anchor="t" anchorCtr="0">
            <a:spAutoFit/>
          </a:bodyPr>
          <a:lstStyle/>
          <a:p>
            <a:pPr marL="201295" marR="5080" lvl="0" indent="-189230" algn="l" rtl="0">
              <a:lnSpc>
                <a:spcPct val="108695"/>
              </a:lnSpc>
              <a:spcBef>
                <a:spcPts val="0"/>
              </a:spcBef>
              <a:spcAft>
                <a:spcPts val="0"/>
              </a:spcAft>
              <a:buClr>
                <a:schemeClr val="dk1"/>
              </a:buClr>
              <a:buSzPts val="2300"/>
              <a:buFont typeface="Arial"/>
              <a:buChar char="•"/>
            </a:pPr>
            <a:r>
              <a:rPr lang="en-US" sz="2300" b="0" i="0" u="none" strike="noStrike" cap="none">
                <a:solidFill>
                  <a:schemeClr val="dk1"/>
                </a:solidFill>
                <a:latin typeface="Calibri"/>
                <a:ea typeface="Calibri"/>
                <a:cs typeface="Calibri"/>
                <a:sym typeface="Calibri"/>
              </a:rPr>
              <a:t>NLP is a set of techniques / methods / processes to extract meaning from  text</a:t>
            </a:r>
            <a:endParaRPr sz="2300" b="0" i="0" u="none" strike="noStrike" cap="none">
              <a:solidFill>
                <a:schemeClr val="dk1"/>
              </a:solidFill>
              <a:latin typeface="Calibri"/>
              <a:ea typeface="Calibri"/>
              <a:cs typeface="Calibri"/>
              <a:sym typeface="Calibri"/>
            </a:endParaRPr>
          </a:p>
          <a:p>
            <a:pPr marL="201295" marR="333375" lvl="0" indent="-189230" algn="l" rtl="0">
              <a:lnSpc>
                <a:spcPct val="108695"/>
              </a:lnSpc>
              <a:spcBef>
                <a:spcPts val="795"/>
              </a:spcBef>
              <a:spcAft>
                <a:spcPts val="0"/>
              </a:spcAft>
              <a:buClr>
                <a:schemeClr val="dk1"/>
              </a:buClr>
              <a:buSzPts val="2300"/>
              <a:buFont typeface="Arial"/>
              <a:buChar char="•"/>
            </a:pPr>
            <a:r>
              <a:rPr lang="en-US" sz="2300" b="0" i="0" u="none" strike="noStrike" cap="none">
                <a:solidFill>
                  <a:schemeClr val="dk1"/>
                </a:solidFill>
                <a:latin typeface="Calibri"/>
                <a:ea typeface="Calibri"/>
                <a:cs typeface="Calibri"/>
                <a:sym typeface="Calibri"/>
              </a:rPr>
              <a:t>NLP techniques have to look at words, phrases, sentences, paragraphs,  documents …… in that order.</a:t>
            </a:r>
            <a:endParaRPr sz="2300" b="0" i="0" u="none" strike="noStrike" cap="none">
              <a:solidFill>
                <a:schemeClr val="dk1"/>
              </a:solidFill>
              <a:latin typeface="Calibri"/>
              <a:ea typeface="Calibri"/>
              <a:cs typeface="Calibri"/>
              <a:sym typeface="Calibri"/>
            </a:endParaRPr>
          </a:p>
          <a:p>
            <a:pPr marL="0" marR="0" lvl="0" indent="0" algn="l" rtl="0">
              <a:lnSpc>
                <a:spcPct val="100000"/>
              </a:lnSpc>
              <a:spcBef>
                <a:spcPts val="25"/>
              </a:spcBef>
              <a:spcAft>
                <a:spcPts val="0"/>
              </a:spcAft>
              <a:buClr>
                <a:schemeClr val="dk1"/>
              </a:buClr>
              <a:buSzPts val="3000"/>
              <a:buFont typeface="Arial"/>
              <a:buNone/>
            </a:pPr>
            <a:endParaRPr sz="3000" b="0" i="0" u="none" strike="noStrike" cap="none">
              <a:solidFill>
                <a:schemeClr val="dk1"/>
              </a:solidFill>
              <a:latin typeface="Calibri"/>
              <a:ea typeface="Calibri"/>
              <a:cs typeface="Calibri"/>
              <a:sym typeface="Calibri"/>
            </a:endParaRPr>
          </a:p>
          <a:p>
            <a:pPr marL="201295" marR="0" lvl="0" indent="-189230" algn="l" rtl="0">
              <a:lnSpc>
                <a:spcPct val="100000"/>
              </a:lnSpc>
              <a:spcBef>
                <a:spcPts val="0"/>
              </a:spcBef>
              <a:spcAft>
                <a:spcPts val="0"/>
              </a:spcAft>
              <a:buClr>
                <a:schemeClr val="dk1"/>
              </a:buClr>
              <a:buSzPts val="2300"/>
              <a:buFont typeface="Arial"/>
              <a:buChar char="•"/>
            </a:pPr>
            <a:r>
              <a:rPr lang="en-US" sz="2300" b="0" i="0" u="none" strike="noStrike" cap="none">
                <a:solidFill>
                  <a:schemeClr val="dk1"/>
                </a:solidFill>
                <a:latin typeface="Calibri"/>
                <a:ea typeface="Calibri"/>
                <a:cs typeface="Calibri"/>
                <a:sym typeface="Calibri"/>
              </a:rPr>
              <a:t>Challenges in NLP</a:t>
            </a:r>
            <a:endParaRPr sz="2300" b="0" i="0" u="none" strike="noStrike" cap="none">
              <a:solidFill>
                <a:schemeClr val="dk1"/>
              </a:solidFill>
              <a:latin typeface="Calibri"/>
              <a:ea typeface="Calibri"/>
              <a:cs typeface="Calibri"/>
              <a:sym typeface="Calibri"/>
            </a:endParaRPr>
          </a:p>
          <a:p>
            <a:pPr marL="235584" marR="0" lvl="1" indent="-157480" algn="l" rtl="0">
              <a:lnSpc>
                <a:spcPct val="100000"/>
              </a:lnSpc>
              <a:spcBef>
                <a:spcPts val="600"/>
              </a:spcBef>
              <a:spcAft>
                <a:spcPts val="0"/>
              </a:spcAft>
              <a:buClr>
                <a:schemeClr val="dk1"/>
              </a:buClr>
              <a:buSzPts val="2300"/>
              <a:buFont typeface="Calibri"/>
              <a:buChar char="-"/>
            </a:pPr>
            <a:r>
              <a:rPr lang="en-US" sz="2300" b="0" i="0" u="none" strike="noStrike" cap="none">
                <a:solidFill>
                  <a:schemeClr val="dk1"/>
                </a:solidFill>
                <a:latin typeface="Calibri"/>
                <a:ea typeface="Calibri"/>
                <a:cs typeface="Calibri"/>
                <a:sym typeface="Calibri"/>
              </a:rPr>
              <a:t>Ambiguity in Natural languages</a:t>
            </a:r>
            <a:endParaRPr sz="2300" b="0" i="0" u="none" strike="noStrike" cap="none">
              <a:solidFill>
                <a:schemeClr val="dk1"/>
              </a:solidFill>
              <a:latin typeface="Calibri"/>
              <a:ea typeface="Calibri"/>
              <a:cs typeface="Calibri"/>
              <a:sym typeface="Calibri"/>
            </a:endParaRPr>
          </a:p>
          <a:p>
            <a:pPr marL="280035" marR="0" lvl="0" indent="0" algn="l" rtl="0">
              <a:lnSpc>
                <a:spcPct val="100000"/>
              </a:lnSpc>
              <a:spcBef>
                <a:spcPts val="919"/>
              </a:spcBef>
              <a:spcAft>
                <a:spcPts val="0"/>
              </a:spcAft>
              <a:buNone/>
            </a:pPr>
            <a:r>
              <a:rPr lang="en-US" sz="1950" b="0" i="0" u="none" strike="noStrike" cap="none">
                <a:solidFill>
                  <a:schemeClr val="dk1"/>
                </a:solidFill>
                <a:latin typeface="Calibri"/>
                <a:ea typeface="Calibri"/>
                <a:cs typeface="Calibri"/>
                <a:sym typeface="Calibri"/>
              </a:rPr>
              <a:t>e.g.</a:t>
            </a:r>
            <a:endParaRPr sz="1950" b="0" i="0" u="none" strike="noStrike" cap="none">
              <a:solidFill>
                <a:schemeClr val="dk1"/>
              </a:solidFill>
              <a:latin typeface="Calibri"/>
              <a:ea typeface="Calibri"/>
              <a:cs typeface="Calibri"/>
              <a:sym typeface="Calibri"/>
            </a:endParaRPr>
          </a:p>
          <a:p>
            <a:pPr marL="181610" marR="0" lvl="0" indent="0" algn="l" rtl="0">
              <a:lnSpc>
                <a:spcPct val="100000"/>
              </a:lnSpc>
              <a:spcBef>
                <a:spcPts val="1019"/>
              </a:spcBef>
              <a:spcAft>
                <a:spcPts val="0"/>
              </a:spcAft>
              <a:buNone/>
            </a:pPr>
            <a:r>
              <a:rPr lang="en-US" sz="1650" b="0" i="0" u="none" strike="noStrike" cap="none">
                <a:solidFill>
                  <a:schemeClr val="dk1"/>
                </a:solidFill>
                <a:latin typeface="Calibri"/>
                <a:ea typeface="Calibri"/>
                <a:cs typeface="Calibri"/>
                <a:sym typeface="Calibri"/>
              </a:rPr>
              <a:t>( computers can not process ambiguity – deterministic in nature – NFA/DFA, tractable problems)</a:t>
            </a:r>
            <a:endParaRPr sz="1650" b="0" i="0" u="none" strike="noStrike" cap="none">
              <a:solidFill>
                <a:schemeClr val="dk1"/>
              </a:solidFill>
              <a:latin typeface="Calibri"/>
              <a:ea typeface="Calibri"/>
              <a:cs typeface="Calibri"/>
              <a:sym typeface="Calibri"/>
            </a:endParaRPr>
          </a:p>
          <a:p>
            <a:pPr marL="170815" marR="0" lvl="1" indent="-104774" algn="l" rtl="0">
              <a:lnSpc>
                <a:spcPct val="100000"/>
              </a:lnSpc>
              <a:spcBef>
                <a:spcPts val="565"/>
              </a:spcBef>
              <a:spcAft>
                <a:spcPts val="0"/>
              </a:spcAft>
              <a:buClr>
                <a:schemeClr val="dk1"/>
              </a:buClr>
              <a:buSzPts val="1650"/>
              <a:buFont typeface="Calibri"/>
              <a:buChar char="-"/>
            </a:pPr>
            <a:r>
              <a:rPr lang="en-US" sz="2300" b="0" i="0" u="none" strike="noStrike" cap="none">
                <a:solidFill>
                  <a:schemeClr val="dk1"/>
                </a:solidFill>
                <a:latin typeface="Calibri"/>
                <a:ea typeface="Calibri"/>
                <a:cs typeface="Calibri"/>
                <a:sym typeface="Calibri"/>
              </a:rPr>
              <a:t>Understanding syntax / Grammar</a:t>
            </a:r>
            <a:endParaRPr sz="2300" b="0" i="0" u="none" strike="noStrike" cap="none">
              <a:solidFill>
                <a:schemeClr val="dk1"/>
              </a:solidFill>
              <a:latin typeface="Calibri"/>
              <a:ea typeface="Calibri"/>
              <a:cs typeface="Calibri"/>
              <a:sym typeface="Calibri"/>
            </a:endParaRPr>
          </a:p>
          <a:p>
            <a:pPr marL="170815" marR="0" lvl="1" indent="-104774" algn="l" rtl="0">
              <a:lnSpc>
                <a:spcPct val="100000"/>
              </a:lnSpc>
              <a:spcBef>
                <a:spcPts val="600"/>
              </a:spcBef>
              <a:spcAft>
                <a:spcPts val="0"/>
              </a:spcAft>
              <a:buClr>
                <a:schemeClr val="dk1"/>
              </a:buClr>
              <a:buSzPts val="1650"/>
              <a:buFont typeface="Calibri"/>
              <a:buChar char="-"/>
            </a:pPr>
            <a:r>
              <a:rPr lang="en-US" sz="2300" b="0" i="0" u="none" strike="noStrike" cap="none">
                <a:solidFill>
                  <a:schemeClr val="dk1"/>
                </a:solidFill>
                <a:latin typeface="Calibri"/>
                <a:ea typeface="Calibri"/>
                <a:cs typeface="Calibri"/>
                <a:sym typeface="Calibri"/>
              </a:rPr>
              <a:t>Understanding Semantics</a:t>
            </a:r>
            <a:endParaRPr sz="2300" b="0" i="0" u="none" strike="noStrike" cap="none">
              <a:solidFill>
                <a:schemeClr val="dk1"/>
              </a:solidFill>
              <a:latin typeface="Calibri"/>
              <a:ea typeface="Calibri"/>
              <a:cs typeface="Calibri"/>
              <a:sym typeface="Calibri"/>
            </a:endParaRPr>
          </a:p>
        </p:txBody>
      </p:sp>
      <p:sp>
        <p:nvSpPr>
          <p:cNvPr id="91" name="Google Shape;91;p7"/>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8"/>
          <p:cNvSpPr txBox="1"/>
          <p:nvPr/>
        </p:nvSpPr>
        <p:spPr>
          <a:xfrm>
            <a:off x="800100" y="533400"/>
            <a:ext cx="876300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0070C0"/>
                </a:solidFill>
                <a:latin typeface="Times New Roman"/>
                <a:ea typeface="Times New Roman"/>
                <a:cs typeface="Times New Roman"/>
                <a:sym typeface="Times New Roman"/>
              </a:rPr>
              <a:t>Role of NLP in CS</a:t>
            </a:r>
            <a:endParaRPr/>
          </a:p>
        </p:txBody>
      </p:sp>
      <p:sp>
        <p:nvSpPr>
          <p:cNvPr id="97" name="Google Shape;97;p8"/>
          <p:cNvSpPr txBox="1"/>
          <p:nvPr/>
        </p:nvSpPr>
        <p:spPr>
          <a:xfrm>
            <a:off x="152400" y="1828800"/>
            <a:ext cx="9677400" cy="3108543"/>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800">
                <a:solidFill>
                  <a:schemeClr val="dk1"/>
                </a:solidFill>
                <a:latin typeface="Times New Roman"/>
                <a:ea typeface="Times New Roman"/>
                <a:cs typeface="Times New Roman"/>
                <a:sym typeface="Times New Roman"/>
              </a:rPr>
              <a:t>Natural Language Processing is a form of AI that </a:t>
            </a:r>
            <a:r>
              <a:rPr lang="en-US" sz="2800" b="1">
                <a:solidFill>
                  <a:schemeClr val="dk1"/>
                </a:solidFill>
                <a:latin typeface="Times New Roman"/>
                <a:ea typeface="Times New Roman"/>
                <a:cs typeface="Times New Roman"/>
                <a:sym typeface="Times New Roman"/>
              </a:rPr>
              <a:t>gives machines the ability to not just read, but to understand and interpret human language</a:t>
            </a:r>
            <a:r>
              <a:rPr lang="en-US" sz="2800">
                <a:solidFill>
                  <a:schemeClr val="dk1"/>
                </a:solidFill>
                <a:latin typeface="Times New Roman"/>
                <a:ea typeface="Times New Roman"/>
                <a:cs typeface="Times New Roman"/>
                <a:sym typeface="Times New Roman"/>
              </a:rPr>
              <a:t>. </a:t>
            </a:r>
            <a:endParaRPr/>
          </a:p>
          <a:p>
            <a:pPr marL="0" marR="0" lvl="0" indent="0" algn="just" rtl="0">
              <a:spcBef>
                <a:spcPts val="0"/>
              </a:spcBef>
              <a:spcAft>
                <a:spcPts val="0"/>
              </a:spcAft>
              <a:buNone/>
            </a:pPr>
            <a:endParaRPr sz="280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2800">
                <a:solidFill>
                  <a:schemeClr val="dk1"/>
                </a:solidFill>
                <a:latin typeface="Times New Roman"/>
                <a:ea typeface="Times New Roman"/>
                <a:cs typeface="Times New Roman"/>
                <a:sym typeface="Times New Roman"/>
              </a:rPr>
              <a:t>With NLP, machines can make sense of written or spoken text and perform tasks including speech recognition, sentiment analysis, and automatic text summarization</a:t>
            </a:r>
            <a:endParaRPr sz="2800">
              <a:solidFill>
                <a:schemeClr val="dk1"/>
              </a:solidFill>
              <a:latin typeface="Times New Roman"/>
              <a:ea typeface="Times New Roman"/>
              <a:cs typeface="Times New Roman"/>
              <a:sym typeface="Times New Roman"/>
            </a:endParaRPr>
          </a:p>
        </p:txBody>
      </p:sp>
      <p:sp>
        <p:nvSpPr>
          <p:cNvPr id="98" name="Google Shape;98;p8"/>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9"/>
          <p:cNvSpPr txBox="1"/>
          <p:nvPr/>
        </p:nvSpPr>
        <p:spPr>
          <a:xfrm>
            <a:off x="990600" y="304800"/>
            <a:ext cx="7010400"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0070C0"/>
                </a:solidFill>
                <a:latin typeface="Times New Roman"/>
                <a:ea typeface="Times New Roman"/>
                <a:cs typeface="Times New Roman"/>
                <a:sym typeface="Times New Roman"/>
              </a:rPr>
              <a:t>Why is NLP important?</a:t>
            </a:r>
            <a:endParaRPr/>
          </a:p>
          <a:p>
            <a:pPr marL="0" marR="0" lvl="0" indent="0" algn="l" rtl="0">
              <a:spcBef>
                <a:spcPts val="0"/>
              </a:spcBef>
              <a:spcAft>
                <a:spcPts val="0"/>
              </a:spcAft>
              <a:buNone/>
            </a:pPr>
            <a:endParaRPr sz="3600" b="1">
              <a:solidFill>
                <a:srgbClr val="0070C0"/>
              </a:solidFill>
              <a:latin typeface="Times New Roman"/>
              <a:ea typeface="Times New Roman"/>
              <a:cs typeface="Times New Roman"/>
              <a:sym typeface="Times New Roman"/>
            </a:endParaRPr>
          </a:p>
        </p:txBody>
      </p:sp>
      <p:sp>
        <p:nvSpPr>
          <p:cNvPr id="104" name="Google Shape;104;p9"/>
          <p:cNvSpPr txBox="1"/>
          <p:nvPr/>
        </p:nvSpPr>
        <p:spPr>
          <a:xfrm>
            <a:off x="304800" y="1254710"/>
            <a:ext cx="9525000" cy="6124754"/>
          </a:xfrm>
          <a:prstGeom prst="rect">
            <a:avLst/>
          </a:prstGeom>
          <a:noFill/>
          <a:ln>
            <a:noFill/>
          </a:ln>
        </p:spPr>
        <p:txBody>
          <a:bodyPr spcFirstLastPara="1" wrap="square" lIns="91425" tIns="45700" rIns="91425" bIns="45700" anchor="t" anchorCtr="0">
            <a:spAutoFit/>
          </a:bodyPr>
          <a:lstStyle/>
          <a:p>
            <a:pPr marL="514350" marR="0" lvl="0" indent="-514350" algn="just" rtl="0">
              <a:spcBef>
                <a:spcPts val="0"/>
              </a:spcBef>
              <a:spcAft>
                <a:spcPts val="0"/>
              </a:spcAft>
              <a:buClr>
                <a:schemeClr val="dk1"/>
              </a:buClr>
              <a:buSzPts val="2800"/>
              <a:buFont typeface="Times New Roman"/>
              <a:buAutoNum type="arabicPeriod"/>
            </a:pPr>
            <a:r>
              <a:rPr lang="en-US" sz="2800" b="1">
                <a:solidFill>
                  <a:schemeClr val="dk1"/>
                </a:solidFill>
                <a:latin typeface="Times New Roman"/>
                <a:ea typeface="Times New Roman"/>
                <a:cs typeface="Times New Roman"/>
                <a:sym typeface="Times New Roman"/>
              </a:rPr>
              <a:t>Large volumes of textual data</a:t>
            </a:r>
            <a:endParaRPr/>
          </a:p>
          <a:p>
            <a:pPr marL="0" marR="0" lvl="0" indent="0" algn="just" rtl="0">
              <a:spcBef>
                <a:spcPts val="0"/>
              </a:spcBef>
              <a:spcAft>
                <a:spcPts val="0"/>
              </a:spcAft>
              <a:buNone/>
            </a:pPr>
            <a:endParaRPr sz="2800" b="1">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2800">
                <a:solidFill>
                  <a:schemeClr val="dk1"/>
                </a:solidFill>
                <a:latin typeface="Times New Roman"/>
                <a:ea typeface="Times New Roman"/>
                <a:cs typeface="Times New Roman"/>
                <a:sym typeface="Times New Roman"/>
              </a:rPr>
              <a:t>Natural language processing helps computers communicate with humans in their own language and scales other language-related tasks. For example, NLP makes it possible for computers to read text, hear speech, interpret it, measure sentiment and determine which parts are important. </a:t>
            </a:r>
            <a:endParaRPr/>
          </a:p>
          <a:p>
            <a:pPr marL="0" marR="0" lvl="0" indent="0" algn="just" rtl="0">
              <a:spcBef>
                <a:spcPts val="0"/>
              </a:spcBef>
              <a:spcAft>
                <a:spcPts val="0"/>
              </a:spcAft>
              <a:buNone/>
            </a:pPr>
            <a:endParaRPr sz="280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2800">
                <a:solidFill>
                  <a:schemeClr val="dk1"/>
                </a:solidFill>
                <a:latin typeface="Times New Roman"/>
                <a:ea typeface="Times New Roman"/>
                <a:cs typeface="Times New Roman"/>
                <a:sym typeface="Times New Roman"/>
              </a:rPr>
              <a:t>Today’s machines can analyze more language-based data than humans, without fatigue and in a consistent, unbiased way. Considering the staggering amount of unstructured data that’s generated every day, from medical records to social media, automation will be critical to fully analyze text and speech data efficiently.</a:t>
            </a:r>
            <a:endParaRPr/>
          </a:p>
        </p:txBody>
      </p:sp>
      <p:sp>
        <p:nvSpPr>
          <p:cNvPr id="105" name="Google Shape;105;p9"/>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0"/>
          <p:cNvSpPr/>
          <p:nvPr/>
        </p:nvSpPr>
        <p:spPr>
          <a:xfrm>
            <a:off x="152400" y="0"/>
            <a:ext cx="9753600" cy="784830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800" b="1">
                <a:solidFill>
                  <a:schemeClr val="dk1"/>
                </a:solidFill>
                <a:latin typeface="Times New Roman"/>
                <a:ea typeface="Times New Roman"/>
                <a:cs typeface="Times New Roman"/>
                <a:sym typeface="Times New Roman"/>
              </a:rPr>
              <a:t>2. Structuring a highly unstructured data source</a:t>
            </a:r>
            <a:endParaRPr/>
          </a:p>
          <a:p>
            <a:pPr marL="457200" marR="0" lvl="0" indent="-457200" algn="just" rtl="0">
              <a:spcBef>
                <a:spcPts val="0"/>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Human language is astoundingly complex and diverse. We express ourselves in infinite ways, both verbally and in writing. Not only are there hundreds of languages and dialects, but within each language is a unique set of grammar and syntax rules, terms and slang. When we write, we often misspell or abbreviate words, or omit punctuation. When we speak, we have regional accents, and we mumble, stutter and borrow terms from other languages. </a:t>
            </a:r>
            <a:endParaRPr/>
          </a:p>
          <a:p>
            <a:pPr marL="457200" marR="0" lvl="0" indent="-457200" algn="just" rtl="0">
              <a:spcBef>
                <a:spcPts val="0"/>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While supervised and unsupervised learning, and specifically deep learning, are now widely used for modeling human language, there’s also a need for syntactic and semantic understanding and domain expertise that are not necessarily present in these machine learning approaches. </a:t>
            </a:r>
            <a:endParaRPr/>
          </a:p>
          <a:p>
            <a:pPr marL="457200" marR="0" lvl="0" indent="-457200" algn="just" rtl="0">
              <a:spcBef>
                <a:spcPts val="0"/>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NLP is important because it helps resolve ambiguity in language and adds useful numeric structure to the data for many downstream applications, such as speech recognition or text analytics. </a:t>
            </a:r>
            <a:endParaRPr/>
          </a:p>
        </p:txBody>
      </p:sp>
      <p:sp>
        <p:nvSpPr>
          <p:cNvPr id="111" name="Google Shape;111;p10"/>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1"/>
          <p:cNvSpPr/>
          <p:nvPr/>
        </p:nvSpPr>
        <p:spPr>
          <a:xfrm>
            <a:off x="2743200" y="2514600"/>
            <a:ext cx="3658053"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800" b="1">
                <a:solidFill>
                  <a:srgbClr val="0070C0"/>
                </a:solidFill>
                <a:latin typeface="Times New Roman"/>
                <a:ea typeface="Times New Roman"/>
                <a:cs typeface="Times New Roman"/>
                <a:sym typeface="Times New Roman"/>
              </a:rPr>
              <a:t>NLP Pipeline</a:t>
            </a:r>
            <a:endParaRPr sz="4800">
              <a:solidFill>
                <a:schemeClr val="dk1"/>
              </a:solidFill>
              <a:latin typeface="Calibri"/>
              <a:ea typeface="Calibri"/>
              <a:cs typeface="Calibri"/>
              <a:sym typeface="Calibri"/>
            </a:endParaRPr>
          </a:p>
        </p:txBody>
      </p:sp>
      <p:sp>
        <p:nvSpPr>
          <p:cNvPr id="117" name="Google Shape;117;p11"/>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121"/>
        <p:cNvGrpSpPr/>
        <p:nvPr/>
      </p:nvGrpSpPr>
      <p:grpSpPr>
        <a:xfrm>
          <a:off x="0" y="0"/>
          <a:ext cx="0" cy="0"/>
          <a:chOff x="0" y="0"/>
          <a:chExt cx="0" cy="0"/>
        </a:xfrm>
      </p:grpSpPr>
      <p:pic>
        <p:nvPicPr>
          <p:cNvPr id="122" name="Google Shape;122;p12"/>
          <p:cNvPicPr preferRelativeResize="0"/>
          <p:nvPr/>
        </p:nvPicPr>
        <p:blipFill rotWithShape="1">
          <a:blip r:embed="rId3">
            <a:alphaModFix/>
          </a:blip>
          <a:srcRect/>
          <a:stretch/>
        </p:blipFill>
        <p:spPr>
          <a:xfrm>
            <a:off x="381000" y="304800"/>
            <a:ext cx="9448800" cy="7315200"/>
          </a:xfrm>
          <a:prstGeom prst="rect">
            <a:avLst/>
          </a:prstGeom>
          <a:noFill/>
          <a:ln>
            <a:noFill/>
          </a:ln>
        </p:spPr>
      </p:pic>
      <p:sp>
        <p:nvSpPr>
          <p:cNvPr id="123" name="Google Shape;123;p12"/>
          <p:cNvSpPr/>
          <p:nvPr/>
        </p:nvSpPr>
        <p:spPr>
          <a:xfrm>
            <a:off x="4572" y="1062227"/>
            <a:ext cx="200025" cy="213360"/>
          </a:xfrm>
          <a:custGeom>
            <a:avLst/>
            <a:gdLst/>
            <a:ahLst/>
            <a:cxnLst/>
            <a:rect l="l" t="t" r="r" b="b"/>
            <a:pathLst>
              <a:path w="200025" h="213359" extrusionOk="0">
                <a:moveTo>
                  <a:pt x="200025" y="0"/>
                </a:moveTo>
                <a:lnTo>
                  <a:pt x="0" y="0"/>
                </a:lnTo>
                <a:lnTo>
                  <a:pt x="0" y="213360"/>
                </a:lnTo>
                <a:lnTo>
                  <a:pt x="200025" y="213360"/>
                </a:lnTo>
                <a:lnTo>
                  <a:pt x="200025" y="0"/>
                </a:lnTo>
                <a:close/>
              </a:path>
            </a:pathLst>
          </a:custGeom>
          <a:solidFill>
            <a:srgbClr val="FFFFD5"/>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4" name="Google Shape;124;p12"/>
          <p:cNvSpPr txBox="1"/>
          <p:nvPr/>
        </p:nvSpPr>
        <p:spPr>
          <a:xfrm>
            <a:off x="1270" y="1066038"/>
            <a:ext cx="207645" cy="20129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150">
                <a:solidFill>
                  <a:schemeClr val="dk1"/>
                </a:solidFill>
                <a:latin typeface="Arial"/>
                <a:ea typeface="Arial"/>
                <a:cs typeface="Arial"/>
                <a:sym typeface="Arial"/>
              </a:rPr>
              <a:t>D1</a:t>
            </a:r>
            <a:endParaRPr sz="1150">
              <a:solidFill>
                <a:schemeClr val="dk1"/>
              </a:solidFill>
              <a:latin typeface="Arial"/>
              <a:ea typeface="Arial"/>
              <a:cs typeface="Arial"/>
              <a:sym typeface="Arial"/>
            </a:endParaRPr>
          </a:p>
        </p:txBody>
      </p:sp>
      <p:sp>
        <p:nvSpPr>
          <p:cNvPr id="125" name="Google Shape;125;p12"/>
          <p:cNvSpPr/>
          <p:nvPr/>
        </p:nvSpPr>
        <p:spPr>
          <a:xfrm>
            <a:off x="6858" y="1064513"/>
            <a:ext cx="193675" cy="207010"/>
          </a:xfrm>
          <a:custGeom>
            <a:avLst/>
            <a:gdLst/>
            <a:ahLst/>
            <a:cxnLst/>
            <a:rect l="l" t="t" r="r" b="b"/>
            <a:pathLst>
              <a:path w="193675" h="207009" extrusionOk="0">
                <a:moveTo>
                  <a:pt x="0" y="206882"/>
                </a:moveTo>
                <a:lnTo>
                  <a:pt x="193421" y="206882"/>
                </a:lnTo>
                <a:lnTo>
                  <a:pt x="193421" y="0"/>
                </a:lnTo>
                <a:lnTo>
                  <a:pt x="0" y="0"/>
                </a:lnTo>
                <a:lnTo>
                  <a:pt x="0" y="206882"/>
                </a:lnTo>
                <a:close/>
              </a:path>
            </a:pathLst>
          </a:custGeom>
          <a:noFill/>
          <a:ln w="9525" cap="flat" cmpd="sng">
            <a:solidFill>
              <a:srgbClr val="A29F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6" name="Google Shape;126;p12"/>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g32ea231bf03_0_0"/>
          <p:cNvSpPr txBox="1">
            <a:spLocks noGrp="1"/>
          </p:cNvSpPr>
          <p:nvPr>
            <p:ph type="sldNum" idx="12"/>
          </p:nvPr>
        </p:nvSpPr>
        <p:spPr>
          <a:xfrm>
            <a:off x="7242048" y="7228332"/>
            <a:ext cx="23133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pic>
        <p:nvPicPr>
          <p:cNvPr id="133" name="Google Shape;133;g32ea231bf03_0_0"/>
          <p:cNvPicPr preferRelativeResize="0"/>
          <p:nvPr/>
        </p:nvPicPr>
        <p:blipFill>
          <a:blip r:embed="rId3">
            <a:alphaModFix/>
          </a:blip>
          <a:stretch>
            <a:fillRect/>
          </a:stretch>
        </p:blipFill>
        <p:spPr>
          <a:xfrm>
            <a:off x="2703650" y="1008625"/>
            <a:ext cx="4487300" cy="6158600"/>
          </a:xfrm>
          <a:prstGeom prst="rect">
            <a:avLst/>
          </a:prstGeom>
          <a:noFill/>
          <a:ln>
            <a:noFill/>
          </a:ln>
        </p:spPr>
      </p:pic>
      <p:sp>
        <p:nvSpPr>
          <p:cNvPr id="134" name="Google Shape;134;g32ea231bf03_0_0"/>
          <p:cNvSpPr txBox="1"/>
          <p:nvPr/>
        </p:nvSpPr>
        <p:spPr>
          <a:xfrm>
            <a:off x="0" y="0"/>
            <a:ext cx="92082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4800" b="1">
                <a:solidFill>
                  <a:srgbClr val="0070C0"/>
                </a:solidFill>
                <a:latin typeface="Times New Roman"/>
                <a:ea typeface="Times New Roman"/>
                <a:cs typeface="Times New Roman"/>
                <a:sym typeface="Times New Roman"/>
              </a:rPr>
              <a:t>NLP Pipeline</a:t>
            </a:r>
            <a:endParaRPr sz="4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138"/>
        <p:cNvGrpSpPr/>
        <p:nvPr/>
      </p:nvGrpSpPr>
      <p:grpSpPr>
        <a:xfrm>
          <a:off x="0" y="0"/>
          <a:ext cx="0" cy="0"/>
          <a:chOff x="0" y="0"/>
          <a:chExt cx="0" cy="0"/>
        </a:xfrm>
      </p:grpSpPr>
      <p:sp>
        <p:nvSpPr>
          <p:cNvPr id="139" name="Google Shape;139;p13"/>
          <p:cNvSpPr txBox="1">
            <a:spLocks noGrp="1"/>
          </p:cNvSpPr>
          <p:nvPr>
            <p:ph type="title"/>
          </p:nvPr>
        </p:nvSpPr>
        <p:spPr>
          <a:xfrm>
            <a:off x="677924" y="1252725"/>
            <a:ext cx="4573800" cy="520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300"/>
              <a:t>Lexical Analysis</a:t>
            </a:r>
            <a:endParaRPr sz="3300"/>
          </a:p>
        </p:txBody>
      </p:sp>
      <p:sp>
        <p:nvSpPr>
          <p:cNvPr id="140" name="Google Shape;140;p13"/>
          <p:cNvSpPr txBox="1"/>
          <p:nvPr/>
        </p:nvSpPr>
        <p:spPr>
          <a:xfrm>
            <a:off x="307340" y="2351278"/>
            <a:ext cx="9443700" cy="4212000"/>
          </a:xfrm>
          <a:prstGeom prst="rect">
            <a:avLst/>
          </a:prstGeom>
          <a:noFill/>
          <a:ln>
            <a:noFill/>
          </a:ln>
        </p:spPr>
        <p:txBody>
          <a:bodyPr spcFirstLastPara="1" wrap="square" lIns="0" tIns="12700" rIns="0" bIns="0" anchor="t" anchorCtr="0">
            <a:spAutoFit/>
          </a:bodyPr>
          <a:lstStyle/>
          <a:p>
            <a:pPr marL="201295" marR="0" lvl="0" indent="-189230" algn="just" rtl="0">
              <a:lnSpc>
                <a:spcPct val="79285"/>
              </a:lnSpc>
              <a:spcBef>
                <a:spcPts val="0"/>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Lexical analysis separates tokens from the language statements based on “Pattern Matching Principle”.</a:t>
            </a:r>
            <a:endParaRPr sz="2800">
              <a:solidFill>
                <a:schemeClr val="dk1"/>
              </a:solidFill>
              <a:latin typeface="Times New Roman"/>
              <a:ea typeface="Times New Roman"/>
              <a:cs typeface="Times New Roman"/>
              <a:sym typeface="Times New Roman"/>
            </a:endParaRPr>
          </a:p>
          <a:p>
            <a:pPr marL="201295" marR="0" lvl="0" indent="-189230" algn="just" rtl="0">
              <a:lnSpc>
                <a:spcPct val="79285"/>
              </a:lnSpc>
              <a:spcBef>
                <a:spcPts val="565"/>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A token (string of characters) is the smallest unit with some logical meaning, which cannot be further decomposed.</a:t>
            </a:r>
            <a:endParaRPr sz="2800">
              <a:solidFill>
                <a:schemeClr val="dk1"/>
              </a:solidFill>
              <a:latin typeface="Times New Roman"/>
              <a:ea typeface="Times New Roman"/>
              <a:cs typeface="Times New Roman"/>
              <a:sym typeface="Times New Roman"/>
            </a:endParaRPr>
          </a:p>
          <a:p>
            <a:pPr marL="201295" marR="570230" lvl="0" indent="-189230" algn="just" rtl="0">
              <a:lnSpc>
                <a:spcPct val="75000"/>
              </a:lnSpc>
              <a:spcBef>
                <a:spcPts val="825"/>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Regular expression is used to specify text strings in all sorts of text processing and  information extraction applications.</a:t>
            </a:r>
            <a:endParaRPr sz="2800">
              <a:solidFill>
                <a:schemeClr val="dk1"/>
              </a:solidFill>
              <a:latin typeface="Times New Roman"/>
              <a:ea typeface="Times New Roman"/>
              <a:cs typeface="Times New Roman"/>
              <a:sym typeface="Times New Roman"/>
            </a:endParaRPr>
          </a:p>
          <a:p>
            <a:pPr marL="201295" marR="855980" lvl="0" indent="-189230" algn="just" rtl="0">
              <a:lnSpc>
                <a:spcPct val="75000"/>
              </a:lnSpc>
              <a:spcBef>
                <a:spcPts val="800"/>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“Finite State Automata” is a basic mathematical foundation used extensively in  Computational Linguistics.</a:t>
            </a:r>
            <a:endParaRPr/>
          </a:p>
          <a:p>
            <a:pPr marL="201295" marR="0" lvl="0" indent="-189230" algn="just" rtl="0">
              <a:lnSpc>
                <a:spcPct val="100000"/>
              </a:lnSpc>
              <a:spcBef>
                <a:spcPts val="570"/>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Variations / different forms of Finite state automata – state transducers, HMM, N grams</a:t>
            </a:r>
            <a:endParaRPr sz="2800">
              <a:solidFill>
                <a:schemeClr val="dk1"/>
              </a:solidFill>
              <a:latin typeface="Times New Roman"/>
              <a:ea typeface="Times New Roman"/>
              <a:cs typeface="Times New Roman"/>
              <a:sym typeface="Times New Roman"/>
            </a:endParaRPr>
          </a:p>
        </p:txBody>
      </p:sp>
      <p:sp>
        <p:nvSpPr>
          <p:cNvPr id="141" name="Google Shape;141;p13"/>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145"/>
        <p:cNvGrpSpPr/>
        <p:nvPr/>
      </p:nvGrpSpPr>
      <p:grpSpPr>
        <a:xfrm>
          <a:off x="0" y="0"/>
          <a:ext cx="0" cy="0"/>
          <a:chOff x="0" y="0"/>
          <a:chExt cx="0" cy="0"/>
        </a:xfrm>
      </p:grpSpPr>
      <p:sp>
        <p:nvSpPr>
          <p:cNvPr id="146" name="Google Shape;146;p14"/>
          <p:cNvSpPr txBox="1">
            <a:spLocks noGrp="1"/>
          </p:cNvSpPr>
          <p:nvPr>
            <p:ph type="title"/>
          </p:nvPr>
        </p:nvSpPr>
        <p:spPr>
          <a:xfrm>
            <a:off x="236728" y="681200"/>
            <a:ext cx="4770000" cy="4674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None/>
            </a:pPr>
            <a:r>
              <a:rPr lang="en-US" sz="2950"/>
              <a:t>Regular Expression (RE)</a:t>
            </a:r>
            <a:endParaRPr sz="2950"/>
          </a:p>
        </p:txBody>
      </p:sp>
      <p:sp>
        <p:nvSpPr>
          <p:cNvPr id="147" name="Google Shape;147;p14"/>
          <p:cNvSpPr txBox="1"/>
          <p:nvPr/>
        </p:nvSpPr>
        <p:spPr>
          <a:xfrm>
            <a:off x="236727" y="2123947"/>
            <a:ext cx="8474710" cy="1145540"/>
          </a:xfrm>
          <a:prstGeom prst="rect">
            <a:avLst/>
          </a:prstGeom>
          <a:noFill/>
          <a:ln>
            <a:noFill/>
          </a:ln>
        </p:spPr>
        <p:txBody>
          <a:bodyPr spcFirstLastPara="1" wrap="square" lIns="0" tIns="88900" rIns="0" bIns="0" anchor="t" anchorCtr="0">
            <a:spAutoFit/>
          </a:bodyPr>
          <a:lstStyle/>
          <a:p>
            <a:pPr marL="201295" marR="0" lvl="0" indent="-189230" algn="l" rtl="0">
              <a:lnSpc>
                <a:spcPct val="100000"/>
              </a:lnSpc>
              <a:spcBef>
                <a:spcPts val="0"/>
              </a:spcBef>
              <a:spcAft>
                <a:spcPts val="0"/>
              </a:spcAft>
              <a:buClr>
                <a:schemeClr val="dk1"/>
              </a:buClr>
              <a:buSzPts val="1950"/>
              <a:buFont typeface="Arial"/>
              <a:buChar char="•"/>
            </a:pPr>
            <a:r>
              <a:rPr lang="en-US" sz="1950">
                <a:solidFill>
                  <a:schemeClr val="dk1"/>
                </a:solidFill>
                <a:latin typeface="Calibri"/>
                <a:ea typeface="Calibri"/>
                <a:cs typeface="Calibri"/>
                <a:sym typeface="Calibri"/>
              </a:rPr>
              <a:t>RE is a Language for specifying text search strings</a:t>
            </a:r>
            <a:endParaRPr sz="1950">
              <a:solidFill>
                <a:schemeClr val="dk1"/>
              </a:solidFill>
              <a:latin typeface="Calibri"/>
              <a:ea typeface="Calibri"/>
              <a:cs typeface="Calibri"/>
              <a:sym typeface="Calibri"/>
            </a:endParaRPr>
          </a:p>
          <a:p>
            <a:pPr marL="201295" marR="0" lvl="0" indent="-189230" algn="l" rtl="0">
              <a:lnSpc>
                <a:spcPct val="100000"/>
              </a:lnSpc>
              <a:spcBef>
                <a:spcPts val="600"/>
              </a:spcBef>
              <a:spcAft>
                <a:spcPts val="0"/>
              </a:spcAft>
              <a:buClr>
                <a:schemeClr val="dk1"/>
              </a:buClr>
              <a:buSzPts val="1950"/>
              <a:buFont typeface="Arial"/>
              <a:buChar char="•"/>
            </a:pPr>
            <a:r>
              <a:rPr lang="en-US" sz="1950">
                <a:solidFill>
                  <a:schemeClr val="dk1"/>
                </a:solidFill>
                <a:latin typeface="Calibri"/>
                <a:ea typeface="Calibri"/>
                <a:cs typeface="Calibri"/>
                <a:sym typeface="Calibri"/>
              </a:rPr>
              <a:t>RE is an algebraic notation for characterizing a set of strings/ sequence of symbols</a:t>
            </a:r>
            <a:endParaRPr sz="1950">
              <a:solidFill>
                <a:schemeClr val="dk1"/>
              </a:solidFill>
              <a:latin typeface="Calibri"/>
              <a:ea typeface="Calibri"/>
              <a:cs typeface="Calibri"/>
              <a:sym typeface="Calibri"/>
            </a:endParaRPr>
          </a:p>
          <a:p>
            <a:pPr marL="201295" marR="0" lvl="0" indent="-189230" algn="l" rtl="0">
              <a:lnSpc>
                <a:spcPct val="100000"/>
              </a:lnSpc>
              <a:spcBef>
                <a:spcPts val="600"/>
              </a:spcBef>
              <a:spcAft>
                <a:spcPts val="0"/>
              </a:spcAft>
              <a:buClr>
                <a:schemeClr val="dk1"/>
              </a:buClr>
              <a:buSzPts val="1950"/>
              <a:buFont typeface="Arial"/>
              <a:buChar char="•"/>
            </a:pPr>
            <a:r>
              <a:rPr lang="en-US" sz="1950">
                <a:solidFill>
                  <a:schemeClr val="dk1"/>
                </a:solidFill>
                <a:latin typeface="Calibri"/>
                <a:ea typeface="Calibri"/>
                <a:cs typeface="Calibri"/>
                <a:sym typeface="Calibri"/>
              </a:rPr>
              <a:t>RE can be used to define a Language in a formal way</a:t>
            </a:r>
            <a:endParaRPr sz="1950">
              <a:solidFill>
                <a:schemeClr val="dk1"/>
              </a:solidFill>
              <a:latin typeface="Calibri"/>
              <a:ea typeface="Calibri"/>
              <a:cs typeface="Calibri"/>
              <a:sym typeface="Calibri"/>
            </a:endParaRPr>
          </a:p>
        </p:txBody>
      </p:sp>
      <p:sp>
        <p:nvSpPr>
          <p:cNvPr id="148" name="Google Shape;148;p14"/>
          <p:cNvSpPr txBox="1"/>
          <p:nvPr/>
        </p:nvSpPr>
        <p:spPr>
          <a:xfrm>
            <a:off x="236727" y="3596639"/>
            <a:ext cx="4650740" cy="1182370"/>
          </a:xfrm>
          <a:prstGeom prst="rect">
            <a:avLst/>
          </a:prstGeom>
          <a:noFill/>
          <a:ln>
            <a:noFill/>
          </a:ln>
        </p:spPr>
        <p:txBody>
          <a:bodyPr spcFirstLastPara="1" wrap="square" lIns="0" tIns="12700" rIns="0" bIns="0" anchor="t" anchorCtr="0">
            <a:spAutoFit/>
          </a:bodyPr>
          <a:lstStyle/>
          <a:p>
            <a:pPr marL="767080" marR="5080" lvl="0" indent="-754380" algn="l" rtl="0">
              <a:lnSpc>
                <a:spcPct val="126899"/>
              </a:lnSpc>
              <a:spcBef>
                <a:spcPts val="0"/>
              </a:spcBef>
              <a:spcAft>
                <a:spcPts val="0"/>
              </a:spcAft>
              <a:buNone/>
            </a:pPr>
            <a:r>
              <a:rPr lang="en-US" sz="1950">
                <a:solidFill>
                  <a:schemeClr val="dk1"/>
                </a:solidFill>
                <a:latin typeface="Calibri"/>
                <a:ea typeface="Calibri"/>
                <a:cs typeface="Calibri"/>
                <a:sym typeface="Calibri"/>
              </a:rPr>
              <a:t>Eg. Variable name in a programming language  L(L|D|S)*</a:t>
            </a:r>
            <a:endParaRPr sz="1950">
              <a:solidFill>
                <a:schemeClr val="dk1"/>
              </a:solidFill>
              <a:latin typeface="Calibri"/>
              <a:ea typeface="Calibri"/>
              <a:cs typeface="Calibri"/>
              <a:sym typeface="Calibri"/>
            </a:endParaRPr>
          </a:p>
          <a:p>
            <a:pPr marL="0" marR="433705" lvl="0" indent="0" algn="ctr" rtl="0">
              <a:lnSpc>
                <a:spcPct val="100000"/>
              </a:lnSpc>
              <a:spcBef>
                <a:spcPts val="825"/>
              </a:spcBef>
              <a:spcAft>
                <a:spcPts val="0"/>
              </a:spcAft>
              <a:buNone/>
            </a:pPr>
            <a:r>
              <a:rPr lang="en-US" sz="1950">
                <a:solidFill>
                  <a:schemeClr val="dk1"/>
                </a:solidFill>
                <a:latin typeface="Calibri"/>
                <a:ea typeface="Calibri"/>
                <a:cs typeface="Calibri"/>
                <a:sym typeface="Calibri"/>
              </a:rPr>
              <a:t>a, abc, a10, min_count, ….</a:t>
            </a:r>
            <a:endParaRPr sz="1950">
              <a:solidFill>
                <a:schemeClr val="dk1"/>
              </a:solidFill>
              <a:latin typeface="Calibri"/>
              <a:ea typeface="Calibri"/>
              <a:cs typeface="Calibri"/>
              <a:sym typeface="Calibri"/>
            </a:endParaRPr>
          </a:p>
        </p:txBody>
      </p:sp>
      <p:sp>
        <p:nvSpPr>
          <p:cNvPr id="149" name="Google Shape;149;p14"/>
          <p:cNvSpPr txBox="1"/>
          <p:nvPr/>
        </p:nvSpPr>
        <p:spPr>
          <a:xfrm>
            <a:off x="5518658" y="4004564"/>
            <a:ext cx="1945639" cy="1145540"/>
          </a:xfrm>
          <a:prstGeom prst="rect">
            <a:avLst/>
          </a:prstGeom>
          <a:noFill/>
          <a:ln>
            <a:noFill/>
          </a:ln>
        </p:spPr>
        <p:txBody>
          <a:bodyPr spcFirstLastPara="1" wrap="square" lIns="0" tIns="88900" rIns="0" bIns="0" anchor="t" anchorCtr="0">
            <a:spAutoFit/>
          </a:bodyPr>
          <a:lstStyle/>
          <a:p>
            <a:pPr marL="12700" marR="0" lvl="0" indent="0" algn="l" rtl="0">
              <a:lnSpc>
                <a:spcPct val="100000"/>
              </a:lnSpc>
              <a:spcBef>
                <a:spcPts val="0"/>
              </a:spcBef>
              <a:spcAft>
                <a:spcPts val="0"/>
              </a:spcAft>
              <a:buNone/>
            </a:pPr>
            <a:r>
              <a:rPr lang="en-US" sz="1950">
                <a:solidFill>
                  <a:schemeClr val="dk1"/>
                </a:solidFill>
                <a:latin typeface="Calibri"/>
                <a:ea typeface="Calibri"/>
                <a:cs typeface="Calibri"/>
                <a:sym typeface="Calibri"/>
              </a:rPr>
              <a:t>here L -&gt; {a..zA..Z}</a:t>
            </a:r>
            <a:endParaRPr sz="1950">
              <a:solidFill>
                <a:schemeClr val="dk1"/>
              </a:solidFill>
              <a:latin typeface="Calibri"/>
              <a:ea typeface="Calibri"/>
              <a:cs typeface="Calibri"/>
              <a:sym typeface="Calibri"/>
            </a:endParaRPr>
          </a:p>
          <a:p>
            <a:pPr marL="935355" marR="0" lvl="0" indent="0" algn="l" rtl="0">
              <a:lnSpc>
                <a:spcPct val="100000"/>
              </a:lnSpc>
              <a:spcBef>
                <a:spcPts val="600"/>
              </a:spcBef>
              <a:spcAft>
                <a:spcPts val="0"/>
              </a:spcAft>
              <a:buNone/>
            </a:pPr>
            <a:r>
              <a:rPr lang="en-US" sz="1950">
                <a:solidFill>
                  <a:schemeClr val="dk1"/>
                </a:solidFill>
                <a:latin typeface="Calibri"/>
                <a:ea typeface="Calibri"/>
                <a:cs typeface="Calibri"/>
                <a:sym typeface="Calibri"/>
              </a:rPr>
              <a:t>D -&gt; {0..9}</a:t>
            </a:r>
            <a:endParaRPr sz="1950">
              <a:solidFill>
                <a:schemeClr val="dk1"/>
              </a:solidFill>
              <a:latin typeface="Calibri"/>
              <a:ea typeface="Calibri"/>
              <a:cs typeface="Calibri"/>
              <a:sym typeface="Calibri"/>
            </a:endParaRPr>
          </a:p>
          <a:p>
            <a:pPr marL="630555" marR="0" lvl="0" indent="0" algn="l" rtl="0">
              <a:lnSpc>
                <a:spcPct val="100000"/>
              </a:lnSpc>
              <a:spcBef>
                <a:spcPts val="600"/>
              </a:spcBef>
              <a:spcAft>
                <a:spcPts val="0"/>
              </a:spcAft>
              <a:buNone/>
            </a:pPr>
            <a:r>
              <a:rPr lang="en-US" sz="1950">
                <a:solidFill>
                  <a:schemeClr val="dk1"/>
                </a:solidFill>
                <a:latin typeface="Calibri"/>
                <a:ea typeface="Calibri"/>
                <a:cs typeface="Calibri"/>
                <a:sym typeface="Calibri"/>
              </a:rPr>
              <a:t>S -&gt; {$|_}</a:t>
            </a:r>
            <a:endParaRPr sz="1950">
              <a:solidFill>
                <a:schemeClr val="dk1"/>
              </a:solidFill>
              <a:latin typeface="Calibri"/>
              <a:ea typeface="Calibri"/>
              <a:cs typeface="Calibri"/>
              <a:sym typeface="Calibri"/>
            </a:endParaRPr>
          </a:p>
        </p:txBody>
      </p:sp>
      <p:sp>
        <p:nvSpPr>
          <p:cNvPr id="150" name="Google Shape;150;p14"/>
          <p:cNvSpPr txBox="1"/>
          <p:nvPr/>
        </p:nvSpPr>
        <p:spPr>
          <a:xfrm>
            <a:off x="236727" y="5103367"/>
            <a:ext cx="4291965" cy="1182370"/>
          </a:xfrm>
          <a:prstGeom prst="rect">
            <a:avLst/>
          </a:prstGeom>
          <a:noFill/>
          <a:ln>
            <a:noFill/>
          </a:ln>
        </p:spPr>
        <p:txBody>
          <a:bodyPr spcFirstLastPara="1" wrap="square" lIns="0" tIns="12700" rIns="0" bIns="0" anchor="t" anchorCtr="0">
            <a:spAutoFit/>
          </a:bodyPr>
          <a:lstStyle/>
          <a:p>
            <a:pPr marL="767080" marR="5080" lvl="0" indent="-754380" algn="l" rtl="0">
              <a:lnSpc>
                <a:spcPct val="126899"/>
              </a:lnSpc>
              <a:spcBef>
                <a:spcPts val="0"/>
              </a:spcBef>
              <a:spcAft>
                <a:spcPts val="0"/>
              </a:spcAft>
              <a:buNone/>
            </a:pPr>
            <a:r>
              <a:rPr lang="en-US" sz="1950">
                <a:solidFill>
                  <a:schemeClr val="dk1"/>
                </a:solidFill>
                <a:latin typeface="Calibri"/>
                <a:ea typeface="Calibri"/>
                <a:cs typeface="Calibri"/>
                <a:sym typeface="Calibri"/>
              </a:rPr>
              <a:t>Eg. A person’s name in a Natural language  L1L*</a:t>
            </a:r>
            <a:endParaRPr sz="1950">
              <a:solidFill>
                <a:schemeClr val="dk1"/>
              </a:solidFill>
              <a:latin typeface="Calibri"/>
              <a:ea typeface="Calibri"/>
              <a:cs typeface="Calibri"/>
              <a:sym typeface="Calibri"/>
            </a:endParaRPr>
          </a:p>
          <a:p>
            <a:pPr marL="767080" marR="0" lvl="0" indent="0" algn="l" rtl="0">
              <a:lnSpc>
                <a:spcPct val="100000"/>
              </a:lnSpc>
              <a:spcBef>
                <a:spcPts val="825"/>
              </a:spcBef>
              <a:spcAft>
                <a:spcPts val="0"/>
              </a:spcAft>
              <a:buNone/>
            </a:pPr>
            <a:r>
              <a:rPr lang="en-US" sz="1950">
                <a:solidFill>
                  <a:schemeClr val="dk1"/>
                </a:solidFill>
                <a:latin typeface="Calibri"/>
                <a:ea typeface="Calibri"/>
                <a:cs typeface="Calibri"/>
                <a:sym typeface="Calibri"/>
              </a:rPr>
              <a:t>M, Vrushali, John,…..</a:t>
            </a:r>
            <a:endParaRPr sz="1950">
              <a:solidFill>
                <a:schemeClr val="dk1"/>
              </a:solidFill>
              <a:latin typeface="Calibri"/>
              <a:ea typeface="Calibri"/>
              <a:cs typeface="Calibri"/>
              <a:sym typeface="Calibri"/>
            </a:endParaRPr>
          </a:p>
        </p:txBody>
      </p:sp>
      <p:sp>
        <p:nvSpPr>
          <p:cNvPr id="151" name="Google Shape;151;p14"/>
          <p:cNvSpPr txBox="1"/>
          <p:nvPr/>
        </p:nvSpPr>
        <p:spPr>
          <a:xfrm>
            <a:off x="5518658" y="5586983"/>
            <a:ext cx="1461770" cy="3225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950">
                <a:solidFill>
                  <a:schemeClr val="dk1"/>
                </a:solidFill>
                <a:latin typeface="Calibri"/>
                <a:ea typeface="Calibri"/>
                <a:cs typeface="Calibri"/>
                <a:sym typeface="Calibri"/>
              </a:rPr>
              <a:t>here L -&gt; {a..z}</a:t>
            </a:r>
            <a:endParaRPr sz="1950">
              <a:solidFill>
                <a:schemeClr val="dk1"/>
              </a:solidFill>
              <a:latin typeface="Calibri"/>
              <a:ea typeface="Calibri"/>
              <a:cs typeface="Calibri"/>
              <a:sym typeface="Calibri"/>
            </a:endParaRPr>
          </a:p>
        </p:txBody>
      </p:sp>
      <p:sp>
        <p:nvSpPr>
          <p:cNvPr id="152" name="Google Shape;152;p14"/>
          <p:cNvSpPr txBox="1"/>
          <p:nvPr/>
        </p:nvSpPr>
        <p:spPr>
          <a:xfrm>
            <a:off x="7590790" y="5963411"/>
            <a:ext cx="1111885" cy="3225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950">
                <a:solidFill>
                  <a:schemeClr val="dk1"/>
                </a:solidFill>
                <a:latin typeface="Calibri"/>
                <a:ea typeface="Calibri"/>
                <a:cs typeface="Calibri"/>
                <a:sym typeface="Calibri"/>
              </a:rPr>
              <a:t>L1 -&gt; {A..Z}</a:t>
            </a:r>
            <a:endParaRPr sz="1950">
              <a:solidFill>
                <a:schemeClr val="dk1"/>
              </a:solidFill>
              <a:latin typeface="Calibri"/>
              <a:ea typeface="Calibri"/>
              <a:cs typeface="Calibri"/>
              <a:sym typeface="Calibri"/>
            </a:endParaRPr>
          </a:p>
        </p:txBody>
      </p:sp>
      <p:sp>
        <p:nvSpPr>
          <p:cNvPr id="153" name="Google Shape;153;p14"/>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Shape 157"/>
        <p:cNvGrpSpPr/>
        <p:nvPr/>
      </p:nvGrpSpPr>
      <p:grpSpPr>
        <a:xfrm>
          <a:off x="0" y="0"/>
          <a:ext cx="0" cy="0"/>
          <a:chOff x="0" y="0"/>
          <a:chExt cx="0" cy="0"/>
        </a:xfrm>
      </p:grpSpPr>
      <p:sp>
        <p:nvSpPr>
          <p:cNvPr id="158" name="Google Shape;158;p15"/>
          <p:cNvSpPr txBox="1">
            <a:spLocks noGrp="1"/>
          </p:cNvSpPr>
          <p:nvPr>
            <p:ph type="title"/>
          </p:nvPr>
        </p:nvSpPr>
        <p:spPr>
          <a:xfrm>
            <a:off x="754124" y="740550"/>
            <a:ext cx="4585800" cy="4674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None/>
            </a:pPr>
            <a:r>
              <a:rPr lang="en-US" sz="2950"/>
              <a:t>Searching using RE</a:t>
            </a:r>
            <a:endParaRPr sz="2950"/>
          </a:p>
        </p:txBody>
      </p:sp>
      <p:grpSp>
        <p:nvGrpSpPr>
          <p:cNvPr id="159" name="Google Shape;159;p15"/>
          <p:cNvGrpSpPr/>
          <p:nvPr/>
        </p:nvGrpSpPr>
        <p:grpSpPr>
          <a:xfrm>
            <a:off x="976884" y="5158740"/>
            <a:ext cx="1749552" cy="441959"/>
            <a:chOff x="976884" y="5158740"/>
            <a:chExt cx="1749552" cy="441959"/>
          </a:xfrm>
        </p:grpSpPr>
        <p:sp>
          <p:nvSpPr>
            <p:cNvPr id="160" name="Google Shape;160;p15"/>
            <p:cNvSpPr/>
            <p:nvPr/>
          </p:nvSpPr>
          <p:spPr>
            <a:xfrm>
              <a:off x="981455" y="5164836"/>
              <a:ext cx="593090" cy="431800"/>
            </a:xfrm>
            <a:custGeom>
              <a:avLst/>
              <a:gdLst/>
              <a:ahLst/>
              <a:cxnLst/>
              <a:rect l="l" t="t" r="r" b="b"/>
              <a:pathLst>
                <a:path w="593090" h="431800" extrusionOk="0">
                  <a:moveTo>
                    <a:pt x="295528" y="0"/>
                  </a:moveTo>
                  <a:lnTo>
                    <a:pt x="242468" y="3428"/>
                  </a:lnTo>
                  <a:lnTo>
                    <a:pt x="192493" y="13462"/>
                  </a:lnTo>
                  <a:lnTo>
                    <a:pt x="146469" y="29337"/>
                  </a:lnTo>
                  <a:lnTo>
                    <a:pt x="105206" y="50545"/>
                  </a:lnTo>
                  <a:lnTo>
                    <a:pt x="69570" y="76453"/>
                  </a:lnTo>
                  <a:lnTo>
                    <a:pt x="40398" y="106425"/>
                  </a:lnTo>
                  <a:lnTo>
                    <a:pt x="18516" y="139953"/>
                  </a:lnTo>
                  <a:lnTo>
                    <a:pt x="4762" y="176275"/>
                  </a:lnTo>
                  <a:lnTo>
                    <a:pt x="0" y="215011"/>
                  </a:lnTo>
                  <a:lnTo>
                    <a:pt x="4762" y="253745"/>
                  </a:lnTo>
                  <a:lnTo>
                    <a:pt x="18516" y="290321"/>
                  </a:lnTo>
                  <a:lnTo>
                    <a:pt x="40398" y="323976"/>
                  </a:lnTo>
                  <a:lnTo>
                    <a:pt x="69570" y="354202"/>
                  </a:lnTo>
                  <a:lnTo>
                    <a:pt x="105206" y="380364"/>
                  </a:lnTo>
                  <a:lnTo>
                    <a:pt x="146469" y="401827"/>
                  </a:lnTo>
                  <a:lnTo>
                    <a:pt x="192493" y="417956"/>
                  </a:lnTo>
                  <a:lnTo>
                    <a:pt x="242468" y="427989"/>
                  </a:lnTo>
                  <a:lnTo>
                    <a:pt x="295528" y="431545"/>
                  </a:lnTo>
                  <a:lnTo>
                    <a:pt x="348996" y="427989"/>
                  </a:lnTo>
                  <a:lnTo>
                    <a:pt x="399415" y="417956"/>
                  </a:lnTo>
                  <a:lnTo>
                    <a:pt x="445643" y="401827"/>
                  </a:lnTo>
                  <a:lnTo>
                    <a:pt x="487044" y="380364"/>
                  </a:lnTo>
                  <a:lnTo>
                    <a:pt x="522859" y="354202"/>
                  </a:lnTo>
                  <a:lnTo>
                    <a:pt x="552069" y="323976"/>
                  </a:lnTo>
                  <a:lnTo>
                    <a:pt x="574040" y="290321"/>
                  </a:lnTo>
                  <a:lnTo>
                    <a:pt x="587756" y="253745"/>
                  </a:lnTo>
                  <a:lnTo>
                    <a:pt x="592582" y="215011"/>
                  </a:lnTo>
                  <a:lnTo>
                    <a:pt x="587756" y="176275"/>
                  </a:lnTo>
                  <a:lnTo>
                    <a:pt x="574040" y="139953"/>
                  </a:lnTo>
                  <a:lnTo>
                    <a:pt x="552069" y="106425"/>
                  </a:lnTo>
                  <a:lnTo>
                    <a:pt x="522859" y="76453"/>
                  </a:lnTo>
                  <a:lnTo>
                    <a:pt x="487044" y="50545"/>
                  </a:lnTo>
                  <a:lnTo>
                    <a:pt x="445643" y="29337"/>
                  </a:lnTo>
                  <a:lnTo>
                    <a:pt x="399415" y="13462"/>
                  </a:lnTo>
                  <a:lnTo>
                    <a:pt x="348996" y="3428"/>
                  </a:lnTo>
                  <a:lnTo>
                    <a:pt x="295528"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1" name="Google Shape;161;p15"/>
            <p:cNvSpPr/>
            <p:nvPr/>
          </p:nvSpPr>
          <p:spPr>
            <a:xfrm>
              <a:off x="976884" y="5158740"/>
              <a:ext cx="601980" cy="441959"/>
            </a:xfrm>
            <a:custGeom>
              <a:avLst/>
              <a:gdLst/>
              <a:ahLst/>
              <a:cxnLst/>
              <a:rect l="l" t="t" r="r" b="b"/>
              <a:pathLst>
                <a:path w="601980" h="441960" extrusionOk="0">
                  <a:moveTo>
                    <a:pt x="601980" y="210312"/>
                  </a:moveTo>
                  <a:lnTo>
                    <a:pt x="598932" y="187452"/>
                  </a:lnTo>
                  <a:lnTo>
                    <a:pt x="596265" y="178308"/>
                  </a:lnTo>
                  <a:lnTo>
                    <a:pt x="592836" y="166116"/>
                  </a:lnTo>
                  <a:lnTo>
                    <a:pt x="591312" y="162610"/>
                  </a:lnTo>
                  <a:lnTo>
                    <a:pt x="591312" y="199644"/>
                  </a:lnTo>
                  <a:lnTo>
                    <a:pt x="589788" y="199644"/>
                  </a:lnTo>
                  <a:lnTo>
                    <a:pt x="591312" y="210312"/>
                  </a:lnTo>
                  <a:lnTo>
                    <a:pt x="591312" y="231648"/>
                  </a:lnTo>
                  <a:lnTo>
                    <a:pt x="589788" y="242316"/>
                  </a:lnTo>
                  <a:lnTo>
                    <a:pt x="591312" y="242316"/>
                  </a:lnTo>
                  <a:lnTo>
                    <a:pt x="588264" y="252984"/>
                  </a:lnTo>
                  <a:lnTo>
                    <a:pt x="586740" y="263652"/>
                  </a:lnTo>
                  <a:lnTo>
                    <a:pt x="583692" y="272796"/>
                  </a:lnTo>
                  <a:lnTo>
                    <a:pt x="579120" y="283464"/>
                  </a:lnTo>
                  <a:lnTo>
                    <a:pt x="574548" y="292608"/>
                  </a:lnTo>
                  <a:lnTo>
                    <a:pt x="569976" y="303276"/>
                  </a:lnTo>
                  <a:lnTo>
                    <a:pt x="569976" y="301752"/>
                  </a:lnTo>
                  <a:lnTo>
                    <a:pt x="563880" y="312420"/>
                  </a:lnTo>
                  <a:lnTo>
                    <a:pt x="563880" y="310896"/>
                  </a:lnTo>
                  <a:lnTo>
                    <a:pt x="557784" y="321564"/>
                  </a:lnTo>
                  <a:lnTo>
                    <a:pt x="557784" y="320040"/>
                  </a:lnTo>
                  <a:lnTo>
                    <a:pt x="542544" y="338328"/>
                  </a:lnTo>
                  <a:lnTo>
                    <a:pt x="525780" y="355092"/>
                  </a:lnTo>
                  <a:lnTo>
                    <a:pt x="525780" y="353568"/>
                  </a:lnTo>
                  <a:lnTo>
                    <a:pt x="507492" y="368808"/>
                  </a:lnTo>
                  <a:lnTo>
                    <a:pt x="486156" y="382524"/>
                  </a:lnTo>
                  <a:lnTo>
                    <a:pt x="487680" y="382524"/>
                  </a:lnTo>
                  <a:lnTo>
                    <a:pt x="464820" y="394716"/>
                  </a:lnTo>
                  <a:lnTo>
                    <a:pt x="440436" y="405384"/>
                  </a:lnTo>
                  <a:lnTo>
                    <a:pt x="414528" y="414528"/>
                  </a:lnTo>
                  <a:lnTo>
                    <a:pt x="387096" y="422148"/>
                  </a:lnTo>
                  <a:lnTo>
                    <a:pt x="388620" y="422148"/>
                  </a:lnTo>
                  <a:lnTo>
                    <a:pt x="359664" y="426720"/>
                  </a:lnTo>
                  <a:lnTo>
                    <a:pt x="330708" y="429768"/>
                  </a:lnTo>
                  <a:lnTo>
                    <a:pt x="300990" y="431292"/>
                  </a:lnTo>
                  <a:lnTo>
                    <a:pt x="271272" y="429768"/>
                  </a:lnTo>
                  <a:lnTo>
                    <a:pt x="242316" y="426720"/>
                  </a:lnTo>
                  <a:lnTo>
                    <a:pt x="213360" y="422148"/>
                  </a:lnTo>
                  <a:lnTo>
                    <a:pt x="214884" y="422148"/>
                  </a:lnTo>
                  <a:lnTo>
                    <a:pt x="187452" y="414528"/>
                  </a:lnTo>
                  <a:lnTo>
                    <a:pt x="161544" y="405384"/>
                  </a:lnTo>
                  <a:lnTo>
                    <a:pt x="137160" y="394716"/>
                  </a:lnTo>
                  <a:lnTo>
                    <a:pt x="114300" y="382524"/>
                  </a:lnTo>
                  <a:lnTo>
                    <a:pt x="115824" y="382524"/>
                  </a:lnTo>
                  <a:lnTo>
                    <a:pt x="94488" y="368808"/>
                  </a:lnTo>
                  <a:lnTo>
                    <a:pt x="78028" y="355092"/>
                  </a:lnTo>
                  <a:lnTo>
                    <a:pt x="76200" y="353568"/>
                  </a:lnTo>
                  <a:lnTo>
                    <a:pt x="76200" y="355092"/>
                  </a:lnTo>
                  <a:lnTo>
                    <a:pt x="59436" y="338328"/>
                  </a:lnTo>
                  <a:lnTo>
                    <a:pt x="45466" y="321564"/>
                  </a:lnTo>
                  <a:lnTo>
                    <a:pt x="44196" y="320040"/>
                  </a:lnTo>
                  <a:lnTo>
                    <a:pt x="44196" y="321564"/>
                  </a:lnTo>
                  <a:lnTo>
                    <a:pt x="38976" y="312420"/>
                  </a:lnTo>
                  <a:lnTo>
                    <a:pt x="38100" y="310896"/>
                  </a:lnTo>
                  <a:lnTo>
                    <a:pt x="38100" y="312420"/>
                  </a:lnTo>
                  <a:lnTo>
                    <a:pt x="32880" y="303276"/>
                  </a:lnTo>
                  <a:lnTo>
                    <a:pt x="32004" y="301752"/>
                  </a:lnTo>
                  <a:lnTo>
                    <a:pt x="32004" y="303276"/>
                  </a:lnTo>
                  <a:lnTo>
                    <a:pt x="27432" y="292608"/>
                  </a:lnTo>
                  <a:lnTo>
                    <a:pt x="22860" y="283464"/>
                  </a:lnTo>
                  <a:lnTo>
                    <a:pt x="18288" y="272796"/>
                  </a:lnTo>
                  <a:lnTo>
                    <a:pt x="15240" y="263652"/>
                  </a:lnTo>
                  <a:lnTo>
                    <a:pt x="13716" y="252984"/>
                  </a:lnTo>
                  <a:lnTo>
                    <a:pt x="10668" y="242316"/>
                  </a:lnTo>
                  <a:lnTo>
                    <a:pt x="10668" y="231648"/>
                  </a:lnTo>
                  <a:lnTo>
                    <a:pt x="9144" y="220980"/>
                  </a:lnTo>
                  <a:lnTo>
                    <a:pt x="10668" y="210312"/>
                  </a:lnTo>
                  <a:lnTo>
                    <a:pt x="10668" y="199644"/>
                  </a:lnTo>
                  <a:lnTo>
                    <a:pt x="13716" y="188976"/>
                  </a:lnTo>
                  <a:lnTo>
                    <a:pt x="15240" y="178308"/>
                  </a:lnTo>
                  <a:lnTo>
                    <a:pt x="15240" y="179832"/>
                  </a:lnTo>
                  <a:lnTo>
                    <a:pt x="15671" y="178308"/>
                  </a:lnTo>
                  <a:lnTo>
                    <a:pt x="18288" y="169164"/>
                  </a:lnTo>
                  <a:lnTo>
                    <a:pt x="22860" y="158496"/>
                  </a:lnTo>
                  <a:lnTo>
                    <a:pt x="22860" y="160020"/>
                  </a:lnTo>
                  <a:lnTo>
                    <a:pt x="23507" y="158496"/>
                  </a:lnTo>
                  <a:lnTo>
                    <a:pt x="27432" y="149352"/>
                  </a:lnTo>
                  <a:lnTo>
                    <a:pt x="32004" y="140208"/>
                  </a:lnTo>
                  <a:lnTo>
                    <a:pt x="44196" y="121920"/>
                  </a:lnTo>
                  <a:lnTo>
                    <a:pt x="59436" y="103632"/>
                  </a:lnTo>
                  <a:lnTo>
                    <a:pt x="59436" y="105156"/>
                  </a:lnTo>
                  <a:lnTo>
                    <a:pt x="60960" y="103632"/>
                  </a:lnTo>
                  <a:lnTo>
                    <a:pt x="76200" y="88392"/>
                  </a:lnTo>
                  <a:lnTo>
                    <a:pt x="94488" y="73152"/>
                  </a:lnTo>
                  <a:lnTo>
                    <a:pt x="115824" y="59436"/>
                  </a:lnTo>
                  <a:lnTo>
                    <a:pt x="114300" y="59436"/>
                  </a:lnTo>
                  <a:lnTo>
                    <a:pt x="137160" y="47244"/>
                  </a:lnTo>
                  <a:lnTo>
                    <a:pt x="161544" y="36576"/>
                  </a:lnTo>
                  <a:lnTo>
                    <a:pt x="187452" y="27432"/>
                  </a:lnTo>
                  <a:lnTo>
                    <a:pt x="214884" y="19812"/>
                  </a:lnTo>
                  <a:lnTo>
                    <a:pt x="213360" y="19812"/>
                  </a:lnTo>
                  <a:lnTo>
                    <a:pt x="242316" y="15240"/>
                  </a:lnTo>
                  <a:lnTo>
                    <a:pt x="271272" y="12192"/>
                  </a:lnTo>
                  <a:lnTo>
                    <a:pt x="300990" y="10668"/>
                  </a:lnTo>
                  <a:lnTo>
                    <a:pt x="330708" y="12192"/>
                  </a:lnTo>
                  <a:lnTo>
                    <a:pt x="359664" y="15240"/>
                  </a:lnTo>
                  <a:lnTo>
                    <a:pt x="388620" y="19812"/>
                  </a:lnTo>
                  <a:lnTo>
                    <a:pt x="387096" y="19812"/>
                  </a:lnTo>
                  <a:lnTo>
                    <a:pt x="414528" y="27432"/>
                  </a:lnTo>
                  <a:lnTo>
                    <a:pt x="440436" y="36576"/>
                  </a:lnTo>
                  <a:lnTo>
                    <a:pt x="464820" y="47244"/>
                  </a:lnTo>
                  <a:lnTo>
                    <a:pt x="487680" y="59436"/>
                  </a:lnTo>
                  <a:lnTo>
                    <a:pt x="486156" y="59436"/>
                  </a:lnTo>
                  <a:lnTo>
                    <a:pt x="507492" y="73152"/>
                  </a:lnTo>
                  <a:lnTo>
                    <a:pt x="525780" y="88392"/>
                  </a:lnTo>
                  <a:lnTo>
                    <a:pt x="542544" y="105156"/>
                  </a:lnTo>
                  <a:lnTo>
                    <a:pt x="542544" y="103632"/>
                  </a:lnTo>
                  <a:lnTo>
                    <a:pt x="557784" y="121920"/>
                  </a:lnTo>
                  <a:lnTo>
                    <a:pt x="569976" y="140208"/>
                  </a:lnTo>
                  <a:lnTo>
                    <a:pt x="574548" y="149352"/>
                  </a:lnTo>
                  <a:lnTo>
                    <a:pt x="579120" y="160020"/>
                  </a:lnTo>
                  <a:lnTo>
                    <a:pt x="579120" y="158496"/>
                  </a:lnTo>
                  <a:lnTo>
                    <a:pt x="583692" y="169164"/>
                  </a:lnTo>
                  <a:lnTo>
                    <a:pt x="586740" y="179832"/>
                  </a:lnTo>
                  <a:lnTo>
                    <a:pt x="586740" y="178308"/>
                  </a:lnTo>
                  <a:lnTo>
                    <a:pt x="588264" y="188976"/>
                  </a:lnTo>
                  <a:lnTo>
                    <a:pt x="591312" y="199644"/>
                  </a:lnTo>
                  <a:lnTo>
                    <a:pt x="591312" y="162610"/>
                  </a:lnTo>
                  <a:lnTo>
                    <a:pt x="589534" y="158496"/>
                  </a:lnTo>
                  <a:lnTo>
                    <a:pt x="579120" y="134112"/>
                  </a:lnTo>
                  <a:lnTo>
                    <a:pt x="573024" y="124968"/>
                  </a:lnTo>
                  <a:lnTo>
                    <a:pt x="555244" y="103632"/>
                  </a:lnTo>
                  <a:lnTo>
                    <a:pt x="550164" y="97536"/>
                  </a:lnTo>
                  <a:lnTo>
                    <a:pt x="513588" y="64008"/>
                  </a:lnTo>
                  <a:lnTo>
                    <a:pt x="469392" y="38100"/>
                  </a:lnTo>
                  <a:lnTo>
                    <a:pt x="417576" y="18288"/>
                  </a:lnTo>
                  <a:lnTo>
                    <a:pt x="361188" y="4572"/>
                  </a:lnTo>
                  <a:lnTo>
                    <a:pt x="300228" y="0"/>
                  </a:lnTo>
                  <a:lnTo>
                    <a:pt x="269748" y="1524"/>
                  </a:lnTo>
                  <a:lnTo>
                    <a:pt x="211836" y="10668"/>
                  </a:lnTo>
                  <a:lnTo>
                    <a:pt x="158496" y="27432"/>
                  </a:lnTo>
                  <a:lnTo>
                    <a:pt x="109728" y="50292"/>
                  </a:lnTo>
                  <a:lnTo>
                    <a:pt x="68580" y="80772"/>
                  </a:lnTo>
                  <a:lnTo>
                    <a:pt x="28956" y="124968"/>
                  </a:lnTo>
                  <a:lnTo>
                    <a:pt x="9144" y="166116"/>
                  </a:lnTo>
                  <a:lnTo>
                    <a:pt x="0" y="210312"/>
                  </a:lnTo>
                  <a:lnTo>
                    <a:pt x="0" y="233172"/>
                  </a:lnTo>
                  <a:lnTo>
                    <a:pt x="9144" y="277368"/>
                  </a:lnTo>
                  <a:lnTo>
                    <a:pt x="18288" y="297180"/>
                  </a:lnTo>
                  <a:lnTo>
                    <a:pt x="22860" y="307848"/>
                  </a:lnTo>
                  <a:lnTo>
                    <a:pt x="51816" y="345948"/>
                  </a:lnTo>
                  <a:lnTo>
                    <a:pt x="88392" y="377952"/>
                  </a:lnTo>
                  <a:lnTo>
                    <a:pt x="132588" y="405384"/>
                  </a:lnTo>
                  <a:lnTo>
                    <a:pt x="184404" y="425196"/>
                  </a:lnTo>
                  <a:lnTo>
                    <a:pt x="240792" y="437388"/>
                  </a:lnTo>
                  <a:lnTo>
                    <a:pt x="300228" y="441960"/>
                  </a:lnTo>
                  <a:lnTo>
                    <a:pt x="332232" y="440436"/>
                  </a:lnTo>
                  <a:lnTo>
                    <a:pt x="361188" y="437388"/>
                  </a:lnTo>
                  <a:lnTo>
                    <a:pt x="390144" y="432816"/>
                  </a:lnTo>
                  <a:lnTo>
                    <a:pt x="395605" y="431292"/>
                  </a:lnTo>
                  <a:lnTo>
                    <a:pt x="417576" y="425196"/>
                  </a:lnTo>
                  <a:lnTo>
                    <a:pt x="492252" y="391668"/>
                  </a:lnTo>
                  <a:lnTo>
                    <a:pt x="541020" y="355092"/>
                  </a:lnTo>
                  <a:lnTo>
                    <a:pt x="569722" y="321564"/>
                  </a:lnTo>
                  <a:lnTo>
                    <a:pt x="573024" y="316992"/>
                  </a:lnTo>
                  <a:lnTo>
                    <a:pt x="576072" y="312420"/>
                  </a:lnTo>
                  <a:lnTo>
                    <a:pt x="579120" y="307848"/>
                  </a:lnTo>
                  <a:lnTo>
                    <a:pt x="581025" y="303276"/>
                  </a:lnTo>
                  <a:lnTo>
                    <a:pt x="592836" y="277368"/>
                  </a:lnTo>
                  <a:lnTo>
                    <a:pt x="601980" y="233172"/>
                  </a:lnTo>
                  <a:lnTo>
                    <a:pt x="601980" y="210312"/>
                  </a:lnTo>
                  <a:close/>
                </a:path>
              </a:pathLst>
            </a:custGeom>
            <a:solidFill>
              <a:srgbClr val="416F9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2" name="Google Shape;162;p15"/>
            <p:cNvSpPr/>
            <p:nvPr/>
          </p:nvSpPr>
          <p:spPr>
            <a:xfrm>
              <a:off x="2129027" y="5164836"/>
              <a:ext cx="593090" cy="431800"/>
            </a:xfrm>
            <a:custGeom>
              <a:avLst/>
              <a:gdLst/>
              <a:ahLst/>
              <a:cxnLst/>
              <a:rect l="l" t="t" r="r" b="b"/>
              <a:pathLst>
                <a:path w="593089" h="431800" extrusionOk="0">
                  <a:moveTo>
                    <a:pt x="297053" y="0"/>
                  </a:moveTo>
                  <a:lnTo>
                    <a:pt x="243586" y="3428"/>
                  </a:lnTo>
                  <a:lnTo>
                    <a:pt x="193167" y="13462"/>
                  </a:lnTo>
                  <a:lnTo>
                    <a:pt x="146939" y="29337"/>
                  </a:lnTo>
                  <a:lnTo>
                    <a:pt x="105537" y="50545"/>
                  </a:lnTo>
                  <a:lnTo>
                    <a:pt x="69723" y="76453"/>
                  </a:lnTo>
                  <a:lnTo>
                    <a:pt x="40513" y="106425"/>
                  </a:lnTo>
                  <a:lnTo>
                    <a:pt x="18542" y="139953"/>
                  </a:lnTo>
                  <a:lnTo>
                    <a:pt x="4826" y="176275"/>
                  </a:lnTo>
                  <a:lnTo>
                    <a:pt x="0" y="215011"/>
                  </a:lnTo>
                  <a:lnTo>
                    <a:pt x="4826" y="253745"/>
                  </a:lnTo>
                  <a:lnTo>
                    <a:pt x="18542" y="290321"/>
                  </a:lnTo>
                  <a:lnTo>
                    <a:pt x="40513" y="323976"/>
                  </a:lnTo>
                  <a:lnTo>
                    <a:pt x="69723" y="354202"/>
                  </a:lnTo>
                  <a:lnTo>
                    <a:pt x="105537" y="380364"/>
                  </a:lnTo>
                  <a:lnTo>
                    <a:pt x="146939" y="401827"/>
                  </a:lnTo>
                  <a:lnTo>
                    <a:pt x="193167" y="417956"/>
                  </a:lnTo>
                  <a:lnTo>
                    <a:pt x="243586" y="427989"/>
                  </a:lnTo>
                  <a:lnTo>
                    <a:pt x="297053" y="431545"/>
                  </a:lnTo>
                  <a:lnTo>
                    <a:pt x="350139" y="427989"/>
                  </a:lnTo>
                  <a:lnTo>
                    <a:pt x="400050" y="417956"/>
                  </a:lnTo>
                  <a:lnTo>
                    <a:pt x="446151" y="401827"/>
                  </a:lnTo>
                  <a:lnTo>
                    <a:pt x="487426" y="380364"/>
                  </a:lnTo>
                  <a:lnTo>
                    <a:pt x="522986" y="354202"/>
                  </a:lnTo>
                  <a:lnTo>
                    <a:pt x="552196" y="323976"/>
                  </a:lnTo>
                  <a:lnTo>
                    <a:pt x="574040" y="290321"/>
                  </a:lnTo>
                  <a:lnTo>
                    <a:pt x="587756" y="253745"/>
                  </a:lnTo>
                  <a:lnTo>
                    <a:pt x="592582" y="215011"/>
                  </a:lnTo>
                  <a:lnTo>
                    <a:pt x="587756" y="176275"/>
                  </a:lnTo>
                  <a:lnTo>
                    <a:pt x="574040" y="139953"/>
                  </a:lnTo>
                  <a:lnTo>
                    <a:pt x="552196" y="106425"/>
                  </a:lnTo>
                  <a:lnTo>
                    <a:pt x="522986" y="76453"/>
                  </a:lnTo>
                  <a:lnTo>
                    <a:pt x="487426" y="50545"/>
                  </a:lnTo>
                  <a:lnTo>
                    <a:pt x="446151" y="29337"/>
                  </a:lnTo>
                  <a:lnTo>
                    <a:pt x="400050" y="13462"/>
                  </a:lnTo>
                  <a:lnTo>
                    <a:pt x="350139" y="3428"/>
                  </a:lnTo>
                  <a:lnTo>
                    <a:pt x="297053"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3" name="Google Shape;163;p15"/>
            <p:cNvSpPr/>
            <p:nvPr/>
          </p:nvSpPr>
          <p:spPr>
            <a:xfrm>
              <a:off x="2124456" y="5158740"/>
              <a:ext cx="601980" cy="441959"/>
            </a:xfrm>
            <a:custGeom>
              <a:avLst/>
              <a:gdLst/>
              <a:ahLst/>
              <a:cxnLst/>
              <a:rect l="l" t="t" r="r" b="b"/>
              <a:pathLst>
                <a:path w="601980" h="441960" extrusionOk="0">
                  <a:moveTo>
                    <a:pt x="601980" y="210312"/>
                  </a:moveTo>
                  <a:lnTo>
                    <a:pt x="598932" y="187452"/>
                  </a:lnTo>
                  <a:lnTo>
                    <a:pt x="596265" y="178308"/>
                  </a:lnTo>
                  <a:lnTo>
                    <a:pt x="592836" y="166116"/>
                  </a:lnTo>
                  <a:lnTo>
                    <a:pt x="592836" y="220980"/>
                  </a:lnTo>
                  <a:lnTo>
                    <a:pt x="591312" y="231648"/>
                  </a:lnTo>
                  <a:lnTo>
                    <a:pt x="591312" y="242316"/>
                  </a:lnTo>
                  <a:lnTo>
                    <a:pt x="588264" y="252984"/>
                  </a:lnTo>
                  <a:lnTo>
                    <a:pt x="586740" y="263652"/>
                  </a:lnTo>
                  <a:lnTo>
                    <a:pt x="583692" y="272796"/>
                  </a:lnTo>
                  <a:lnTo>
                    <a:pt x="579120" y="283464"/>
                  </a:lnTo>
                  <a:lnTo>
                    <a:pt x="574548" y="292608"/>
                  </a:lnTo>
                  <a:lnTo>
                    <a:pt x="569976" y="303276"/>
                  </a:lnTo>
                  <a:lnTo>
                    <a:pt x="569976" y="301752"/>
                  </a:lnTo>
                  <a:lnTo>
                    <a:pt x="563880" y="312420"/>
                  </a:lnTo>
                  <a:lnTo>
                    <a:pt x="563880" y="310896"/>
                  </a:lnTo>
                  <a:lnTo>
                    <a:pt x="557784" y="321564"/>
                  </a:lnTo>
                  <a:lnTo>
                    <a:pt x="557784" y="320040"/>
                  </a:lnTo>
                  <a:lnTo>
                    <a:pt x="542544" y="338328"/>
                  </a:lnTo>
                  <a:lnTo>
                    <a:pt x="525780" y="355092"/>
                  </a:lnTo>
                  <a:lnTo>
                    <a:pt x="525780" y="353568"/>
                  </a:lnTo>
                  <a:lnTo>
                    <a:pt x="507492" y="368808"/>
                  </a:lnTo>
                  <a:lnTo>
                    <a:pt x="486156" y="382524"/>
                  </a:lnTo>
                  <a:lnTo>
                    <a:pt x="487680" y="382524"/>
                  </a:lnTo>
                  <a:lnTo>
                    <a:pt x="464820" y="394716"/>
                  </a:lnTo>
                  <a:lnTo>
                    <a:pt x="414528" y="414528"/>
                  </a:lnTo>
                  <a:lnTo>
                    <a:pt x="359664" y="426720"/>
                  </a:lnTo>
                  <a:lnTo>
                    <a:pt x="330708" y="429768"/>
                  </a:lnTo>
                  <a:lnTo>
                    <a:pt x="300990" y="431292"/>
                  </a:lnTo>
                  <a:lnTo>
                    <a:pt x="271272" y="429768"/>
                  </a:lnTo>
                  <a:lnTo>
                    <a:pt x="242316" y="426720"/>
                  </a:lnTo>
                  <a:lnTo>
                    <a:pt x="213360" y="422148"/>
                  </a:lnTo>
                  <a:lnTo>
                    <a:pt x="214884" y="422148"/>
                  </a:lnTo>
                  <a:lnTo>
                    <a:pt x="187452" y="414528"/>
                  </a:lnTo>
                  <a:lnTo>
                    <a:pt x="137160" y="394716"/>
                  </a:lnTo>
                  <a:lnTo>
                    <a:pt x="94488" y="368808"/>
                  </a:lnTo>
                  <a:lnTo>
                    <a:pt x="77978" y="355092"/>
                  </a:lnTo>
                  <a:lnTo>
                    <a:pt x="76200" y="353568"/>
                  </a:lnTo>
                  <a:lnTo>
                    <a:pt x="76200" y="355092"/>
                  </a:lnTo>
                  <a:lnTo>
                    <a:pt x="59436" y="338328"/>
                  </a:lnTo>
                  <a:lnTo>
                    <a:pt x="45466" y="321564"/>
                  </a:lnTo>
                  <a:lnTo>
                    <a:pt x="44196" y="320040"/>
                  </a:lnTo>
                  <a:lnTo>
                    <a:pt x="44196" y="321564"/>
                  </a:lnTo>
                  <a:lnTo>
                    <a:pt x="38989" y="312420"/>
                  </a:lnTo>
                  <a:lnTo>
                    <a:pt x="38100" y="310896"/>
                  </a:lnTo>
                  <a:lnTo>
                    <a:pt x="38100" y="312420"/>
                  </a:lnTo>
                  <a:lnTo>
                    <a:pt x="32893" y="303276"/>
                  </a:lnTo>
                  <a:lnTo>
                    <a:pt x="32004" y="301752"/>
                  </a:lnTo>
                  <a:lnTo>
                    <a:pt x="32004" y="303276"/>
                  </a:lnTo>
                  <a:lnTo>
                    <a:pt x="27432" y="292608"/>
                  </a:lnTo>
                  <a:lnTo>
                    <a:pt x="22860" y="283464"/>
                  </a:lnTo>
                  <a:lnTo>
                    <a:pt x="18288" y="272796"/>
                  </a:lnTo>
                  <a:lnTo>
                    <a:pt x="15240" y="263652"/>
                  </a:lnTo>
                  <a:lnTo>
                    <a:pt x="13716" y="252984"/>
                  </a:lnTo>
                  <a:lnTo>
                    <a:pt x="10668" y="242316"/>
                  </a:lnTo>
                  <a:lnTo>
                    <a:pt x="10668" y="199644"/>
                  </a:lnTo>
                  <a:lnTo>
                    <a:pt x="13716" y="188976"/>
                  </a:lnTo>
                  <a:lnTo>
                    <a:pt x="15240" y="178308"/>
                  </a:lnTo>
                  <a:lnTo>
                    <a:pt x="15240" y="179832"/>
                  </a:lnTo>
                  <a:lnTo>
                    <a:pt x="15621" y="178308"/>
                  </a:lnTo>
                  <a:lnTo>
                    <a:pt x="18288" y="169164"/>
                  </a:lnTo>
                  <a:lnTo>
                    <a:pt x="22860" y="158496"/>
                  </a:lnTo>
                  <a:lnTo>
                    <a:pt x="22860" y="160020"/>
                  </a:lnTo>
                  <a:lnTo>
                    <a:pt x="23495" y="158496"/>
                  </a:lnTo>
                  <a:lnTo>
                    <a:pt x="27432" y="149352"/>
                  </a:lnTo>
                  <a:lnTo>
                    <a:pt x="32004" y="140208"/>
                  </a:lnTo>
                  <a:lnTo>
                    <a:pt x="44196" y="121920"/>
                  </a:lnTo>
                  <a:lnTo>
                    <a:pt x="59436" y="103632"/>
                  </a:lnTo>
                  <a:lnTo>
                    <a:pt x="59436" y="105156"/>
                  </a:lnTo>
                  <a:lnTo>
                    <a:pt x="60960" y="103632"/>
                  </a:lnTo>
                  <a:lnTo>
                    <a:pt x="94488" y="73152"/>
                  </a:lnTo>
                  <a:lnTo>
                    <a:pt x="137160" y="47244"/>
                  </a:lnTo>
                  <a:lnTo>
                    <a:pt x="187452" y="27432"/>
                  </a:lnTo>
                  <a:lnTo>
                    <a:pt x="214884" y="19812"/>
                  </a:lnTo>
                  <a:lnTo>
                    <a:pt x="213360" y="19812"/>
                  </a:lnTo>
                  <a:lnTo>
                    <a:pt x="242316" y="15240"/>
                  </a:lnTo>
                  <a:lnTo>
                    <a:pt x="271272" y="12192"/>
                  </a:lnTo>
                  <a:lnTo>
                    <a:pt x="300990" y="10668"/>
                  </a:lnTo>
                  <a:lnTo>
                    <a:pt x="330708" y="12192"/>
                  </a:lnTo>
                  <a:lnTo>
                    <a:pt x="388620" y="19812"/>
                  </a:lnTo>
                  <a:lnTo>
                    <a:pt x="440436" y="36576"/>
                  </a:lnTo>
                  <a:lnTo>
                    <a:pt x="487680" y="59436"/>
                  </a:lnTo>
                  <a:lnTo>
                    <a:pt x="486156" y="59436"/>
                  </a:lnTo>
                  <a:lnTo>
                    <a:pt x="507492" y="73152"/>
                  </a:lnTo>
                  <a:lnTo>
                    <a:pt x="525780" y="88392"/>
                  </a:lnTo>
                  <a:lnTo>
                    <a:pt x="542544" y="105156"/>
                  </a:lnTo>
                  <a:lnTo>
                    <a:pt x="542544" y="103632"/>
                  </a:lnTo>
                  <a:lnTo>
                    <a:pt x="557784" y="121920"/>
                  </a:lnTo>
                  <a:lnTo>
                    <a:pt x="569976" y="140208"/>
                  </a:lnTo>
                  <a:lnTo>
                    <a:pt x="574548" y="149352"/>
                  </a:lnTo>
                  <a:lnTo>
                    <a:pt x="579120" y="160020"/>
                  </a:lnTo>
                  <a:lnTo>
                    <a:pt x="579120" y="158496"/>
                  </a:lnTo>
                  <a:lnTo>
                    <a:pt x="583692" y="169164"/>
                  </a:lnTo>
                  <a:lnTo>
                    <a:pt x="586740" y="179832"/>
                  </a:lnTo>
                  <a:lnTo>
                    <a:pt x="586740" y="178308"/>
                  </a:lnTo>
                  <a:lnTo>
                    <a:pt x="588264" y="188976"/>
                  </a:lnTo>
                  <a:lnTo>
                    <a:pt x="591312" y="199644"/>
                  </a:lnTo>
                  <a:lnTo>
                    <a:pt x="591312" y="210312"/>
                  </a:lnTo>
                  <a:lnTo>
                    <a:pt x="592836" y="220980"/>
                  </a:lnTo>
                  <a:lnTo>
                    <a:pt x="592836" y="166116"/>
                  </a:lnTo>
                  <a:lnTo>
                    <a:pt x="589534" y="158496"/>
                  </a:lnTo>
                  <a:lnTo>
                    <a:pt x="579120" y="134112"/>
                  </a:lnTo>
                  <a:lnTo>
                    <a:pt x="573024" y="124968"/>
                  </a:lnTo>
                  <a:lnTo>
                    <a:pt x="565404" y="115824"/>
                  </a:lnTo>
                  <a:lnTo>
                    <a:pt x="559308" y="106680"/>
                  </a:lnTo>
                  <a:lnTo>
                    <a:pt x="513588" y="64008"/>
                  </a:lnTo>
                  <a:lnTo>
                    <a:pt x="469392" y="38100"/>
                  </a:lnTo>
                  <a:lnTo>
                    <a:pt x="417576" y="18288"/>
                  </a:lnTo>
                  <a:lnTo>
                    <a:pt x="361188" y="4572"/>
                  </a:lnTo>
                  <a:lnTo>
                    <a:pt x="301752" y="0"/>
                  </a:lnTo>
                  <a:lnTo>
                    <a:pt x="269748" y="1524"/>
                  </a:lnTo>
                  <a:lnTo>
                    <a:pt x="211836" y="10668"/>
                  </a:lnTo>
                  <a:lnTo>
                    <a:pt x="158496" y="27432"/>
                  </a:lnTo>
                  <a:lnTo>
                    <a:pt x="109728" y="50292"/>
                  </a:lnTo>
                  <a:lnTo>
                    <a:pt x="68580" y="80772"/>
                  </a:lnTo>
                  <a:lnTo>
                    <a:pt x="28956" y="124968"/>
                  </a:lnTo>
                  <a:lnTo>
                    <a:pt x="9144" y="166116"/>
                  </a:lnTo>
                  <a:lnTo>
                    <a:pt x="0" y="210312"/>
                  </a:lnTo>
                  <a:lnTo>
                    <a:pt x="0" y="233172"/>
                  </a:lnTo>
                  <a:lnTo>
                    <a:pt x="9144" y="277368"/>
                  </a:lnTo>
                  <a:lnTo>
                    <a:pt x="18288" y="297180"/>
                  </a:lnTo>
                  <a:lnTo>
                    <a:pt x="22860" y="307848"/>
                  </a:lnTo>
                  <a:lnTo>
                    <a:pt x="51816" y="345948"/>
                  </a:lnTo>
                  <a:lnTo>
                    <a:pt x="88392" y="377952"/>
                  </a:lnTo>
                  <a:lnTo>
                    <a:pt x="132588" y="405384"/>
                  </a:lnTo>
                  <a:lnTo>
                    <a:pt x="184404" y="425196"/>
                  </a:lnTo>
                  <a:lnTo>
                    <a:pt x="240792" y="437388"/>
                  </a:lnTo>
                  <a:lnTo>
                    <a:pt x="301752" y="441960"/>
                  </a:lnTo>
                  <a:lnTo>
                    <a:pt x="332232" y="440436"/>
                  </a:lnTo>
                  <a:lnTo>
                    <a:pt x="361188" y="437388"/>
                  </a:lnTo>
                  <a:lnTo>
                    <a:pt x="390144" y="432816"/>
                  </a:lnTo>
                  <a:lnTo>
                    <a:pt x="395605" y="431292"/>
                  </a:lnTo>
                  <a:lnTo>
                    <a:pt x="417576" y="425196"/>
                  </a:lnTo>
                  <a:lnTo>
                    <a:pt x="492252" y="391668"/>
                  </a:lnTo>
                  <a:lnTo>
                    <a:pt x="541020" y="355092"/>
                  </a:lnTo>
                  <a:lnTo>
                    <a:pt x="565404" y="327660"/>
                  </a:lnTo>
                  <a:lnTo>
                    <a:pt x="569722" y="321564"/>
                  </a:lnTo>
                  <a:lnTo>
                    <a:pt x="573024" y="316992"/>
                  </a:lnTo>
                  <a:lnTo>
                    <a:pt x="576072" y="312420"/>
                  </a:lnTo>
                  <a:lnTo>
                    <a:pt x="579120" y="307848"/>
                  </a:lnTo>
                  <a:lnTo>
                    <a:pt x="581025" y="303276"/>
                  </a:lnTo>
                  <a:lnTo>
                    <a:pt x="592836" y="277368"/>
                  </a:lnTo>
                  <a:lnTo>
                    <a:pt x="601980" y="233172"/>
                  </a:lnTo>
                  <a:lnTo>
                    <a:pt x="601980" y="210312"/>
                  </a:lnTo>
                  <a:close/>
                </a:path>
              </a:pathLst>
            </a:custGeom>
            <a:solidFill>
              <a:srgbClr val="416F9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64" name="Google Shape;164;p15"/>
          <p:cNvSpPr txBox="1"/>
          <p:nvPr/>
        </p:nvSpPr>
        <p:spPr>
          <a:xfrm>
            <a:off x="283779" y="1609559"/>
            <a:ext cx="9271701" cy="4163048"/>
          </a:xfrm>
          <a:prstGeom prst="rect">
            <a:avLst/>
          </a:prstGeom>
          <a:noFill/>
          <a:ln>
            <a:noFill/>
          </a:ln>
        </p:spPr>
        <p:txBody>
          <a:bodyPr spcFirstLastPara="1" wrap="square" lIns="0" tIns="116825" rIns="0" bIns="0" anchor="t" anchorCtr="0">
            <a:spAutoFit/>
          </a:bodyPr>
          <a:lstStyle/>
          <a:p>
            <a:pPr marL="213359" marR="0" lvl="0" indent="-189230" algn="l" rtl="0">
              <a:lnSpc>
                <a:spcPct val="100000"/>
              </a:lnSpc>
              <a:spcBef>
                <a:spcPts val="0"/>
              </a:spcBef>
              <a:spcAft>
                <a:spcPts val="0"/>
              </a:spcAft>
              <a:buClr>
                <a:schemeClr val="dk1"/>
              </a:buClr>
              <a:buSzPts val="1950"/>
              <a:buFont typeface="Arial"/>
              <a:buChar char="•"/>
            </a:pPr>
            <a:r>
              <a:rPr lang="en-US" sz="1950" dirty="0">
                <a:solidFill>
                  <a:schemeClr val="dk1"/>
                </a:solidFill>
                <a:latin typeface="Calibri"/>
                <a:ea typeface="Calibri"/>
                <a:cs typeface="Calibri"/>
                <a:sym typeface="Calibri"/>
              </a:rPr>
              <a:t>Searching needs a “pattern” to be searched and a “corpus” of text to search through.</a:t>
            </a:r>
            <a:endParaRPr sz="1950" dirty="0">
              <a:solidFill>
                <a:schemeClr val="dk1"/>
              </a:solidFill>
              <a:latin typeface="Calibri"/>
              <a:ea typeface="Calibri"/>
              <a:cs typeface="Calibri"/>
              <a:sym typeface="Calibri"/>
            </a:endParaRPr>
          </a:p>
          <a:p>
            <a:pPr marL="167005" marR="2640330" lvl="0" indent="26670" algn="l" rtl="0">
              <a:lnSpc>
                <a:spcPct val="163030"/>
              </a:lnSpc>
              <a:spcBef>
                <a:spcPts val="195"/>
              </a:spcBef>
              <a:spcAft>
                <a:spcPts val="0"/>
              </a:spcAft>
              <a:buNone/>
            </a:pPr>
            <a:r>
              <a:rPr lang="en-US" sz="1650" dirty="0">
                <a:solidFill>
                  <a:srgbClr val="445369"/>
                </a:solidFill>
                <a:latin typeface="Calibri"/>
                <a:ea typeface="Calibri"/>
                <a:cs typeface="Calibri"/>
                <a:sym typeface="Calibri"/>
              </a:rPr>
              <a:t>A pattern is “RE” and a corpus can be an array / temporary storage / buffer  where text from document can be stored temporarily for processing.</a:t>
            </a:r>
            <a:endParaRPr sz="1650" dirty="0">
              <a:solidFill>
                <a:schemeClr val="dk1"/>
              </a:solidFill>
              <a:latin typeface="Calibri"/>
              <a:ea typeface="Calibri"/>
              <a:cs typeface="Calibri"/>
              <a:sym typeface="Calibri"/>
            </a:endParaRPr>
          </a:p>
          <a:p>
            <a:pPr marL="24765" marR="0" lvl="0" indent="0" algn="l" rtl="0">
              <a:lnSpc>
                <a:spcPct val="100000"/>
              </a:lnSpc>
              <a:spcBef>
                <a:spcPts val="635"/>
              </a:spcBef>
              <a:spcAft>
                <a:spcPts val="0"/>
              </a:spcAft>
              <a:buNone/>
            </a:pPr>
            <a:r>
              <a:rPr lang="en-US" sz="1950" dirty="0" err="1">
                <a:solidFill>
                  <a:schemeClr val="dk1"/>
                </a:solidFill>
                <a:latin typeface="Calibri"/>
                <a:ea typeface="Calibri"/>
                <a:cs typeface="Calibri"/>
                <a:sym typeface="Calibri"/>
              </a:rPr>
              <a:t>Eg</a:t>
            </a:r>
            <a:r>
              <a:rPr lang="en-US" sz="1950" dirty="0">
                <a:solidFill>
                  <a:schemeClr val="dk1"/>
                </a:solidFill>
                <a:latin typeface="Calibri"/>
                <a:ea typeface="Calibri"/>
                <a:cs typeface="Calibri"/>
                <a:sym typeface="Calibri"/>
              </a:rPr>
              <a:t>. In web search engine, the corpus can be entire document or web page</a:t>
            </a:r>
            <a:endParaRPr sz="1950" dirty="0">
              <a:solidFill>
                <a:schemeClr val="dk1"/>
              </a:solidFill>
              <a:latin typeface="Calibri"/>
              <a:ea typeface="Calibri"/>
              <a:cs typeface="Calibri"/>
              <a:sym typeface="Calibri"/>
            </a:endParaRPr>
          </a:p>
          <a:p>
            <a:pPr marL="419100" marR="0" lvl="0" indent="0" algn="l" rtl="0">
              <a:lnSpc>
                <a:spcPct val="100000"/>
              </a:lnSpc>
              <a:spcBef>
                <a:spcPts val="660"/>
              </a:spcBef>
              <a:spcAft>
                <a:spcPts val="0"/>
              </a:spcAft>
              <a:buNone/>
            </a:pPr>
            <a:r>
              <a:rPr lang="en-US" sz="1950" dirty="0">
                <a:solidFill>
                  <a:schemeClr val="dk1"/>
                </a:solidFill>
                <a:latin typeface="Calibri"/>
                <a:ea typeface="Calibri"/>
                <a:cs typeface="Calibri"/>
                <a:sym typeface="Calibri"/>
              </a:rPr>
              <a:t>In Language translation, corpus can be a single statement</a:t>
            </a:r>
            <a:endParaRPr sz="1950" dirty="0">
              <a:solidFill>
                <a:schemeClr val="dk1"/>
              </a:solidFill>
              <a:latin typeface="Calibri"/>
              <a:ea typeface="Calibri"/>
              <a:cs typeface="Calibri"/>
              <a:sym typeface="Calibri"/>
            </a:endParaRPr>
          </a:p>
          <a:p>
            <a:pPr marL="214629" marR="5080" lvl="0" indent="-201930" algn="l" rtl="0">
              <a:lnSpc>
                <a:spcPct val="302564"/>
              </a:lnSpc>
              <a:spcBef>
                <a:spcPts val="670"/>
              </a:spcBef>
              <a:spcAft>
                <a:spcPts val="0"/>
              </a:spcAft>
              <a:buClr>
                <a:schemeClr val="dk1"/>
              </a:buClr>
              <a:buSzPts val="1950"/>
              <a:buFont typeface="Arial"/>
              <a:buChar char="•"/>
            </a:pPr>
            <a:r>
              <a:rPr lang="en-US" sz="1950" dirty="0">
                <a:solidFill>
                  <a:schemeClr val="dk1"/>
                </a:solidFill>
                <a:latin typeface="Calibri"/>
                <a:ea typeface="Calibri"/>
                <a:cs typeface="Calibri"/>
                <a:sym typeface="Calibri"/>
              </a:rPr>
              <a:t>For atomizing the “Token Recognition” process, we can represent RE using </a:t>
            </a:r>
            <a:r>
              <a:rPr lang="en-US" sz="1950" dirty="0" smtClean="0">
                <a:solidFill>
                  <a:schemeClr val="dk1"/>
                </a:solidFill>
                <a:latin typeface="Calibri"/>
                <a:ea typeface="Calibri"/>
                <a:cs typeface="Calibri"/>
                <a:sym typeface="Calibri"/>
              </a:rPr>
              <a:t>state diagram  L1	L</a:t>
            </a:r>
            <a:endParaRPr sz="1950" dirty="0" smtClean="0">
              <a:solidFill>
                <a:schemeClr val="dk1"/>
              </a:solidFill>
              <a:latin typeface="Calibri"/>
              <a:ea typeface="Calibri"/>
              <a:cs typeface="Calibri"/>
              <a:sym typeface="Calibri"/>
            </a:endParaRPr>
          </a:p>
          <a:p>
            <a:pPr marL="1049020" marR="0" lvl="0" indent="0" algn="l" rtl="0">
              <a:lnSpc>
                <a:spcPct val="97241"/>
              </a:lnSpc>
              <a:spcBef>
                <a:spcPts val="0"/>
              </a:spcBef>
              <a:spcAft>
                <a:spcPts val="0"/>
              </a:spcAft>
              <a:buNone/>
            </a:pPr>
            <a:r>
              <a:rPr lang="en-US" sz="1450" dirty="0" smtClean="0">
                <a:solidFill>
                  <a:srgbClr val="FFFFFF"/>
                </a:solidFill>
                <a:latin typeface="Calibri"/>
                <a:ea typeface="Calibri"/>
                <a:cs typeface="Calibri"/>
                <a:sym typeface="Calibri"/>
              </a:rPr>
              <a:t>0</a:t>
            </a:r>
            <a:r>
              <a:rPr lang="en-US" sz="1450" dirty="0">
                <a:solidFill>
                  <a:srgbClr val="FFFFFF"/>
                </a:solidFill>
                <a:latin typeface="Calibri"/>
                <a:ea typeface="Calibri"/>
                <a:cs typeface="Calibri"/>
                <a:sym typeface="Calibri"/>
              </a:rPr>
              <a:t>	1</a:t>
            </a:r>
            <a:endParaRPr sz="1450" dirty="0">
              <a:solidFill>
                <a:schemeClr val="dk1"/>
              </a:solidFill>
              <a:latin typeface="Calibri"/>
              <a:ea typeface="Calibri"/>
              <a:cs typeface="Calibri"/>
              <a:sym typeface="Calibri"/>
            </a:endParaRPr>
          </a:p>
        </p:txBody>
      </p:sp>
      <p:sp>
        <p:nvSpPr>
          <p:cNvPr id="165" name="Google Shape;165;p15"/>
          <p:cNvSpPr/>
          <p:nvPr/>
        </p:nvSpPr>
        <p:spPr>
          <a:xfrm>
            <a:off x="1574292" y="4972811"/>
            <a:ext cx="1338580" cy="438784"/>
          </a:xfrm>
          <a:custGeom>
            <a:avLst/>
            <a:gdLst/>
            <a:ahLst/>
            <a:cxnLst/>
            <a:rect l="l" t="t" r="r" b="b"/>
            <a:pathLst>
              <a:path w="1338580" h="438785" extrusionOk="0">
                <a:moveTo>
                  <a:pt x="554482" y="406781"/>
                </a:moveTo>
                <a:lnTo>
                  <a:pt x="548513" y="403860"/>
                </a:lnTo>
                <a:lnTo>
                  <a:pt x="491998" y="374904"/>
                </a:lnTo>
                <a:lnTo>
                  <a:pt x="491998" y="403745"/>
                </a:lnTo>
                <a:lnTo>
                  <a:pt x="0" y="403745"/>
                </a:lnTo>
                <a:lnTo>
                  <a:pt x="0" y="409829"/>
                </a:lnTo>
                <a:lnTo>
                  <a:pt x="491998" y="409829"/>
                </a:lnTo>
                <a:lnTo>
                  <a:pt x="491998" y="438785"/>
                </a:lnTo>
                <a:lnTo>
                  <a:pt x="548513" y="409829"/>
                </a:lnTo>
                <a:lnTo>
                  <a:pt x="554482" y="406781"/>
                </a:lnTo>
                <a:close/>
              </a:path>
              <a:path w="1338580" h="438785" extrusionOk="0">
                <a:moveTo>
                  <a:pt x="1338326" y="194945"/>
                </a:moveTo>
                <a:lnTo>
                  <a:pt x="1336802" y="185801"/>
                </a:lnTo>
                <a:lnTo>
                  <a:pt x="1333754" y="175133"/>
                </a:lnTo>
                <a:lnTo>
                  <a:pt x="1330706" y="165989"/>
                </a:lnTo>
                <a:lnTo>
                  <a:pt x="1322324" y="149225"/>
                </a:lnTo>
                <a:lnTo>
                  <a:pt x="1321562" y="147701"/>
                </a:lnTo>
                <a:lnTo>
                  <a:pt x="1309370" y="129413"/>
                </a:lnTo>
                <a:lnTo>
                  <a:pt x="1301750" y="120269"/>
                </a:lnTo>
                <a:lnTo>
                  <a:pt x="1292606" y="111125"/>
                </a:lnTo>
                <a:lnTo>
                  <a:pt x="1283462" y="103505"/>
                </a:lnTo>
                <a:lnTo>
                  <a:pt x="1274318" y="94488"/>
                </a:lnTo>
                <a:lnTo>
                  <a:pt x="1228598" y="64008"/>
                </a:lnTo>
                <a:lnTo>
                  <a:pt x="1176782" y="38100"/>
                </a:lnTo>
                <a:lnTo>
                  <a:pt x="1117219" y="18288"/>
                </a:lnTo>
                <a:lnTo>
                  <a:pt x="1062736" y="6096"/>
                </a:lnTo>
                <a:lnTo>
                  <a:pt x="1005967" y="0"/>
                </a:lnTo>
                <a:lnTo>
                  <a:pt x="972439" y="0"/>
                </a:lnTo>
                <a:lnTo>
                  <a:pt x="940435" y="3048"/>
                </a:lnTo>
                <a:lnTo>
                  <a:pt x="923671" y="6096"/>
                </a:lnTo>
                <a:lnTo>
                  <a:pt x="908431" y="9144"/>
                </a:lnTo>
                <a:lnTo>
                  <a:pt x="891667" y="12192"/>
                </a:lnTo>
                <a:lnTo>
                  <a:pt x="830707" y="33528"/>
                </a:lnTo>
                <a:lnTo>
                  <a:pt x="774192" y="62484"/>
                </a:lnTo>
                <a:lnTo>
                  <a:pt x="725424" y="97536"/>
                </a:lnTo>
                <a:lnTo>
                  <a:pt x="714756" y="108077"/>
                </a:lnTo>
                <a:lnTo>
                  <a:pt x="704088" y="117221"/>
                </a:lnTo>
                <a:lnTo>
                  <a:pt x="693420" y="127889"/>
                </a:lnTo>
                <a:lnTo>
                  <a:pt x="685800" y="138557"/>
                </a:lnTo>
                <a:lnTo>
                  <a:pt x="676656" y="149225"/>
                </a:lnTo>
                <a:lnTo>
                  <a:pt x="669036" y="159893"/>
                </a:lnTo>
                <a:lnTo>
                  <a:pt x="656844" y="184277"/>
                </a:lnTo>
                <a:lnTo>
                  <a:pt x="654177" y="192405"/>
                </a:lnTo>
                <a:lnTo>
                  <a:pt x="624840" y="185801"/>
                </a:lnTo>
                <a:lnTo>
                  <a:pt x="641604" y="254381"/>
                </a:lnTo>
                <a:lnTo>
                  <a:pt x="682117" y="204089"/>
                </a:lnTo>
                <a:lnTo>
                  <a:pt x="685800" y="199517"/>
                </a:lnTo>
                <a:lnTo>
                  <a:pt x="658876" y="193421"/>
                </a:lnTo>
                <a:lnTo>
                  <a:pt x="661416" y="185801"/>
                </a:lnTo>
                <a:lnTo>
                  <a:pt x="667512" y="175133"/>
                </a:lnTo>
                <a:lnTo>
                  <a:pt x="673608" y="162941"/>
                </a:lnTo>
                <a:lnTo>
                  <a:pt x="697992" y="130937"/>
                </a:lnTo>
                <a:lnTo>
                  <a:pt x="739140" y="92964"/>
                </a:lnTo>
                <a:lnTo>
                  <a:pt x="777240" y="67056"/>
                </a:lnTo>
                <a:lnTo>
                  <a:pt x="804799" y="51816"/>
                </a:lnTo>
                <a:lnTo>
                  <a:pt x="803275" y="51816"/>
                </a:lnTo>
                <a:lnTo>
                  <a:pt x="862711" y="27432"/>
                </a:lnTo>
                <a:lnTo>
                  <a:pt x="908431" y="13716"/>
                </a:lnTo>
                <a:lnTo>
                  <a:pt x="972439" y="6096"/>
                </a:lnTo>
                <a:lnTo>
                  <a:pt x="1021207" y="6096"/>
                </a:lnTo>
                <a:lnTo>
                  <a:pt x="1115695" y="22860"/>
                </a:lnTo>
                <a:lnTo>
                  <a:pt x="1173734" y="42672"/>
                </a:lnTo>
                <a:lnTo>
                  <a:pt x="1227074" y="68580"/>
                </a:lnTo>
                <a:lnTo>
                  <a:pt x="1237742" y="76200"/>
                </a:lnTo>
                <a:lnTo>
                  <a:pt x="1249934" y="82296"/>
                </a:lnTo>
                <a:lnTo>
                  <a:pt x="1260602" y="91440"/>
                </a:lnTo>
                <a:lnTo>
                  <a:pt x="1260602" y="89916"/>
                </a:lnTo>
                <a:lnTo>
                  <a:pt x="1271270" y="99060"/>
                </a:lnTo>
                <a:lnTo>
                  <a:pt x="1280414" y="106553"/>
                </a:lnTo>
                <a:lnTo>
                  <a:pt x="1297178" y="123317"/>
                </a:lnTo>
                <a:lnTo>
                  <a:pt x="1304798" y="132461"/>
                </a:lnTo>
                <a:lnTo>
                  <a:pt x="1316990" y="150749"/>
                </a:lnTo>
                <a:lnTo>
                  <a:pt x="1316990" y="149225"/>
                </a:lnTo>
                <a:lnTo>
                  <a:pt x="1326134" y="167513"/>
                </a:lnTo>
                <a:lnTo>
                  <a:pt x="1332230" y="185801"/>
                </a:lnTo>
                <a:lnTo>
                  <a:pt x="1333754" y="196469"/>
                </a:lnTo>
                <a:lnTo>
                  <a:pt x="1333754" y="204089"/>
                </a:lnTo>
                <a:lnTo>
                  <a:pt x="1332230" y="223901"/>
                </a:lnTo>
                <a:lnTo>
                  <a:pt x="1329182" y="242189"/>
                </a:lnTo>
                <a:lnTo>
                  <a:pt x="1324610" y="260477"/>
                </a:lnTo>
                <a:lnTo>
                  <a:pt x="1318514" y="278765"/>
                </a:lnTo>
                <a:lnTo>
                  <a:pt x="1318514" y="277241"/>
                </a:lnTo>
                <a:lnTo>
                  <a:pt x="1309370" y="295529"/>
                </a:lnTo>
                <a:lnTo>
                  <a:pt x="1298702" y="312166"/>
                </a:lnTo>
                <a:lnTo>
                  <a:pt x="1300226" y="312166"/>
                </a:lnTo>
                <a:lnTo>
                  <a:pt x="1275842" y="342646"/>
                </a:lnTo>
                <a:lnTo>
                  <a:pt x="1275842" y="341122"/>
                </a:lnTo>
                <a:lnTo>
                  <a:pt x="1262126" y="354838"/>
                </a:lnTo>
                <a:lnTo>
                  <a:pt x="1231646" y="377698"/>
                </a:lnTo>
                <a:lnTo>
                  <a:pt x="1182878" y="399034"/>
                </a:lnTo>
                <a:lnTo>
                  <a:pt x="1164590" y="403606"/>
                </a:lnTo>
                <a:lnTo>
                  <a:pt x="1147699" y="403606"/>
                </a:lnTo>
                <a:lnTo>
                  <a:pt x="1147699" y="409702"/>
                </a:lnTo>
                <a:lnTo>
                  <a:pt x="1156843" y="409702"/>
                </a:lnTo>
                <a:lnTo>
                  <a:pt x="1166114" y="408178"/>
                </a:lnTo>
                <a:lnTo>
                  <a:pt x="1201166" y="399034"/>
                </a:lnTo>
                <a:lnTo>
                  <a:pt x="1249934" y="371602"/>
                </a:lnTo>
                <a:lnTo>
                  <a:pt x="1278890" y="345694"/>
                </a:lnTo>
                <a:lnTo>
                  <a:pt x="1281557" y="342646"/>
                </a:lnTo>
                <a:lnTo>
                  <a:pt x="1292606" y="330454"/>
                </a:lnTo>
                <a:lnTo>
                  <a:pt x="1303274" y="315214"/>
                </a:lnTo>
                <a:lnTo>
                  <a:pt x="1313942" y="297053"/>
                </a:lnTo>
                <a:lnTo>
                  <a:pt x="1323086" y="280289"/>
                </a:lnTo>
                <a:lnTo>
                  <a:pt x="1323594" y="278765"/>
                </a:lnTo>
                <a:lnTo>
                  <a:pt x="1335278" y="243713"/>
                </a:lnTo>
                <a:lnTo>
                  <a:pt x="1338326" y="223901"/>
                </a:lnTo>
                <a:lnTo>
                  <a:pt x="1338326" y="205613"/>
                </a:lnTo>
                <a:lnTo>
                  <a:pt x="1338326" y="194957"/>
                </a:lnTo>
                <a:lnTo>
                  <a:pt x="1333754" y="194957"/>
                </a:lnTo>
                <a:lnTo>
                  <a:pt x="1338326" y="194945"/>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6" name="Google Shape;166;p15"/>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Shape 170"/>
        <p:cNvGrpSpPr/>
        <p:nvPr/>
      </p:nvGrpSpPr>
      <p:grpSpPr>
        <a:xfrm>
          <a:off x="0" y="0"/>
          <a:ext cx="0" cy="0"/>
          <a:chOff x="0" y="0"/>
          <a:chExt cx="0" cy="0"/>
        </a:xfrm>
      </p:grpSpPr>
      <p:sp>
        <p:nvSpPr>
          <p:cNvPr id="171" name="Google Shape;171;p16"/>
          <p:cNvSpPr txBox="1">
            <a:spLocks noGrp="1"/>
          </p:cNvSpPr>
          <p:nvPr>
            <p:ph type="title"/>
          </p:nvPr>
        </p:nvSpPr>
        <p:spPr>
          <a:xfrm>
            <a:off x="356344" y="1256800"/>
            <a:ext cx="3393300" cy="466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950"/>
              <a:t>RE – NFA - DFA</a:t>
            </a:r>
            <a:endParaRPr sz="2950"/>
          </a:p>
        </p:txBody>
      </p:sp>
      <p:sp>
        <p:nvSpPr>
          <p:cNvPr id="172" name="Google Shape;172;p16"/>
          <p:cNvSpPr txBox="1"/>
          <p:nvPr/>
        </p:nvSpPr>
        <p:spPr>
          <a:xfrm>
            <a:off x="180339" y="1995724"/>
            <a:ext cx="8254365" cy="1584960"/>
          </a:xfrm>
          <a:prstGeom prst="rect">
            <a:avLst/>
          </a:prstGeom>
          <a:noFill/>
          <a:ln>
            <a:noFill/>
          </a:ln>
        </p:spPr>
        <p:txBody>
          <a:bodyPr spcFirstLastPara="1" wrap="square" lIns="0" tIns="105400" rIns="0" bIns="0" anchor="t" anchorCtr="0">
            <a:spAutoFit/>
          </a:bodyPr>
          <a:lstStyle/>
          <a:p>
            <a:pPr marL="201295" marR="0" lvl="0" indent="-189230" algn="l" rtl="0">
              <a:lnSpc>
                <a:spcPct val="100000"/>
              </a:lnSpc>
              <a:spcBef>
                <a:spcPts val="0"/>
              </a:spcBef>
              <a:spcAft>
                <a:spcPts val="0"/>
              </a:spcAft>
              <a:buClr>
                <a:schemeClr val="dk1"/>
              </a:buClr>
              <a:buSzPts val="2300"/>
              <a:buFont typeface="Arial"/>
              <a:buChar char="•"/>
            </a:pPr>
            <a:r>
              <a:rPr lang="en-US" sz="2300">
                <a:solidFill>
                  <a:schemeClr val="dk1"/>
                </a:solidFill>
                <a:latin typeface="Calibri"/>
                <a:ea typeface="Calibri"/>
                <a:cs typeface="Calibri"/>
                <a:sym typeface="Calibri"/>
              </a:rPr>
              <a:t>Pattern / RE</a:t>
            </a:r>
            <a:endParaRPr sz="2300">
              <a:solidFill>
                <a:schemeClr val="dk1"/>
              </a:solidFill>
              <a:latin typeface="Calibri"/>
              <a:ea typeface="Calibri"/>
              <a:cs typeface="Calibri"/>
              <a:sym typeface="Calibri"/>
            </a:endParaRPr>
          </a:p>
          <a:p>
            <a:pPr marL="295275" marR="0" lvl="0" indent="0" algn="l" rtl="0">
              <a:lnSpc>
                <a:spcPct val="100000"/>
              </a:lnSpc>
              <a:spcBef>
                <a:spcPts val="625"/>
              </a:spcBef>
              <a:spcAft>
                <a:spcPts val="0"/>
              </a:spcAft>
              <a:buNone/>
            </a:pPr>
            <a:r>
              <a:rPr lang="en-US" sz="1950">
                <a:solidFill>
                  <a:schemeClr val="dk1"/>
                </a:solidFill>
                <a:latin typeface="Calibri"/>
                <a:ea typeface="Calibri"/>
                <a:cs typeface="Calibri"/>
                <a:sym typeface="Calibri"/>
              </a:rPr>
              <a:t>(a/b)*abb	all strings like abb, aabb, ababb, babb, ……….can be recognized</a:t>
            </a:r>
            <a:endParaRPr sz="195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1900">
              <a:solidFill>
                <a:schemeClr val="dk1"/>
              </a:solidFill>
              <a:latin typeface="Calibri"/>
              <a:ea typeface="Calibri"/>
              <a:cs typeface="Calibri"/>
              <a:sym typeface="Calibri"/>
            </a:endParaRPr>
          </a:p>
          <a:p>
            <a:pPr marL="201295" marR="0" lvl="0" indent="-189230" algn="l" rtl="0">
              <a:lnSpc>
                <a:spcPct val="100000"/>
              </a:lnSpc>
              <a:spcBef>
                <a:spcPts val="1160"/>
              </a:spcBef>
              <a:spcAft>
                <a:spcPts val="0"/>
              </a:spcAft>
              <a:buClr>
                <a:schemeClr val="dk1"/>
              </a:buClr>
              <a:buSzPts val="1950"/>
              <a:buFont typeface="Arial"/>
              <a:buChar char="•"/>
            </a:pPr>
            <a:r>
              <a:rPr lang="en-US" sz="1950">
                <a:solidFill>
                  <a:schemeClr val="dk1"/>
                </a:solidFill>
                <a:latin typeface="Calibri"/>
                <a:ea typeface="Calibri"/>
                <a:cs typeface="Calibri"/>
                <a:sym typeface="Calibri"/>
              </a:rPr>
              <a:t>What are NFA, DFA?</a:t>
            </a:r>
            <a:endParaRPr sz="1950">
              <a:solidFill>
                <a:schemeClr val="dk1"/>
              </a:solidFill>
              <a:latin typeface="Calibri"/>
              <a:ea typeface="Calibri"/>
              <a:cs typeface="Calibri"/>
              <a:sym typeface="Calibri"/>
            </a:endParaRPr>
          </a:p>
        </p:txBody>
      </p:sp>
      <p:sp>
        <p:nvSpPr>
          <p:cNvPr id="173" name="Google Shape;173;p16"/>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Shape 177"/>
        <p:cNvGrpSpPr/>
        <p:nvPr/>
      </p:nvGrpSpPr>
      <p:grpSpPr>
        <a:xfrm>
          <a:off x="0" y="0"/>
          <a:ext cx="0" cy="0"/>
          <a:chOff x="0" y="0"/>
          <a:chExt cx="0" cy="0"/>
        </a:xfrm>
      </p:grpSpPr>
      <p:sp>
        <p:nvSpPr>
          <p:cNvPr id="178" name="Google Shape;178;p17"/>
          <p:cNvSpPr txBox="1">
            <a:spLocks noGrp="1"/>
          </p:cNvSpPr>
          <p:nvPr>
            <p:ph type="title"/>
          </p:nvPr>
        </p:nvSpPr>
        <p:spPr>
          <a:xfrm>
            <a:off x="677924" y="648375"/>
            <a:ext cx="3043200" cy="466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950"/>
              <a:t>RE to NFA</a:t>
            </a:r>
            <a:endParaRPr sz="2950"/>
          </a:p>
        </p:txBody>
      </p:sp>
      <p:sp>
        <p:nvSpPr>
          <p:cNvPr id="179" name="Google Shape;179;p17"/>
          <p:cNvSpPr txBox="1"/>
          <p:nvPr/>
        </p:nvSpPr>
        <p:spPr>
          <a:xfrm>
            <a:off x="734313" y="2238502"/>
            <a:ext cx="1031240" cy="3225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950">
                <a:solidFill>
                  <a:schemeClr val="dk1"/>
                </a:solidFill>
                <a:latin typeface="Calibri"/>
                <a:ea typeface="Calibri"/>
                <a:cs typeface="Calibri"/>
                <a:sym typeface="Calibri"/>
              </a:rPr>
              <a:t>(a/b)*abb</a:t>
            </a:r>
            <a:endParaRPr sz="1950">
              <a:solidFill>
                <a:schemeClr val="dk1"/>
              </a:solidFill>
              <a:latin typeface="Calibri"/>
              <a:ea typeface="Calibri"/>
              <a:cs typeface="Calibri"/>
              <a:sym typeface="Calibri"/>
            </a:endParaRPr>
          </a:p>
        </p:txBody>
      </p:sp>
      <p:sp>
        <p:nvSpPr>
          <p:cNvPr id="180" name="Google Shape;180;p17"/>
          <p:cNvSpPr txBox="1"/>
          <p:nvPr/>
        </p:nvSpPr>
        <p:spPr>
          <a:xfrm>
            <a:off x="677926" y="3186429"/>
            <a:ext cx="519430" cy="3225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950">
                <a:solidFill>
                  <a:schemeClr val="dk1"/>
                </a:solidFill>
                <a:latin typeface="Calibri"/>
                <a:ea typeface="Calibri"/>
                <a:cs typeface="Calibri"/>
                <a:sym typeface="Calibri"/>
              </a:rPr>
              <a:t>For a</a:t>
            </a:r>
            <a:endParaRPr sz="1950">
              <a:solidFill>
                <a:schemeClr val="dk1"/>
              </a:solidFill>
              <a:latin typeface="Calibri"/>
              <a:ea typeface="Calibri"/>
              <a:cs typeface="Calibri"/>
              <a:sym typeface="Calibri"/>
            </a:endParaRPr>
          </a:p>
        </p:txBody>
      </p:sp>
      <p:sp>
        <p:nvSpPr>
          <p:cNvPr id="181" name="Google Shape;181;p17"/>
          <p:cNvSpPr txBox="1"/>
          <p:nvPr/>
        </p:nvSpPr>
        <p:spPr>
          <a:xfrm>
            <a:off x="5959094" y="3186429"/>
            <a:ext cx="530225" cy="3225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950">
                <a:solidFill>
                  <a:schemeClr val="dk1"/>
                </a:solidFill>
                <a:latin typeface="Calibri"/>
                <a:ea typeface="Calibri"/>
                <a:cs typeface="Calibri"/>
                <a:sym typeface="Calibri"/>
              </a:rPr>
              <a:t>For b</a:t>
            </a:r>
            <a:endParaRPr sz="1950">
              <a:solidFill>
                <a:schemeClr val="dk1"/>
              </a:solidFill>
              <a:latin typeface="Calibri"/>
              <a:ea typeface="Calibri"/>
              <a:cs typeface="Calibri"/>
              <a:sym typeface="Calibri"/>
            </a:endParaRPr>
          </a:p>
        </p:txBody>
      </p:sp>
      <p:grpSp>
        <p:nvGrpSpPr>
          <p:cNvPr id="182" name="Google Shape;182;p17"/>
          <p:cNvGrpSpPr/>
          <p:nvPr/>
        </p:nvGrpSpPr>
        <p:grpSpPr>
          <a:xfrm>
            <a:off x="1138428" y="3962399"/>
            <a:ext cx="668020" cy="593090"/>
            <a:chOff x="1138428" y="3962399"/>
            <a:chExt cx="668020" cy="593090"/>
          </a:xfrm>
        </p:grpSpPr>
        <p:sp>
          <p:nvSpPr>
            <p:cNvPr id="183" name="Google Shape;183;p17"/>
            <p:cNvSpPr/>
            <p:nvPr/>
          </p:nvSpPr>
          <p:spPr>
            <a:xfrm>
              <a:off x="1142999" y="3968495"/>
              <a:ext cx="656590" cy="582295"/>
            </a:xfrm>
            <a:custGeom>
              <a:avLst/>
              <a:gdLst/>
              <a:ahLst/>
              <a:cxnLst/>
              <a:rect l="l" t="t" r="r" b="b"/>
              <a:pathLst>
                <a:path w="656589" h="582295" extrusionOk="0">
                  <a:moveTo>
                    <a:pt x="328930" y="0"/>
                  </a:moveTo>
                  <a:lnTo>
                    <a:pt x="280416" y="3175"/>
                  </a:lnTo>
                  <a:lnTo>
                    <a:pt x="234187" y="12318"/>
                  </a:lnTo>
                  <a:lnTo>
                    <a:pt x="190500" y="26924"/>
                  </a:lnTo>
                  <a:lnTo>
                    <a:pt x="149987" y="46736"/>
                  </a:lnTo>
                  <a:lnTo>
                    <a:pt x="113334" y="71119"/>
                  </a:lnTo>
                  <a:lnTo>
                    <a:pt x="80848" y="99821"/>
                  </a:lnTo>
                  <a:lnTo>
                    <a:pt x="53111" y="132206"/>
                  </a:lnTo>
                  <a:lnTo>
                    <a:pt x="30645" y="168020"/>
                  </a:lnTo>
                  <a:lnTo>
                    <a:pt x="13969" y="206628"/>
                  </a:lnTo>
                  <a:lnTo>
                    <a:pt x="3581" y="247776"/>
                  </a:lnTo>
                  <a:lnTo>
                    <a:pt x="0" y="290956"/>
                  </a:lnTo>
                  <a:lnTo>
                    <a:pt x="3581" y="333882"/>
                  </a:lnTo>
                  <a:lnTo>
                    <a:pt x="13969" y="374776"/>
                  </a:lnTo>
                  <a:lnTo>
                    <a:pt x="30645" y="413384"/>
                  </a:lnTo>
                  <a:lnTo>
                    <a:pt x="53111" y="449199"/>
                  </a:lnTo>
                  <a:lnTo>
                    <a:pt x="80848" y="481711"/>
                  </a:lnTo>
                  <a:lnTo>
                    <a:pt x="113334" y="510413"/>
                  </a:lnTo>
                  <a:lnTo>
                    <a:pt x="149987" y="534924"/>
                  </a:lnTo>
                  <a:lnTo>
                    <a:pt x="190500" y="554862"/>
                  </a:lnTo>
                  <a:lnTo>
                    <a:pt x="234187" y="569594"/>
                  </a:lnTo>
                  <a:lnTo>
                    <a:pt x="280416" y="578865"/>
                  </a:lnTo>
                  <a:lnTo>
                    <a:pt x="328930" y="582040"/>
                  </a:lnTo>
                  <a:lnTo>
                    <a:pt x="377444" y="578865"/>
                  </a:lnTo>
                  <a:lnTo>
                    <a:pt x="423672" y="569594"/>
                  </a:lnTo>
                  <a:lnTo>
                    <a:pt x="467233" y="554862"/>
                  </a:lnTo>
                  <a:lnTo>
                    <a:pt x="507492" y="534924"/>
                  </a:lnTo>
                  <a:lnTo>
                    <a:pt x="543941" y="510413"/>
                  </a:lnTo>
                  <a:lnTo>
                    <a:pt x="576326" y="481711"/>
                  </a:lnTo>
                  <a:lnTo>
                    <a:pt x="603757" y="449199"/>
                  </a:lnTo>
                  <a:lnTo>
                    <a:pt x="626110" y="413384"/>
                  </a:lnTo>
                  <a:lnTo>
                    <a:pt x="642619" y="374776"/>
                  </a:lnTo>
                  <a:lnTo>
                    <a:pt x="652907" y="333882"/>
                  </a:lnTo>
                  <a:lnTo>
                    <a:pt x="656463" y="290956"/>
                  </a:lnTo>
                  <a:lnTo>
                    <a:pt x="652907" y="247776"/>
                  </a:lnTo>
                  <a:lnTo>
                    <a:pt x="642619" y="206628"/>
                  </a:lnTo>
                  <a:lnTo>
                    <a:pt x="626110" y="168020"/>
                  </a:lnTo>
                  <a:lnTo>
                    <a:pt x="603757" y="132206"/>
                  </a:lnTo>
                  <a:lnTo>
                    <a:pt x="576326" y="99821"/>
                  </a:lnTo>
                  <a:lnTo>
                    <a:pt x="543941" y="71119"/>
                  </a:lnTo>
                  <a:lnTo>
                    <a:pt x="507492" y="46736"/>
                  </a:lnTo>
                  <a:lnTo>
                    <a:pt x="467233" y="26924"/>
                  </a:lnTo>
                  <a:lnTo>
                    <a:pt x="423672" y="12318"/>
                  </a:lnTo>
                  <a:lnTo>
                    <a:pt x="377444" y="3175"/>
                  </a:lnTo>
                  <a:lnTo>
                    <a:pt x="328930"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4" name="Google Shape;184;p17"/>
            <p:cNvSpPr/>
            <p:nvPr/>
          </p:nvSpPr>
          <p:spPr>
            <a:xfrm>
              <a:off x="1138428" y="3962399"/>
              <a:ext cx="668020" cy="593090"/>
            </a:xfrm>
            <a:custGeom>
              <a:avLst/>
              <a:gdLst/>
              <a:ahLst/>
              <a:cxnLst/>
              <a:rect l="l" t="t" r="r" b="b"/>
              <a:pathLst>
                <a:path w="668019" h="593089" extrusionOk="0">
                  <a:moveTo>
                    <a:pt x="667766" y="281813"/>
                  </a:moveTo>
                  <a:lnTo>
                    <a:pt x="666242" y="266573"/>
                  </a:lnTo>
                  <a:lnTo>
                    <a:pt x="660146" y="236093"/>
                  </a:lnTo>
                  <a:lnTo>
                    <a:pt x="657098" y="225806"/>
                  </a:lnTo>
                  <a:lnTo>
                    <a:pt x="657098" y="281813"/>
                  </a:lnTo>
                  <a:lnTo>
                    <a:pt x="657098" y="310769"/>
                  </a:lnTo>
                  <a:lnTo>
                    <a:pt x="654050" y="339725"/>
                  </a:lnTo>
                  <a:lnTo>
                    <a:pt x="651002" y="354965"/>
                  </a:lnTo>
                  <a:lnTo>
                    <a:pt x="651002" y="353441"/>
                  </a:lnTo>
                  <a:lnTo>
                    <a:pt x="641858" y="380873"/>
                  </a:lnTo>
                  <a:lnTo>
                    <a:pt x="643382" y="380873"/>
                  </a:lnTo>
                  <a:lnTo>
                    <a:pt x="631190" y="408305"/>
                  </a:lnTo>
                  <a:lnTo>
                    <a:pt x="631190" y="406781"/>
                  </a:lnTo>
                  <a:lnTo>
                    <a:pt x="625094" y="420497"/>
                  </a:lnTo>
                  <a:lnTo>
                    <a:pt x="593090" y="467614"/>
                  </a:lnTo>
                  <a:lnTo>
                    <a:pt x="562610" y="498106"/>
                  </a:lnTo>
                  <a:lnTo>
                    <a:pt x="513842" y="533158"/>
                  </a:lnTo>
                  <a:lnTo>
                    <a:pt x="515366" y="533158"/>
                  </a:lnTo>
                  <a:lnTo>
                    <a:pt x="487807" y="548386"/>
                  </a:lnTo>
                  <a:lnTo>
                    <a:pt x="487807" y="546862"/>
                  </a:lnTo>
                  <a:lnTo>
                    <a:pt x="474091" y="554494"/>
                  </a:lnTo>
                  <a:lnTo>
                    <a:pt x="458851" y="559054"/>
                  </a:lnTo>
                  <a:lnTo>
                    <a:pt x="460375" y="559054"/>
                  </a:lnTo>
                  <a:lnTo>
                    <a:pt x="429895" y="569722"/>
                  </a:lnTo>
                  <a:lnTo>
                    <a:pt x="365887" y="580390"/>
                  </a:lnTo>
                  <a:lnTo>
                    <a:pt x="367411" y="580390"/>
                  </a:lnTo>
                  <a:lnTo>
                    <a:pt x="350647" y="581914"/>
                  </a:lnTo>
                  <a:lnTo>
                    <a:pt x="317119" y="581914"/>
                  </a:lnTo>
                  <a:lnTo>
                    <a:pt x="283591" y="578866"/>
                  </a:lnTo>
                  <a:lnTo>
                    <a:pt x="253111" y="572770"/>
                  </a:lnTo>
                  <a:lnTo>
                    <a:pt x="236347" y="569722"/>
                  </a:lnTo>
                  <a:lnTo>
                    <a:pt x="237871" y="569722"/>
                  </a:lnTo>
                  <a:lnTo>
                    <a:pt x="222631" y="565150"/>
                  </a:lnTo>
                  <a:lnTo>
                    <a:pt x="207391" y="559054"/>
                  </a:lnTo>
                  <a:lnTo>
                    <a:pt x="193675" y="554494"/>
                  </a:lnTo>
                  <a:lnTo>
                    <a:pt x="181483" y="548386"/>
                  </a:lnTo>
                  <a:lnTo>
                    <a:pt x="178435" y="546862"/>
                  </a:lnTo>
                  <a:lnTo>
                    <a:pt x="178435" y="548386"/>
                  </a:lnTo>
                  <a:lnTo>
                    <a:pt x="164592" y="540766"/>
                  </a:lnTo>
                  <a:lnTo>
                    <a:pt x="166116" y="540766"/>
                  </a:lnTo>
                  <a:lnTo>
                    <a:pt x="152400" y="533158"/>
                  </a:lnTo>
                  <a:lnTo>
                    <a:pt x="126542" y="516394"/>
                  </a:lnTo>
                  <a:lnTo>
                    <a:pt x="128066" y="516394"/>
                  </a:lnTo>
                  <a:lnTo>
                    <a:pt x="103670" y="498106"/>
                  </a:lnTo>
                  <a:lnTo>
                    <a:pt x="105194" y="498106"/>
                  </a:lnTo>
                  <a:lnTo>
                    <a:pt x="93002" y="488950"/>
                  </a:lnTo>
                  <a:lnTo>
                    <a:pt x="94526" y="488950"/>
                  </a:lnTo>
                  <a:lnTo>
                    <a:pt x="73177" y="467614"/>
                  </a:lnTo>
                  <a:lnTo>
                    <a:pt x="74701" y="467614"/>
                  </a:lnTo>
                  <a:lnTo>
                    <a:pt x="65557" y="455422"/>
                  </a:lnTo>
                  <a:lnTo>
                    <a:pt x="56413" y="444881"/>
                  </a:lnTo>
                  <a:lnTo>
                    <a:pt x="41160" y="420497"/>
                  </a:lnTo>
                  <a:lnTo>
                    <a:pt x="35737" y="408305"/>
                  </a:lnTo>
                  <a:lnTo>
                    <a:pt x="35064" y="406781"/>
                  </a:lnTo>
                  <a:lnTo>
                    <a:pt x="35064" y="408305"/>
                  </a:lnTo>
                  <a:lnTo>
                    <a:pt x="28968" y="394589"/>
                  </a:lnTo>
                  <a:lnTo>
                    <a:pt x="20332" y="368681"/>
                  </a:lnTo>
                  <a:lnTo>
                    <a:pt x="19824" y="367157"/>
                  </a:lnTo>
                  <a:lnTo>
                    <a:pt x="19824" y="368681"/>
                  </a:lnTo>
                  <a:lnTo>
                    <a:pt x="16764" y="353441"/>
                  </a:lnTo>
                  <a:lnTo>
                    <a:pt x="13716" y="339725"/>
                  </a:lnTo>
                  <a:lnTo>
                    <a:pt x="9144" y="297053"/>
                  </a:lnTo>
                  <a:lnTo>
                    <a:pt x="13716" y="252857"/>
                  </a:lnTo>
                  <a:lnTo>
                    <a:pt x="19824" y="225425"/>
                  </a:lnTo>
                  <a:lnTo>
                    <a:pt x="28968" y="197993"/>
                  </a:lnTo>
                  <a:lnTo>
                    <a:pt x="41160" y="173609"/>
                  </a:lnTo>
                  <a:lnTo>
                    <a:pt x="48780" y="159893"/>
                  </a:lnTo>
                  <a:lnTo>
                    <a:pt x="48780" y="161417"/>
                  </a:lnTo>
                  <a:lnTo>
                    <a:pt x="49733" y="159893"/>
                  </a:lnTo>
                  <a:lnTo>
                    <a:pt x="56413" y="149225"/>
                  </a:lnTo>
                  <a:lnTo>
                    <a:pt x="65557" y="137160"/>
                  </a:lnTo>
                  <a:lnTo>
                    <a:pt x="74701" y="126492"/>
                  </a:lnTo>
                  <a:lnTo>
                    <a:pt x="73177" y="126492"/>
                  </a:lnTo>
                  <a:lnTo>
                    <a:pt x="94526" y="105156"/>
                  </a:lnTo>
                  <a:lnTo>
                    <a:pt x="93002" y="105156"/>
                  </a:lnTo>
                  <a:lnTo>
                    <a:pt x="105194" y="94488"/>
                  </a:lnTo>
                  <a:lnTo>
                    <a:pt x="103670" y="94488"/>
                  </a:lnTo>
                  <a:lnTo>
                    <a:pt x="128066" y="76200"/>
                  </a:lnTo>
                  <a:lnTo>
                    <a:pt x="126542" y="76200"/>
                  </a:lnTo>
                  <a:lnTo>
                    <a:pt x="152400" y="59436"/>
                  </a:lnTo>
                  <a:lnTo>
                    <a:pt x="166116" y="51816"/>
                  </a:lnTo>
                  <a:lnTo>
                    <a:pt x="164592" y="51816"/>
                  </a:lnTo>
                  <a:lnTo>
                    <a:pt x="178435" y="45720"/>
                  </a:lnTo>
                  <a:lnTo>
                    <a:pt x="193675" y="39624"/>
                  </a:lnTo>
                  <a:lnTo>
                    <a:pt x="207391" y="33528"/>
                  </a:lnTo>
                  <a:lnTo>
                    <a:pt x="237871" y="24384"/>
                  </a:lnTo>
                  <a:lnTo>
                    <a:pt x="236347" y="24384"/>
                  </a:lnTo>
                  <a:lnTo>
                    <a:pt x="253111" y="19812"/>
                  </a:lnTo>
                  <a:lnTo>
                    <a:pt x="283591" y="13716"/>
                  </a:lnTo>
                  <a:lnTo>
                    <a:pt x="317119" y="10668"/>
                  </a:lnTo>
                  <a:lnTo>
                    <a:pt x="350647" y="10668"/>
                  </a:lnTo>
                  <a:lnTo>
                    <a:pt x="367411" y="12192"/>
                  </a:lnTo>
                  <a:lnTo>
                    <a:pt x="365887" y="12192"/>
                  </a:lnTo>
                  <a:lnTo>
                    <a:pt x="382651" y="13716"/>
                  </a:lnTo>
                  <a:lnTo>
                    <a:pt x="399415" y="16764"/>
                  </a:lnTo>
                  <a:lnTo>
                    <a:pt x="414655" y="19812"/>
                  </a:lnTo>
                  <a:lnTo>
                    <a:pt x="460375" y="33528"/>
                  </a:lnTo>
                  <a:lnTo>
                    <a:pt x="458851" y="33528"/>
                  </a:lnTo>
                  <a:lnTo>
                    <a:pt x="474091" y="39624"/>
                  </a:lnTo>
                  <a:lnTo>
                    <a:pt x="501637" y="51816"/>
                  </a:lnTo>
                  <a:lnTo>
                    <a:pt x="515366" y="59436"/>
                  </a:lnTo>
                  <a:lnTo>
                    <a:pt x="513842" y="59436"/>
                  </a:lnTo>
                  <a:lnTo>
                    <a:pt x="539750" y="76200"/>
                  </a:lnTo>
                  <a:lnTo>
                    <a:pt x="583946" y="115824"/>
                  </a:lnTo>
                  <a:lnTo>
                    <a:pt x="617474" y="161417"/>
                  </a:lnTo>
                  <a:lnTo>
                    <a:pt x="617474" y="159893"/>
                  </a:lnTo>
                  <a:lnTo>
                    <a:pt x="625094" y="173609"/>
                  </a:lnTo>
                  <a:lnTo>
                    <a:pt x="637286" y="197993"/>
                  </a:lnTo>
                  <a:lnTo>
                    <a:pt x="643382" y="211709"/>
                  </a:lnTo>
                  <a:lnTo>
                    <a:pt x="641858" y="211709"/>
                  </a:lnTo>
                  <a:lnTo>
                    <a:pt x="651002" y="239141"/>
                  </a:lnTo>
                  <a:lnTo>
                    <a:pt x="654050" y="252857"/>
                  </a:lnTo>
                  <a:lnTo>
                    <a:pt x="655574" y="268097"/>
                  </a:lnTo>
                  <a:lnTo>
                    <a:pt x="655574" y="266573"/>
                  </a:lnTo>
                  <a:lnTo>
                    <a:pt x="657098" y="281813"/>
                  </a:lnTo>
                  <a:lnTo>
                    <a:pt x="657098" y="225806"/>
                  </a:lnTo>
                  <a:lnTo>
                    <a:pt x="629412" y="159893"/>
                  </a:lnTo>
                  <a:lnTo>
                    <a:pt x="600710" y="118872"/>
                  </a:lnTo>
                  <a:lnTo>
                    <a:pt x="568706" y="86868"/>
                  </a:lnTo>
                  <a:lnTo>
                    <a:pt x="519938" y="50292"/>
                  </a:lnTo>
                  <a:lnTo>
                    <a:pt x="492379" y="36576"/>
                  </a:lnTo>
                  <a:lnTo>
                    <a:pt x="478663" y="28956"/>
                  </a:lnTo>
                  <a:lnTo>
                    <a:pt x="463423" y="24384"/>
                  </a:lnTo>
                  <a:lnTo>
                    <a:pt x="448183" y="18288"/>
                  </a:lnTo>
                  <a:lnTo>
                    <a:pt x="432943" y="13716"/>
                  </a:lnTo>
                  <a:lnTo>
                    <a:pt x="421767" y="10668"/>
                  </a:lnTo>
                  <a:lnTo>
                    <a:pt x="416179" y="9144"/>
                  </a:lnTo>
                  <a:lnTo>
                    <a:pt x="400939" y="6096"/>
                  </a:lnTo>
                  <a:lnTo>
                    <a:pt x="384175" y="4572"/>
                  </a:lnTo>
                  <a:lnTo>
                    <a:pt x="367411" y="1524"/>
                  </a:lnTo>
                  <a:lnTo>
                    <a:pt x="350647" y="1524"/>
                  </a:lnTo>
                  <a:lnTo>
                    <a:pt x="333883" y="0"/>
                  </a:lnTo>
                  <a:lnTo>
                    <a:pt x="315595" y="1524"/>
                  </a:lnTo>
                  <a:lnTo>
                    <a:pt x="298831" y="1524"/>
                  </a:lnTo>
                  <a:lnTo>
                    <a:pt x="282067" y="4572"/>
                  </a:lnTo>
                  <a:lnTo>
                    <a:pt x="266827" y="6096"/>
                  </a:lnTo>
                  <a:lnTo>
                    <a:pt x="250063" y="9144"/>
                  </a:lnTo>
                  <a:lnTo>
                    <a:pt x="234823" y="13716"/>
                  </a:lnTo>
                  <a:lnTo>
                    <a:pt x="218059" y="18288"/>
                  </a:lnTo>
                  <a:lnTo>
                    <a:pt x="204343" y="24384"/>
                  </a:lnTo>
                  <a:lnTo>
                    <a:pt x="146304" y="50292"/>
                  </a:lnTo>
                  <a:lnTo>
                    <a:pt x="97574" y="86868"/>
                  </a:lnTo>
                  <a:lnTo>
                    <a:pt x="65557" y="118872"/>
                  </a:lnTo>
                  <a:lnTo>
                    <a:pt x="32016" y="167513"/>
                  </a:lnTo>
                  <a:lnTo>
                    <a:pt x="13716" y="208661"/>
                  </a:lnTo>
                  <a:lnTo>
                    <a:pt x="10668" y="222377"/>
                  </a:lnTo>
                  <a:lnTo>
                    <a:pt x="6096" y="236093"/>
                  </a:lnTo>
                  <a:lnTo>
                    <a:pt x="3048" y="251333"/>
                  </a:lnTo>
                  <a:lnTo>
                    <a:pt x="0" y="281813"/>
                  </a:lnTo>
                  <a:lnTo>
                    <a:pt x="0" y="312293"/>
                  </a:lnTo>
                  <a:lnTo>
                    <a:pt x="3048" y="341249"/>
                  </a:lnTo>
                  <a:lnTo>
                    <a:pt x="6096" y="356489"/>
                  </a:lnTo>
                  <a:lnTo>
                    <a:pt x="10668" y="370205"/>
                  </a:lnTo>
                  <a:lnTo>
                    <a:pt x="13716" y="385445"/>
                  </a:lnTo>
                  <a:lnTo>
                    <a:pt x="19824" y="399161"/>
                  </a:lnTo>
                  <a:lnTo>
                    <a:pt x="25920" y="411353"/>
                  </a:lnTo>
                  <a:lnTo>
                    <a:pt x="32016" y="425069"/>
                  </a:lnTo>
                  <a:lnTo>
                    <a:pt x="39636" y="437261"/>
                  </a:lnTo>
                  <a:lnTo>
                    <a:pt x="47256" y="450850"/>
                  </a:lnTo>
                  <a:lnTo>
                    <a:pt x="56413" y="463042"/>
                  </a:lnTo>
                  <a:lnTo>
                    <a:pt x="97574" y="505714"/>
                  </a:lnTo>
                  <a:lnTo>
                    <a:pt x="146304" y="542290"/>
                  </a:lnTo>
                  <a:lnTo>
                    <a:pt x="204343" y="569722"/>
                  </a:lnTo>
                  <a:lnTo>
                    <a:pt x="234823" y="578866"/>
                  </a:lnTo>
                  <a:lnTo>
                    <a:pt x="250063" y="583438"/>
                  </a:lnTo>
                  <a:lnTo>
                    <a:pt x="266827" y="586486"/>
                  </a:lnTo>
                  <a:lnTo>
                    <a:pt x="282067" y="589534"/>
                  </a:lnTo>
                  <a:lnTo>
                    <a:pt x="315595" y="592582"/>
                  </a:lnTo>
                  <a:lnTo>
                    <a:pt x="350647" y="592582"/>
                  </a:lnTo>
                  <a:lnTo>
                    <a:pt x="384175" y="589534"/>
                  </a:lnTo>
                  <a:lnTo>
                    <a:pt x="400939" y="586486"/>
                  </a:lnTo>
                  <a:lnTo>
                    <a:pt x="416179" y="583438"/>
                  </a:lnTo>
                  <a:lnTo>
                    <a:pt x="421767" y="581914"/>
                  </a:lnTo>
                  <a:lnTo>
                    <a:pt x="432943" y="578866"/>
                  </a:lnTo>
                  <a:lnTo>
                    <a:pt x="463423" y="569722"/>
                  </a:lnTo>
                  <a:lnTo>
                    <a:pt x="478663" y="563626"/>
                  </a:lnTo>
                  <a:lnTo>
                    <a:pt x="492379" y="557530"/>
                  </a:lnTo>
                  <a:lnTo>
                    <a:pt x="508889" y="548386"/>
                  </a:lnTo>
                  <a:lnTo>
                    <a:pt x="519938" y="542290"/>
                  </a:lnTo>
                  <a:lnTo>
                    <a:pt x="545846" y="525526"/>
                  </a:lnTo>
                  <a:lnTo>
                    <a:pt x="568706" y="505714"/>
                  </a:lnTo>
                  <a:lnTo>
                    <a:pt x="580898" y="496582"/>
                  </a:lnTo>
                  <a:lnTo>
                    <a:pt x="609854" y="463042"/>
                  </a:lnTo>
                  <a:lnTo>
                    <a:pt x="618998" y="450850"/>
                  </a:lnTo>
                  <a:lnTo>
                    <a:pt x="626618" y="437261"/>
                  </a:lnTo>
                  <a:lnTo>
                    <a:pt x="634238" y="425069"/>
                  </a:lnTo>
                  <a:lnTo>
                    <a:pt x="652526" y="385445"/>
                  </a:lnTo>
                  <a:lnTo>
                    <a:pt x="660400" y="354965"/>
                  </a:lnTo>
                  <a:lnTo>
                    <a:pt x="663194" y="341249"/>
                  </a:lnTo>
                  <a:lnTo>
                    <a:pt x="666242" y="327533"/>
                  </a:lnTo>
                  <a:lnTo>
                    <a:pt x="667766" y="312293"/>
                  </a:lnTo>
                  <a:lnTo>
                    <a:pt x="667766" y="281813"/>
                  </a:lnTo>
                  <a:close/>
                </a:path>
              </a:pathLst>
            </a:custGeom>
            <a:solidFill>
              <a:srgbClr val="416F9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85" name="Google Shape;185;p17"/>
          <p:cNvSpPr txBox="1"/>
          <p:nvPr/>
        </p:nvSpPr>
        <p:spPr>
          <a:xfrm>
            <a:off x="1410969" y="4113022"/>
            <a:ext cx="119380"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rgbClr val="FFFFFF"/>
                </a:solidFill>
                <a:latin typeface="Calibri"/>
                <a:ea typeface="Calibri"/>
                <a:cs typeface="Calibri"/>
                <a:sym typeface="Calibri"/>
              </a:rPr>
              <a:t>1</a:t>
            </a:r>
            <a:endParaRPr sz="1450">
              <a:solidFill>
                <a:schemeClr val="dk1"/>
              </a:solidFill>
              <a:latin typeface="Calibri"/>
              <a:ea typeface="Calibri"/>
              <a:cs typeface="Calibri"/>
              <a:sym typeface="Calibri"/>
            </a:endParaRPr>
          </a:p>
        </p:txBody>
      </p:sp>
      <p:grpSp>
        <p:nvGrpSpPr>
          <p:cNvPr id="186" name="Google Shape;186;p17"/>
          <p:cNvGrpSpPr/>
          <p:nvPr/>
        </p:nvGrpSpPr>
        <p:grpSpPr>
          <a:xfrm>
            <a:off x="3023616" y="3962399"/>
            <a:ext cx="635635" cy="593090"/>
            <a:chOff x="3023616" y="3962399"/>
            <a:chExt cx="635635" cy="593090"/>
          </a:xfrm>
        </p:grpSpPr>
        <p:sp>
          <p:nvSpPr>
            <p:cNvPr id="187" name="Google Shape;187;p17"/>
            <p:cNvSpPr/>
            <p:nvPr/>
          </p:nvSpPr>
          <p:spPr>
            <a:xfrm>
              <a:off x="3029712" y="3968495"/>
              <a:ext cx="624840" cy="582295"/>
            </a:xfrm>
            <a:custGeom>
              <a:avLst/>
              <a:gdLst/>
              <a:ahLst/>
              <a:cxnLst/>
              <a:rect l="l" t="t" r="r" b="b"/>
              <a:pathLst>
                <a:path w="624839" h="582295" extrusionOk="0">
                  <a:moveTo>
                    <a:pt x="312420" y="0"/>
                  </a:moveTo>
                  <a:lnTo>
                    <a:pt x="261492" y="3809"/>
                  </a:lnTo>
                  <a:lnTo>
                    <a:pt x="213232" y="14731"/>
                  </a:lnTo>
                  <a:lnTo>
                    <a:pt x="168275" y="32384"/>
                  </a:lnTo>
                  <a:lnTo>
                    <a:pt x="127381" y="55879"/>
                  </a:lnTo>
                  <a:lnTo>
                    <a:pt x="91058" y="84962"/>
                  </a:lnTo>
                  <a:lnTo>
                    <a:pt x="59943" y="118871"/>
                  </a:lnTo>
                  <a:lnTo>
                    <a:pt x="34670" y="156971"/>
                  </a:lnTo>
                  <a:lnTo>
                    <a:pt x="15875" y="198754"/>
                  </a:lnTo>
                  <a:lnTo>
                    <a:pt x="4063" y="243586"/>
                  </a:lnTo>
                  <a:lnTo>
                    <a:pt x="0" y="290956"/>
                  </a:lnTo>
                  <a:lnTo>
                    <a:pt x="4063" y="338074"/>
                  </a:lnTo>
                  <a:lnTo>
                    <a:pt x="15875" y="382777"/>
                  </a:lnTo>
                  <a:lnTo>
                    <a:pt x="34670" y="424433"/>
                  </a:lnTo>
                  <a:lnTo>
                    <a:pt x="59943" y="462533"/>
                  </a:lnTo>
                  <a:lnTo>
                    <a:pt x="91058" y="496569"/>
                  </a:lnTo>
                  <a:lnTo>
                    <a:pt x="127381" y="525652"/>
                  </a:lnTo>
                  <a:lnTo>
                    <a:pt x="168275" y="549401"/>
                  </a:lnTo>
                  <a:lnTo>
                    <a:pt x="213232" y="567181"/>
                  </a:lnTo>
                  <a:lnTo>
                    <a:pt x="261492" y="578230"/>
                  </a:lnTo>
                  <a:lnTo>
                    <a:pt x="312420" y="582040"/>
                  </a:lnTo>
                  <a:lnTo>
                    <a:pt x="362965" y="578230"/>
                  </a:lnTo>
                  <a:lnTo>
                    <a:pt x="411099" y="567181"/>
                  </a:lnTo>
                  <a:lnTo>
                    <a:pt x="455802" y="549401"/>
                  </a:lnTo>
                  <a:lnTo>
                    <a:pt x="496824" y="525652"/>
                  </a:lnTo>
                  <a:lnTo>
                    <a:pt x="533273" y="496569"/>
                  </a:lnTo>
                  <a:lnTo>
                    <a:pt x="564514" y="462533"/>
                  </a:lnTo>
                  <a:lnTo>
                    <a:pt x="589914" y="424433"/>
                  </a:lnTo>
                  <a:lnTo>
                    <a:pt x="608838" y="382777"/>
                  </a:lnTo>
                  <a:lnTo>
                    <a:pt x="620776" y="338074"/>
                  </a:lnTo>
                  <a:lnTo>
                    <a:pt x="624839" y="290956"/>
                  </a:lnTo>
                  <a:lnTo>
                    <a:pt x="620776" y="243586"/>
                  </a:lnTo>
                  <a:lnTo>
                    <a:pt x="608838" y="198754"/>
                  </a:lnTo>
                  <a:lnTo>
                    <a:pt x="589914" y="156971"/>
                  </a:lnTo>
                  <a:lnTo>
                    <a:pt x="564514" y="118871"/>
                  </a:lnTo>
                  <a:lnTo>
                    <a:pt x="533273" y="84962"/>
                  </a:lnTo>
                  <a:lnTo>
                    <a:pt x="496824" y="55879"/>
                  </a:lnTo>
                  <a:lnTo>
                    <a:pt x="455802" y="32384"/>
                  </a:lnTo>
                  <a:lnTo>
                    <a:pt x="411099" y="14731"/>
                  </a:lnTo>
                  <a:lnTo>
                    <a:pt x="362965" y="3809"/>
                  </a:lnTo>
                  <a:lnTo>
                    <a:pt x="312420"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8" name="Google Shape;188;p17"/>
            <p:cNvSpPr/>
            <p:nvPr/>
          </p:nvSpPr>
          <p:spPr>
            <a:xfrm>
              <a:off x="3023616" y="3962399"/>
              <a:ext cx="635635" cy="593090"/>
            </a:xfrm>
            <a:custGeom>
              <a:avLst/>
              <a:gdLst/>
              <a:ahLst/>
              <a:cxnLst/>
              <a:rect l="l" t="t" r="r" b="b"/>
              <a:pathLst>
                <a:path w="635635" h="593089" extrusionOk="0">
                  <a:moveTo>
                    <a:pt x="635381" y="281813"/>
                  </a:moveTo>
                  <a:lnTo>
                    <a:pt x="633857" y="266573"/>
                  </a:lnTo>
                  <a:lnTo>
                    <a:pt x="632333" y="251333"/>
                  </a:lnTo>
                  <a:lnTo>
                    <a:pt x="629285" y="236093"/>
                  </a:lnTo>
                  <a:lnTo>
                    <a:pt x="626237" y="222377"/>
                  </a:lnTo>
                  <a:lnTo>
                    <a:pt x="624713" y="217805"/>
                  </a:lnTo>
                  <a:lnTo>
                    <a:pt x="624713" y="281813"/>
                  </a:lnTo>
                  <a:lnTo>
                    <a:pt x="624713" y="310769"/>
                  </a:lnTo>
                  <a:lnTo>
                    <a:pt x="621665" y="339725"/>
                  </a:lnTo>
                  <a:lnTo>
                    <a:pt x="618617" y="354965"/>
                  </a:lnTo>
                  <a:lnTo>
                    <a:pt x="618617" y="353441"/>
                  </a:lnTo>
                  <a:lnTo>
                    <a:pt x="615569" y="368681"/>
                  </a:lnTo>
                  <a:lnTo>
                    <a:pt x="615569" y="367157"/>
                  </a:lnTo>
                  <a:lnTo>
                    <a:pt x="606425" y="394589"/>
                  </a:lnTo>
                  <a:lnTo>
                    <a:pt x="600329" y="408305"/>
                  </a:lnTo>
                  <a:lnTo>
                    <a:pt x="601853" y="406781"/>
                  </a:lnTo>
                  <a:lnTo>
                    <a:pt x="594233" y="420497"/>
                  </a:lnTo>
                  <a:lnTo>
                    <a:pt x="588137" y="432689"/>
                  </a:lnTo>
                  <a:lnTo>
                    <a:pt x="563753" y="467614"/>
                  </a:lnTo>
                  <a:lnTo>
                    <a:pt x="534797" y="498106"/>
                  </a:lnTo>
                  <a:lnTo>
                    <a:pt x="489077" y="533158"/>
                  </a:lnTo>
                  <a:lnTo>
                    <a:pt x="490601" y="533158"/>
                  </a:lnTo>
                  <a:lnTo>
                    <a:pt x="476885" y="540766"/>
                  </a:lnTo>
                  <a:lnTo>
                    <a:pt x="464693" y="548386"/>
                  </a:lnTo>
                  <a:lnTo>
                    <a:pt x="464693" y="546862"/>
                  </a:lnTo>
                  <a:lnTo>
                    <a:pt x="450977" y="554494"/>
                  </a:lnTo>
                  <a:lnTo>
                    <a:pt x="437261" y="559054"/>
                  </a:lnTo>
                  <a:lnTo>
                    <a:pt x="423545" y="565150"/>
                  </a:lnTo>
                  <a:lnTo>
                    <a:pt x="409829" y="569722"/>
                  </a:lnTo>
                  <a:lnTo>
                    <a:pt x="364109" y="578866"/>
                  </a:lnTo>
                  <a:lnTo>
                    <a:pt x="365633" y="578866"/>
                  </a:lnTo>
                  <a:lnTo>
                    <a:pt x="333629" y="581914"/>
                  </a:lnTo>
                  <a:lnTo>
                    <a:pt x="301739" y="581914"/>
                  </a:lnTo>
                  <a:lnTo>
                    <a:pt x="240792" y="572770"/>
                  </a:lnTo>
                  <a:lnTo>
                    <a:pt x="198120" y="559054"/>
                  </a:lnTo>
                  <a:lnTo>
                    <a:pt x="184404" y="554494"/>
                  </a:lnTo>
                  <a:lnTo>
                    <a:pt x="173355" y="548386"/>
                  </a:lnTo>
                  <a:lnTo>
                    <a:pt x="170688" y="546862"/>
                  </a:lnTo>
                  <a:lnTo>
                    <a:pt x="170688" y="548386"/>
                  </a:lnTo>
                  <a:lnTo>
                    <a:pt x="121920" y="516394"/>
                  </a:lnTo>
                  <a:lnTo>
                    <a:pt x="80772" y="478282"/>
                  </a:lnTo>
                  <a:lnTo>
                    <a:pt x="54864" y="444881"/>
                  </a:lnTo>
                  <a:lnTo>
                    <a:pt x="35052" y="408305"/>
                  </a:lnTo>
                  <a:lnTo>
                    <a:pt x="20320" y="368681"/>
                  </a:lnTo>
                  <a:lnTo>
                    <a:pt x="19812" y="367157"/>
                  </a:lnTo>
                  <a:lnTo>
                    <a:pt x="19812" y="368681"/>
                  </a:lnTo>
                  <a:lnTo>
                    <a:pt x="16764" y="353441"/>
                  </a:lnTo>
                  <a:lnTo>
                    <a:pt x="13716" y="339725"/>
                  </a:lnTo>
                  <a:lnTo>
                    <a:pt x="10668" y="310769"/>
                  </a:lnTo>
                  <a:lnTo>
                    <a:pt x="10668" y="281813"/>
                  </a:lnTo>
                  <a:lnTo>
                    <a:pt x="12192" y="267335"/>
                  </a:lnTo>
                  <a:lnTo>
                    <a:pt x="12192" y="268097"/>
                  </a:lnTo>
                  <a:lnTo>
                    <a:pt x="12319" y="266573"/>
                  </a:lnTo>
                  <a:lnTo>
                    <a:pt x="13716" y="252857"/>
                  </a:lnTo>
                  <a:lnTo>
                    <a:pt x="19812" y="225425"/>
                  </a:lnTo>
                  <a:lnTo>
                    <a:pt x="28956" y="197993"/>
                  </a:lnTo>
                  <a:lnTo>
                    <a:pt x="35052" y="185801"/>
                  </a:lnTo>
                  <a:lnTo>
                    <a:pt x="41148" y="172085"/>
                  </a:lnTo>
                  <a:lnTo>
                    <a:pt x="41148" y="173609"/>
                  </a:lnTo>
                  <a:lnTo>
                    <a:pt x="41783" y="172085"/>
                  </a:lnTo>
                  <a:lnTo>
                    <a:pt x="47244" y="159893"/>
                  </a:lnTo>
                  <a:lnTo>
                    <a:pt x="54864" y="147701"/>
                  </a:lnTo>
                  <a:lnTo>
                    <a:pt x="54864" y="149225"/>
                  </a:lnTo>
                  <a:lnTo>
                    <a:pt x="55753" y="147701"/>
                  </a:lnTo>
                  <a:lnTo>
                    <a:pt x="62484" y="137160"/>
                  </a:lnTo>
                  <a:lnTo>
                    <a:pt x="71628" y="126492"/>
                  </a:lnTo>
                  <a:lnTo>
                    <a:pt x="80772" y="114300"/>
                  </a:lnTo>
                  <a:lnTo>
                    <a:pt x="80772" y="115824"/>
                  </a:lnTo>
                  <a:lnTo>
                    <a:pt x="82169" y="114300"/>
                  </a:lnTo>
                  <a:lnTo>
                    <a:pt x="121920" y="76200"/>
                  </a:lnTo>
                  <a:lnTo>
                    <a:pt x="170688" y="45720"/>
                  </a:lnTo>
                  <a:lnTo>
                    <a:pt x="211836" y="28956"/>
                  </a:lnTo>
                  <a:lnTo>
                    <a:pt x="227076" y="24384"/>
                  </a:lnTo>
                  <a:lnTo>
                    <a:pt x="240792" y="19812"/>
                  </a:lnTo>
                  <a:lnTo>
                    <a:pt x="271272" y="13716"/>
                  </a:lnTo>
                  <a:lnTo>
                    <a:pt x="301739" y="10668"/>
                  </a:lnTo>
                  <a:lnTo>
                    <a:pt x="333629" y="10668"/>
                  </a:lnTo>
                  <a:lnTo>
                    <a:pt x="365633" y="13716"/>
                  </a:lnTo>
                  <a:lnTo>
                    <a:pt x="364109" y="13716"/>
                  </a:lnTo>
                  <a:lnTo>
                    <a:pt x="394589" y="19812"/>
                  </a:lnTo>
                  <a:lnTo>
                    <a:pt x="437261" y="33528"/>
                  </a:lnTo>
                  <a:lnTo>
                    <a:pt x="490601" y="59436"/>
                  </a:lnTo>
                  <a:lnTo>
                    <a:pt x="489077" y="59436"/>
                  </a:lnTo>
                  <a:lnTo>
                    <a:pt x="513461" y="76200"/>
                  </a:lnTo>
                  <a:lnTo>
                    <a:pt x="534797" y="94488"/>
                  </a:lnTo>
                  <a:lnTo>
                    <a:pt x="554609" y="115824"/>
                  </a:lnTo>
                  <a:lnTo>
                    <a:pt x="554609" y="114300"/>
                  </a:lnTo>
                  <a:lnTo>
                    <a:pt x="563753" y="126492"/>
                  </a:lnTo>
                  <a:lnTo>
                    <a:pt x="572897" y="137160"/>
                  </a:lnTo>
                  <a:lnTo>
                    <a:pt x="580517" y="149225"/>
                  </a:lnTo>
                  <a:lnTo>
                    <a:pt x="580517" y="147701"/>
                  </a:lnTo>
                  <a:lnTo>
                    <a:pt x="588137" y="159893"/>
                  </a:lnTo>
                  <a:lnTo>
                    <a:pt x="594233" y="173609"/>
                  </a:lnTo>
                  <a:lnTo>
                    <a:pt x="594233" y="172085"/>
                  </a:lnTo>
                  <a:lnTo>
                    <a:pt x="601853" y="185801"/>
                  </a:lnTo>
                  <a:lnTo>
                    <a:pt x="600329" y="185801"/>
                  </a:lnTo>
                  <a:lnTo>
                    <a:pt x="606425" y="197993"/>
                  </a:lnTo>
                  <a:lnTo>
                    <a:pt x="615569" y="225425"/>
                  </a:lnTo>
                  <a:lnTo>
                    <a:pt x="621665" y="252857"/>
                  </a:lnTo>
                  <a:lnTo>
                    <a:pt x="623189" y="268097"/>
                  </a:lnTo>
                  <a:lnTo>
                    <a:pt x="623189" y="266573"/>
                  </a:lnTo>
                  <a:lnTo>
                    <a:pt x="624713" y="281813"/>
                  </a:lnTo>
                  <a:lnTo>
                    <a:pt x="624713" y="217805"/>
                  </a:lnTo>
                  <a:lnTo>
                    <a:pt x="621665" y="208661"/>
                  </a:lnTo>
                  <a:lnTo>
                    <a:pt x="615569" y="194945"/>
                  </a:lnTo>
                  <a:lnTo>
                    <a:pt x="610997" y="181229"/>
                  </a:lnTo>
                  <a:lnTo>
                    <a:pt x="606933" y="172085"/>
                  </a:lnTo>
                  <a:lnTo>
                    <a:pt x="604901" y="167513"/>
                  </a:lnTo>
                  <a:lnTo>
                    <a:pt x="592582" y="147701"/>
                  </a:lnTo>
                  <a:lnTo>
                    <a:pt x="582041" y="131064"/>
                  </a:lnTo>
                  <a:lnTo>
                    <a:pt x="572897" y="118872"/>
                  </a:lnTo>
                  <a:lnTo>
                    <a:pt x="568325" y="114300"/>
                  </a:lnTo>
                  <a:lnTo>
                    <a:pt x="562229" y="108204"/>
                  </a:lnTo>
                  <a:lnTo>
                    <a:pt x="519557" y="68580"/>
                  </a:lnTo>
                  <a:lnTo>
                    <a:pt x="482981" y="42672"/>
                  </a:lnTo>
                  <a:lnTo>
                    <a:pt x="469265" y="36576"/>
                  </a:lnTo>
                  <a:lnTo>
                    <a:pt x="455549" y="28956"/>
                  </a:lnTo>
                  <a:lnTo>
                    <a:pt x="441833" y="24384"/>
                  </a:lnTo>
                  <a:lnTo>
                    <a:pt x="426593" y="18288"/>
                  </a:lnTo>
                  <a:lnTo>
                    <a:pt x="412877" y="13716"/>
                  </a:lnTo>
                  <a:lnTo>
                    <a:pt x="402717" y="10668"/>
                  </a:lnTo>
                  <a:lnTo>
                    <a:pt x="397637" y="9144"/>
                  </a:lnTo>
                  <a:lnTo>
                    <a:pt x="382397" y="6096"/>
                  </a:lnTo>
                  <a:lnTo>
                    <a:pt x="365633" y="4572"/>
                  </a:lnTo>
                  <a:lnTo>
                    <a:pt x="350393" y="1524"/>
                  </a:lnTo>
                  <a:lnTo>
                    <a:pt x="333629" y="1524"/>
                  </a:lnTo>
                  <a:lnTo>
                    <a:pt x="318389" y="0"/>
                  </a:lnTo>
                  <a:lnTo>
                    <a:pt x="301739" y="1524"/>
                  </a:lnTo>
                  <a:lnTo>
                    <a:pt x="284975" y="1524"/>
                  </a:lnTo>
                  <a:lnTo>
                    <a:pt x="269748" y="4572"/>
                  </a:lnTo>
                  <a:lnTo>
                    <a:pt x="254508" y="6096"/>
                  </a:lnTo>
                  <a:lnTo>
                    <a:pt x="239268" y="9144"/>
                  </a:lnTo>
                  <a:lnTo>
                    <a:pt x="208788" y="18288"/>
                  </a:lnTo>
                  <a:lnTo>
                    <a:pt x="195072" y="24384"/>
                  </a:lnTo>
                  <a:lnTo>
                    <a:pt x="179832" y="28956"/>
                  </a:lnTo>
                  <a:lnTo>
                    <a:pt x="166116" y="36576"/>
                  </a:lnTo>
                  <a:lnTo>
                    <a:pt x="140208" y="50292"/>
                  </a:lnTo>
                  <a:lnTo>
                    <a:pt x="92964" y="86868"/>
                  </a:lnTo>
                  <a:lnTo>
                    <a:pt x="64008" y="118872"/>
                  </a:lnTo>
                  <a:lnTo>
                    <a:pt x="38100" y="155321"/>
                  </a:lnTo>
                  <a:lnTo>
                    <a:pt x="19812" y="194945"/>
                  </a:lnTo>
                  <a:lnTo>
                    <a:pt x="6096" y="236093"/>
                  </a:lnTo>
                  <a:lnTo>
                    <a:pt x="4572" y="251333"/>
                  </a:lnTo>
                  <a:lnTo>
                    <a:pt x="1524" y="266573"/>
                  </a:lnTo>
                  <a:lnTo>
                    <a:pt x="0" y="281813"/>
                  </a:lnTo>
                  <a:lnTo>
                    <a:pt x="0" y="312293"/>
                  </a:lnTo>
                  <a:lnTo>
                    <a:pt x="1524" y="327533"/>
                  </a:lnTo>
                  <a:lnTo>
                    <a:pt x="4572" y="341249"/>
                  </a:lnTo>
                  <a:lnTo>
                    <a:pt x="6096" y="356489"/>
                  </a:lnTo>
                  <a:lnTo>
                    <a:pt x="10668" y="370205"/>
                  </a:lnTo>
                  <a:lnTo>
                    <a:pt x="13716" y="385445"/>
                  </a:lnTo>
                  <a:lnTo>
                    <a:pt x="19812" y="399161"/>
                  </a:lnTo>
                  <a:lnTo>
                    <a:pt x="25908" y="411353"/>
                  </a:lnTo>
                  <a:lnTo>
                    <a:pt x="32004" y="425069"/>
                  </a:lnTo>
                  <a:lnTo>
                    <a:pt x="38100" y="437261"/>
                  </a:lnTo>
                  <a:lnTo>
                    <a:pt x="45720" y="450850"/>
                  </a:lnTo>
                  <a:lnTo>
                    <a:pt x="54864" y="461518"/>
                  </a:lnTo>
                  <a:lnTo>
                    <a:pt x="64008" y="473710"/>
                  </a:lnTo>
                  <a:lnTo>
                    <a:pt x="92964" y="505714"/>
                  </a:lnTo>
                  <a:lnTo>
                    <a:pt x="140208" y="542290"/>
                  </a:lnTo>
                  <a:lnTo>
                    <a:pt x="153924" y="549910"/>
                  </a:lnTo>
                  <a:lnTo>
                    <a:pt x="166116" y="557530"/>
                  </a:lnTo>
                  <a:lnTo>
                    <a:pt x="208788" y="574294"/>
                  </a:lnTo>
                  <a:lnTo>
                    <a:pt x="269748" y="589534"/>
                  </a:lnTo>
                  <a:lnTo>
                    <a:pt x="301739" y="592582"/>
                  </a:lnTo>
                  <a:lnTo>
                    <a:pt x="333629" y="592582"/>
                  </a:lnTo>
                  <a:lnTo>
                    <a:pt x="365633" y="589534"/>
                  </a:lnTo>
                  <a:lnTo>
                    <a:pt x="382397" y="586486"/>
                  </a:lnTo>
                  <a:lnTo>
                    <a:pt x="397637" y="583438"/>
                  </a:lnTo>
                  <a:lnTo>
                    <a:pt x="402717" y="581914"/>
                  </a:lnTo>
                  <a:lnTo>
                    <a:pt x="412877" y="578866"/>
                  </a:lnTo>
                  <a:lnTo>
                    <a:pt x="426593" y="574294"/>
                  </a:lnTo>
                  <a:lnTo>
                    <a:pt x="441833" y="569722"/>
                  </a:lnTo>
                  <a:lnTo>
                    <a:pt x="469265" y="557530"/>
                  </a:lnTo>
                  <a:lnTo>
                    <a:pt x="482981" y="549910"/>
                  </a:lnTo>
                  <a:lnTo>
                    <a:pt x="485394" y="548386"/>
                  </a:lnTo>
                  <a:lnTo>
                    <a:pt x="495173" y="542290"/>
                  </a:lnTo>
                  <a:lnTo>
                    <a:pt x="519557" y="525526"/>
                  </a:lnTo>
                  <a:lnTo>
                    <a:pt x="542417" y="505714"/>
                  </a:lnTo>
                  <a:lnTo>
                    <a:pt x="562229" y="484378"/>
                  </a:lnTo>
                  <a:lnTo>
                    <a:pt x="572897" y="473710"/>
                  </a:lnTo>
                  <a:lnTo>
                    <a:pt x="582041" y="461518"/>
                  </a:lnTo>
                  <a:lnTo>
                    <a:pt x="589661" y="450850"/>
                  </a:lnTo>
                  <a:lnTo>
                    <a:pt x="597281" y="437261"/>
                  </a:lnTo>
                  <a:lnTo>
                    <a:pt x="604901" y="425069"/>
                  </a:lnTo>
                  <a:lnTo>
                    <a:pt x="610997" y="411353"/>
                  </a:lnTo>
                  <a:lnTo>
                    <a:pt x="612775" y="406781"/>
                  </a:lnTo>
                  <a:lnTo>
                    <a:pt x="615569" y="399161"/>
                  </a:lnTo>
                  <a:lnTo>
                    <a:pt x="621665" y="385445"/>
                  </a:lnTo>
                  <a:lnTo>
                    <a:pt x="626237" y="370205"/>
                  </a:lnTo>
                  <a:lnTo>
                    <a:pt x="626618" y="368681"/>
                  </a:lnTo>
                  <a:lnTo>
                    <a:pt x="629285" y="356489"/>
                  </a:lnTo>
                  <a:lnTo>
                    <a:pt x="629539" y="354965"/>
                  </a:lnTo>
                  <a:lnTo>
                    <a:pt x="632333" y="341249"/>
                  </a:lnTo>
                  <a:lnTo>
                    <a:pt x="635381" y="312293"/>
                  </a:lnTo>
                  <a:lnTo>
                    <a:pt x="635381" y="281813"/>
                  </a:lnTo>
                  <a:close/>
                </a:path>
              </a:pathLst>
            </a:custGeom>
            <a:solidFill>
              <a:srgbClr val="416F9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89" name="Google Shape;189;p17"/>
          <p:cNvSpPr txBox="1"/>
          <p:nvPr/>
        </p:nvSpPr>
        <p:spPr>
          <a:xfrm>
            <a:off x="3281171" y="4113022"/>
            <a:ext cx="119380"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rgbClr val="FFFFFF"/>
                </a:solidFill>
                <a:latin typeface="Calibri"/>
                <a:ea typeface="Calibri"/>
                <a:cs typeface="Calibri"/>
                <a:sym typeface="Calibri"/>
              </a:rPr>
              <a:t>2</a:t>
            </a:r>
            <a:endParaRPr sz="1450">
              <a:solidFill>
                <a:schemeClr val="dk1"/>
              </a:solidFill>
              <a:latin typeface="Calibri"/>
              <a:ea typeface="Calibri"/>
              <a:cs typeface="Calibri"/>
              <a:sym typeface="Calibri"/>
            </a:endParaRPr>
          </a:p>
        </p:txBody>
      </p:sp>
      <p:sp>
        <p:nvSpPr>
          <p:cNvPr id="190" name="Google Shape;190;p17"/>
          <p:cNvSpPr/>
          <p:nvPr/>
        </p:nvSpPr>
        <p:spPr>
          <a:xfrm>
            <a:off x="1799844" y="4227575"/>
            <a:ext cx="1229995" cy="62865"/>
          </a:xfrm>
          <a:custGeom>
            <a:avLst/>
            <a:gdLst/>
            <a:ahLst/>
            <a:cxnLst/>
            <a:rect l="l" t="t" r="r" b="b"/>
            <a:pathLst>
              <a:path w="1229995" h="62864" extrusionOk="0">
                <a:moveTo>
                  <a:pt x="1229741" y="32258"/>
                </a:moveTo>
                <a:lnTo>
                  <a:pt x="1223645" y="29083"/>
                </a:lnTo>
                <a:lnTo>
                  <a:pt x="1165733" y="0"/>
                </a:lnTo>
                <a:lnTo>
                  <a:pt x="1165733" y="29184"/>
                </a:lnTo>
                <a:lnTo>
                  <a:pt x="0" y="29184"/>
                </a:lnTo>
                <a:lnTo>
                  <a:pt x="0" y="33782"/>
                </a:lnTo>
                <a:lnTo>
                  <a:pt x="1165733" y="33782"/>
                </a:lnTo>
                <a:lnTo>
                  <a:pt x="1165733" y="62865"/>
                </a:lnTo>
                <a:lnTo>
                  <a:pt x="1226566" y="33782"/>
                </a:lnTo>
                <a:lnTo>
                  <a:pt x="1229741" y="32258"/>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1" name="Google Shape;191;p17"/>
          <p:cNvSpPr txBox="1"/>
          <p:nvPr/>
        </p:nvSpPr>
        <p:spPr>
          <a:xfrm>
            <a:off x="7327645" y="3728974"/>
            <a:ext cx="122555"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chemeClr val="dk1"/>
                </a:solidFill>
                <a:latin typeface="Calibri"/>
                <a:ea typeface="Calibri"/>
                <a:cs typeface="Calibri"/>
                <a:sym typeface="Calibri"/>
              </a:rPr>
              <a:t>b</a:t>
            </a:r>
            <a:endParaRPr sz="1450">
              <a:solidFill>
                <a:schemeClr val="dk1"/>
              </a:solidFill>
              <a:latin typeface="Calibri"/>
              <a:ea typeface="Calibri"/>
              <a:cs typeface="Calibri"/>
              <a:sym typeface="Calibri"/>
            </a:endParaRPr>
          </a:p>
        </p:txBody>
      </p:sp>
      <p:grpSp>
        <p:nvGrpSpPr>
          <p:cNvPr id="192" name="Google Shape;192;p17"/>
          <p:cNvGrpSpPr/>
          <p:nvPr/>
        </p:nvGrpSpPr>
        <p:grpSpPr>
          <a:xfrm>
            <a:off x="6103620" y="3823715"/>
            <a:ext cx="669290" cy="593090"/>
            <a:chOff x="6103620" y="3823715"/>
            <a:chExt cx="669290" cy="593090"/>
          </a:xfrm>
        </p:grpSpPr>
        <p:sp>
          <p:nvSpPr>
            <p:cNvPr id="193" name="Google Shape;193;p17"/>
            <p:cNvSpPr/>
            <p:nvPr/>
          </p:nvSpPr>
          <p:spPr>
            <a:xfrm>
              <a:off x="6109716" y="3829811"/>
              <a:ext cx="657225" cy="582295"/>
            </a:xfrm>
            <a:custGeom>
              <a:avLst/>
              <a:gdLst/>
              <a:ahLst/>
              <a:cxnLst/>
              <a:rect l="l" t="t" r="r" b="b"/>
              <a:pathLst>
                <a:path w="657225" h="582295" extrusionOk="0">
                  <a:moveTo>
                    <a:pt x="327787" y="0"/>
                  </a:moveTo>
                  <a:lnTo>
                    <a:pt x="279273" y="3175"/>
                  </a:lnTo>
                  <a:lnTo>
                    <a:pt x="233045" y="12318"/>
                  </a:lnTo>
                  <a:lnTo>
                    <a:pt x="189484" y="26924"/>
                  </a:lnTo>
                  <a:lnTo>
                    <a:pt x="149098" y="46736"/>
                  </a:lnTo>
                  <a:lnTo>
                    <a:pt x="112649" y="71120"/>
                  </a:lnTo>
                  <a:lnTo>
                    <a:pt x="80263" y="99822"/>
                  </a:lnTo>
                  <a:lnTo>
                    <a:pt x="52705" y="132207"/>
                  </a:lnTo>
                  <a:lnTo>
                    <a:pt x="30353" y="168021"/>
                  </a:lnTo>
                  <a:lnTo>
                    <a:pt x="13843" y="206628"/>
                  </a:lnTo>
                  <a:lnTo>
                    <a:pt x="3556" y="247776"/>
                  </a:lnTo>
                  <a:lnTo>
                    <a:pt x="0" y="290957"/>
                  </a:lnTo>
                  <a:lnTo>
                    <a:pt x="3556" y="333883"/>
                  </a:lnTo>
                  <a:lnTo>
                    <a:pt x="13843" y="374776"/>
                  </a:lnTo>
                  <a:lnTo>
                    <a:pt x="30353" y="413385"/>
                  </a:lnTo>
                  <a:lnTo>
                    <a:pt x="52705" y="449199"/>
                  </a:lnTo>
                  <a:lnTo>
                    <a:pt x="80263" y="481711"/>
                  </a:lnTo>
                  <a:lnTo>
                    <a:pt x="112649" y="510413"/>
                  </a:lnTo>
                  <a:lnTo>
                    <a:pt x="149098" y="534924"/>
                  </a:lnTo>
                  <a:lnTo>
                    <a:pt x="189484" y="554863"/>
                  </a:lnTo>
                  <a:lnTo>
                    <a:pt x="233045" y="569595"/>
                  </a:lnTo>
                  <a:lnTo>
                    <a:pt x="279273" y="578865"/>
                  </a:lnTo>
                  <a:lnTo>
                    <a:pt x="327787" y="582040"/>
                  </a:lnTo>
                  <a:lnTo>
                    <a:pt x="376809" y="578865"/>
                  </a:lnTo>
                  <a:lnTo>
                    <a:pt x="423417" y="569595"/>
                  </a:lnTo>
                  <a:lnTo>
                    <a:pt x="467233" y="554863"/>
                  </a:lnTo>
                  <a:lnTo>
                    <a:pt x="507618" y="534924"/>
                  </a:lnTo>
                  <a:lnTo>
                    <a:pt x="544322" y="510413"/>
                  </a:lnTo>
                  <a:lnTo>
                    <a:pt x="576834" y="481711"/>
                  </a:lnTo>
                  <a:lnTo>
                    <a:pt x="604392" y="449199"/>
                  </a:lnTo>
                  <a:lnTo>
                    <a:pt x="626744" y="413385"/>
                  </a:lnTo>
                  <a:lnTo>
                    <a:pt x="643382" y="374776"/>
                  </a:lnTo>
                  <a:lnTo>
                    <a:pt x="653668" y="333883"/>
                  </a:lnTo>
                  <a:lnTo>
                    <a:pt x="657225" y="290957"/>
                  </a:lnTo>
                  <a:lnTo>
                    <a:pt x="653668" y="247776"/>
                  </a:lnTo>
                  <a:lnTo>
                    <a:pt x="643382" y="206628"/>
                  </a:lnTo>
                  <a:lnTo>
                    <a:pt x="626744" y="168021"/>
                  </a:lnTo>
                  <a:lnTo>
                    <a:pt x="604392" y="132207"/>
                  </a:lnTo>
                  <a:lnTo>
                    <a:pt x="576834" y="99822"/>
                  </a:lnTo>
                  <a:lnTo>
                    <a:pt x="544322" y="71120"/>
                  </a:lnTo>
                  <a:lnTo>
                    <a:pt x="507618" y="46736"/>
                  </a:lnTo>
                  <a:lnTo>
                    <a:pt x="467233" y="26924"/>
                  </a:lnTo>
                  <a:lnTo>
                    <a:pt x="423417" y="12318"/>
                  </a:lnTo>
                  <a:lnTo>
                    <a:pt x="376809" y="3175"/>
                  </a:lnTo>
                  <a:lnTo>
                    <a:pt x="327787"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 name="Google Shape;194;p17"/>
            <p:cNvSpPr/>
            <p:nvPr/>
          </p:nvSpPr>
          <p:spPr>
            <a:xfrm>
              <a:off x="6103620" y="3823715"/>
              <a:ext cx="669290" cy="593090"/>
            </a:xfrm>
            <a:custGeom>
              <a:avLst/>
              <a:gdLst/>
              <a:ahLst/>
              <a:cxnLst/>
              <a:rect l="l" t="t" r="r" b="b"/>
              <a:pathLst>
                <a:path w="669290" h="593089" extrusionOk="0">
                  <a:moveTo>
                    <a:pt x="668782" y="297053"/>
                  </a:moveTo>
                  <a:lnTo>
                    <a:pt x="665734" y="266573"/>
                  </a:lnTo>
                  <a:lnTo>
                    <a:pt x="661162" y="236093"/>
                  </a:lnTo>
                  <a:lnTo>
                    <a:pt x="658114" y="226669"/>
                  </a:lnTo>
                  <a:lnTo>
                    <a:pt x="658114" y="297053"/>
                  </a:lnTo>
                  <a:lnTo>
                    <a:pt x="656590" y="310769"/>
                  </a:lnTo>
                  <a:lnTo>
                    <a:pt x="656590" y="326009"/>
                  </a:lnTo>
                  <a:lnTo>
                    <a:pt x="653542" y="339725"/>
                  </a:lnTo>
                  <a:lnTo>
                    <a:pt x="650494" y="354965"/>
                  </a:lnTo>
                  <a:lnTo>
                    <a:pt x="650494" y="353441"/>
                  </a:lnTo>
                  <a:lnTo>
                    <a:pt x="647446" y="368681"/>
                  </a:lnTo>
                  <a:lnTo>
                    <a:pt x="647446" y="367157"/>
                  </a:lnTo>
                  <a:lnTo>
                    <a:pt x="638302" y="394589"/>
                  </a:lnTo>
                  <a:lnTo>
                    <a:pt x="632206" y="408305"/>
                  </a:lnTo>
                  <a:lnTo>
                    <a:pt x="632206" y="406781"/>
                  </a:lnTo>
                  <a:lnTo>
                    <a:pt x="626110" y="420497"/>
                  </a:lnTo>
                  <a:lnTo>
                    <a:pt x="610870" y="444881"/>
                  </a:lnTo>
                  <a:lnTo>
                    <a:pt x="594106" y="467614"/>
                  </a:lnTo>
                  <a:lnTo>
                    <a:pt x="583438" y="478282"/>
                  </a:lnTo>
                  <a:lnTo>
                    <a:pt x="574294" y="488950"/>
                  </a:lnTo>
                  <a:lnTo>
                    <a:pt x="540753" y="516382"/>
                  </a:lnTo>
                  <a:lnTo>
                    <a:pt x="502653" y="540766"/>
                  </a:lnTo>
                  <a:lnTo>
                    <a:pt x="489077" y="548386"/>
                  </a:lnTo>
                  <a:lnTo>
                    <a:pt x="489077" y="546862"/>
                  </a:lnTo>
                  <a:lnTo>
                    <a:pt x="475361" y="554482"/>
                  </a:lnTo>
                  <a:lnTo>
                    <a:pt x="460121" y="559054"/>
                  </a:lnTo>
                  <a:lnTo>
                    <a:pt x="446405" y="565150"/>
                  </a:lnTo>
                  <a:lnTo>
                    <a:pt x="431152" y="569722"/>
                  </a:lnTo>
                  <a:lnTo>
                    <a:pt x="414401" y="572770"/>
                  </a:lnTo>
                  <a:lnTo>
                    <a:pt x="415925" y="572770"/>
                  </a:lnTo>
                  <a:lnTo>
                    <a:pt x="399161" y="575818"/>
                  </a:lnTo>
                  <a:lnTo>
                    <a:pt x="383921" y="578866"/>
                  </a:lnTo>
                  <a:lnTo>
                    <a:pt x="350393" y="581914"/>
                  </a:lnTo>
                  <a:lnTo>
                    <a:pt x="318389" y="581914"/>
                  </a:lnTo>
                  <a:lnTo>
                    <a:pt x="284861" y="578866"/>
                  </a:lnTo>
                  <a:lnTo>
                    <a:pt x="269621" y="575818"/>
                  </a:lnTo>
                  <a:lnTo>
                    <a:pt x="252857" y="572770"/>
                  </a:lnTo>
                  <a:lnTo>
                    <a:pt x="237617" y="569722"/>
                  </a:lnTo>
                  <a:lnTo>
                    <a:pt x="222377" y="565150"/>
                  </a:lnTo>
                  <a:lnTo>
                    <a:pt x="208661" y="559054"/>
                  </a:lnTo>
                  <a:lnTo>
                    <a:pt x="193421" y="554482"/>
                  </a:lnTo>
                  <a:lnTo>
                    <a:pt x="182499" y="548386"/>
                  </a:lnTo>
                  <a:lnTo>
                    <a:pt x="179705" y="546862"/>
                  </a:lnTo>
                  <a:lnTo>
                    <a:pt x="179705" y="548386"/>
                  </a:lnTo>
                  <a:lnTo>
                    <a:pt x="166116" y="540766"/>
                  </a:lnTo>
                  <a:lnTo>
                    <a:pt x="128016" y="516382"/>
                  </a:lnTo>
                  <a:lnTo>
                    <a:pt x="94488" y="488950"/>
                  </a:lnTo>
                  <a:lnTo>
                    <a:pt x="85344" y="478282"/>
                  </a:lnTo>
                  <a:lnTo>
                    <a:pt x="74676" y="467614"/>
                  </a:lnTo>
                  <a:lnTo>
                    <a:pt x="57912" y="444881"/>
                  </a:lnTo>
                  <a:lnTo>
                    <a:pt x="42672" y="420497"/>
                  </a:lnTo>
                  <a:lnTo>
                    <a:pt x="37211" y="408305"/>
                  </a:lnTo>
                  <a:lnTo>
                    <a:pt x="36576" y="406781"/>
                  </a:lnTo>
                  <a:lnTo>
                    <a:pt x="36576" y="408305"/>
                  </a:lnTo>
                  <a:lnTo>
                    <a:pt x="30480" y="394589"/>
                  </a:lnTo>
                  <a:lnTo>
                    <a:pt x="21844" y="368681"/>
                  </a:lnTo>
                  <a:lnTo>
                    <a:pt x="21336" y="367157"/>
                  </a:lnTo>
                  <a:lnTo>
                    <a:pt x="21336" y="368681"/>
                  </a:lnTo>
                  <a:lnTo>
                    <a:pt x="16764" y="353441"/>
                  </a:lnTo>
                  <a:lnTo>
                    <a:pt x="18288" y="353441"/>
                  </a:lnTo>
                  <a:lnTo>
                    <a:pt x="12192" y="326009"/>
                  </a:lnTo>
                  <a:lnTo>
                    <a:pt x="10668" y="310769"/>
                  </a:lnTo>
                  <a:lnTo>
                    <a:pt x="10668" y="281813"/>
                  </a:lnTo>
                  <a:lnTo>
                    <a:pt x="12192" y="268097"/>
                  </a:lnTo>
                  <a:lnTo>
                    <a:pt x="15240" y="252857"/>
                  </a:lnTo>
                  <a:lnTo>
                    <a:pt x="18288" y="239141"/>
                  </a:lnTo>
                  <a:lnTo>
                    <a:pt x="16764" y="239141"/>
                  </a:lnTo>
                  <a:lnTo>
                    <a:pt x="30480" y="197993"/>
                  </a:lnTo>
                  <a:lnTo>
                    <a:pt x="30480" y="199517"/>
                  </a:lnTo>
                  <a:lnTo>
                    <a:pt x="31115" y="197993"/>
                  </a:lnTo>
                  <a:lnTo>
                    <a:pt x="36576" y="185801"/>
                  </a:lnTo>
                  <a:lnTo>
                    <a:pt x="42672" y="173609"/>
                  </a:lnTo>
                  <a:lnTo>
                    <a:pt x="50292" y="159893"/>
                  </a:lnTo>
                  <a:lnTo>
                    <a:pt x="50292" y="161417"/>
                  </a:lnTo>
                  <a:lnTo>
                    <a:pt x="51181" y="159893"/>
                  </a:lnTo>
                  <a:lnTo>
                    <a:pt x="65532" y="137160"/>
                  </a:lnTo>
                  <a:lnTo>
                    <a:pt x="74676" y="126492"/>
                  </a:lnTo>
                  <a:lnTo>
                    <a:pt x="85344" y="115824"/>
                  </a:lnTo>
                  <a:lnTo>
                    <a:pt x="94488" y="105156"/>
                  </a:lnTo>
                  <a:lnTo>
                    <a:pt x="128016" y="76200"/>
                  </a:lnTo>
                  <a:lnTo>
                    <a:pt x="166116" y="51816"/>
                  </a:lnTo>
                  <a:lnTo>
                    <a:pt x="222377" y="28956"/>
                  </a:lnTo>
                  <a:lnTo>
                    <a:pt x="269621" y="16764"/>
                  </a:lnTo>
                  <a:lnTo>
                    <a:pt x="284861" y="13716"/>
                  </a:lnTo>
                  <a:lnTo>
                    <a:pt x="318389" y="10668"/>
                  </a:lnTo>
                  <a:lnTo>
                    <a:pt x="350393" y="10668"/>
                  </a:lnTo>
                  <a:lnTo>
                    <a:pt x="383921" y="13716"/>
                  </a:lnTo>
                  <a:lnTo>
                    <a:pt x="399161" y="16764"/>
                  </a:lnTo>
                  <a:lnTo>
                    <a:pt x="415925" y="19812"/>
                  </a:lnTo>
                  <a:lnTo>
                    <a:pt x="460121" y="33528"/>
                  </a:lnTo>
                  <a:lnTo>
                    <a:pt x="502653" y="51816"/>
                  </a:lnTo>
                  <a:lnTo>
                    <a:pt x="540753" y="76200"/>
                  </a:lnTo>
                  <a:lnTo>
                    <a:pt x="574294" y="105156"/>
                  </a:lnTo>
                  <a:lnTo>
                    <a:pt x="583438" y="115824"/>
                  </a:lnTo>
                  <a:lnTo>
                    <a:pt x="594106" y="126492"/>
                  </a:lnTo>
                  <a:lnTo>
                    <a:pt x="603250" y="137160"/>
                  </a:lnTo>
                  <a:lnTo>
                    <a:pt x="618490" y="161417"/>
                  </a:lnTo>
                  <a:lnTo>
                    <a:pt x="618490" y="159893"/>
                  </a:lnTo>
                  <a:lnTo>
                    <a:pt x="626110" y="173609"/>
                  </a:lnTo>
                  <a:lnTo>
                    <a:pt x="632206" y="185801"/>
                  </a:lnTo>
                  <a:lnTo>
                    <a:pt x="638302" y="199517"/>
                  </a:lnTo>
                  <a:lnTo>
                    <a:pt x="638302" y="197993"/>
                  </a:lnTo>
                  <a:lnTo>
                    <a:pt x="647446" y="225425"/>
                  </a:lnTo>
                  <a:lnTo>
                    <a:pt x="653542" y="252857"/>
                  </a:lnTo>
                  <a:lnTo>
                    <a:pt x="656590" y="268097"/>
                  </a:lnTo>
                  <a:lnTo>
                    <a:pt x="656590" y="281813"/>
                  </a:lnTo>
                  <a:lnTo>
                    <a:pt x="658114" y="297053"/>
                  </a:lnTo>
                  <a:lnTo>
                    <a:pt x="658114" y="226669"/>
                  </a:lnTo>
                  <a:lnTo>
                    <a:pt x="648843" y="197993"/>
                  </a:lnTo>
                  <a:lnTo>
                    <a:pt x="630555" y="159893"/>
                  </a:lnTo>
                  <a:lnTo>
                    <a:pt x="601726" y="118872"/>
                  </a:lnTo>
                  <a:lnTo>
                    <a:pt x="591058" y="108204"/>
                  </a:lnTo>
                  <a:lnTo>
                    <a:pt x="581914" y="97536"/>
                  </a:lnTo>
                  <a:lnTo>
                    <a:pt x="546849" y="68580"/>
                  </a:lnTo>
                  <a:lnTo>
                    <a:pt x="507225" y="42672"/>
                  </a:lnTo>
                  <a:lnTo>
                    <a:pt x="493649" y="36576"/>
                  </a:lnTo>
                  <a:lnTo>
                    <a:pt x="478409" y="28956"/>
                  </a:lnTo>
                  <a:lnTo>
                    <a:pt x="464693" y="24384"/>
                  </a:lnTo>
                  <a:lnTo>
                    <a:pt x="449453" y="18288"/>
                  </a:lnTo>
                  <a:lnTo>
                    <a:pt x="434200" y="13716"/>
                  </a:lnTo>
                  <a:lnTo>
                    <a:pt x="423024" y="10668"/>
                  </a:lnTo>
                  <a:lnTo>
                    <a:pt x="417449" y="9144"/>
                  </a:lnTo>
                  <a:lnTo>
                    <a:pt x="402209" y="6096"/>
                  </a:lnTo>
                  <a:lnTo>
                    <a:pt x="385445" y="4572"/>
                  </a:lnTo>
                  <a:lnTo>
                    <a:pt x="368681" y="1524"/>
                  </a:lnTo>
                  <a:lnTo>
                    <a:pt x="351917" y="1524"/>
                  </a:lnTo>
                  <a:lnTo>
                    <a:pt x="333629" y="0"/>
                  </a:lnTo>
                  <a:lnTo>
                    <a:pt x="316865" y="1524"/>
                  </a:lnTo>
                  <a:lnTo>
                    <a:pt x="300101" y="1524"/>
                  </a:lnTo>
                  <a:lnTo>
                    <a:pt x="283337" y="4572"/>
                  </a:lnTo>
                  <a:lnTo>
                    <a:pt x="266573" y="6096"/>
                  </a:lnTo>
                  <a:lnTo>
                    <a:pt x="251333" y="9144"/>
                  </a:lnTo>
                  <a:lnTo>
                    <a:pt x="234569" y="13716"/>
                  </a:lnTo>
                  <a:lnTo>
                    <a:pt x="219329" y="18288"/>
                  </a:lnTo>
                  <a:lnTo>
                    <a:pt x="204089" y="24384"/>
                  </a:lnTo>
                  <a:lnTo>
                    <a:pt x="190373" y="28956"/>
                  </a:lnTo>
                  <a:lnTo>
                    <a:pt x="175133" y="36576"/>
                  </a:lnTo>
                  <a:lnTo>
                    <a:pt x="161544" y="42672"/>
                  </a:lnTo>
                  <a:lnTo>
                    <a:pt x="121920" y="68580"/>
                  </a:lnTo>
                  <a:lnTo>
                    <a:pt x="86868" y="97536"/>
                  </a:lnTo>
                  <a:lnTo>
                    <a:pt x="77724" y="108204"/>
                  </a:lnTo>
                  <a:lnTo>
                    <a:pt x="67056" y="118872"/>
                  </a:lnTo>
                  <a:lnTo>
                    <a:pt x="33528" y="167513"/>
                  </a:lnTo>
                  <a:lnTo>
                    <a:pt x="7620" y="236093"/>
                  </a:lnTo>
                  <a:lnTo>
                    <a:pt x="1524" y="266573"/>
                  </a:lnTo>
                  <a:lnTo>
                    <a:pt x="1524" y="281813"/>
                  </a:lnTo>
                  <a:lnTo>
                    <a:pt x="0" y="297053"/>
                  </a:lnTo>
                  <a:lnTo>
                    <a:pt x="1524" y="312293"/>
                  </a:lnTo>
                  <a:lnTo>
                    <a:pt x="1524" y="327533"/>
                  </a:lnTo>
                  <a:lnTo>
                    <a:pt x="4572" y="341249"/>
                  </a:lnTo>
                  <a:lnTo>
                    <a:pt x="15240" y="385445"/>
                  </a:lnTo>
                  <a:lnTo>
                    <a:pt x="33528" y="425069"/>
                  </a:lnTo>
                  <a:lnTo>
                    <a:pt x="57912" y="463042"/>
                  </a:lnTo>
                  <a:lnTo>
                    <a:pt x="86868" y="496570"/>
                  </a:lnTo>
                  <a:lnTo>
                    <a:pt x="99060" y="505714"/>
                  </a:lnTo>
                  <a:lnTo>
                    <a:pt x="121920" y="525526"/>
                  </a:lnTo>
                  <a:lnTo>
                    <a:pt x="175133" y="557530"/>
                  </a:lnTo>
                  <a:lnTo>
                    <a:pt x="234569" y="578866"/>
                  </a:lnTo>
                  <a:lnTo>
                    <a:pt x="283337" y="589534"/>
                  </a:lnTo>
                  <a:lnTo>
                    <a:pt x="316865" y="592582"/>
                  </a:lnTo>
                  <a:lnTo>
                    <a:pt x="351917" y="592582"/>
                  </a:lnTo>
                  <a:lnTo>
                    <a:pt x="385445" y="589534"/>
                  </a:lnTo>
                  <a:lnTo>
                    <a:pt x="402209" y="586486"/>
                  </a:lnTo>
                  <a:lnTo>
                    <a:pt x="417449" y="583438"/>
                  </a:lnTo>
                  <a:lnTo>
                    <a:pt x="423024" y="581914"/>
                  </a:lnTo>
                  <a:lnTo>
                    <a:pt x="434200" y="578866"/>
                  </a:lnTo>
                  <a:lnTo>
                    <a:pt x="464693" y="569722"/>
                  </a:lnTo>
                  <a:lnTo>
                    <a:pt x="478409" y="563626"/>
                  </a:lnTo>
                  <a:lnTo>
                    <a:pt x="493649" y="557530"/>
                  </a:lnTo>
                  <a:lnTo>
                    <a:pt x="510032" y="548386"/>
                  </a:lnTo>
                  <a:lnTo>
                    <a:pt x="520954" y="542290"/>
                  </a:lnTo>
                  <a:lnTo>
                    <a:pt x="546849" y="525526"/>
                  </a:lnTo>
                  <a:lnTo>
                    <a:pt x="569722" y="505714"/>
                  </a:lnTo>
                  <a:lnTo>
                    <a:pt x="581914" y="496570"/>
                  </a:lnTo>
                  <a:lnTo>
                    <a:pt x="591058" y="485902"/>
                  </a:lnTo>
                  <a:lnTo>
                    <a:pt x="620014" y="450850"/>
                  </a:lnTo>
                  <a:lnTo>
                    <a:pt x="641350" y="412877"/>
                  </a:lnTo>
                  <a:lnTo>
                    <a:pt x="643382" y="408305"/>
                  </a:lnTo>
                  <a:lnTo>
                    <a:pt x="653542" y="385445"/>
                  </a:lnTo>
                  <a:lnTo>
                    <a:pt x="658114" y="370205"/>
                  </a:lnTo>
                  <a:lnTo>
                    <a:pt x="658495" y="368681"/>
                  </a:lnTo>
                  <a:lnTo>
                    <a:pt x="661162" y="356489"/>
                  </a:lnTo>
                  <a:lnTo>
                    <a:pt x="661416" y="354965"/>
                  </a:lnTo>
                  <a:lnTo>
                    <a:pt x="664210" y="341249"/>
                  </a:lnTo>
                  <a:lnTo>
                    <a:pt x="665734" y="327533"/>
                  </a:lnTo>
                  <a:lnTo>
                    <a:pt x="668782" y="297053"/>
                  </a:lnTo>
                  <a:close/>
                </a:path>
              </a:pathLst>
            </a:custGeom>
            <a:solidFill>
              <a:srgbClr val="416F9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95" name="Google Shape;195;p17"/>
          <p:cNvSpPr txBox="1"/>
          <p:nvPr/>
        </p:nvSpPr>
        <p:spPr>
          <a:xfrm>
            <a:off x="6376670" y="3974338"/>
            <a:ext cx="119380"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rgbClr val="FFFFFF"/>
                </a:solidFill>
                <a:latin typeface="Calibri"/>
                <a:ea typeface="Calibri"/>
                <a:cs typeface="Calibri"/>
                <a:sym typeface="Calibri"/>
              </a:rPr>
              <a:t>3</a:t>
            </a:r>
            <a:endParaRPr sz="1450">
              <a:solidFill>
                <a:schemeClr val="dk1"/>
              </a:solidFill>
              <a:latin typeface="Calibri"/>
              <a:ea typeface="Calibri"/>
              <a:cs typeface="Calibri"/>
              <a:sym typeface="Calibri"/>
            </a:endParaRPr>
          </a:p>
        </p:txBody>
      </p:sp>
      <p:grpSp>
        <p:nvGrpSpPr>
          <p:cNvPr id="196" name="Google Shape;196;p17"/>
          <p:cNvGrpSpPr/>
          <p:nvPr/>
        </p:nvGrpSpPr>
        <p:grpSpPr>
          <a:xfrm>
            <a:off x="7984236" y="3823715"/>
            <a:ext cx="669290" cy="593090"/>
            <a:chOff x="7984236" y="3823715"/>
            <a:chExt cx="669290" cy="593090"/>
          </a:xfrm>
        </p:grpSpPr>
        <p:sp>
          <p:nvSpPr>
            <p:cNvPr id="197" name="Google Shape;197;p17"/>
            <p:cNvSpPr/>
            <p:nvPr/>
          </p:nvSpPr>
          <p:spPr>
            <a:xfrm>
              <a:off x="7990331" y="3829811"/>
              <a:ext cx="656590" cy="582295"/>
            </a:xfrm>
            <a:custGeom>
              <a:avLst/>
              <a:gdLst/>
              <a:ahLst/>
              <a:cxnLst/>
              <a:rect l="l" t="t" r="r" b="b"/>
              <a:pathLst>
                <a:path w="656590" h="582295" extrusionOk="0">
                  <a:moveTo>
                    <a:pt x="327533" y="0"/>
                  </a:moveTo>
                  <a:lnTo>
                    <a:pt x="279019" y="3175"/>
                  </a:lnTo>
                  <a:lnTo>
                    <a:pt x="232791" y="12318"/>
                  </a:lnTo>
                  <a:lnTo>
                    <a:pt x="189229" y="26924"/>
                  </a:lnTo>
                  <a:lnTo>
                    <a:pt x="148971" y="46736"/>
                  </a:lnTo>
                  <a:lnTo>
                    <a:pt x="112522" y="71120"/>
                  </a:lnTo>
                  <a:lnTo>
                    <a:pt x="80137" y="99822"/>
                  </a:lnTo>
                  <a:lnTo>
                    <a:pt x="52704" y="132207"/>
                  </a:lnTo>
                  <a:lnTo>
                    <a:pt x="30352" y="168021"/>
                  </a:lnTo>
                  <a:lnTo>
                    <a:pt x="13843" y="206628"/>
                  </a:lnTo>
                  <a:lnTo>
                    <a:pt x="3556" y="247776"/>
                  </a:lnTo>
                  <a:lnTo>
                    <a:pt x="0" y="290957"/>
                  </a:lnTo>
                  <a:lnTo>
                    <a:pt x="3556" y="333883"/>
                  </a:lnTo>
                  <a:lnTo>
                    <a:pt x="13843" y="374776"/>
                  </a:lnTo>
                  <a:lnTo>
                    <a:pt x="30352" y="413385"/>
                  </a:lnTo>
                  <a:lnTo>
                    <a:pt x="52704" y="449199"/>
                  </a:lnTo>
                  <a:lnTo>
                    <a:pt x="80137" y="481711"/>
                  </a:lnTo>
                  <a:lnTo>
                    <a:pt x="112522" y="510413"/>
                  </a:lnTo>
                  <a:lnTo>
                    <a:pt x="148971" y="534924"/>
                  </a:lnTo>
                  <a:lnTo>
                    <a:pt x="189229" y="554863"/>
                  </a:lnTo>
                  <a:lnTo>
                    <a:pt x="232791" y="569595"/>
                  </a:lnTo>
                  <a:lnTo>
                    <a:pt x="279019" y="578865"/>
                  </a:lnTo>
                  <a:lnTo>
                    <a:pt x="327533" y="582040"/>
                  </a:lnTo>
                  <a:lnTo>
                    <a:pt x="376300" y="578865"/>
                  </a:lnTo>
                  <a:lnTo>
                    <a:pt x="422910" y="569595"/>
                  </a:lnTo>
                  <a:lnTo>
                    <a:pt x="466598" y="554863"/>
                  </a:lnTo>
                  <a:lnTo>
                    <a:pt x="507111" y="534924"/>
                  </a:lnTo>
                  <a:lnTo>
                    <a:pt x="543687" y="510413"/>
                  </a:lnTo>
                  <a:lnTo>
                    <a:pt x="576072" y="481711"/>
                  </a:lnTo>
                  <a:lnTo>
                    <a:pt x="603758" y="449199"/>
                  </a:lnTo>
                  <a:lnTo>
                    <a:pt x="626110" y="413385"/>
                  </a:lnTo>
                  <a:lnTo>
                    <a:pt x="642620" y="374776"/>
                  </a:lnTo>
                  <a:lnTo>
                    <a:pt x="652907" y="333883"/>
                  </a:lnTo>
                  <a:lnTo>
                    <a:pt x="656463" y="290957"/>
                  </a:lnTo>
                  <a:lnTo>
                    <a:pt x="652907" y="247776"/>
                  </a:lnTo>
                  <a:lnTo>
                    <a:pt x="642620" y="206628"/>
                  </a:lnTo>
                  <a:lnTo>
                    <a:pt x="626110" y="168021"/>
                  </a:lnTo>
                  <a:lnTo>
                    <a:pt x="603758" y="132207"/>
                  </a:lnTo>
                  <a:lnTo>
                    <a:pt x="576072" y="99822"/>
                  </a:lnTo>
                  <a:lnTo>
                    <a:pt x="543687" y="71120"/>
                  </a:lnTo>
                  <a:lnTo>
                    <a:pt x="507111" y="46736"/>
                  </a:lnTo>
                  <a:lnTo>
                    <a:pt x="466598" y="26924"/>
                  </a:lnTo>
                  <a:lnTo>
                    <a:pt x="422910" y="12318"/>
                  </a:lnTo>
                  <a:lnTo>
                    <a:pt x="376300" y="3175"/>
                  </a:lnTo>
                  <a:lnTo>
                    <a:pt x="327533"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8" name="Google Shape;198;p17"/>
            <p:cNvSpPr/>
            <p:nvPr/>
          </p:nvSpPr>
          <p:spPr>
            <a:xfrm>
              <a:off x="7984236" y="3823715"/>
              <a:ext cx="669290" cy="593090"/>
            </a:xfrm>
            <a:custGeom>
              <a:avLst/>
              <a:gdLst/>
              <a:ahLst/>
              <a:cxnLst/>
              <a:rect l="l" t="t" r="r" b="b"/>
              <a:pathLst>
                <a:path w="669290" h="593089" extrusionOk="0">
                  <a:moveTo>
                    <a:pt x="668782" y="297053"/>
                  </a:moveTo>
                  <a:lnTo>
                    <a:pt x="665734" y="266573"/>
                  </a:lnTo>
                  <a:lnTo>
                    <a:pt x="661162" y="236093"/>
                  </a:lnTo>
                  <a:lnTo>
                    <a:pt x="658114" y="226669"/>
                  </a:lnTo>
                  <a:lnTo>
                    <a:pt x="658114" y="297053"/>
                  </a:lnTo>
                  <a:lnTo>
                    <a:pt x="656590" y="310769"/>
                  </a:lnTo>
                  <a:lnTo>
                    <a:pt x="656590" y="326009"/>
                  </a:lnTo>
                  <a:lnTo>
                    <a:pt x="653542" y="339725"/>
                  </a:lnTo>
                  <a:lnTo>
                    <a:pt x="650494" y="354965"/>
                  </a:lnTo>
                  <a:lnTo>
                    <a:pt x="650494" y="353441"/>
                  </a:lnTo>
                  <a:lnTo>
                    <a:pt x="647446" y="368681"/>
                  </a:lnTo>
                  <a:lnTo>
                    <a:pt x="647446" y="367157"/>
                  </a:lnTo>
                  <a:lnTo>
                    <a:pt x="638302" y="394589"/>
                  </a:lnTo>
                  <a:lnTo>
                    <a:pt x="632206" y="408305"/>
                  </a:lnTo>
                  <a:lnTo>
                    <a:pt x="632206" y="406781"/>
                  </a:lnTo>
                  <a:lnTo>
                    <a:pt x="626110" y="420497"/>
                  </a:lnTo>
                  <a:lnTo>
                    <a:pt x="610870" y="444881"/>
                  </a:lnTo>
                  <a:lnTo>
                    <a:pt x="594106" y="467614"/>
                  </a:lnTo>
                  <a:lnTo>
                    <a:pt x="583438" y="478282"/>
                  </a:lnTo>
                  <a:lnTo>
                    <a:pt x="574294" y="488950"/>
                  </a:lnTo>
                  <a:lnTo>
                    <a:pt x="563626" y="498094"/>
                  </a:lnTo>
                  <a:lnTo>
                    <a:pt x="539242" y="516382"/>
                  </a:lnTo>
                  <a:lnTo>
                    <a:pt x="540766" y="516382"/>
                  </a:lnTo>
                  <a:lnTo>
                    <a:pt x="514858" y="533146"/>
                  </a:lnTo>
                  <a:lnTo>
                    <a:pt x="502666" y="540766"/>
                  </a:lnTo>
                  <a:lnTo>
                    <a:pt x="489077" y="548386"/>
                  </a:lnTo>
                  <a:lnTo>
                    <a:pt x="489077" y="546862"/>
                  </a:lnTo>
                  <a:lnTo>
                    <a:pt x="475361" y="554482"/>
                  </a:lnTo>
                  <a:lnTo>
                    <a:pt x="460121" y="559054"/>
                  </a:lnTo>
                  <a:lnTo>
                    <a:pt x="446405" y="565150"/>
                  </a:lnTo>
                  <a:lnTo>
                    <a:pt x="431165" y="569722"/>
                  </a:lnTo>
                  <a:lnTo>
                    <a:pt x="414401" y="572770"/>
                  </a:lnTo>
                  <a:lnTo>
                    <a:pt x="415925" y="572770"/>
                  </a:lnTo>
                  <a:lnTo>
                    <a:pt x="399161" y="575818"/>
                  </a:lnTo>
                  <a:lnTo>
                    <a:pt x="383921" y="578866"/>
                  </a:lnTo>
                  <a:lnTo>
                    <a:pt x="350393" y="581914"/>
                  </a:lnTo>
                  <a:lnTo>
                    <a:pt x="318389" y="581914"/>
                  </a:lnTo>
                  <a:lnTo>
                    <a:pt x="284861" y="578866"/>
                  </a:lnTo>
                  <a:lnTo>
                    <a:pt x="268097" y="575818"/>
                  </a:lnTo>
                  <a:lnTo>
                    <a:pt x="269621" y="575818"/>
                  </a:lnTo>
                  <a:lnTo>
                    <a:pt x="252857" y="572770"/>
                  </a:lnTo>
                  <a:lnTo>
                    <a:pt x="237617" y="569722"/>
                  </a:lnTo>
                  <a:lnTo>
                    <a:pt x="222377" y="565150"/>
                  </a:lnTo>
                  <a:lnTo>
                    <a:pt x="208661" y="559054"/>
                  </a:lnTo>
                  <a:lnTo>
                    <a:pt x="193421" y="554482"/>
                  </a:lnTo>
                  <a:lnTo>
                    <a:pt x="182499" y="548386"/>
                  </a:lnTo>
                  <a:lnTo>
                    <a:pt x="179705" y="546862"/>
                  </a:lnTo>
                  <a:lnTo>
                    <a:pt x="179705" y="548386"/>
                  </a:lnTo>
                  <a:lnTo>
                    <a:pt x="165989" y="540766"/>
                  </a:lnTo>
                  <a:lnTo>
                    <a:pt x="128016" y="516382"/>
                  </a:lnTo>
                  <a:lnTo>
                    <a:pt x="83820" y="478282"/>
                  </a:lnTo>
                  <a:lnTo>
                    <a:pt x="85344" y="478282"/>
                  </a:lnTo>
                  <a:lnTo>
                    <a:pt x="74676" y="467614"/>
                  </a:lnTo>
                  <a:lnTo>
                    <a:pt x="57912" y="444881"/>
                  </a:lnTo>
                  <a:lnTo>
                    <a:pt x="42672" y="420497"/>
                  </a:lnTo>
                  <a:lnTo>
                    <a:pt x="37211" y="408305"/>
                  </a:lnTo>
                  <a:lnTo>
                    <a:pt x="36576" y="406781"/>
                  </a:lnTo>
                  <a:lnTo>
                    <a:pt x="36576" y="408305"/>
                  </a:lnTo>
                  <a:lnTo>
                    <a:pt x="30480" y="394589"/>
                  </a:lnTo>
                  <a:lnTo>
                    <a:pt x="21844" y="368681"/>
                  </a:lnTo>
                  <a:lnTo>
                    <a:pt x="21336" y="367157"/>
                  </a:lnTo>
                  <a:lnTo>
                    <a:pt x="21336" y="368681"/>
                  </a:lnTo>
                  <a:lnTo>
                    <a:pt x="16764" y="353441"/>
                  </a:lnTo>
                  <a:lnTo>
                    <a:pt x="18288" y="353441"/>
                  </a:lnTo>
                  <a:lnTo>
                    <a:pt x="12192" y="326009"/>
                  </a:lnTo>
                  <a:lnTo>
                    <a:pt x="10668" y="310769"/>
                  </a:lnTo>
                  <a:lnTo>
                    <a:pt x="10668" y="281813"/>
                  </a:lnTo>
                  <a:lnTo>
                    <a:pt x="12192" y="268097"/>
                  </a:lnTo>
                  <a:lnTo>
                    <a:pt x="15240" y="252857"/>
                  </a:lnTo>
                  <a:lnTo>
                    <a:pt x="18288" y="239141"/>
                  </a:lnTo>
                  <a:lnTo>
                    <a:pt x="16764" y="239141"/>
                  </a:lnTo>
                  <a:lnTo>
                    <a:pt x="30480" y="197993"/>
                  </a:lnTo>
                  <a:lnTo>
                    <a:pt x="30480" y="199517"/>
                  </a:lnTo>
                  <a:lnTo>
                    <a:pt x="31115" y="197993"/>
                  </a:lnTo>
                  <a:lnTo>
                    <a:pt x="36576" y="185801"/>
                  </a:lnTo>
                  <a:lnTo>
                    <a:pt x="42672" y="173609"/>
                  </a:lnTo>
                  <a:lnTo>
                    <a:pt x="50292" y="159893"/>
                  </a:lnTo>
                  <a:lnTo>
                    <a:pt x="50292" y="161417"/>
                  </a:lnTo>
                  <a:lnTo>
                    <a:pt x="51181" y="159893"/>
                  </a:lnTo>
                  <a:lnTo>
                    <a:pt x="65532" y="137160"/>
                  </a:lnTo>
                  <a:lnTo>
                    <a:pt x="74676" y="126492"/>
                  </a:lnTo>
                  <a:lnTo>
                    <a:pt x="85344" y="115824"/>
                  </a:lnTo>
                  <a:lnTo>
                    <a:pt x="83820" y="115824"/>
                  </a:lnTo>
                  <a:lnTo>
                    <a:pt x="128016" y="76200"/>
                  </a:lnTo>
                  <a:lnTo>
                    <a:pt x="165989" y="51816"/>
                  </a:lnTo>
                  <a:lnTo>
                    <a:pt x="208661" y="33528"/>
                  </a:lnTo>
                  <a:lnTo>
                    <a:pt x="252857" y="19812"/>
                  </a:lnTo>
                  <a:lnTo>
                    <a:pt x="269621" y="16764"/>
                  </a:lnTo>
                  <a:lnTo>
                    <a:pt x="268097" y="16764"/>
                  </a:lnTo>
                  <a:lnTo>
                    <a:pt x="284861" y="13716"/>
                  </a:lnTo>
                  <a:lnTo>
                    <a:pt x="318389" y="10668"/>
                  </a:lnTo>
                  <a:lnTo>
                    <a:pt x="350393" y="10668"/>
                  </a:lnTo>
                  <a:lnTo>
                    <a:pt x="383921" y="13716"/>
                  </a:lnTo>
                  <a:lnTo>
                    <a:pt x="399161" y="16764"/>
                  </a:lnTo>
                  <a:lnTo>
                    <a:pt x="415925" y="19812"/>
                  </a:lnTo>
                  <a:lnTo>
                    <a:pt x="414401" y="19812"/>
                  </a:lnTo>
                  <a:lnTo>
                    <a:pt x="431165" y="24384"/>
                  </a:lnTo>
                  <a:lnTo>
                    <a:pt x="446405" y="28956"/>
                  </a:lnTo>
                  <a:lnTo>
                    <a:pt x="444881" y="28956"/>
                  </a:lnTo>
                  <a:lnTo>
                    <a:pt x="460121" y="33528"/>
                  </a:lnTo>
                  <a:lnTo>
                    <a:pt x="502666" y="51816"/>
                  </a:lnTo>
                  <a:lnTo>
                    <a:pt x="540766" y="76200"/>
                  </a:lnTo>
                  <a:lnTo>
                    <a:pt x="539242" y="76200"/>
                  </a:lnTo>
                  <a:lnTo>
                    <a:pt x="563626" y="94488"/>
                  </a:lnTo>
                  <a:lnTo>
                    <a:pt x="574294" y="105156"/>
                  </a:lnTo>
                  <a:lnTo>
                    <a:pt x="583438" y="115824"/>
                  </a:lnTo>
                  <a:lnTo>
                    <a:pt x="594106" y="126492"/>
                  </a:lnTo>
                  <a:lnTo>
                    <a:pt x="603250" y="137160"/>
                  </a:lnTo>
                  <a:lnTo>
                    <a:pt x="618490" y="161417"/>
                  </a:lnTo>
                  <a:lnTo>
                    <a:pt x="618490" y="159893"/>
                  </a:lnTo>
                  <a:lnTo>
                    <a:pt x="626110" y="173609"/>
                  </a:lnTo>
                  <a:lnTo>
                    <a:pt x="632206" y="185801"/>
                  </a:lnTo>
                  <a:lnTo>
                    <a:pt x="638302" y="199517"/>
                  </a:lnTo>
                  <a:lnTo>
                    <a:pt x="638302" y="197993"/>
                  </a:lnTo>
                  <a:lnTo>
                    <a:pt x="647446" y="225425"/>
                  </a:lnTo>
                  <a:lnTo>
                    <a:pt x="653542" y="252857"/>
                  </a:lnTo>
                  <a:lnTo>
                    <a:pt x="656590" y="268097"/>
                  </a:lnTo>
                  <a:lnTo>
                    <a:pt x="656590" y="281813"/>
                  </a:lnTo>
                  <a:lnTo>
                    <a:pt x="658114" y="297053"/>
                  </a:lnTo>
                  <a:lnTo>
                    <a:pt x="658114" y="226669"/>
                  </a:lnTo>
                  <a:lnTo>
                    <a:pt x="648843" y="197993"/>
                  </a:lnTo>
                  <a:lnTo>
                    <a:pt x="630555" y="159893"/>
                  </a:lnTo>
                  <a:lnTo>
                    <a:pt x="601726" y="118872"/>
                  </a:lnTo>
                  <a:lnTo>
                    <a:pt x="591058" y="108204"/>
                  </a:lnTo>
                  <a:lnTo>
                    <a:pt x="581914" y="97536"/>
                  </a:lnTo>
                  <a:lnTo>
                    <a:pt x="546862" y="68580"/>
                  </a:lnTo>
                  <a:lnTo>
                    <a:pt x="493649" y="36576"/>
                  </a:lnTo>
                  <a:lnTo>
                    <a:pt x="478409" y="28956"/>
                  </a:lnTo>
                  <a:lnTo>
                    <a:pt x="464693" y="24384"/>
                  </a:lnTo>
                  <a:lnTo>
                    <a:pt x="449453" y="18288"/>
                  </a:lnTo>
                  <a:lnTo>
                    <a:pt x="432689" y="13716"/>
                  </a:lnTo>
                  <a:lnTo>
                    <a:pt x="422529" y="10668"/>
                  </a:lnTo>
                  <a:lnTo>
                    <a:pt x="417449" y="9144"/>
                  </a:lnTo>
                  <a:lnTo>
                    <a:pt x="402209" y="6096"/>
                  </a:lnTo>
                  <a:lnTo>
                    <a:pt x="385445" y="4572"/>
                  </a:lnTo>
                  <a:lnTo>
                    <a:pt x="368681" y="1524"/>
                  </a:lnTo>
                  <a:lnTo>
                    <a:pt x="351917" y="1524"/>
                  </a:lnTo>
                  <a:lnTo>
                    <a:pt x="333629" y="0"/>
                  </a:lnTo>
                  <a:lnTo>
                    <a:pt x="316865" y="1524"/>
                  </a:lnTo>
                  <a:lnTo>
                    <a:pt x="300101" y="1524"/>
                  </a:lnTo>
                  <a:lnTo>
                    <a:pt x="283337" y="4572"/>
                  </a:lnTo>
                  <a:lnTo>
                    <a:pt x="266573" y="6096"/>
                  </a:lnTo>
                  <a:lnTo>
                    <a:pt x="251333" y="9144"/>
                  </a:lnTo>
                  <a:lnTo>
                    <a:pt x="234569" y="13716"/>
                  </a:lnTo>
                  <a:lnTo>
                    <a:pt x="219329" y="18288"/>
                  </a:lnTo>
                  <a:lnTo>
                    <a:pt x="204089" y="24384"/>
                  </a:lnTo>
                  <a:lnTo>
                    <a:pt x="190373" y="28956"/>
                  </a:lnTo>
                  <a:lnTo>
                    <a:pt x="147828" y="50292"/>
                  </a:lnTo>
                  <a:lnTo>
                    <a:pt x="99060" y="86868"/>
                  </a:lnTo>
                  <a:lnTo>
                    <a:pt x="67056" y="118872"/>
                  </a:lnTo>
                  <a:lnTo>
                    <a:pt x="33528" y="167513"/>
                  </a:lnTo>
                  <a:lnTo>
                    <a:pt x="7620" y="236093"/>
                  </a:lnTo>
                  <a:lnTo>
                    <a:pt x="1524" y="266573"/>
                  </a:lnTo>
                  <a:lnTo>
                    <a:pt x="1524" y="281813"/>
                  </a:lnTo>
                  <a:lnTo>
                    <a:pt x="0" y="297053"/>
                  </a:lnTo>
                  <a:lnTo>
                    <a:pt x="1524" y="312293"/>
                  </a:lnTo>
                  <a:lnTo>
                    <a:pt x="1524" y="327533"/>
                  </a:lnTo>
                  <a:lnTo>
                    <a:pt x="4572" y="341249"/>
                  </a:lnTo>
                  <a:lnTo>
                    <a:pt x="15240" y="385445"/>
                  </a:lnTo>
                  <a:lnTo>
                    <a:pt x="33528" y="425069"/>
                  </a:lnTo>
                  <a:lnTo>
                    <a:pt x="57912" y="463042"/>
                  </a:lnTo>
                  <a:lnTo>
                    <a:pt x="67056" y="473710"/>
                  </a:lnTo>
                  <a:lnTo>
                    <a:pt x="76200" y="485902"/>
                  </a:lnTo>
                  <a:lnTo>
                    <a:pt x="86868" y="496570"/>
                  </a:lnTo>
                  <a:lnTo>
                    <a:pt x="99060" y="505714"/>
                  </a:lnTo>
                  <a:lnTo>
                    <a:pt x="121920" y="525526"/>
                  </a:lnTo>
                  <a:lnTo>
                    <a:pt x="175133" y="557530"/>
                  </a:lnTo>
                  <a:lnTo>
                    <a:pt x="234569" y="578866"/>
                  </a:lnTo>
                  <a:lnTo>
                    <a:pt x="283337" y="589534"/>
                  </a:lnTo>
                  <a:lnTo>
                    <a:pt x="316865" y="592582"/>
                  </a:lnTo>
                  <a:lnTo>
                    <a:pt x="351917" y="592582"/>
                  </a:lnTo>
                  <a:lnTo>
                    <a:pt x="385445" y="589534"/>
                  </a:lnTo>
                  <a:lnTo>
                    <a:pt x="402209" y="586486"/>
                  </a:lnTo>
                  <a:lnTo>
                    <a:pt x="417449" y="583438"/>
                  </a:lnTo>
                  <a:lnTo>
                    <a:pt x="422529" y="581914"/>
                  </a:lnTo>
                  <a:lnTo>
                    <a:pt x="432689" y="578866"/>
                  </a:lnTo>
                  <a:lnTo>
                    <a:pt x="449453" y="574294"/>
                  </a:lnTo>
                  <a:lnTo>
                    <a:pt x="464693" y="569722"/>
                  </a:lnTo>
                  <a:lnTo>
                    <a:pt x="478409" y="563626"/>
                  </a:lnTo>
                  <a:lnTo>
                    <a:pt x="493649" y="557530"/>
                  </a:lnTo>
                  <a:lnTo>
                    <a:pt x="510032" y="548386"/>
                  </a:lnTo>
                  <a:lnTo>
                    <a:pt x="520954" y="542290"/>
                  </a:lnTo>
                  <a:lnTo>
                    <a:pt x="546862" y="525526"/>
                  </a:lnTo>
                  <a:lnTo>
                    <a:pt x="569722" y="505714"/>
                  </a:lnTo>
                  <a:lnTo>
                    <a:pt x="581914" y="496570"/>
                  </a:lnTo>
                  <a:lnTo>
                    <a:pt x="591058" y="485902"/>
                  </a:lnTo>
                  <a:lnTo>
                    <a:pt x="620014" y="450850"/>
                  </a:lnTo>
                  <a:lnTo>
                    <a:pt x="641350" y="412877"/>
                  </a:lnTo>
                  <a:lnTo>
                    <a:pt x="643382" y="408305"/>
                  </a:lnTo>
                  <a:lnTo>
                    <a:pt x="653542" y="385445"/>
                  </a:lnTo>
                  <a:lnTo>
                    <a:pt x="658114" y="370205"/>
                  </a:lnTo>
                  <a:lnTo>
                    <a:pt x="658495" y="368681"/>
                  </a:lnTo>
                  <a:lnTo>
                    <a:pt x="661162" y="356489"/>
                  </a:lnTo>
                  <a:lnTo>
                    <a:pt x="661416" y="354965"/>
                  </a:lnTo>
                  <a:lnTo>
                    <a:pt x="664210" y="341249"/>
                  </a:lnTo>
                  <a:lnTo>
                    <a:pt x="665734" y="327533"/>
                  </a:lnTo>
                  <a:lnTo>
                    <a:pt x="668782" y="297053"/>
                  </a:lnTo>
                  <a:close/>
                </a:path>
              </a:pathLst>
            </a:custGeom>
            <a:solidFill>
              <a:srgbClr val="416F9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99" name="Google Shape;199;p17"/>
          <p:cNvSpPr txBox="1"/>
          <p:nvPr/>
        </p:nvSpPr>
        <p:spPr>
          <a:xfrm>
            <a:off x="8257285" y="3974338"/>
            <a:ext cx="119380"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rgbClr val="FFFFFF"/>
                </a:solidFill>
                <a:latin typeface="Calibri"/>
                <a:ea typeface="Calibri"/>
                <a:cs typeface="Calibri"/>
                <a:sym typeface="Calibri"/>
              </a:rPr>
              <a:t>4</a:t>
            </a:r>
            <a:endParaRPr sz="1450">
              <a:solidFill>
                <a:schemeClr val="dk1"/>
              </a:solidFill>
              <a:latin typeface="Calibri"/>
              <a:ea typeface="Calibri"/>
              <a:cs typeface="Calibri"/>
              <a:sym typeface="Calibri"/>
            </a:endParaRPr>
          </a:p>
        </p:txBody>
      </p:sp>
      <p:sp>
        <p:nvSpPr>
          <p:cNvPr id="200" name="Google Shape;200;p17"/>
          <p:cNvSpPr/>
          <p:nvPr/>
        </p:nvSpPr>
        <p:spPr>
          <a:xfrm>
            <a:off x="6766560" y="4088891"/>
            <a:ext cx="1224280" cy="62230"/>
          </a:xfrm>
          <a:custGeom>
            <a:avLst/>
            <a:gdLst/>
            <a:ahLst/>
            <a:cxnLst/>
            <a:rect l="l" t="t" r="r" b="b"/>
            <a:pathLst>
              <a:path w="1224279" h="62229" extrusionOk="0">
                <a:moveTo>
                  <a:pt x="1161529" y="28740"/>
                </a:moveTo>
                <a:lnTo>
                  <a:pt x="0" y="28740"/>
                </a:lnTo>
                <a:lnTo>
                  <a:pt x="0" y="33274"/>
                </a:lnTo>
                <a:lnTo>
                  <a:pt x="1161529" y="33274"/>
                </a:lnTo>
                <a:lnTo>
                  <a:pt x="1161529" y="28740"/>
                </a:lnTo>
                <a:close/>
              </a:path>
              <a:path w="1224279" h="62229" extrusionOk="0">
                <a:moveTo>
                  <a:pt x="1224026" y="31750"/>
                </a:moveTo>
                <a:lnTo>
                  <a:pt x="1218057" y="28829"/>
                </a:lnTo>
                <a:lnTo>
                  <a:pt x="1161542" y="0"/>
                </a:lnTo>
                <a:lnTo>
                  <a:pt x="1161542" y="62103"/>
                </a:lnTo>
                <a:lnTo>
                  <a:pt x="1220851" y="33274"/>
                </a:lnTo>
                <a:lnTo>
                  <a:pt x="1224026" y="3175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1" name="Google Shape;201;p17"/>
          <p:cNvSpPr txBox="1"/>
          <p:nvPr/>
        </p:nvSpPr>
        <p:spPr>
          <a:xfrm>
            <a:off x="2360676" y="3972814"/>
            <a:ext cx="114300"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chemeClr val="dk1"/>
                </a:solidFill>
                <a:latin typeface="Calibri"/>
                <a:ea typeface="Calibri"/>
                <a:cs typeface="Calibri"/>
                <a:sym typeface="Calibri"/>
              </a:rPr>
              <a:t>a</a:t>
            </a:r>
            <a:endParaRPr sz="1450">
              <a:solidFill>
                <a:schemeClr val="dk1"/>
              </a:solidFill>
              <a:latin typeface="Calibri"/>
              <a:ea typeface="Calibri"/>
              <a:cs typeface="Calibri"/>
              <a:sym typeface="Calibri"/>
            </a:endParaRPr>
          </a:p>
        </p:txBody>
      </p:sp>
      <p:pic>
        <p:nvPicPr>
          <p:cNvPr id="202" name="Google Shape;202;p17"/>
          <p:cNvPicPr preferRelativeResize="0"/>
          <p:nvPr/>
        </p:nvPicPr>
        <p:blipFill rotWithShape="1">
          <a:blip r:embed="rId3">
            <a:alphaModFix/>
          </a:blip>
          <a:srcRect/>
          <a:stretch/>
        </p:blipFill>
        <p:spPr>
          <a:xfrm>
            <a:off x="2694432" y="4922520"/>
            <a:ext cx="4735068" cy="1336547"/>
          </a:xfrm>
          <a:prstGeom prst="rect">
            <a:avLst/>
          </a:prstGeom>
          <a:noFill/>
          <a:ln>
            <a:noFill/>
          </a:ln>
        </p:spPr>
      </p:pic>
      <p:sp>
        <p:nvSpPr>
          <p:cNvPr id="203" name="Google Shape;203;p17"/>
          <p:cNvSpPr txBox="1"/>
          <p:nvPr/>
        </p:nvSpPr>
        <p:spPr>
          <a:xfrm>
            <a:off x="4180332" y="5817108"/>
            <a:ext cx="119380"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rgbClr val="FFFFFF"/>
                </a:solidFill>
                <a:latin typeface="Calibri"/>
                <a:ea typeface="Calibri"/>
                <a:cs typeface="Calibri"/>
                <a:sym typeface="Calibri"/>
              </a:rPr>
              <a:t>3</a:t>
            </a:r>
            <a:endParaRPr sz="1450">
              <a:solidFill>
                <a:schemeClr val="dk1"/>
              </a:solidFill>
              <a:latin typeface="Calibri"/>
              <a:ea typeface="Calibri"/>
              <a:cs typeface="Calibri"/>
              <a:sym typeface="Calibri"/>
            </a:endParaRPr>
          </a:p>
        </p:txBody>
      </p:sp>
      <p:sp>
        <p:nvSpPr>
          <p:cNvPr id="204" name="Google Shape;204;p17"/>
          <p:cNvSpPr txBox="1"/>
          <p:nvPr/>
        </p:nvSpPr>
        <p:spPr>
          <a:xfrm>
            <a:off x="5853938" y="5806440"/>
            <a:ext cx="119380"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rgbClr val="FFFFFF"/>
                </a:solidFill>
                <a:latin typeface="Calibri"/>
                <a:ea typeface="Calibri"/>
                <a:cs typeface="Calibri"/>
                <a:sym typeface="Calibri"/>
              </a:rPr>
              <a:t>4</a:t>
            </a:r>
            <a:endParaRPr sz="1450">
              <a:solidFill>
                <a:schemeClr val="dk1"/>
              </a:solidFill>
              <a:latin typeface="Calibri"/>
              <a:ea typeface="Calibri"/>
              <a:cs typeface="Calibri"/>
              <a:sym typeface="Calibri"/>
            </a:endParaRPr>
          </a:p>
        </p:txBody>
      </p:sp>
      <p:sp>
        <p:nvSpPr>
          <p:cNvPr id="205" name="Google Shape;205;p17"/>
          <p:cNvSpPr txBox="1"/>
          <p:nvPr/>
        </p:nvSpPr>
        <p:spPr>
          <a:xfrm>
            <a:off x="4180332" y="5071364"/>
            <a:ext cx="119380"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rgbClr val="FFFFFF"/>
                </a:solidFill>
                <a:latin typeface="Calibri"/>
                <a:ea typeface="Calibri"/>
                <a:cs typeface="Calibri"/>
                <a:sym typeface="Calibri"/>
              </a:rPr>
              <a:t>1</a:t>
            </a:r>
            <a:endParaRPr sz="1450">
              <a:solidFill>
                <a:schemeClr val="dk1"/>
              </a:solidFill>
              <a:latin typeface="Calibri"/>
              <a:ea typeface="Calibri"/>
              <a:cs typeface="Calibri"/>
              <a:sym typeface="Calibri"/>
            </a:endParaRPr>
          </a:p>
        </p:txBody>
      </p:sp>
      <p:sp>
        <p:nvSpPr>
          <p:cNvPr id="206" name="Google Shape;206;p17"/>
          <p:cNvSpPr txBox="1"/>
          <p:nvPr/>
        </p:nvSpPr>
        <p:spPr>
          <a:xfrm>
            <a:off x="5803646" y="5071364"/>
            <a:ext cx="119380"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rgbClr val="FFFFFF"/>
                </a:solidFill>
                <a:latin typeface="Calibri"/>
                <a:ea typeface="Calibri"/>
                <a:cs typeface="Calibri"/>
                <a:sym typeface="Calibri"/>
              </a:rPr>
              <a:t>2</a:t>
            </a:r>
            <a:endParaRPr sz="1450">
              <a:solidFill>
                <a:schemeClr val="dk1"/>
              </a:solidFill>
              <a:latin typeface="Calibri"/>
              <a:ea typeface="Calibri"/>
              <a:cs typeface="Calibri"/>
              <a:sym typeface="Calibri"/>
            </a:endParaRPr>
          </a:p>
        </p:txBody>
      </p:sp>
      <p:sp>
        <p:nvSpPr>
          <p:cNvPr id="207" name="Google Shape;207;p17"/>
          <p:cNvSpPr txBox="1"/>
          <p:nvPr/>
        </p:nvSpPr>
        <p:spPr>
          <a:xfrm>
            <a:off x="2967227" y="5497067"/>
            <a:ext cx="119380"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rgbClr val="FFFFFF"/>
                </a:solidFill>
                <a:latin typeface="Calibri"/>
                <a:ea typeface="Calibri"/>
                <a:cs typeface="Calibri"/>
                <a:sym typeface="Calibri"/>
              </a:rPr>
              <a:t>0</a:t>
            </a:r>
            <a:endParaRPr sz="1450">
              <a:solidFill>
                <a:schemeClr val="dk1"/>
              </a:solidFill>
              <a:latin typeface="Calibri"/>
              <a:ea typeface="Calibri"/>
              <a:cs typeface="Calibri"/>
              <a:sym typeface="Calibri"/>
            </a:endParaRPr>
          </a:p>
        </p:txBody>
      </p:sp>
      <p:sp>
        <p:nvSpPr>
          <p:cNvPr id="208" name="Google Shape;208;p17"/>
          <p:cNvSpPr txBox="1"/>
          <p:nvPr/>
        </p:nvSpPr>
        <p:spPr>
          <a:xfrm>
            <a:off x="7035038" y="5513832"/>
            <a:ext cx="119380"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rgbClr val="FFFFFF"/>
                </a:solidFill>
                <a:latin typeface="Calibri"/>
                <a:ea typeface="Calibri"/>
                <a:cs typeface="Calibri"/>
                <a:sym typeface="Calibri"/>
              </a:rPr>
              <a:t>5</a:t>
            </a:r>
            <a:endParaRPr sz="1450">
              <a:solidFill>
                <a:schemeClr val="dk1"/>
              </a:solidFill>
              <a:latin typeface="Calibri"/>
              <a:ea typeface="Calibri"/>
              <a:cs typeface="Calibri"/>
              <a:sym typeface="Calibri"/>
            </a:endParaRPr>
          </a:p>
        </p:txBody>
      </p:sp>
      <p:sp>
        <p:nvSpPr>
          <p:cNvPr id="209" name="Google Shape;209;p17"/>
          <p:cNvSpPr txBox="1"/>
          <p:nvPr/>
        </p:nvSpPr>
        <p:spPr>
          <a:xfrm>
            <a:off x="5009641" y="5018023"/>
            <a:ext cx="114300"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chemeClr val="dk1"/>
                </a:solidFill>
                <a:latin typeface="Calibri"/>
                <a:ea typeface="Calibri"/>
                <a:cs typeface="Calibri"/>
                <a:sym typeface="Calibri"/>
              </a:rPr>
              <a:t>a</a:t>
            </a:r>
            <a:endParaRPr sz="1450">
              <a:solidFill>
                <a:schemeClr val="dk1"/>
              </a:solidFill>
              <a:latin typeface="Calibri"/>
              <a:ea typeface="Calibri"/>
              <a:cs typeface="Calibri"/>
              <a:sym typeface="Calibri"/>
            </a:endParaRPr>
          </a:p>
        </p:txBody>
      </p:sp>
      <p:sp>
        <p:nvSpPr>
          <p:cNvPr id="210" name="Google Shape;210;p17"/>
          <p:cNvSpPr txBox="1"/>
          <p:nvPr/>
        </p:nvSpPr>
        <p:spPr>
          <a:xfrm>
            <a:off x="5026152" y="6149340"/>
            <a:ext cx="122555"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chemeClr val="dk1"/>
                </a:solidFill>
                <a:latin typeface="Calibri"/>
                <a:ea typeface="Calibri"/>
                <a:cs typeface="Calibri"/>
                <a:sym typeface="Calibri"/>
              </a:rPr>
              <a:t>b</a:t>
            </a:r>
            <a:endParaRPr sz="1450">
              <a:solidFill>
                <a:schemeClr val="dk1"/>
              </a:solidFill>
              <a:latin typeface="Calibri"/>
              <a:ea typeface="Calibri"/>
              <a:cs typeface="Calibri"/>
              <a:sym typeface="Calibri"/>
            </a:endParaRPr>
          </a:p>
        </p:txBody>
      </p:sp>
      <p:sp>
        <p:nvSpPr>
          <p:cNvPr id="211" name="Google Shape;211;p17"/>
          <p:cNvSpPr txBox="1"/>
          <p:nvPr/>
        </p:nvSpPr>
        <p:spPr>
          <a:xfrm>
            <a:off x="6615938" y="5018023"/>
            <a:ext cx="109855"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chemeClr val="dk1"/>
                </a:solidFill>
                <a:latin typeface="Calibri"/>
                <a:ea typeface="Calibri"/>
                <a:cs typeface="Calibri"/>
                <a:sym typeface="Calibri"/>
              </a:rPr>
              <a:t>ε</a:t>
            </a:r>
            <a:endParaRPr sz="1450">
              <a:solidFill>
                <a:schemeClr val="dk1"/>
              </a:solidFill>
              <a:latin typeface="Calibri"/>
              <a:ea typeface="Calibri"/>
              <a:cs typeface="Calibri"/>
              <a:sym typeface="Calibri"/>
            </a:endParaRPr>
          </a:p>
        </p:txBody>
      </p:sp>
      <p:sp>
        <p:nvSpPr>
          <p:cNvPr id="212" name="Google Shape;212;p17"/>
          <p:cNvSpPr txBox="1"/>
          <p:nvPr/>
        </p:nvSpPr>
        <p:spPr>
          <a:xfrm>
            <a:off x="6600697" y="5861303"/>
            <a:ext cx="109855"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chemeClr val="dk1"/>
                </a:solidFill>
                <a:latin typeface="Calibri"/>
                <a:ea typeface="Calibri"/>
                <a:cs typeface="Calibri"/>
                <a:sym typeface="Calibri"/>
              </a:rPr>
              <a:t>ε</a:t>
            </a:r>
            <a:endParaRPr sz="1450">
              <a:solidFill>
                <a:schemeClr val="dk1"/>
              </a:solidFill>
              <a:latin typeface="Calibri"/>
              <a:ea typeface="Calibri"/>
              <a:cs typeface="Calibri"/>
              <a:sym typeface="Calibri"/>
            </a:endParaRPr>
          </a:p>
        </p:txBody>
      </p:sp>
      <p:sp>
        <p:nvSpPr>
          <p:cNvPr id="213" name="Google Shape;213;p17"/>
          <p:cNvSpPr txBox="1"/>
          <p:nvPr/>
        </p:nvSpPr>
        <p:spPr>
          <a:xfrm>
            <a:off x="3297935" y="5044440"/>
            <a:ext cx="109855"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chemeClr val="dk1"/>
                </a:solidFill>
                <a:latin typeface="Calibri"/>
                <a:ea typeface="Calibri"/>
                <a:cs typeface="Calibri"/>
                <a:sym typeface="Calibri"/>
              </a:rPr>
              <a:t>ε</a:t>
            </a:r>
            <a:endParaRPr sz="1450">
              <a:solidFill>
                <a:schemeClr val="dk1"/>
              </a:solidFill>
              <a:latin typeface="Calibri"/>
              <a:ea typeface="Calibri"/>
              <a:cs typeface="Calibri"/>
              <a:sym typeface="Calibri"/>
            </a:endParaRPr>
          </a:p>
        </p:txBody>
      </p:sp>
      <p:sp>
        <p:nvSpPr>
          <p:cNvPr id="214" name="Google Shape;214;p17"/>
          <p:cNvSpPr txBox="1"/>
          <p:nvPr/>
        </p:nvSpPr>
        <p:spPr>
          <a:xfrm>
            <a:off x="3474720" y="6012179"/>
            <a:ext cx="109855"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chemeClr val="dk1"/>
                </a:solidFill>
                <a:latin typeface="Calibri"/>
                <a:ea typeface="Calibri"/>
                <a:cs typeface="Calibri"/>
                <a:sym typeface="Calibri"/>
              </a:rPr>
              <a:t>ε</a:t>
            </a:r>
            <a:endParaRPr sz="1450">
              <a:solidFill>
                <a:schemeClr val="dk1"/>
              </a:solidFill>
              <a:latin typeface="Calibri"/>
              <a:ea typeface="Calibri"/>
              <a:cs typeface="Calibri"/>
              <a:sym typeface="Calibri"/>
            </a:endParaRPr>
          </a:p>
        </p:txBody>
      </p:sp>
      <p:sp>
        <p:nvSpPr>
          <p:cNvPr id="215" name="Google Shape;215;p17"/>
          <p:cNvSpPr txBox="1"/>
          <p:nvPr/>
        </p:nvSpPr>
        <p:spPr>
          <a:xfrm>
            <a:off x="4773167" y="4578095"/>
            <a:ext cx="747395" cy="3225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950">
                <a:solidFill>
                  <a:schemeClr val="dk1"/>
                </a:solidFill>
                <a:latin typeface="Calibri"/>
                <a:ea typeface="Calibri"/>
                <a:cs typeface="Calibri"/>
                <a:sym typeface="Calibri"/>
              </a:rPr>
              <a:t>For a/b</a:t>
            </a:r>
            <a:endParaRPr sz="1950">
              <a:solidFill>
                <a:schemeClr val="dk1"/>
              </a:solidFill>
              <a:latin typeface="Calibri"/>
              <a:ea typeface="Calibri"/>
              <a:cs typeface="Calibri"/>
              <a:sym typeface="Calibri"/>
            </a:endParaRPr>
          </a:p>
        </p:txBody>
      </p:sp>
      <p:sp>
        <p:nvSpPr>
          <p:cNvPr id="216" name="Google Shape;216;p17"/>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Shape 220"/>
        <p:cNvGrpSpPr/>
        <p:nvPr/>
      </p:nvGrpSpPr>
      <p:grpSpPr>
        <a:xfrm>
          <a:off x="0" y="0"/>
          <a:ext cx="0" cy="0"/>
          <a:chOff x="0" y="0"/>
          <a:chExt cx="0" cy="0"/>
        </a:xfrm>
      </p:grpSpPr>
      <p:sp>
        <p:nvSpPr>
          <p:cNvPr id="221" name="Google Shape;221;p18"/>
          <p:cNvSpPr txBox="1">
            <a:spLocks noGrp="1"/>
          </p:cNvSpPr>
          <p:nvPr>
            <p:ph type="title"/>
          </p:nvPr>
        </p:nvSpPr>
        <p:spPr>
          <a:xfrm>
            <a:off x="743458" y="1967229"/>
            <a:ext cx="1198880" cy="3759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300"/>
              <a:t>For (a/b)*</a:t>
            </a:r>
            <a:endParaRPr sz="2300"/>
          </a:p>
        </p:txBody>
      </p:sp>
      <p:pic>
        <p:nvPicPr>
          <p:cNvPr id="222" name="Google Shape;222;p18"/>
          <p:cNvPicPr preferRelativeResize="0"/>
          <p:nvPr/>
        </p:nvPicPr>
        <p:blipFill rotWithShape="1">
          <a:blip r:embed="rId3">
            <a:alphaModFix/>
          </a:blip>
          <a:srcRect/>
          <a:stretch/>
        </p:blipFill>
        <p:spPr>
          <a:xfrm>
            <a:off x="1182624" y="2897123"/>
            <a:ext cx="6754368" cy="2731008"/>
          </a:xfrm>
          <a:prstGeom prst="rect">
            <a:avLst/>
          </a:prstGeom>
          <a:noFill/>
          <a:ln>
            <a:noFill/>
          </a:ln>
        </p:spPr>
      </p:pic>
      <p:sp>
        <p:nvSpPr>
          <p:cNvPr id="223" name="Google Shape;223;p18"/>
          <p:cNvSpPr txBox="1"/>
          <p:nvPr/>
        </p:nvSpPr>
        <p:spPr>
          <a:xfrm>
            <a:off x="3630167" y="4478527"/>
            <a:ext cx="119380" cy="247015"/>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None/>
            </a:pPr>
            <a:r>
              <a:rPr lang="en-US" sz="1450">
                <a:solidFill>
                  <a:srgbClr val="FFFFFF"/>
                </a:solidFill>
                <a:latin typeface="Calibri"/>
                <a:ea typeface="Calibri"/>
                <a:cs typeface="Calibri"/>
                <a:sym typeface="Calibri"/>
              </a:rPr>
              <a:t>4</a:t>
            </a:r>
            <a:endParaRPr sz="1450">
              <a:solidFill>
                <a:schemeClr val="dk1"/>
              </a:solidFill>
              <a:latin typeface="Calibri"/>
              <a:ea typeface="Calibri"/>
              <a:cs typeface="Calibri"/>
              <a:sym typeface="Calibri"/>
            </a:endParaRPr>
          </a:p>
        </p:txBody>
      </p:sp>
      <p:sp>
        <p:nvSpPr>
          <p:cNvPr id="224" name="Google Shape;224;p18"/>
          <p:cNvSpPr txBox="1"/>
          <p:nvPr/>
        </p:nvSpPr>
        <p:spPr>
          <a:xfrm>
            <a:off x="5166614" y="4509261"/>
            <a:ext cx="119380"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rgbClr val="FFFFFF"/>
                </a:solidFill>
                <a:latin typeface="Calibri"/>
                <a:ea typeface="Calibri"/>
                <a:cs typeface="Calibri"/>
                <a:sym typeface="Calibri"/>
              </a:rPr>
              <a:t>5</a:t>
            </a:r>
            <a:endParaRPr sz="1450">
              <a:solidFill>
                <a:schemeClr val="dk1"/>
              </a:solidFill>
              <a:latin typeface="Calibri"/>
              <a:ea typeface="Calibri"/>
              <a:cs typeface="Calibri"/>
              <a:sym typeface="Calibri"/>
            </a:endParaRPr>
          </a:p>
        </p:txBody>
      </p:sp>
      <p:sp>
        <p:nvSpPr>
          <p:cNvPr id="225" name="Google Shape;225;p18"/>
          <p:cNvSpPr txBox="1"/>
          <p:nvPr/>
        </p:nvSpPr>
        <p:spPr>
          <a:xfrm>
            <a:off x="3630167" y="3460750"/>
            <a:ext cx="119380"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rgbClr val="FFFFFF"/>
                </a:solidFill>
                <a:latin typeface="Calibri"/>
                <a:ea typeface="Calibri"/>
                <a:cs typeface="Calibri"/>
                <a:sym typeface="Calibri"/>
              </a:rPr>
              <a:t>2</a:t>
            </a:r>
            <a:endParaRPr sz="1450">
              <a:solidFill>
                <a:schemeClr val="dk1"/>
              </a:solidFill>
              <a:latin typeface="Calibri"/>
              <a:ea typeface="Calibri"/>
              <a:cs typeface="Calibri"/>
              <a:sym typeface="Calibri"/>
            </a:endParaRPr>
          </a:p>
        </p:txBody>
      </p:sp>
      <p:sp>
        <p:nvSpPr>
          <p:cNvPr id="226" name="Google Shape;226;p18"/>
          <p:cNvSpPr txBox="1"/>
          <p:nvPr/>
        </p:nvSpPr>
        <p:spPr>
          <a:xfrm>
            <a:off x="5166614" y="3460750"/>
            <a:ext cx="119380"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rgbClr val="FFFFFF"/>
                </a:solidFill>
                <a:latin typeface="Calibri"/>
                <a:ea typeface="Calibri"/>
                <a:cs typeface="Calibri"/>
                <a:sym typeface="Calibri"/>
              </a:rPr>
              <a:t>3</a:t>
            </a:r>
            <a:endParaRPr sz="1450">
              <a:solidFill>
                <a:schemeClr val="dk1"/>
              </a:solidFill>
              <a:latin typeface="Calibri"/>
              <a:ea typeface="Calibri"/>
              <a:cs typeface="Calibri"/>
              <a:sym typeface="Calibri"/>
            </a:endParaRPr>
          </a:p>
        </p:txBody>
      </p:sp>
      <p:sp>
        <p:nvSpPr>
          <p:cNvPr id="227" name="Google Shape;227;p18"/>
          <p:cNvSpPr txBox="1"/>
          <p:nvPr/>
        </p:nvSpPr>
        <p:spPr>
          <a:xfrm>
            <a:off x="2397251" y="4042917"/>
            <a:ext cx="119380"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rgbClr val="FFFFFF"/>
                </a:solidFill>
                <a:latin typeface="Calibri"/>
                <a:ea typeface="Calibri"/>
                <a:cs typeface="Calibri"/>
                <a:sym typeface="Calibri"/>
              </a:rPr>
              <a:t>1</a:t>
            </a:r>
            <a:endParaRPr sz="1450">
              <a:solidFill>
                <a:schemeClr val="dk1"/>
              </a:solidFill>
              <a:latin typeface="Calibri"/>
              <a:ea typeface="Calibri"/>
              <a:cs typeface="Calibri"/>
              <a:sym typeface="Calibri"/>
            </a:endParaRPr>
          </a:p>
        </p:txBody>
      </p:sp>
      <p:sp>
        <p:nvSpPr>
          <p:cNvPr id="228" name="Google Shape;228;p18"/>
          <p:cNvSpPr txBox="1"/>
          <p:nvPr/>
        </p:nvSpPr>
        <p:spPr>
          <a:xfrm>
            <a:off x="6568693" y="4041394"/>
            <a:ext cx="119380"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rgbClr val="FFFFFF"/>
                </a:solidFill>
                <a:latin typeface="Calibri"/>
                <a:ea typeface="Calibri"/>
                <a:cs typeface="Calibri"/>
                <a:sym typeface="Calibri"/>
              </a:rPr>
              <a:t>6</a:t>
            </a:r>
            <a:endParaRPr sz="1450">
              <a:solidFill>
                <a:schemeClr val="dk1"/>
              </a:solidFill>
              <a:latin typeface="Calibri"/>
              <a:ea typeface="Calibri"/>
              <a:cs typeface="Calibri"/>
              <a:sym typeface="Calibri"/>
            </a:endParaRPr>
          </a:p>
        </p:txBody>
      </p:sp>
      <p:sp>
        <p:nvSpPr>
          <p:cNvPr id="229" name="Google Shape;229;p18"/>
          <p:cNvSpPr txBox="1"/>
          <p:nvPr/>
        </p:nvSpPr>
        <p:spPr>
          <a:xfrm>
            <a:off x="4276344" y="4660138"/>
            <a:ext cx="122555"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chemeClr val="dk1"/>
                </a:solidFill>
                <a:latin typeface="Calibri"/>
                <a:ea typeface="Calibri"/>
                <a:cs typeface="Calibri"/>
                <a:sym typeface="Calibri"/>
              </a:rPr>
              <a:t>b</a:t>
            </a:r>
            <a:endParaRPr sz="1450">
              <a:solidFill>
                <a:schemeClr val="dk1"/>
              </a:solidFill>
              <a:latin typeface="Calibri"/>
              <a:ea typeface="Calibri"/>
              <a:cs typeface="Calibri"/>
              <a:sym typeface="Calibri"/>
            </a:endParaRPr>
          </a:p>
        </p:txBody>
      </p:sp>
      <p:sp>
        <p:nvSpPr>
          <p:cNvPr id="230" name="Google Shape;230;p18"/>
          <p:cNvSpPr txBox="1"/>
          <p:nvPr/>
        </p:nvSpPr>
        <p:spPr>
          <a:xfrm>
            <a:off x="2790444" y="3491230"/>
            <a:ext cx="109855"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chemeClr val="dk1"/>
                </a:solidFill>
                <a:latin typeface="Calibri"/>
                <a:ea typeface="Calibri"/>
                <a:cs typeface="Calibri"/>
                <a:sym typeface="Calibri"/>
              </a:rPr>
              <a:t>ε</a:t>
            </a:r>
            <a:endParaRPr sz="1450">
              <a:solidFill>
                <a:schemeClr val="dk1"/>
              </a:solidFill>
              <a:latin typeface="Calibri"/>
              <a:ea typeface="Calibri"/>
              <a:cs typeface="Calibri"/>
              <a:sym typeface="Calibri"/>
            </a:endParaRPr>
          </a:p>
        </p:txBody>
      </p:sp>
      <p:sp>
        <p:nvSpPr>
          <p:cNvPr id="231" name="Google Shape;231;p18"/>
          <p:cNvSpPr txBox="1"/>
          <p:nvPr/>
        </p:nvSpPr>
        <p:spPr>
          <a:xfrm>
            <a:off x="3017520" y="4628134"/>
            <a:ext cx="109855"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chemeClr val="dk1"/>
                </a:solidFill>
                <a:latin typeface="Calibri"/>
                <a:ea typeface="Calibri"/>
                <a:cs typeface="Calibri"/>
                <a:sym typeface="Calibri"/>
              </a:rPr>
              <a:t>ε</a:t>
            </a:r>
            <a:endParaRPr sz="1450">
              <a:solidFill>
                <a:schemeClr val="dk1"/>
              </a:solidFill>
              <a:latin typeface="Calibri"/>
              <a:ea typeface="Calibri"/>
              <a:cs typeface="Calibri"/>
              <a:sym typeface="Calibri"/>
            </a:endParaRPr>
          </a:p>
        </p:txBody>
      </p:sp>
      <p:sp>
        <p:nvSpPr>
          <p:cNvPr id="232" name="Google Shape;232;p18"/>
          <p:cNvSpPr txBox="1"/>
          <p:nvPr/>
        </p:nvSpPr>
        <p:spPr>
          <a:xfrm>
            <a:off x="5882640" y="4513834"/>
            <a:ext cx="109855"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chemeClr val="dk1"/>
                </a:solidFill>
                <a:latin typeface="Calibri"/>
                <a:ea typeface="Calibri"/>
                <a:cs typeface="Calibri"/>
                <a:sym typeface="Calibri"/>
              </a:rPr>
              <a:t>ε</a:t>
            </a:r>
            <a:endParaRPr sz="1450">
              <a:solidFill>
                <a:schemeClr val="dk1"/>
              </a:solidFill>
              <a:latin typeface="Calibri"/>
              <a:ea typeface="Calibri"/>
              <a:cs typeface="Calibri"/>
              <a:sym typeface="Calibri"/>
            </a:endParaRPr>
          </a:p>
        </p:txBody>
      </p:sp>
      <p:sp>
        <p:nvSpPr>
          <p:cNvPr id="233" name="Google Shape;233;p18"/>
          <p:cNvSpPr txBox="1"/>
          <p:nvPr/>
        </p:nvSpPr>
        <p:spPr>
          <a:xfrm>
            <a:off x="6041390" y="3477514"/>
            <a:ext cx="109855"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chemeClr val="dk1"/>
                </a:solidFill>
                <a:latin typeface="Calibri"/>
                <a:ea typeface="Calibri"/>
                <a:cs typeface="Calibri"/>
                <a:sym typeface="Calibri"/>
              </a:rPr>
              <a:t>ε</a:t>
            </a:r>
            <a:endParaRPr sz="1450">
              <a:solidFill>
                <a:schemeClr val="dk1"/>
              </a:solidFill>
              <a:latin typeface="Calibri"/>
              <a:ea typeface="Calibri"/>
              <a:cs typeface="Calibri"/>
              <a:sym typeface="Calibri"/>
            </a:endParaRPr>
          </a:p>
        </p:txBody>
      </p:sp>
      <p:sp>
        <p:nvSpPr>
          <p:cNvPr id="234" name="Google Shape;234;p18"/>
          <p:cNvSpPr txBox="1"/>
          <p:nvPr/>
        </p:nvSpPr>
        <p:spPr>
          <a:xfrm>
            <a:off x="1455166" y="4041394"/>
            <a:ext cx="119380"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rgbClr val="FFFFFF"/>
                </a:solidFill>
                <a:latin typeface="Calibri"/>
                <a:ea typeface="Calibri"/>
                <a:cs typeface="Calibri"/>
                <a:sym typeface="Calibri"/>
              </a:rPr>
              <a:t>0</a:t>
            </a:r>
            <a:endParaRPr sz="1450">
              <a:solidFill>
                <a:schemeClr val="dk1"/>
              </a:solidFill>
              <a:latin typeface="Calibri"/>
              <a:ea typeface="Calibri"/>
              <a:cs typeface="Calibri"/>
              <a:sym typeface="Calibri"/>
            </a:endParaRPr>
          </a:p>
        </p:txBody>
      </p:sp>
      <p:sp>
        <p:nvSpPr>
          <p:cNvPr id="235" name="Google Shape;235;p18"/>
          <p:cNvSpPr txBox="1"/>
          <p:nvPr/>
        </p:nvSpPr>
        <p:spPr>
          <a:xfrm>
            <a:off x="7542530" y="3974338"/>
            <a:ext cx="119380"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rgbClr val="FFFFFF"/>
                </a:solidFill>
                <a:latin typeface="Calibri"/>
                <a:ea typeface="Calibri"/>
                <a:cs typeface="Calibri"/>
                <a:sym typeface="Calibri"/>
              </a:rPr>
              <a:t>7</a:t>
            </a:r>
            <a:endParaRPr sz="1450">
              <a:solidFill>
                <a:schemeClr val="dk1"/>
              </a:solidFill>
              <a:latin typeface="Calibri"/>
              <a:ea typeface="Calibri"/>
              <a:cs typeface="Calibri"/>
              <a:sym typeface="Calibri"/>
            </a:endParaRPr>
          </a:p>
        </p:txBody>
      </p:sp>
      <p:sp>
        <p:nvSpPr>
          <p:cNvPr id="236" name="Google Shape;236;p18"/>
          <p:cNvSpPr txBox="1"/>
          <p:nvPr/>
        </p:nvSpPr>
        <p:spPr>
          <a:xfrm>
            <a:off x="7027418" y="3902710"/>
            <a:ext cx="109855"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chemeClr val="dk1"/>
                </a:solidFill>
                <a:latin typeface="Calibri"/>
                <a:ea typeface="Calibri"/>
                <a:cs typeface="Calibri"/>
                <a:sym typeface="Calibri"/>
              </a:rPr>
              <a:t>ε</a:t>
            </a:r>
            <a:endParaRPr sz="1450">
              <a:solidFill>
                <a:schemeClr val="dk1"/>
              </a:solidFill>
              <a:latin typeface="Calibri"/>
              <a:ea typeface="Calibri"/>
              <a:cs typeface="Calibri"/>
              <a:sym typeface="Calibri"/>
            </a:endParaRPr>
          </a:p>
        </p:txBody>
      </p:sp>
      <p:sp>
        <p:nvSpPr>
          <p:cNvPr id="237" name="Google Shape;237;p18"/>
          <p:cNvSpPr txBox="1"/>
          <p:nvPr/>
        </p:nvSpPr>
        <p:spPr>
          <a:xfrm>
            <a:off x="1891283" y="3896614"/>
            <a:ext cx="109855"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chemeClr val="dk1"/>
                </a:solidFill>
                <a:latin typeface="Calibri"/>
                <a:ea typeface="Calibri"/>
                <a:cs typeface="Calibri"/>
                <a:sym typeface="Calibri"/>
              </a:rPr>
              <a:t>ε</a:t>
            </a:r>
            <a:endParaRPr sz="1450">
              <a:solidFill>
                <a:schemeClr val="dk1"/>
              </a:solidFill>
              <a:latin typeface="Calibri"/>
              <a:ea typeface="Calibri"/>
              <a:cs typeface="Calibri"/>
              <a:sym typeface="Calibri"/>
            </a:endParaRPr>
          </a:p>
        </p:txBody>
      </p:sp>
      <p:sp>
        <p:nvSpPr>
          <p:cNvPr id="238" name="Google Shape;238;p18"/>
          <p:cNvSpPr txBox="1"/>
          <p:nvPr/>
        </p:nvSpPr>
        <p:spPr>
          <a:xfrm>
            <a:off x="4195571" y="5576316"/>
            <a:ext cx="109855"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chemeClr val="dk1"/>
                </a:solidFill>
                <a:latin typeface="Calibri"/>
                <a:ea typeface="Calibri"/>
                <a:cs typeface="Calibri"/>
                <a:sym typeface="Calibri"/>
              </a:rPr>
              <a:t>ε</a:t>
            </a:r>
            <a:endParaRPr sz="1450">
              <a:solidFill>
                <a:schemeClr val="dk1"/>
              </a:solidFill>
              <a:latin typeface="Calibri"/>
              <a:ea typeface="Calibri"/>
              <a:cs typeface="Calibri"/>
              <a:sym typeface="Calibri"/>
            </a:endParaRPr>
          </a:p>
        </p:txBody>
      </p:sp>
      <p:sp>
        <p:nvSpPr>
          <p:cNvPr id="239" name="Google Shape;239;p18"/>
          <p:cNvSpPr txBox="1"/>
          <p:nvPr/>
        </p:nvSpPr>
        <p:spPr>
          <a:xfrm>
            <a:off x="4376928" y="2625598"/>
            <a:ext cx="232410" cy="894715"/>
          </a:xfrm>
          <a:prstGeom prst="rect">
            <a:avLst/>
          </a:prstGeom>
          <a:noFill/>
          <a:ln>
            <a:noFill/>
          </a:ln>
        </p:spPr>
        <p:txBody>
          <a:bodyPr spcFirstLastPara="1" wrap="square" lIns="0" tIns="12700" rIns="0" bIns="0" anchor="t" anchorCtr="0">
            <a:spAutoFit/>
          </a:bodyPr>
          <a:lstStyle/>
          <a:p>
            <a:pPr marL="135255" marR="0" lvl="0" indent="0" algn="l" rtl="0">
              <a:lnSpc>
                <a:spcPct val="100000"/>
              </a:lnSpc>
              <a:spcBef>
                <a:spcPts val="0"/>
              </a:spcBef>
              <a:spcAft>
                <a:spcPts val="0"/>
              </a:spcAft>
              <a:buNone/>
            </a:pPr>
            <a:r>
              <a:rPr lang="en-US" sz="1450">
                <a:solidFill>
                  <a:schemeClr val="dk1"/>
                </a:solidFill>
                <a:latin typeface="Calibri"/>
                <a:ea typeface="Calibri"/>
                <a:cs typeface="Calibri"/>
                <a:sym typeface="Calibri"/>
              </a:rPr>
              <a:t>ε</a:t>
            </a:r>
            <a:endParaRPr sz="145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1400">
              <a:solidFill>
                <a:schemeClr val="dk1"/>
              </a:solidFill>
              <a:latin typeface="Calibri"/>
              <a:ea typeface="Calibri"/>
              <a:cs typeface="Calibri"/>
              <a:sym typeface="Calibri"/>
            </a:endParaRPr>
          </a:p>
          <a:p>
            <a:pPr marL="0" marR="0" lvl="0" indent="0" algn="l" rtl="0">
              <a:lnSpc>
                <a:spcPct val="100000"/>
              </a:lnSpc>
              <a:spcBef>
                <a:spcPts val="5"/>
              </a:spcBef>
              <a:spcAft>
                <a:spcPts val="0"/>
              </a:spcAft>
              <a:buNone/>
            </a:pPr>
            <a:endParaRPr sz="1350">
              <a:solidFill>
                <a:schemeClr val="dk1"/>
              </a:solidFill>
              <a:latin typeface="Calibri"/>
              <a:ea typeface="Calibri"/>
              <a:cs typeface="Calibri"/>
              <a:sym typeface="Calibri"/>
            </a:endParaRPr>
          </a:p>
          <a:p>
            <a:pPr marL="12700" marR="0" lvl="0" indent="0" algn="l" rtl="0">
              <a:lnSpc>
                <a:spcPct val="100000"/>
              </a:lnSpc>
              <a:spcBef>
                <a:spcPts val="0"/>
              </a:spcBef>
              <a:spcAft>
                <a:spcPts val="0"/>
              </a:spcAft>
              <a:buNone/>
            </a:pPr>
            <a:r>
              <a:rPr lang="en-US" sz="1450">
                <a:solidFill>
                  <a:schemeClr val="dk1"/>
                </a:solidFill>
                <a:latin typeface="Calibri"/>
                <a:ea typeface="Calibri"/>
                <a:cs typeface="Calibri"/>
                <a:sym typeface="Calibri"/>
              </a:rPr>
              <a:t>a</a:t>
            </a:r>
            <a:endParaRPr sz="1450">
              <a:solidFill>
                <a:schemeClr val="dk1"/>
              </a:solidFill>
              <a:latin typeface="Calibri"/>
              <a:ea typeface="Calibri"/>
              <a:cs typeface="Calibri"/>
              <a:sym typeface="Calibri"/>
            </a:endParaRPr>
          </a:p>
        </p:txBody>
      </p:sp>
      <p:sp>
        <p:nvSpPr>
          <p:cNvPr id="240" name="Google Shape;240;p18"/>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Shape 244"/>
        <p:cNvGrpSpPr/>
        <p:nvPr/>
      </p:nvGrpSpPr>
      <p:grpSpPr>
        <a:xfrm>
          <a:off x="0" y="0"/>
          <a:ext cx="0" cy="0"/>
          <a:chOff x="0" y="0"/>
          <a:chExt cx="0" cy="0"/>
        </a:xfrm>
      </p:grpSpPr>
      <p:sp>
        <p:nvSpPr>
          <p:cNvPr id="245" name="Google Shape;245;p19"/>
          <p:cNvSpPr txBox="1">
            <a:spLocks noGrp="1"/>
          </p:cNvSpPr>
          <p:nvPr>
            <p:ph type="title"/>
          </p:nvPr>
        </p:nvSpPr>
        <p:spPr>
          <a:xfrm>
            <a:off x="754126" y="1534414"/>
            <a:ext cx="1176655" cy="5740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600"/>
              <a:t>ababb</a:t>
            </a:r>
            <a:endParaRPr sz="3600"/>
          </a:p>
        </p:txBody>
      </p:sp>
      <p:pic>
        <p:nvPicPr>
          <p:cNvPr id="246" name="Google Shape;246;p19"/>
          <p:cNvPicPr preferRelativeResize="0"/>
          <p:nvPr/>
        </p:nvPicPr>
        <p:blipFill rotWithShape="1">
          <a:blip r:embed="rId3">
            <a:alphaModFix/>
          </a:blip>
          <a:srcRect/>
          <a:stretch/>
        </p:blipFill>
        <p:spPr>
          <a:xfrm>
            <a:off x="358140" y="2627376"/>
            <a:ext cx="9625584" cy="2753868"/>
          </a:xfrm>
          <a:prstGeom prst="rect">
            <a:avLst/>
          </a:prstGeom>
          <a:noFill/>
          <a:ln>
            <a:noFill/>
          </a:ln>
        </p:spPr>
      </p:pic>
      <p:sp>
        <p:nvSpPr>
          <p:cNvPr id="247" name="Google Shape;247;p19"/>
          <p:cNvSpPr txBox="1"/>
          <p:nvPr/>
        </p:nvSpPr>
        <p:spPr>
          <a:xfrm>
            <a:off x="2805683" y="4209034"/>
            <a:ext cx="119380"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rgbClr val="FFFFFF"/>
                </a:solidFill>
                <a:latin typeface="Calibri"/>
                <a:ea typeface="Calibri"/>
                <a:cs typeface="Calibri"/>
                <a:sym typeface="Calibri"/>
              </a:rPr>
              <a:t>4</a:t>
            </a:r>
            <a:endParaRPr sz="1450">
              <a:solidFill>
                <a:schemeClr val="dk1"/>
              </a:solidFill>
              <a:latin typeface="Calibri"/>
              <a:ea typeface="Calibri"/>
              <a:cs typeface="Calibri"/>
              <a:sym typeface="Calibri"/>
            </a:endParaRPr>
          </a:p>
        </p:txBody>
      </p:sp>
      <p:sp>
        <p:nvSpPr>
          <p:cNvPr id="248" name="Google Shape;248;p19"/>
          <p:cNvSpPr txBox="1"/>
          <p:nvPr/>
        </p:nvSpPr>
        <p:spPr>
          <a:xfrm>
            <a:off x="4341876" y="4239514"/>
            <a:ext cx="119380"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rgbClr val="FFFFFF"/>
                </a:solidFill>
                <a:latin typeface="Calibri"/>
                <a:ea typeface="Calibri"/>
                <a:cs typeface="Calibri"/>
                <a:sym typeface="Calibri"/>
              </a:rPr>
              <a:t>5</a:t>
            </a:r>
            <a:endParaRPr sz="1450">
              <a:solidFill>
                <a:schemeClr val="dk1"/>
              </a:solidFill>
              <a:latin typeface="Calibri"/>
              <a:ea typeface="Calibri"/>
              <a:cs typeface="Calibri"/>
              <a:sym typeface="Calibri"/>
            </a:endParaRPr>
          </a:p>
        </p:txBody>
      </p:sp>
      <p:sp>
        <p:nvSpPr>
          <p:cNvPr id="249" name="Google Shape;249;p19"/>
          <p:cNvSpPr txBox="1"/>
          <p:nvPr/>
        </p:nvSpPr>
        <p:spPr>
          <a:xfrm>
            <a:off x="2805683" y="3191001"/>
            <a:ext cx="119380"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rgbClr val="FFFFFF"/>
                </a:solidFill>
                <a:latin typeface="Calibri"/>
                <a:ea typeface="Calibri"/>
                <a:cs typeface="Calibri"/>
                <a:sym typeface="Calibri"/>
              </a:rPr>
              <a:t>2</a:t>
            </a:r>
            <a:endParaRPr sz="1450">
              <a:solidFill>
                <a:schemeClr val="dk1"/>
              </a:solidFill>
              <a:latin typeface="Calibri"/>
              <a:ea typeface="Calibri"/>
              <a:cs typeface="Calibri"/>
              <a:sym typeface="Calibri"/>
            </a:endParaRPr>
          </a:p>
        </p:txBody>
      </p:sp>
      <p:sp>
        <p:nvSpPr>
          <p:cNvPr id="250" name="Google Shape;250;p19"/>
          <p:cNvSpPr txBox="1"/>
          <p:nvPr/>
        </p:nvSpPr>
        <p:spPr>
          <a:xfrm>
            <a:off x="4341876" y="3191001"/>
            <a:ext cx="119380"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rgbClr val="FFFFFF"/>
                </a:solidFill>
                <a:latin typeface="Calibri"/>
                <a:ea typeface="Calibri"/>
                <a:cs typeface="Calibri"/>
                <a:sym typeface="Calibri"/>
              </a:rPr>
              <a:t>3</a:t>
            </a:r>
            <a:endParaRPr sz="1450">
              <a:solidFill>
                <a:schemeClr val="dk1"/>
              </a:solidFill>
              <a:latin typeface="Calibri"/>
              <a:ea typeface="Calibri"/>
              <a:cs typeface="Calibri"/>
              <a:sym typeface="Calibri"/>
            </a:endParaRPr>
          </a:p>
        </p:txBody>
      </p:sp>
      <p:sp>
        <p:nvSpPr>
          <p:cNvPr id="251" name="Google Shape;251;p19"/>
          <p:cNvSpPr txBox="1"/>
          <p:nvPr/>
        </p:nvSpPr>
        <p:spPr>
          <a:xfrm>
            <a:off x="1570989" y="3773170"/>
            <a:ext cx="119380"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rgbClr val="FFFFFF"/>
                </a:solidFill>
                <a:latin typeface="Calibri"/>
                <a:ea typeface="Calibri"/>
                <a:cs typeface="Calibri"/>
                <a:sym typeface="Calibri"/>
              </a:rPr>
              <a:t>1</a:t>
            </a:r>
            <a:endParaRPr sz="1450">
              <a:solidFill>
                <a:schemeClr val="dk1"/>
              </a:solidFill>
              <a:latin typeface="Calibri"/>
              <a:ea typeface="Calibri"/>
              <a:cs typeface="Calibri"/>
              <a:sym typeface="Calibri"/>
            </a:endParaRPr>
          </a:p>
        </p:txBody>
      </p:sp>
      <p:sp>
        <p:nvSpPr>
          <p:cNvPr id="252" name="Google Shape;252;p19"/>
          <p:cNvSpPr txBox="1"/>
          <p:nvPr/>
        </p:nvSpPr>
        <p:spPr>
          <a:xfrm>
            <a:off x="5744209" y="3771646"/>
            <a:ext cx="119380"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rgbClr val="FFFFFF"/>
                </a:solidFill>
                <a:latin typeface="Calibri"/>
                <a:ea typeface="Calibri"/>
                <a:cs typeface="Calibri"/>
                <a:sym typeface="Calibri"/>
              </a:rPr>
              <a:t>6</a:t>
            </a:r>
            <a:endParaRPr sz="1450">
              <a:solidFill>
                <a:schemeClr val="dk1"/>
              </a:solidFill>
              <a:latin typeface="Calibri"/>
              <a:ea typeface="Calibri"/>
              <a:cs typeface="Calibri"/>
              <a:sym typeface="Calibri"/>
            </a:endParaRPr>
          </a:p>
        </p:txBody>
      </p:sp>
      <p:sp>
        <p:nvSpPr>
          <p:cNvPr id="253" name="Google Shape;253;p19"/>
          <p:cNvSpPr txBox="1"/>
          <p:nvPr/>
        </p:nvSpPr>
        <p:spPr>
          <a:xfrm>
            <a:off x="3552444" y="2625598"/>
            <a:ext cx="1064260" cy="633095"/>
          </a:xfrm>
          <a:prstGeom prst="rect">
            <a:avLst/>
          </a:prstGeom>
          <a:noFill/>
          <a:ln>
            <a:noFill/>
          </a:ln>
        </p:spPr>
        <p:txBody>
          <a:bodyPr spcFirstLastPara="1" wrap="square" lIns="0" tIns="12700" rIns="0" bIns="0" anchor="t" anchorCtr="0">
            <a:spAutoFit/>
          </a:bodyPr>
          <a:lstStyle/>
          <a:p>
            <a:pPr marL="0" marR="5080" lvl="0" indent="0" algn="r" rtl="0">
              <a:lnSpc>
                <a:spcPct val="100000"/>
              </a:lnSpc>
              <a:spcBef>
                <a:spcPts val="0"/>
              </a:spcBef>
              <a:spcAft>
                <a:spcPts val="0"/>
              </a:spcAft>
              <a:buNone/>
            </a:pPr>
            <a:r>
              <a:rPr lang="en-US" sz="1450">
                <a:solidFill>
                  <a:schemeClr val="dk1"/>
                </a:solidFill>
                <a:latin typeface="Calibri"/>
                <a:ea typeface="Calibri"/>
                <a:cs typeface="Calibri"/>
                <a:sym typeface="Calibri"/>
              </a:rPr>
              <a:t>ε</a:t>
            </a:r>
            <a:endParaRPr sz="1450">
              <a:solidFill>
                <a:schemeClr val="dk1"/>
              </a:solidFill>
              <a:latin typeface="Calibri"/>
              <a:ea typeface="Calibri"/>
              <a:cs typeface="Calibri"/>
              <a:sym typeface="Calibri"/>
            </a:endParaRPr>
          </a:p>
          <a:p>
            <a:pPr marL="0" marR="0" lvl="0" indent="0" algn="l" rtl="0">
              <a:lnSpc>
                <a:spcPct val="100000"/>
              </a:lnSpc>
              <a:spcBef>
                <a:spcPts val="20"/>
              </a:spcBef>
              <a:spcAft>
                <a:spcPts val="0"/>
              </a:spcAft>
              <a:buNone/>
            </a:pPr>
            <a:endParaRPr sz="1050">
              <a:solidFill>
                <a:schemeClr val="dk1"/>
              </a:solidFill>
              <a:latin typeface="Calibri"/>
              <a:ea typeface="Calibri"/>
              <a:cs typeface="Calibri"/>
              <a:sym typeface="Calibri"/>
            </a:endParaRPr>
          </a:p>
          <a:p>
            <a:pPr marL="12700" marR="0" lvl="0" indent="0" algn="l" rtl="0">
              <a:lnSpc>
                <a:spcPct val="100000"/>
              </a:lnSpc>
              <a:spcBef>
                <a:spcPts val="0"/>
              </a:spcBef>
              <a:spcAft>
                <a:spcPts val="0"/>
              </a:spcAft>
              <a:buNone/>
            </a:pPr>
            <a:r>
              <a:rPr lang="en-US" sz="1450">
                <a:solidFill>
                  <a:schemeClr val="dk1"/>
                </a:solidFill>
                <a:latin typeface="Calibri"/>
                <a:ea typeface="Calibri"/>
                <a:cs typeface="Calibri"/>
                <a:sym typeface="Calibri"/>
              </a:rPr>
              <a:t>a</a:t>
            </a:r>
            <a:endParaRPr sz="1450">
              <a:solidFill>
                <a:schemeClr val="dk1"/>
              </a:solidFill>
              <a:latin typeface="Calibri"/>
              <a:ea typeface="Calibri"/>
              <a:cs typeface="Calibri"/>
              <a:sym typeface="Calibri"/>
            </a:endParaRPr>
          </a:p>
        </p:txBody>
      </p:sp>
      <p:sp>
        <p:nvSpPr>
          <p:cNvPr id="254" name="Google Shape;254;p19"/>
          <p:cNvSpPr txBox="1"/>
          <p:nvPr/>
        </p:nvSpPr>
        <p:spPr>
          <a:xfrm>
            <a:off x="3451859" y="4390390"/>
            <a:ext cx="122555"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chemeClr val="dk1"/>
                </a:solidFill>
                <a:latin typeface="Calibri"/>
                <a:ea typeface="Calibri"/>
                <a:cs typeface="Calibri"/>
                <a:sym typeface="Calibri"/>
              </a:rPr>
              <a:t>b</a:t>
            </a:r>
            <a:endParaRPr sz="1450">
              <a:solidFill>
                <a:schemeClr val="dk1"/>
              </a:solidFill>
              <a:latin typeface="Calibri"/>
              <a:ea typeface="Calibri"/>
              <a:cs typeface="Calibri"/>
              <a:sym typeface="Calibri"/>
            </a:endParaRPr>
          </a:p>
        </p:txBody>
      </p:sp>
      <p:sp>
        <p:nvSpPr>
          <p:cNvPr id="255" name="Google Shape;255;p19"/>
          <p:cNvSpPr txBox="1"/>
          <p:nvPr/>
        </p:nvSpPr>
        <p:spPr>
          <a:xfrm>
            <a:off x="1965960" y="3223005"/>
            <a:ext cx="109855"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chemeClr val="dk1"/>
                </a:solidFill>
                <a:latin typeface="Calibri"/>
                <a:ea typeface="Calibri"/>
                <a:cs typeface="Calibri"/>
                <a:sym typeface="Calibri"/>
              </a:rPr>
              <a:t>ε</a:t>
            </a:r>
            <a:endParaRPr sz="1450">
              <a:solidFill>
                <a:schemeClr val="dk1"/>
              </a:solidFill>
              <a:latin typeface="Calibri"/>
              <a:ea typeface="Calibri"/>
              <a:cs typeface="Calibri"/>
              <a:sym typeface="Calibri"/>
            </a:endParaRPr>
          </a:p>
        </p:txBody>
      </p:sp>
      <p:sp>
        <p:nvSpPr>
          <p:cNvPr id="256" name="Google Shape;256;p19"/>
          <p:cNvSpPr txBox="1"/>
          <p:nvPr/>
        </p:nvSpPr>
        <p:spPr>
          <a:xfrm>
            <a:off x="2193035" y="4358385"/>
            <a:ext cx="109855"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chemeClr val="dk1"/>
                </a:solidFill>
                <a:latin typeface="Calibri"/>
                <a:ea typeface="Calibri"/>
                <a:cs typeface="Calibri"/>
                <a:sym typeface="Calibri"/>
              </a:rPr>
              <a:t>ε</a:t>
            </a:r>
            <a:endParaRPr sz="1450">
              <a:solidFill>
                <a:schemeClr val="dk1"/>
              </a:solidFill>
              <a:latin typeface="Calibri"/>
              <a:ea typeface="Calibri"/>
              <a:cs typeface="Calibri"/>
              <a:sym typeface="Calibri"/>
            </a:endParaRPr>
          </a:p>
        </p:txBody>
      </p:sp>
      <p:sp>
        <p:nvSpPr>
          <p:cNvPr id="257" name="Google Shape;257;p19"/>
          <p:cNvSpPr txBox="1"/>
          <p:nvPr/>
        </p:nvSpPr>
        <p:spPr>
          <a:xfrm>
            <a:off x="5058155" y="4244086"/>
            <a:ext cx="109855"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chemeClr val="dk1"/>
                </a:solidFill>
                <a:latin typeface="Calibri"/>
                <a:ea typeface="Calibri"/>
                <a:cs typeface="Calibri"/>
                <a:sym typeface="Calibri"/>
              </a:rPr>
              <a:t>ε</a:t>
            </a:r>
            <a:endParaRPr sz="1450">
              <a:solidFill>
                <a:schemeClr val="dk1"/>
              </a:solidFill>
              <a:latin typeface="Calibri"/>
              <a:ea typeface="Calibri"/>
              <a:cs typeface="Calibri"/>
              <a:sym typeface="Calibri"/>
            </a:endParaRPr>
          </a:p>
        </p:txBody>
      </p:sp>
      <p:sp>
        <p:nvSpPr>
          <p:cNvPr id="258" name="Google Shape;258;p19"/>
          <p:cNvSpPr txBox="1"/>
          <p:nvPr/>
        </p:nvSpPr>
        <p:spPr>
          <a:xfrm>
            <a:off x="5215128" y="3207766"/>
            <a:ext cx="109855"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chemeClr val="dk1"/>
                </a:solidFill>
                <a:latin typeface="Calibri"/>
                <a:ea typeface="Calibri"/>
                <a:cs typeface="Calibri"/>
                <a:sym typeface="Calibri"/>
              </a:rPr>
              <a:t>ε</a:t>
            </a:r>
            <a:endParaRPr sz="1450">
              <a:solidFill>
                <a:schemeClr val="dk1"/>
              </a:solidFill>
              <a:latin typeface="Calibri"/>
              <a:ea typeface="Calibri"/>
              <a:cs typeface="Calibri"/>
              <a:sym typeface="Calibri"/>
            </a:endParaRPr>
          </a:p>
        </p:txBody>
      </p:sp>
      <p:sp>
        <p:nvSpPr>
          <p:cNvPr id="259" name="Google Shape;259;p19"/>
          <p:cNvSpPr txBox="1"/>
          <p:nvPr/>
        </p:nvSpPr>
        <p:spPr>
          <a:xfrm>
            <a:off x="630681" y="3771646"/>
            <a:ext cx="119380"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rgbClr val="FFFFFF"/>
                </a:solidFill>
                <a:latin typeface="Calibri"/>
                <a:ea typeface="Calibri"/>
                <a:cs typeface="Calibri"/>
                <a:sym typeface="Calibri"/>
              </a:rPr>
              <a:t>0</a:t>
            </a:r>
            <a:endParaRPr sz="1450">
              <a:solidFill>
                <a:schemeClr val="dk1"/>
              </a:solidFill>
              <a:latin typeface="Calibri"/>
              <a:ea typeface="Calibri"/>
              <a:cs typeface="Calibri"/>
              <a:sym typeface="Calibri"/>
            </a:endParaRPr>
          </a:p>
        </p:txBody>
      </p:sp>
      <p:sp>
        <p:nvSpPr>
          <p:cNvPr id="260" name="Google Shape;260;p19"/>
          <p:cNvSpPr txBox="1"/>
          <p:nvPr/>
        </p:nvSpPr>
        <p:spPr>
          <a:xfrm>
            <a:off x="6718045" y="3704590"/>
            <a:ext cx="119380"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rgbClr val="FFFFFF"/>
                </a:solidFill>
                <a:latin typeface="Calibri"/>
                <a:ea typeface="Calibri"/>
                <a:cs typeface="Calibri"/>
                <a:sym typeface="Calibri"/>
              </a:rPr>
              <a:t>7</a:t>
            </a:r>
            <a:endParaRPr sz="1450">
              <a:solidFill>
                <a:schemeClr val="dk1"/>
              </a:solidFill>
              <a:latin typeface="Calibri"/>
              <a:ea typeface="Calibri"/>
              <a:cs typeface="Calibri"/>
              <a:sym typeface="Calibri"/>
            </a:endParaRPr>
          </a:p>
        </p:txBody>
      </p:sp>
      <p:sp>
        <p:nvSpPr>
          <p:cNvPr id="261" name="Google Shape;261;p19"/>
          <p:cNvSpPr txBox="1"/>
          <p:nvPr/>
        </p:nvSpPr>
        <p:spPr>
          <a:xfrm>
            <a:off x="6202934" y="3632961"/>
            <a:ext cx="109855"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chemeClr val="dk1"/>
                </a:solidFill>
                <a:latin typeface="Calibri"/>
                <a:ea typeface="Calibri"/>
                <a:cs typeface="Calibri"/>
                <a:sym typeface="Calibri"/>
              </a:rPr>
              <a:t>ε</a:t>
            </a:r>
            <a:endParaRPr sz="1450">
              <a:solidFill>
                <a:schemeClr val="dk1"/>
              </a:solidFill>
              <a:latin typeface="Calibri"/>
              <a:ea typeface="Calibri"/>
              <a:cs typeface="Calibri"/>
              <a:sym typeface="Calibri"/>
            </a:endParaRPr>
          </a:p>
        </p:txBody>
      </p:sp>
      <p:sp>
        <p:nvSpPr>
          <p:cNvPr id="262" name="Google Shape;262;p19"/>
          <p:cNvSpPr txBox="1"/>
          <p:nvPr/>
        </p:nvSpPr>
        <p:spPr>
          <a:xfrm>
            <a:off x="1066546" y="3626866"/>
            <a:ext cx="109855"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chemeClr val="dk1"/>
                </a:solidFill>
                <a:latin typeface="Calibri"/>
                <a:ea typeface="Calibri"/>
                <a:cs typeface="Calibri"/>
                <a:sym typeface="Calibri"/>
              </a:rPr>
              <a:t>ε</a:t>
            </a:r>
            <a:endParaRPr sz="1450">
              <a:solidFill>
                <a:schemeClr val="dk1"/>
              </a:solidFill>
              <a:latin typeface="Calibri"/>
              <a:ea typeface="Calibri"/>
              <a:cs typeface="Calibri"/>
              <a:sym typeface="Calibri"/>
            </a:endParaRPr>
          </a:p>
        </p:txBody>
      </p:sp>
      <p:sp>
        <p:nvSpPr>
          <p:cNvPr id="263" name="Google Shape;263;p19"/>
          <p:cNvSpPr txBox="1"/>
          <p:nvPr/>
        </p:nvSpPr>
        <p:spPr>
          <a:xfrm>
            <a:off x="3349752" y="5373623"/>
            <a:ext cx="109855"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chemeClr val="dk1"/>
                </a:solidFill>
                <a:latin typeface="Calibri"/>
                <a:ea typeface="Calibri"/>
                <a:cs typeface="Calibri"/>
                <a:sym typeface="Calibri"/>
              </a:rPr>
              <a:t>ε</a:t>
            </a:r>
            <a:endParaRPr sz="1450">
              <a:solidFill>
                <a:schemeClr val="dk1"/>
              </a:solidFill>
              <a:latin typeface="Calibri"/>
              <a:ea typeface="Calibri"/>
              <a:cs typeface="Calibri"/>
              <a:sym typeface="Calibri"/>
            </a:endParaRPr>
          </a:p>
        </p:txBody>
      </p:sp>
      <p:sp>
        <p:nvSpPr>
          <p:cNvPr id="264" name="Google Shape;264;p19"/>
          <p:cNvSpPr txBox="1"/>
          <p:nvPr/>
        </p:nvSpPr>
        <p:spPr>
          <a:xfrm>
            <a:off x="7597393" y="3773170"/>
            <a:ext cx="119380"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rgbClr val="FFFFFF"/>
                </a:solidFill>
                <a:latin typeface="Calibri"/>
                <a:ea typeface="Calibri"/>
                <a:cs typeface="Calibri"/>
                <a:sym typeface="Calibri"/>
              </a:rPr>
              <a:t>8</a:t>
            </a:r>
            <a:endParaRPr sz="1450">
              <a:solidFill>
                <a:schemeClr val="dk1"/>
              </a:solidFill>
              <a:latin typeface="Calibri"/>
              <a:ea typeface="Calibri"/>
              <a:cs typeface="Calibri"/>
              <a:sym typeface="Calibri"/>
            </a:endParaRPr>
          </a:p>
        </p:txBody>
      </p:sp>
      <p:sp>
        <p:nvSpPr>
          <p:cNvPr id="265" name="Google Shape;265;p19"/>
          <p:cNvSpPr txBox="1"/>
          <p:nvPr/>
        </p:nvSpPr>
        <p:spPr>
          <a:xfrm>
            <a:off x="8563609" y="3773170"/>
            <a:ext cx="119380"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rgbClr val="FFFFFF"/>
                </a:solidFill>
                <a:latin typeface="Calibri"/>
                <a:ea typeface="Calibri"/>
                <a:cs typeface="Calibri"/>
                <a:sym typeface="Calibri"/>
              </a:rPr>
              <a:t>9</a:t>
            </a:r>
            <a:endParaRPr sz="1450">
              <a:solidFill>
                <a:schemeClr val="dk1"/>
              </a:solidFill>
              <a:latin typeface="Calibri"/>
              <a:ea typeface="Calibri"/>
              <a:cs typeface="Calibri"/>
              <a:sym typeface="Calibri"/>
            </a:endParaRPr>
          </a:p>
        </p:txBody>
      </p:sp>
      <p:sp>
        <p:nvSpPr>
          <p:cNvPr id="266" name="Google Shape;266;p19"/>
          <p:cNvSpPr txBox="1"/>
          <p:nvPr/>
        </p:nvSpPr>
        <p:spPr>
          <a:xfrm>
            <a:off x="9539223" y="3767074"/>
            <a:ext cx="217804"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rgbClr val="FFFFFF"/>
                </a:solidFill>
                <a:latin typeface="Calibri"/>
                <a:ea typeface="Calibri"/>
                <a:cs typeface="Calibri"/>
                <a:sym typeface="Calibri"/>
              </a:rPr>
              <a:t>10</a:t>
            </a:r>
            <a:endParaRPr sz="1450">
              <a:solidFill>
                <a:schemeClr val="dk1"/>
              </a:solidFill>
              <a:latin typeface="Calibri"/>
              <a:ea typeface="Calibri"/>
              <a:cs typeface="Calibri"/>
              <a:sym typeface="Calibri"/>
            </a:endParaRPr>
          </a:p>
        </p:txBody>
      </p:sp>
      <p:sp>
        <p:nvSpPr>
          <p:cNvPr id="267" name="Google Shape;267;p19"/>
          <p:cNvSpPr txBox="1"/>
          <p:nvPr/>
        </p:nvSpPr>
        <p:spPr>
          <a:xfrm>
            <a:off x="7146290" y="3529330"/>
            <a:ext cx="114300"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chemeClr val="dk1"/>
                </a:solidFill>
                <a:latin typeface="Calibri"/>
                <a:ea typeface="Calibri"/>
                <a:cs typeface="Calibri"/>
                <a:sym typeface="Calibri"/>
              </a:rPr>
              <a:t>a</a:t>
            </a:r>
            <a:endParaRPr sz="1450">
              <a:solidFill>
                <a:schemeClr val="dk1"/>
              </a:solidFill>
              <a:latin typeface="Calibri"/>
              <a:ea typeface="Calibri"/>
              <a:cs typeface="Calibri"/>
              <a:sym typeface="Calibri"/>
            </a:endParaRPr>
          </a:p>
        </p:txBody>
      </p:sp>
      <p:sp>
        <p:nvSpPr>
          <p:cNvPr id="268" name="Google Shape;268;p19"/>
          <p:cNvSpPr txBox="1"/>
          <p:nvPr/>
        </p:nvSpPr>
        <p:spPr>
          <a:xfrm>
            <a:off x="8030464" y="3632961"/>
            <a:ext cx="122555"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chemeClr val="dk1"/>
                </a:solidFill>
                <a:latin typeface="Calibri"/>
                <a:ea typeface="Calibri"/>
                <a:cs typeface="Calibri"/>
                <a:sym typeface="Calibri"/>
              </a:rPr>
              <a:t>b</a:t>
            </a:r>
            <a:endParaRPr sz="1450">
              <a:solidFill>
                <a:schemeClr val="dk1"/>
              </a:solidFill>
              <a:latin typeface="Calibri"/>
              <a:ea typeface="Calibri"/>
              <a:cs typeface="Calibri"/>
              <a:sym typeface="Calibri"/>
            </a:endParaRPr>
          </a:p>
        </p:txBody>
      </p:sp>
      <p:sp>
        <p:nvSpPr>
          <p:cNvPr id="269" name="Google Shape;269;p19"/>
          <p:cNvSpPr txBox="1"/>
          <p:nvPr/>
        </p:nvSpPr>
        <p:spPr>
          <a:xfrm>
            <a:off x="9066783" y="3588766"/>
            <a:ext cx="122555"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chemeClr val="dk1"/>
                </a:solidFill>
                <a:latin typeface="Calibri"/>
                <a:ea typeface="Calibri"/>
                <a:cs typeface="Calibri"/>
                <a:sym typeface="Calibri"/>
              </a:rPr>
              <a:t>b</a:t>
            </a:r>
            <a:endParaRPr sz="1450">
              <a:solidFill>
                <a:schemeClr val="dk1"/>
              </a:solidFill>
              <a:latin typeface="Calibri"/>
              <a:ea typeface="Calibri"/>
              <a:cs typeface="Calibri"/>
              <a:sym typeface="Calibri"/>
            </a:endParaRPr>
          </a:p>
        </p:txBody>
      </p:sp>
      <p:sp>
        <p:nvSpPr>
          <p:cNvPr id="270" name="Google Shape;270;p19"/>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Shape 274"/>
        <p:cNvGrpSpPr/>
        <p:nvPr/>
      </p:nvGrpSpPr>
      <p:grpSpPr>
        <a:xfrm>
          <a:off x="0" y="0"/>
          <a:ext cx="0" cy="0"/>
          <a:chOff x="0" y="0"/>
          <a:chExt cx="0" cy="0"/>
        </a:xfrm>
      </p:grpSpPr>
      <p:sp>
        <p:nvSpPr>
          <p:cNvPr id="275" name="Google Shape;275;p20"/>
          <p:cNvSpPr txBox="1">
            <a:spLocks noGrp="1"/>
          </p:cNvSpPr>
          <p:nvPr>
            <p:ph type="title"/>
          </p:nvPr>
        </p:nvSpPr>
        <p:spPr>
          <a:xfrm>
            <a:off x="214622" y="1110750"/>
            <a:ext cx="3119700" cy="466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950"/>
              <a:t>NFA to DFA</a:t>
            </a:r>
            <a:endParaRPr sz="2950"/>
          </a:p>
        </p:txBody>
      </p:sp>
      <p:sp>
        <p:nvSpPr>
          <p:cNvPr id="276" name="Google Shape;276;p20"/>
          <p:cNvSpPr txBox="1"/>
          <p:nvPr/>
        </p:nvSpPr>
        <p:spPr>
          <a:xfrm>
            <a:off x="213868" y="2111502"/>
            <a:ext cx="4321810" cy="3759835"/>
          </a:xfrm>
          <a:prstGeom prst="rect">
            <a:avLst/>
          </a:prstGeom>
          <a:noFill/>
          <a:ln>
            <a:noFill/>
          </a:ln>
        </p:spPr>
        <p:txBody>
          <a:bodyPr spcFirstLastPara="1" wrap="square" lIns="0" tIns="88900" rIns="0" bIns="0" anchor="t" anchorCtr="0">
            <a:spAutoFit/>
          </a:bodyPr>
          <a:lstStyle/>
          <a:p>
            <a:pPr marL="201295" marR="0" lvl="0" indent="-189230" algn="l" rtl="0">
              <a:lnSpc>
                <a:spcPct val="100000"/>
              </a:lnSpc>
              <a:spcBef>
                <a:spcPts val="0"/>
              </a:spcBef>
              <a:spcAft>
                <a:spcPts val="0"/>
              </a:spcAft>
              <a:buClr>
                <a:schemeClr val="dk1"/>
              </a:buClr>
              <a:buSzPts val="1950"/>
              <a:buFont typeface="Arial"/>
              <a:buChar char="•"/>
            </a:pPr>
            <a:r>
              <a:rPr lang="en-US" sz="1950">
                <a:solidFill>
                  <a:schemeClr val="dk1"/>
                </a:solidFill>
                <a:latin typeface="Calibri"/>
                <a:ea typeface="Calibri"/>
                <a:cs typeface="Calibri"/>
                <a:sym typeface="Calibri"/>
              </a:rPr>
              <a:t>Start state of DFA:</a:t>
            </a:r>
            <a:endParaRPr sz="1950">
              <a:solidFill>
                <a:schemeClr val="dk1"/>
              </a:solidFill>
              <a:latin typeface="Calibri"/>
              <a:ea typeface="Calibri"/>
              <a:cs typeface="Calibri"/>
              <a:sym typeface="Calibri"/>
            </a:endParaRPr>
          </a:p>
          <a:p>
            <a:pPr marL="181610" marR="0" lvl="0" indent="0" algn="l" rtl="0">
              <a:lnSpc>
                <a:spcPct val="100000"/>
              </a:lnSpc>
              <a:spcBef>
                <a:spcPts val="600"/>
              </a:spcBef>
              <a:spcAft>
                <a:spcPts val="0"/>
              </a:spcAft>
              <a:buNone/>
            </a:pPr>
            <a:r>
              <a:rPr lang="en-US" sz="1950">
                <a:solidFill>
                  <a:srgbClr val="445369"/>
                </a:solidFill>
                <a:latin typeface="Calibri"/>
                <a:ea typeface="Calibri"/>
                <a:cs typeface="Calibri"/>
                <a:sym typeface="Calibri"/>
              </a:rPr>
              <a:t>State A = epsilon closure (0) = {0,1,2,4,7}</a:t>
            </a:r>
            <a:endParaRPr sz="1950">
              <a:solidFill>
                <a:schemeClr val="dk1"/>
              </a:solidFill>
              <a:latin typeface="Calibri"/>
              <a:ea typeface="Calibri"/>
              <a:cs typeface="Calibri"/>
              <a:sym typeface="Calibri"/>
            </a:endParaRPr>
          </a:p>
          <a:p>
            <a:pPr marL="201295" marR="0" lvl="0" indent="-189230" algn="l" rtl="0">
              <a:lnSpc>
                <a:spcPct val="100000"/>
              </a:lnSpc>
              <a:spcBef>
                <a:spcPts val="600"/>
              </a:spcBef>
              <a:spcAft>
                <a:spcPts val="0"/>
              </a:spcAft>
              <a:buClr>
                <a:schemeClr val="dk1"/>
              </a:buClr>
              <a:buSzPts val="1950"/>
              <a:buFont typeface="Arial"/>
              <a:buChar char="•"/>
            </a:pPr>
            <a:r>
              <a:rPr lang="en-US" sz="1950">
                <a:solidFill>
                  <a:schemeClr val="dk1"/>
                </a:solidFill>
                <a:latin typeface="Calibri"/>
                <a:ea typeface="Calibri"/>
                <a:cs typeface="Calibri"/>
                <a:sym typeface="Calibri"/>
              </a:rPr>
              <a:t>From A on input a:</a:t>
            </a:r>
            <a:endParaRPr sz="1950">
              <a:solidFill>
                <a:schemeClr val="dk1"/>
              </a:solidFill>
              <a:latin typeface="Calibri"/>
              <a:ea typeface="Calibri"/>
              <a:cs typeface="Calibri"/>
              <a:sym typeface="Calibri"/>
            </a:endParaRPr>
          </a:p>
          <a:p>
            <a:pPr marL="238759" marR="0" lvl="0" indent="0" algn="l" rtl="0">
              <a:lnSpc>
                <a:spcPct val="100000"/>
              </a:lnSpc>
              <a:spcBef>
                <a:spcPts val="600"/>
              </a:spcBef>
              <a:spcAft>
                <a:spcPts val="0"/>
              </a:spcAft>
              <a:buNone/>
            </a:pPr>
            <a:r>
              <a:rPr lang="en-US" sz="1950">
                <a:solidFill>
                  <a:srgbClr val="445369"/>
                </a:solidFill>
                <a:latin typeface="Calibri"/>
                <a:ea typeface="Calibri"/>
                <a:cs typeface="Calibri"/>
                <a:sym typeface="Calibri"/>
              </a:rPr>
              <a:t>B = epsilon closure (3,8) = {1,2,3,4,6,8}</a:t>
            </a:r>
            <a:endParaRPr sz="1950">
              <a:solidFill>
                <a:schemeClr val="dk1"/>
              </a:solidFill>
              <a:latin typeface="Calibri"/>
              <a:ea typeface="Calibri"/>
              <a:cs typeface="Calibri"/>
              <a:sym typeface="Calibri"/>
            </a:endParaRPr>
          </a:p>
          <a:p>
            <a:pPr marL="201295" marR="0" lvl="0" indent="-189230" algn="l" rtl="0">
              <a:lnSpc>
                <a:spcPct val="100000"/>
              </a:lnSpc>
              <a:spcBef>
                <a:spcPts val="600"/>
              </a:spcBef>
              <a:spcAft>
                <a:spcPts val="0"/>
              </a:spcAft>
              <a:buClr>
                <a:schemeClr val="dk1"/>
              </a:buClr>
              <a:buSzPts val="1950"/>
              <a:buFont typeface="Arial"/>
              <a:buChar char="•"/>
            </a:pPr>
            <a:r>
              <a:rPr lang="en-US" sz="1950">
                <a:solidFill>
                  <a:schemeClr val="dk1"/>
                </a:solidFill>
                <a:latin typeface="Calibri"/>
                <a:ea typeface="Calibri"/>
                <a:cs typeface="Calibri"/>
                <a:sym typeface="Calibri"/>
              </a:rPr>
              <a:t>From A on input b:</a:t>
            </a:r>
            <a:endParaRPr sz="1950">
              <a:solidFill>
                <a:schemeClr val="dk1"/>
              </a:solidFill>
              <a:latin typeface="Calibri"/>
              <a:ea typeface="Calibri"/>
              <a:cs typeface="Calibri"/>
              <a:sym typeface="Calibri"/>
            </a:endParaRPr>
          </a:p>
          <a:p>
            <a:pPr marL="238759" marR="0" lvl="0" indent="0" algn="l" rtl="0">
              <a:lnSpc>
                <a:spcPct val="100000"/>
              </a:lnSpc>
              <a:spcBef>
                <a:spcPts val="600"/>
              </a:spcBef>
              <a:spcAft>
                <a:spcPts val="0"/>
              </a:spcAft>
              <a:buNone/>
            </a:pPr>
            <a:r>
              <a:rPr lang="en-US" sz="1950">
                <a:solidFill>
                  <a:srgbClr val="445369"/>
                </a:solidFill>
                <a:latin typeface="Calibri"/>
                <a:ea typeface="Calibri"/>
                <a:cs typeface="Calibri"/>
                <a:sym typeface="Calibri"/>
              </a:rPr>
              <a:t>C = epsilon closure (5) = {1,2,4,5,6,7}</a:t>
            </a:r>
            <a:endParaRPr sz="1950">
              <a:solidFill>
                <a:schemeClr val="dk1"/>
              </a:solidFill>
              <a:latin typeface="Calibri"/>
              <a:ea typeface="Calibri"/>
              <a:cs typeface="Calibri"/>
              <a:sym typeface="Calibri"/>
            </a:endParaRPr>
          </a:p>
          <a:p>
            <a:pPr marL="201295" marR="0" lvl="0" indent="-189230" algn="l" rtl="0">
              <a:lnSpc>
                <a:spcPct val="100000"/>
              </a:lnSpc>
              <a:spcBef>
                <a:spcPts val="600"/>
              </a:spcBef>
              <a:spcAft>
                <a:spcPts val="0"/>
              </a:spcAft>
              <a:buClr>
                <a:schemeClr val="dk1"/>
              </a:buClr>
              <a:buSzPts val="1950"/>
              <a:buFont typeface="Arial"/>
              <a:buChar char="•"/>
            </a:pPr>
            <a:r>
              <a:rPr lang="en-US" sz="1950">
                <a:solidFill>
                  <a:schemeClr val="dk1"/>
                </a:solidFill>
                <a:latin typeface="Calibri"/>
                <a:ea typeface="Calibri"/>
                <a:cs typeface="Calibri"/>
                <a:sym typeface="Calibri"/>
              </a:rPr>
              <a:t>From B on input a:</a:t>
            </a:r>
            <a:endParaRPr sz="1950">
              <a:solidFill>
                <a:schemeClr val="dk1"/>
              </a:solidFill>
              <a:latin typeface="Calibri"/>
              <a:ea typeface="Calibri"/>
              <a:cs typeface="Calibri"/>
              <a:sym typeface="Calibri"/>
            </a:endParaRPr>
          </a:p>
          <a:p>
            <a:pPr marL="295275" marR="0" lvl="0" indent="0" algn="l" rtl="0">
              <a:lnSpc>
                <a:spcPct val="100000"/>
              </a:lnSpc>
              <a:spcBef>
                <a:spcPts val="600"/>
              </a:spcBef>
              <a:spcAft>
                <a:spcPts val="0"/>
              </a:spcAft>
              <a:buNone/>
            </a:pPr>
            <a:r>
              <a:rPr lang="en-US" sz="1950">
                <a:solidFill>
                  <a:srgbClr val="445369"/>
                </a:solidFill>
                <a:latin typeface="Calibri"/>
                <a:ea typeface="Calibri"/>
                <a:cs typeface="Calibri"/>
                <a:sym typeface="Calibri"/>
              </a:rPr>
              <a:t>D = epsilon closure (3) = {1,2,3,4,6,7}</a:t>
            </a:r>
            <a:endParaRPr sz="1950">
              <a:solidFill>
                <a:schemeClr val="dk1"/>
              </a:solidFill>
              <a:latin typeface="Calibri"/>
              <a:ea typeface="Calibri"/>
              <a:cs typeface="Calibri"/>
              <a:sym typeface="Calibri"/>
            </a:endParaRPr>
          </a:p>
          <a:p>
            <a:pPr marL="201295" marR="0" lvl="0" indent="-189230" algn="l" rtl="0">
              <a:lnSpc>
                <a:spcPct val="100000"/>
              </a:lnSpc>
              <a:spcBef>
                <a:spcPts val="600"/>
              </a:spcBef>
              <a:spcAft>
                <a:spcPts val="0"/>
              </a:spcAft>
              <a:buClr>
                <a:schemeClr val="dk1"/>
              </a:buClr>
              <a:buSzPts val="1950"/>
              <a:buFont typeface="Arial"/>
              <a:buChar char="•"/>
            </a:pPr>
            <a:r>
              <a:rPr lang="en-US" sz="1950">
                <a:solidFill>
                  <a:schemeClr val="dk1"/>
                </a:solidFill>
                <a:latin typeface="Calibri"/>
                <a:ea typeface="Calibri"/>
                <a:cs typeface="Calibri"/>
                <a:sym typeface="Calibri"/>
              </a:rPr>
              <a:t>From B on input b:</a:t>
            </a:r>
            <a:endParaRPr sz="1950">
              <a:solidFill>
                <a:schemeClr val="dk1"/>
              </a:solidFill>
              <a:latin typeface="Calibri"/>
              <a:ea typeface="Calibri"/>
              <a:cs typeface="Calibri"/>
              <a:sym typeface="Calibri"/>
            </a:endParaRPr>
          </a:p>
          <a:p>
            <a:pPr marL="181610" marR="0" lvl="0" indent="0" algn="l" rtl="0">
              <a:lnSpc>
                <a:spcPct val="100000"/>
              </a:lnSpc>
              <a:spcBef>
                <a:spcPts val="600"/>
              </a:spcBef>
              <a:spcAft>
                <a:spcPts val="0"/>
              </a:spcAft>
              <a:buNone/>
            </a:pPr>
            <a:r>
              <a:rPr lang="en-US" sz="1950">
                <a:solidFill>
                  <a:srgbClr val="445369"/>
                </a:solidFill>
                <a:latin typeface="Calibri"/>
                <a:ea typeface="Calibri"/>
                <a:cs typeface="Calibri"/>
                <a:sym typeface="Calibri"/>
              </a:rPr>
              <a:t>C= epsilon closure (5,9) = {1,2,4,5,6,7,9}</a:t>
            </a:r>
            <a:endParaRPr sz="1950">
              <a:solidFill>
                <a:schemeClr val="dk1"/>
              </a:solidFill>
              <a:latin typeface="Calibri"/>
              <a:ea typeface="Calibri"/>
              <a:cs typeface="Calibri"/>
              <a:sym typeface="Calibri"/>
            </a:endParaRPr>
          </a:p>
        </p:txBody>
      </p:sp>
      <p:graphicFrame>
        <p:nvGraphicFramePr>
          <p:cNvPr id="277" name="Google Shape;277;p20"/>
          <p:cNvGraphicFramePr/>
          <p:nvPr/>
        </p:nvGraphicFramePr>
        <p:xfrm>
          <a:off x="5901435" y="2059432"/>
          <a:ext cx="3646800" cy="1937025"/>
        </p:xfrm>
        <a:graphic>
          <a:graphicData uri="http://schemas.openxmlformats.org/drawingml/2006/table">
            <a:tbl>
              <a:tblPr firstRow="1" bandRow="1">
                <a:noFill/>
                <a:tableStyleId>{E85DE1A1-A1B0-44A0-A59F-CCC16BF1A76C}</a:tableStyleId>
              </a:tblPr>
              <a:tblGrid>
                <a:gridCol w="1214750">
                  <a:extLst>
                    <a:ext uri="{9D8B030D-6E8A-4147-A177-3AD203B41FA5}">
                      <a16:colId xmlns:a16="http://schemas.microsoft.com/office/drawing/2014/main" val="20000"/>
                    </a:ext>
                  </a:extLst>
                </a:gridCol>
                <a:gridCol w="1216025">
                  <a:extLst>
                    <a:ext uri="{9D8B030D-6E8A-4147-A177-3AD203B41FA5}">
                      <a16:colId xmlns:a16="http://schemas.microsoft.com/office/drawing/2014/main" val="20001"/>
                    </a:ext>
                  </a:extLst>
                </a:gridCol>
                <a:gridCol w="1216025">
                  <a:extLst>
                    <a:ext uri="{9D8B030D-6E8A-4147-A177-3AD203B41FA5}">
                      <a16:colId xmlns:a16="http://schemas.microsoft.com/office/drawing/2014/main" val="20002"/>
                    </a:ext>
                  </a:extLst>
                </a:gridCol>
              </a:tblGrid>
              <a:tr h="387100">
                <a:tc>
                  <a:txBody>
                    <a:bodyPr/>
                    <a:lstStyle/>
                    <a:p>
                      <a:pPr marL="74930" marR="0" lvl="0" indent="0" algn="l" rtl="0">
                        <a:lnSpc>
                          <a:spcPct val="100000"/>
                        </a:lnSpc>
                        <a:spcBef>
                          <a:spcPts val="0"/>
                        </a:spcBef>
                        <a:spcAft>
                          <a:spcPts val="0"/>
                        </a:spcAft>
                        <a:buNone/>
                      </a:pPr>
                      <a:r>
                        <a:rPr lang="en-US" sz="1450" b="1" u="none" strike="noStrike" cap="none">
                          <a:solidFill>
                            <a:srgbClr val="FFFFFF"/>
                          </a:solidFill>
                          <a:latin typeface="Calibri"/>
                          <a:ea typeface="Calibri"/>
                          <a:cs typeface="Calibri"/>
                          <a:sym typeface="Calibri"/>
                        </a:rPr>
                        <a:t>State</a:t>
                      </a:r>
                      <a:endParaRPr sz="1450" u="none" strike="noStrike" cap="none">
                        <a:latin typeface="Calibri"/>
                        <a:ea typeface="Calibri"/>
                        <a:cs typeface="Calibri"/>
                        <a:sym typeface="Calibri"/>
                      </a:endParaRPr>
                    </a:p>
                  </a:txBody>
                  <a:tcPr marL="0" marR="0" marT="171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AD3"/>
                    </a:solidFill>
                  </a:tcPr>
                </a:tc>
                <a:tc>
                  <a:txBody>
                    <a:bodyPr/>
                    <a:lstStyle/>
                    <a:p>
                      <a:pPr marL="74930" marR="0" lvl="0" indent="0" algn="l" rtl="0">
                        <a:lnSpc>
                          <a:spcPct val="100000"/>
                        </a:lnSpc>
                        <a:spcBef>
                          <a:spcPts val="0"/>
                        </a:spcBef>
                        <a:spcAft>
                          <a:spcPts val="0"/>
                        </a:spcAft>
                        <a:buNone/>
                      </a:pPr>
                      <a:r>
                        <a:rPr lang="en-US" sz="1450" b="1" u="none" strike="noStrike" cap="none">
                          <a:solidFill>
                            <a:srgbClr val="FFFFFF"/>
                          </a:solidFill>
                          <a:latin typeface="Calibri"/>
                          <a:ea typeface="Calibri"/>
                          <a:cs typeface="Calibri"/>
                          <a:sym typeface="Calibri"/>
                        </a:rPr>
                        <a:t>Input a</a:t>
                      </a:r>
                      <a:endParaRPr sz="1450" u="none" strike="noStrike" cap="none">
                        <a:latin typeface="Calibri"/>
                        <a:ea typeface="Calibri"/>
                        <a:cs typeface="Calibri"/>
                        <a:sym typeface="Calibri"/>
                      </a:endParaRPr>
                    </a:p>
                  </a:txBody>
                  <a:tcPr marL="0" marR="0" marT="171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AD3"/>
                    </a:solidFill>
                  </a:tcPr>
                </a:tc>
                <a:tc>
                  <a:txBody>
                    <a:bodyPr/>
                    <a:lstStyle/>
                    <a:p>
                      <a:pPr marL="74295" marR="0" lvl="0" indent="0" algn="l" rtl="0">
                        <a:lnSpc>
                          <a:spcPct val="100000"/>
                        </a:lnSpc>
                        <a:spcBef>
                          <a:spcPts val="0"/>
                        </a:spcBef>
                        <a:spcAft>
                          <a:spcPts val="0"/>
                        </a:spcAft>
                        <a:buNone/>
                      </a:pPr>
                      <a:r>
                        <a:rPr lang="en-US" sz="1450" b="1" u="none" strike="noStrike" cap="none">
                          <a:solidFill>
                            <a:srgbClr val="FFFFFF"/>
                          </a:solidFill>
                          <a:latin typeface="Calibri"/>
                          <a:ea typeface="Calibri"/>
                          <a:cs typeface="Calibri"/>
                          <a:sym typeface="Calibri"/>
                        </a:rPr>
                        <a:t>Input b</a:t>
                      </a:r>
                      <a:endParaRPr sz="1450" u="none" strike="noStrike" cap="none">
                        <a:latin typeface="Calibri"/>
                        <a:ea typeface="Calibri"/>
                        <a:cs typeface="Calibri"/>
                        <a:sym typeface="Calibri"/>
                      </a:endParaRPr>
                    </a:p>
                  </a:txBody>
                  <a:tcPr marL="0" marR="0" marT="171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AD3"/>
                    </a:solidFill>
                  </a:tcPr>
                </a:tc>
                <a:extLst>
                  <a:ext uri="{0D108BD9-81ED-4DB2-BD59-A6C34878D82A}">
                    <a16:rowId xmlns:a16="http://schemas.microsoft.com/office/drawing/2014/main" val="10000"/>
                  </a:ext>
                </a:extLst>
              </a:tr>
              <a:tr h="388625">
                <a:tc>
                  <a:txBody>
                    <a:bodyPr/>
                    <a:lstStyle/>
                    <a:p>
                      <a:pPr marL="74930" marR="0" lvl="0" indent="0" algn="l" rtl="0">
                        <a:lnSpc>
                          <a:spcPct val="100000"/>
                        </a:lnSpc>
                        <a:spcBef>
                          <a:spcPts val="0"/>
                        </a:spcBef>
                        <a:spcAft>
                          <a:spcPts val="0"/>
                        </a:spcAft>
                        <a:buNone/>
                      </a:pPr>
                      <a:r>
                        <a:rPr lang="en-US" sz="1450" u="none" strike="noStrike" cap="none">
                          <a:latin typeface="Calibri"/>
                          <a:ea typeface="Calibri"/>
                          <a:cs typeface="Calibri"/>
                          <a:sym typeface="Calibri"/>
                        </a:rPr>
                        <a:t>A</a:t>
                      </a:r>
                      <a:endParaRPr sz="1450" u="none" strike="noStrike" cap="none">
                        <a:latin typeface="Calibri"/>
                        <a:ea typeface="Calibri"/>
                        <a:cs typeface="Calibri"/>
                        <a:sym typeface="Calibri"/>
                      </a:endParaRPr>
                    </a:p>
                  </a:txBody>
                  <a:tcPr marL="0" marR="0" marT="184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74930" marR="0" lvl="0" indent="0" algn="l" rtl="0">
                        <a:lnSpc>
                          <a:spcPct val="100000"/>
                        </a:lnSpc>
                        <a:spcBef>
                          <a:spcPts val="0"/>
                        </a:spcBef>
                        <a:spcAft>
                          <a:spcPts val="0"/>
                        </a:spcAft>
                        <a:buNone/>
                      </a:pPr>
                      <a:r>
                        <a:rPr lang="en-US" sz="1450" u="none" strike="noStrike" cap="none">
                          <a:latin typeface="Calibri"/>
                          <a:ea typeface="Calibri"/>
                          <a:cs typeface="Calibri"/>
                          <a:sym typeface="Calibri"/>
                        </a:rPr>
                        <a:t>B</a:t>
                      </a:r>
                      <a:endParaRPr sz="1450" u="none" strike="noStrike" cap="none">
                        <a:latin typeface="Calibri"/>
                        <a:ea typeface="Calibri"/>
                        <a:cs typeface="Calibri"/>
                        <a:sym typeface="Calibri"/>
                      </a:endParaRPr>
                    </a:p>
                  </a:txBody>
                  <a:tcPr marL="0" marR="0" marT="184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74295" marR="0" lvl="0" indent="0" algn="l" rtl="0">
                        <a:lnSpc>
                          <a:spcPct val="100000"/>
                        </a:lnSpc>
                        <a:spcBef>
                          <a:spcPts val="0"/>
                        </a:spcBef>
                        <a:spcAft>
                          <a:spcPts val="0"/>
                        </a:spcAft>
                        <a:buNone/>
                      </a:pPr>
                      <a:r>
                        <a:rPr lang="en-US" sz="1450" u="none" strike="noStrike" cap="none">
                          <a:latin typeface="Calibri"/>
                          <a:ea typeface="Calibri"/>
                          <a:cs typeface="Calibri"/>
                          <a:sym typeface="Calibri"/>
                        </a:rPr>
                        <a:t>C</a:t>
                      </a:r>
                      <a:endParaRPr sz="1450" u="none" strike="noStrike" cap="none">
                        <a:latin typeface="Calibri"/>
                        <a:ea typeface="Calibri"/>
                        <a:cs typeface="Calibri"/>
                        <a:sym typeface="Calibri"/>
                      </a:endParaRPr>
                    </a:p>
                  </a:txBody>
                  <a:tcPr marL="0" marR="0" marT="184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extLst>
                  <a:ext uri="{0D108BD9-81ED-4DB2-BD59-A6C34878D82A}">
                    <a16:rowId xmlns:a16="http://schemas.microsoft.com/office/drawing/2014/main" val="10001"/>
                  </a:ext>
                </a:extLst>
              </a:tr>
              <a:tr h="387100">
                <a:tc>
                  <a:txBody>
                    <a:bodyPr/>
                    <a:lstStyle/>
                    <a:p>
                      <a:pPr marL="74930" marR="0" lvl="0" indent="0" algn="l" rtl="0">
                        <a:lnSpc>
                          <a:spcPct val="100000"/>
                        </a:lnSpc>
                        <a:spcBef>
                          <a:spcPts val="0"/>
                        </a:spcBef>
                        <a:spcAft>
                          <a:spcPts val="0"/>
                        </a:spcAft>
                        <a:buNone/>
                      </a:pPr>
                      <a:r>
                        <a:rPr lang="en-US" sz="1450" u="none" strike="noStrike" cap="none">
                          <a:latin typeface="Calibri"/>
                          <a:ea typeface="Calibri"/>
                          <a:cs typeface="Calibri"/>
                          <a:sym typeface="Calibri"/>
                        </a:rPr>
                        <a:t>B</a:t>
                      </a:r>
                      <a:endParaRPr sz="1450" u="none" strike="noStrike" cap="none">
                        <a:latin typeface="Calibri"/>
                        <a:ea typeface="Calibri"/>
                        <a:cs typeface="Calibri"/>
                        <a:sym typeface="Calibri"/>
                      </a:endParaRPr>
                    </a:p>
                  </a:txBody>
                  <a:tcPr marL="0" marR="0" marT="171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tc>
                  <a:txBody>
                    <a:bodyPr/>
                    <a:lstStyle/>
                    <a:p>
                      <a:pPr marL="74930" marR="0" lvl="0" indent="0" algn="l" rtl="0">
                        <a:lnSpc>
                          <a:spcPct val="100000"/>
                        </a:lnSpc>
                        <a:spcBef>
                          <a:spcPts val="0"/>
                        </a:spcBef>
                        <a:spcAft>
                          <a:spcPts val="0"/>
                        </a:spcAft>
                        <a:buNone/>
                      </a:pPr>
                      <a:r>
                        <a:rPr lang="en-US" sz="1450" u="none" strike="noStrike" cap="none">
                          <a:latin typeface="Calibri"/>
                          <a:ea typeface="Calibri"/>
                          <a:cs typeface="Calibri"/>
                          <a:sym typeface="Calibri"/>
                        </a:rPr>
                        <a:t>D</a:t>
                      </a:r>
                      <a:endParaRPr sz="1450" u="none" strike="noStrike" cap="none">
                        <a:latin typeface="Calibri"/>
                        <a:ea typeface="Calibri"/>
                        <a:cs typeface="Calibri"/>
                        <a:sym typeface="Calibri"/>
                      </a:endParaRPr>
                    </a:p>
                  </a:txBody>
                  <a:tcPr marL="0" marR="0" marT="171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tc>
                  <a:txBody>
                    <a:bodyPr/>
                    <a:lstStyle/>
                    <a:p>
                      <a:pPr marL="74295" marR="0" lvl="0" indent="0" algn="l" rtl="0">
                        <a:lnSpc>
                          <a:spcPct val="100000"/>
                        </a:lnSpc>
                        <a:spcBef>
                          <a:spcPts val="0"/>
                        </a:spcBef>
                        <a:spcAft>
                          <a:spcPts val="0"/>
                        </a:spcAft>
                        <a:buNone/>
                      </a:pPr>
                      <a:r>
                        <a:rPr lang="en-US" sz="1450" u="none" strike="noStrike" cap="none">
                          <a:latin typeface="Calibri"/>
                          <a:ea typeface="Calibri"/>
                          <a:cs typeface="Calibri"/>
                          <a:sym typeface="Calibri"/>
                        </a:rPr>
                        <a:t>C</a:t>
                      </a:r>
                      <a:endParaRPr sz="1450" u="none" strike="noStrike" cap="none">
                        <a:latin typeface="Calibri"/>
                        <a:ea typeface="Calibri"/>
                        <a:cs typeface="Calibri"/>
                        <a:sym typeface="Calibri"/>
                      </a:endParaRPr>
                    </a:p>
                  </a:txBody>
                  <a:tcPr marL="0" marR="0" marT="171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extLst>
                  <a:ext uri="{0D108BD9-81ED-4DB2-BD59-A6C34878D82A}">
                    <a16:rowId xmlns:a16="http://schemas.microsoft.com/office/drawing/2014/main" val="10002"/>
                  </a:ext>
                </a:extLst>
              </a:tr>
              <a:tr h="387100">
                <a:tc>
                  <a:txBody>
                    <a:bodyPr/>
                    <a:lstStyle/>
                    <a:p>
                      <a:pPr marL="74930" marR="0" lvl="0" indent="0" algn="l" rtl="0">
                        <a:lnSpc>
                          <a:spcPct val="100000"/>
                        </a:lnSpc>
                        <a:spcBef>
                          <a:spcPts val="0"/>
                        </a:spcBef>
                        <a:spcAft>
                          <a:spcPts val="0"/>
                        </a:spcAft>
                        <a:buNone/>
                      </a:pPr>
                      <a:r>
                        <a:rPr lang="en-US" sz="1450" u="none" strike="noStrike" cap="none">
                          <a:latin typeface="Calibri"/>
                          <a:ea typeface="Calibri"/>
                          <a:cs typeface="Calibri"/>
                          <a:sym typeface="Calibri"/>
                        </a:rPr>
                        <a:t>C</a:t>
                      </a:r>
                      <a:endParaRPr sz="1450" u="none" strike="noStrike" cap="none">
                        <a:latin typeface="Calibri"/>
                        <a:ea typeface="Calibri"/>
                        <a:cs typeface="Calibri"/>
                        <a:sym typeface="Calibri"/>
                      </a:endParaRPr>
                    </a:p>
                  </a:txBody>
                  <a:tcPr marL="0" marR="0" marT="171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0" marR="0" lvl="0" indent="0" algn="l" rtl="0">
                        <a:lnSpc>
                          <a:spcPct val="100000"/>
                        </a:lnSpc>
                        <a:spcBef>
                          <a:spcPts val="0"/>
                        </a:spcBef>
                        <a:spcAft>
                          <a:spcPts val="0"/>
                        </a:spcAft>
                        <a:buNone/>
                      </a:pPr>
                      <a:endParaRPr sz="19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0" marR="0" lvl="0" indent="0" algn="l" rtl="0">
                        <a:lnSpc>
                          <a:spcPct val="100000"/>
                        </a:lnSpc>
                        <a:spcBef>
                          <a:spcPts val="0"/>
                        </a:spcBef>
                        <a:spcAft>
                          <a:spcPts val="0"/>
                        </a:spcAft>
                        <a:buNone/>
                      </a:pPr>
                      <a:endParaRPr sz="19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extLst>
                  <a:ext uri="{0D108BD9-81ED-4DB2-BD59-A6C34878D82A}">
                    <a16:rowId xmlns:a16="http://schemas.microsoft.com/office/drawing/2014/main" val="10003"/>
                  </a:ext>
                </a:extLst>
              </a:tr>
              <a:tr h="387100">
                <a:tc>
                  <a:txBody>
                    <a:bodyPr/>
                    <a:lstStyle/>
                    <a:p>
                      <a:pPr marL="74930" marR="0" lvl="0" indent="0" algn="l" rtl="0">
                        <a:lnSpc>
                          <a:spcPct val="100000"/>
                        </a:lnSpc>
                        <a:spcBef>
                          <a:spcPts val="0"/>
                        </a:spcBef>
                        <a:spcAft>
                          <a:spcPts val="0"/>
                        </a:spcAft>
                        <a:buNone/>
                      </a:pPr>
                      <a:r>
                        <a:rPr lang="en-US" sz="1450" u="none" strike="noStrike" cap="none">
                          <a:latin typeface="Calibri"/>
                          <a:ea typeface="Calibri"/>
                          <a:cs typeface="Calibri"/>
                          <a:sym typeface="Calibri"/>
                        </a:rPr>
                        <a:t>D</a:t>
                      </a:r>
                      <a:endParaRPr sz="1450" u="none" strike="noStrike" cap="none">
                        <a:latin typeface="Calibri"/>
                        <a:ea typeface="Calibri"/>
                        <a:cs typeface="Calibri"/>
                        <a:sym typeface="Calibri"/>
                      </a:endParaRPr>
                    </a:p>
                  </a:txBody>
                  <a:tcPr marL="0" marR="0" marT="171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tc>
                  <a:txBody>
                    <a:bodyPr/>
                    <a:lstStyle/>
                    <a:p>
                      <a:pPr marL="0" marR="0" lvl="0" indent="0" algn="l" rtl="0">
                        <a:lnSpc>
                          <a:spcPct val="100000"/>
                        </a:lnSpc>
                        <a:spcBef>
                          <a:spcPts val="0"/>
                        </a:spcBef>
                        <a:spcAft>
                          <a:spcPts val="0"/>
                        </a:spcAft>
                        <a:buNone/>
                      </a:pPr>
                      <a:endParaRPr sz="19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tc>
                  <a:txBody>
                    <a:bodyPr/>
                    <a:lstStyle/>
                    <a:p>
                      <a:pPr marL="0" marR="0" lvl="0" indent="0" algn="l" rtl="0">
                        <a:lnSpc>
                          <a:spcPct val="100000"/>
                        </a:lnSpc>
                        <a:spcBef>
                          <a:spcPts val="0"/>
                        </a:spcBef>
                        <a:spcAft>
                          <a:spcPts val="0"/>
                        </a:spcAft>
                        <a:buNone/>
                      </a:pPr>
                      <a:endParaRPr sz="19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extLst>
                  <a:ext uri="{0D108BD9-81ED-4DB2-BD59-A6C34878D82A}">
                    <a16:rowId xmlns:a16="http://schemas.microsoft.com/office/drawing/2014/main" val="10004"/>
                  </a:ext>
                </a:extLst>
              </a:tr>
            </a:tbl>
          </a:graphicData>
        </a:graphic>
      </p:graphicFrame>
      <p:sp>
        <p:nvSpPr>
          <p:cNvPr id="278" name="Google Shape;278;p20"/>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Shape 282"/>
        <p:cNvGrpSpPr/>
        <p:nvPr/>
      </p:nvGrpSpPr>
      <p:grpSpPr>
        <a:xfrm>
          <a:off x="0" y="0"/>
          <a:ext cx="0" cy="0"/>
          <a:chOff x="0" y="0"/>
          <a:chExt cx="0" cy="0"/>
        </a:xfrm>
      </p:grpSpPr>
      <p:sp>
        <p:nvSpPr>
          <p:cNvPr id="283" name="Google Shape;283;p21"/>
          <p:cNvSpPr txBox="1"/>
          <p:nvPr/>
        </p:nvSpPr>
        <p:spPr>
          <a:xfrm>
            <a:off x="213868" y="1226058"/>
            <a:ext cx="4420800" cy="5230800"/>
          </a:xfrm>
          <a:prstGeom prst="rect">
            <a:avLst/>
          </a:prstGeom>
          <a:noFill/>
          <a:ln>
            <a:noFill/>
          </a:ln>
        </p:spPr>
        <p:txBody>
          <a:bodyPr spcFirstLastPara="1" wrap="square" lIns="0" tIns="12700" rIns="0" bIns="0" anchor="t" anchorCtr="0">
            <a:spAutoFit/>
          </a:bodyPr>
          <a:lstStyle/>
          <a:p>
            <a:pPr marL="295910" marR="0" lvl="0" indent="-283844" algn="l" rtl="0">
              <a:lnSpc>
                <a:spcPct val="119230"/>
              </a:lnSpc>
              <a:spcBef>
                <a:spcPts val="0"/>
              </a:spcBef>
              <a:spcAft>
                <a:spcPts val="0"/>
              </a:spcAft>
              <a:buClr>
                <a:schemeClr val="dk1"/>
              </a:buClr>
              <a:buSzPts val="1950"/>
              <a:buFont typeface="Arial"/>
              <a:buChar char="•"/>
            </a:pPr>
            <a:r>
              <a:rPr lang="en-US" sz="1950">
                <a:solidFill>
                  <a:schemeClr val="dk1"/>
                </a:solidFill>
                <a:latin typeface="Calibri"/>
                <a:ea typeface="Calibri"/>
                <a:cs typeface="Calibri"/>
                <a:sym typeface="Calibri"/>
              </a:rPr>
              <a:t>From C on input a:</a:t>
            </a:r>
            <a:endParaRPr sz="1950">
              <a:solidFill>
                <a:schemeClr val="dk1"/>
              </a:solidFill>
              <a:latin typeface="Calibri"/>
              <a:ea typeface="Calibri"/>
              <a:cs typeface="Calibri"/>
              <a:sym typeface="Calibri"/>
            </a:endParaRPr>
          </a:p>
          <a:p>
            <a:pPr marL="464819" marR="0" lvl="0" indent="-452754" algn="l" rtl="0">
              <a:lnSpc>
                <a:spcPct val="119230"/>
              </a:lnSpc>
              <a:spcBef>
                <a:spcPts val="0"/>
              </a:spcBef>
              <a:spcAft>
                <a:spcPts val="0"/>
              </a:spcAft>
              <a:buClr>
                <a:schemeClr val="dk1"/>
              </a:buClr>
              <a:buSzPts val="1950"/>
              <a:buFont typeface="Arial"/>
              <a:buChar char="•"/>
            </a:pPr>
            <a:r>
              <a:rPr lang="en-US" sz="1950">
                <a:solidFill>
                  <a:schemeClr val="dk1"/>
                </a:solidFill>
                <a:latin typeface="Calibri"/>
                <a:ea typeface="Calibri"/>
                <a:cs typeface="Calibri"/>
                <a:sym typeface="Calibri"/>
              </a:rPr>
              <a:t>B </a:t>
            </a:r>
            <a:r>
              <a:rPr lang="en-US" sz="1950">
                <a:solidFill>
                  <a:srgbClr val="445369"/>
                </a:solidFill>
                <a:latin typeface="Calibri"/>
                <a:ea typeface="Calibri"/>
                <a:cs typeface="Calibri"/>
                <a:sym typeface="Calibri"/>
              </a:rPr>
              <a:t>= epsilon closure (3,8) = {1,2,3,4,6,8}</a:t>
            </a:r>
            <a:endParaRPr sz="1950">
              <a:solidFill>
                <a:schemeClr val="dk1"/>
              </a:solidFill>
              <a:latin typeface="Calibri"/>
              <a:ea typeface="Calibri"/>
              <a:cs typeface="Calibri"/>
              <a:sym typeface="Calibri"/>
            </a:endParaRPr>
          </a:p>
          <a:p>
            <a:pPr marL="13334" marR="0" lvl="0" indent="0" algn="l" rtl="0">
              <a:lnSpc>
                <a:spcPct val="100000"/>
              </a:lnSpc>
              <a:spcBef>
                <a:spcPts val="15"/>
              </a:spcBef>
              <a:spcAft>
                <a:spcPts val="0"/>
              </a:spcAft>
              <a:buNone/>
            </a:pPr>
            <a:endParaRPr sz="1800">
              <a:solidFill>
                <a:schemeClr val="dk1"/>
              </a:solidFill>
              <a:latin typeface="Arial"/>
              <a:ea typeface="Arial"/>
              <a:cs typeface="Arial"/>
              <a:sym typeface="Arial"/>
            </a:endParaRPr>
          </a:p>
          <a:p>
            <a:pPr marL="295910" marR="0" lvl="0" indent="-283844" algn="l" rtl="0">
              <a:lnSpc>
                <a:spcPct val="100000"/>
              </a:lnSpc>
              <a:spcBef>
                <a:spcPts val="320"/>
              </a:spcBef>
              <a:spcAft>
                <a:spcPts val="0"/>
              </a:spcAft>
              <a:buClr>
                <a:schemeClr val="dk1"/>
              </a:buClr>
              <a:buSzPts val="1950"/>
              <a:buFont typeface="Arial"/>
              <a:buChar char="•"/>
            </a:pPr>
            <a:r>
              <a:rPr lang="en-US" sz="1950">
                <a:solidFill>
                  <a:schemeClr val="dk1"/>
                </a:solidFill>
                <a:latin typeface="Calibri"/>
                <a:ea typeface="Calibri"/>
                <a:cs typeface="Calibri"/>
                <a:sym typeface="Calibri"/>
              </a:rPr>
              <a:t>From C on input b:</a:t>
            </a:r>
            <a:endParaRPr sz="1950">
              <a:solidFill>
                <a:schemeClr val="dk1"/>
              </a:solidFill>
              <a:latin typeface="Calibri"/>
              <a:ea typeface="Calibri"/>
              <a:cs typeface="Calibri"/>
              <a:sym typeface="Calibri"/>
            </a:endParaRPr>
          </a:p>
          <a:p>
            <a:pPr marL="295275" marR="0" lvl="0" indent="0" algn="l" rtl="0">
              <a:lnSpc>
                <a:spcPct val="100000"/>
              </a:lnSpc>
              <a:spcBef>
                <a:spcPts val="0"/>
              </a:spcBef>
              <a:spcAft>
                <a:spcPts val="0"/>
              </a:spcAft>
              <a:buNone/>
            </a:pPr>
            <a:r>
              <a:rPr lang="en-US" sz="1950">
                <a:solidFill>
                  <a:schemeClr val="dk1"/>
                </a:solidFill>
                <a:latin typeface="Calibri"/>
                <a:ea typeface="Calibri"/>
                <a:cs typeface="Calibri"/>
                <a:sym typeface="Calibri"/>
              </a:rPr>
              <a:t>E </a:t>
            </a:r>
            <a:r>
              <a:rPr lang="en-US" sz="1950">
                <a:solidFill>
                  <a:srgbClr val="445369"/>
                </a:solidFill>
                <a:latin typeface="Calibri"/>
                <a:ea typeface="Calibri"/>
                <a:cs typeface="Calibri"/>
                <a:sym typeface="Calibri"/>
              </a:rPr>
              <a:t>= epsilon closure (5,10) = {1,2,4,5,6,10}</a:t>
            </a:r>
            <a:endParaRPr sz="1950">
              <a:solidFill>
                <a:schemeClr val="dk1"/>
              </a:solidFill>
              <a:latin typeface="Calibri"/>
              <a:ea typeface="Calibri"/>
              <a:cs typeface="Calibri"/>
              <a:sym typeface="Calibri"/>
            </a:endParaRPr>
          </a:p>
          <a:p>
            <a:pPr marL="0" marR="0" lvl="0" indent="0" algn="l" rtl="0">
              <a:lnSpc>
                <a:spcPct val="100000"/>
              </a:lnSpc>
              <a:spcBef>
                <a:spcPts val="20"/>
              </a:spcBef>
              <a:spcAft>
                <a:spcPts val="0"/>
              </a:spcAft>
              <a:buNone/>
            </a:pPr>
            <a:endParaRPr sz="1900">
              <a:solidFill>
                <a:schemeClr val="dk1"/>
              </a:solidFill>
              <a:latin typeface="Calibri"/>
              <a:ea typeface="Calibri"/>
              <a:cs typeface="Calibri"/>
              <a:sym typeface="Calibri"/>
            </a:endParaRPr>
          </a:p>
          <a:p>
            <a:pPr marL="295910" marR="0" lvl="0" indent="-283844" algn="l" rtl="0">
              <a:lnSpc>
                <a:spcPct val="100000"/>
              </a:lnSpc>
              <a:spcBef>
                <a:spcPts val="0"/>
              </a:spcBef>
              <a:spcAft>
                <a:spcPts val="0"/>
              </a:spcAft>
              <a:buClr>
                <a:schemeClr val="dk1"/>
              </a:buClr>
              <a:buSzPts val="1950"/>
              <a:buFont typeface="Arial"/>
              <a:buChar char="•"/>
            </a:pPr>
            <a:r>
              <a:rPr lang="en-US" sz="1950">
                <a:solidFill>
                  <a:schemeClr val="dk1"/>
                </a:solidFill>
                <a:latin typeface="Calibri"/>
                <a:ea typeface="Calibri"/>
                <a:cs typeface="Calibri"/>
                <a:sym typeface="Calibri"/>
              </a:rPr>
              <a:t>From D on input a:</a:t>
            </a:r>
            <a:endParaRPr sz="1950">
              <a:solidFill>
                <a:schemeClr val="dk1"/>
              </a:solidFill>
              <a:latin typeface="Calibri"/>
              <a:ea typeface="Calibri"/>
              <a:cs typeface="Calibri"/>
              <a:sym typeface="Calibri"/>
            </a:endParaRPr>
          </a:p>
          <a:p>
            <a:pPr marL="350520" marR="0" lvl="0" indent="0" algn="l" rtl="0">
              <a:lnSpc>
                <a:spcPct val="100000"/>
              </a:lnSpc>
              <a:spcBef>
                <a:spcPts val="0"/>
              </a:spcBef>
              <a:spcAft>
                <a:spcPts val="0"/>
              </a:spcAft>
              <a:buNone/>
            </a:pPr>
            <a:r>
              <a:rPr lang="en-US" sz="1950">
                <a:solidFill>
                  <a:srgbClr val="445369"/>
                </a:solidFill>
                <a:latin typeface="Calibri"/>
                <a:ea typeface="Calibri"/>
                <a:cs typeface="Calibri"/>
                <a:sym typeface="Calibri"/>
              </a:rPr>
              <a:t>D = epsilon closure (3) = {1,2,3,4,6}</a:t>
            </a:r>
            <a:endParaRPr sz="1950">
              <a:solidFill>
                <a:schemeClr val="dk1"/>
              </a:solidFill>
              <a:latin typeface="Calibri"/>
              <a:ea typeface="Calibri"/>
              <a:cs typeface="Calibri"/>
              <a:sym typeface="Calibri"/>
            </a:endParaRPr>
          </a:p>
          <a:p>
            <a:pPr marL="0" marR="0" lvl="0" indent="0" algn="l" rtl="0">
              <a:lnSpc>
                <a:spcPct val="100000"/>
              </a:lnSpc>
              <a:spcBef>
                <a:spcPts val="20"/>
              </a:spcBef>
              <a:spcAft>
                <a:spcPts val="0"/>
              </a:spcAft>
              <a:buNone/>
            </a:pPr>
            <a:endParaRPr sz="1900">
              <a:solidFill>
                <a:schemeClr val="dk1"/>
              </a:solidFill>
              <a:latin typeface="Calibri"/>
              <a:ea typeface="Calibri"/>
              <a:cs typeface="Calibri"/>
              <a:sym typeface="Calibri"/>
            </a:endParaRPr>
          </a:p>
          <a:p>
            <a:pPr marL="295910" marR="0" lvl="0" indent="-283844" algn="l" rtl="0">
              <a:lnSpc>
                <a:spcPct val="100000"/>
              </a:lnSpc>
              <a:spcBef>
                <a:spcPts val="5"/>
              </a:spcBef>
              <a:spcAft>
                <a:spcPts val="0"/>
              </a:spcAft>
              <a:buClr>
                <a:schemeClr val="dk1"/>
              </a:buClr>
              <a:buSzPts val="1950"/>
              <a:buFont typeface="Arial"/>
              <a:buChar char="•"/>
            </a:pPr>
            <a:r>
              <a:rPr lang="en-US" sz="1950">
                <a:solidFill>
                  <a:schemeClr val="dk1"/>
                </a:solidFill>
                <a:latin typeface="Calibri"/>
                <a:ea typeface="Calibri"/>
                <a:cs typeface="Calibri"/>
                <a:sym typeface="Calibri"/>
              </a:rPr>
              <a:t>From D on input b:</a:t>
            </a:r>
            <a:endParaRPr sz="1950">
              <a:solidFill>
                <a:schemeClr val="dk1"/>
              </a:solidFill>
              <a:latin typeface="Calibri"/>
              <a:ea typeface="Calibri"/>
              <a:cs typeface="Calibri"/>
              <a:sym typeface="Calibri"/>
            </a:endParaRPr>
          </a:p>
          <a:p>
            <a:pPr marL="295275" marR="0" lvl="0" indent="0" algn="l" rtl="0">
              <a:lnSpc>
                <a:spcPct val="100000"/>
              </a:lnSpc>
              <a:spcBef>
                <a:spcPts val="0"/>
              </a:spcBef>
              <a:spcAft>
                <a:spcPts val="0"/>
              </a:spcAft>
              <a:buNone/>
            </a:pPr>
            <a:r>
              <a:rPr lang="en-US" sz="1950">
                <a:solidFill>
                  <a:srgbClr val="445369"/>
                </a:solidFill>
                <a:latin typeface="Calibri"/>
                <a:ea typeface="Calibri"/>
                <a:cs typeface="Calibri"/>
                <a:sym typeface="Calibri"/>
              </a:rPr>
              <a:t>C = epsilon closure (5) = {1,2,4,5,6,7}</a:t>
            </a:r>
            <a:endParaRPr sz="1950">
              <a:solidFill>
                <a:schemeClr val="dk1"/>
              </a:solidFill>
              <a:latin typeface="Calibri"/>
              <a:ea typeface="Calibri"/>
              <a:cs typeface="Calibri"/>
              <a:sym typeface="Calibri"/>
            </a:endParaRPr>
          </a:p>
          <a:p>
            <a:pPr marL="0" marR="0" lvl="0" indent="0" algn="l" rtl="0">
              <a:lnSpc>
                <a:spcPct val="100000"/>
              </a:lnSpc>
              <a:spcBef>
                <a:spcPts val="20"/>
              </a:spcBef>
              <a:spcAft>
                <a:spcPts val="0"/>
              </a:spcAft>
              <a:buNone/>
            </a:pPr>
            <a:endParaRPr sz="1900">
              <a:solidFill>
                <a:schemeClr val="dk1"/>
              </a:solidFill>
              <a:latin typeface="Calibri"/>
              <a:ea typeface="Calibri"/>
              <a:cs typeface="Calibri"/>
              <a:sym typeface="Calibri"/>
            </a:endParaRPr>
          </a:p>
          <a:p>
            <a:pPr marL="295910" marR="0" lvl="0" indent="-283844" algn="l" rtl="0">
              <a:lnSpc>
                <a:spcPct val="100000"/>
              </a:lnSpc>
              <a:spcBef>
                <a:spcPts val="0"/>
              </a:spcBef>
              <a:spcAft>
                <a:spcPts val="0"/>
              </a:spcAft>
              <a:buClr>
                <a:schemeClr val="dk1"/>
              </a:buClr>
              <a:buSzPts val="1950"/>
              <a:buFont typeface="Arial"/>
              <a:buChar char="•"/>
            </a:pPr>
            <a:r>
              <a:rPr lang="en-US" sz="1950">
                <a:solidFill>
                  <a:schemeClr val="dk1"/>
                </a:solidFill>
                <a:latin typeface="Calibri"/>
                <a:ea typeface="Calibri"/>
                <a:cs typeface="Calibri"/>
                <a:sym typeface="Calibri"/>
              </a:rPr>
              <a:t>From E on input a:</a:t>
            </a:r>
            <a:endParaRPr sz="1950">
              <a:solidFill>
                <a:schemeClr val="dk1"/>
              </a:solidFill>
              <a:latin typeface="Calibri"/>
              <a:ea typeface="Calibri"/>
              <a:cs typeface="Calibri"/>
              <a:sym typeface="Calibri"/>
            </a:endParaRPr>
          </a:p>
          <a:p>
            <a:pPr marL="350520" marR="0" lvl="0" indent="0" algn="l" rtl="0">
              <a:lnSpc>
                <a:spcPct val="100000"/>
              </a:lnSpc>
              <a:spcBef>
                <a:spcPts val="0"/>
              </a:spcBef>
              <a:spcAft>
                <a:spcPts val="0"/>
              </a:spcAft>
              <a:buNone/>
            </a:pPr>
            <a:r>
              <a:rPr lang="en-US" sz="1950">
                <a:solidFill>
                  <a:srgbClr val="445369"/>
                </a:solidFill>
                <a:latin typeface="Calibri"/>
                <a:ea typeface="Calibri"/>
                <a:cs typeface="Calibri"/>
                <a:sym typeface="Calibri"/>
              </a:rPr>
              <a:t>D = epsilon closure (3) = {1,2,3,4,6,7}</a:t>
            </a:r>
            <a:endParaRPr sz="1950">
              <a:solidFill>
                <a:schemeClr val="dk1"/>
              </a:solidFill>
              <a:latin typeface="Calibri"/>
              <a:ea typeface="Calibri"/>
              <a:cs typeface="Calibri"/>
              <a:sym typeface="Calibri"/>
            </a:endParaRPr>
          </a:p>
          <a:p>
            <a:pPr marL="0" marR="0" lvl="0" indent="0" algn="l" rtl="0">
              <a:lnSpc>
                <a:spcPct val="100000"/>
              </a:lnSpc>
              <a:spcBef>
                <a:spcPts val="20"/>
              </a:spcBef>
              <a:spcAft>
                <a:spcPts val="0"/>
              </a:spcAft>
              <a:buNone/>
            </a:pPr>
            <a:endParaRPr sz="1900">
              <a:solidFill>
                <a:schemeClr val="dk1"/>
              </a:solidFill>
              <a:latin typeface="Calibri"/>
              <a:ea typeface="Calibri"/>
              <a:cs typeface="Calibri"/>
              <a:sym typeface="Calibri"/>
            </a:endParaRPr>
          </a:p>
          <a:p>
            <a:pPr marL="295910" marR="0" lvl="0" indent="-283844" algn="l" rtl="0">
              <a:lnSpc>
                <a:spcPct val="100000"/>
              </a:lnSpc>
              <a:spcBef>
                <a:spcPts val="0"/>
              </a:spcBef>
              <a:spcAft>
                <a:spcPts val="0"/>
              </a:spcAft>
              <a:buClr>
                <a:schemeClr val="dk1"/>
              </a:buClr>
              <a:buSzPts val="1950"/>
              <a:buFont typeface="Arial"/>
              <a:buChar char="•"/>
            </a:pPr>
            <a:r>
              <a:rPr lang="en-US" sz="1950">
                <a:solidFill>
                  <a:schemeClr val="dk1"/>
                </a:solidFill>
                <a:latin typeface="Calibri"/>
                <a:ea typeface="Calibri"/>
                <a:cs typeface="Calibri"/>
                <a:sym typeface="Calibri"/>
              </a:rPr>
              <a:t>From E on input b:</a:t>
            </a:r>
            <a:endParaRPr sz="1950">
              <a:solidFill>
                <a:schemeClr val="dk1"/>
              </a:solidFill>
              <a:latin typeface="Calibri"/>
              <a:ea typeface="Calibri"/>
              <a:cs typeface="Calibri"/>
              <a:sym typeface="Calibri"/>
            </a:endParaRPr>
          </a:p>
          <a:p>
            <a:pPr marL="295275" marR="0" lvl="0" indent="0" algn="l" rtl="0">
              <a:lnSpc>
                <a:spcPct val="100000"/>
              </a:lnSpc>
              <a:spcBef>
                <a:spcPts val="0"/>
              </a:spcBef>
              <a:spcAft>
                <a:spcPts val="0"/>
              </a:spcAft>
              <a:buNone/>
            </a:pPr>
            <a:r>
              <a:rPr lang="en-US" sz="1950">
                <a:solidFill>
                  <a:srgbClr val="445369"/>
                </a:solidFill>
                <a:latin typeface="Calibri"/>
                <a:ea typeface="Calibri"/>
                <a:cs typeface="Calibri"/>
                <a:sym typeface="Calibri"/>
              </a:rPr>
              <a:t>C = epsilon closure (5) = {1,2,4,5,6,7}</a:t>
            </a:r>
            <a:endParaRPr sz="1950">
              <a:solidFill>
                <a:schemeClr val="dk1"/>
              </a:solidFill>
              <a:latin typeface="Calibri"/>
              <a:ea typeface="Calibri"/>
              <a:cs typeface="Calibri"/>
              <a:sym typeface="Calibri"/>
            </a:endParaRPr>
          </a:p>
        </p:txBody>
      </p:sp>
      <p:graphicFrame>
        <p:nvGraphicFramePr>
          <p:cNvPr id="284" name="Google Shape;284;p21"/>
          <p:cNvGraphicFramePr/>
          <p:nvPr/>
        </p:nvGraphicFramePr>
        <p:xfrm>
          <a:off x="5549391" y="2146300"/>
          <a:ext cx="3648075" cy="2324125"/>
        </p:xfrm>
        <a:graphic>
          <a:graphicData uri="http://schemas.openxmlformats.org/drawingml/2006/table">
            <a:tbl>
              <a:tblPr firstRow="1" bandRow="1">
                <a:noFill/>
                <a:tableStyleId>{E85DE1A1-A1B0-44A0-A59F-CCC16BF1A76C}</a:tableStyleId>
              </a:tblPr>
              <a:tblGrid>
                <a:gridCol w="1216025">
                  <a:extLst>
                    <a:ext uri="{9D8B030D-6E8A-4147-A177-3AD203B41FA5}">
                      <a16:colId xmlns:a16="http://schemas.microsoft.com/office/drawing/2014/main" val="20000"/>
                    </a:ext>
                  </a:extLst>
                </a:gridCol>
                <a:gridCol w="1216025">
                  <a:extLst>
                    <a:ext uri="{9D8B030D-6E8A-4147-A177-3AD203B41FA5}">
                      <a16:colId xmlns:a16="http://schemas.microsoft.com/office/drawing/2014/main" val="20001"/>
                    </a:ext>
                  </a:extLst>
                </a:gridCol>
                <a:gridCol w="1216025">
                  <a:extLst>
                    <a:ext uri="{9D8B030D-6E8A-4147-A177-3AD203B41FA5}">
                      <a16:colId xmlns:a16="http://schemas.microsoft.com/office/drawing/2014/main" val="20002"/>
                    </a:ext>
                  </a:extLst>
                </a:gridCol>
              </a:tblGrid>
              <a:tr h="387100">
                <a:tc>
                  <a:txBody>
                    <a:bodyPr/>
                    <a:lstStyle/>
                    <a:p>
                      <a:pPr marL="74930" marR="0" lvl="0" indent="0" algn="l" rtl="0">
                        <a:lnSpc>
                          <a:spcPct val="100000"/>
                        </a:lnSpc>
                        <a:spcBef>
                          <a:spcPts val="0"/>
                        </a:spcBef>
                        <a:spcAft>
                          <a:spcPts val="0"/>
                        </a:spcAft>
                        <a:buNone/>
                      </a:pPr>
                      <a:r>
                        <a:rPr lang="en-US" sz="1450" b="1" u="none" strike="noStrike" cap="none">
                          <a:solidFill>
                            <a:srgbClr val="FFFFFF"/>
                          </a:solidFill>
                          <a:latin typeface="Calibri"/>
                          <a:ea typeface="Calibri"/>
                          <a:cs typeface="Calibri"/>
                          <a:sym typeface="Calibri"/>
                        </a:rPr>
                        <a:t>State</a:t>
                      </a:r>
                      <a:endParaRPr sz="1450" u="none" strike="noStrike" cap="none">
                        <a:latin typeface="Calibri"/>
                        <a:ea typeface="Calibri"/>
                        <a:cs typeface="Calibri"/>
                        <a:sym typeface="Calibri"/>
                      </a:endParaRPr>
                    </a:p>
                  </a:txBody>
                  <a:tcPr marL="0" marR="0" marT="171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AD3"/>
                    </a:solidFill>
                  </a:tcPr>
                </a:tc>
                <a:tc>
                  <a:txBody>
                    <a:bodyPr/>
                    <a:lstStyle/>
                    <a:p>
                      <a:pPr marL="75565" marR="0" lvl="0" indent="0" algn="l" rtl="0">
                        <a:lnSpc>
                          <a:spcPct val="100000"/>
                        </a:lnSpc>
                        <a:spcBef>
                          <a:spcPts val="0"/>
                        </a:spcBef>
                        <a:spcAft>
                          <a:spcPts val="0"/>
                        </a:spcAft>
                        <a:buNone/>
                      </a:pPr>
                      <a:r>
                        <a:rPr lang="en-US" sz="1450" b="1" u="none" strike="noStrike" cap="none">
                          <a:solidFill>
                            <a:srgbClr val="FFFFFF"/>
                          </a:solidFill>
                          <a:latin typeface="Calibri"/>
                          <a:ea typeface="Calibri"/>
                          <a:cs typeface="Calibri"/>
                          <a:sym typeface="Calibri"/>
                        </a:rPr>
                        <a:t>Input a</a:t>
                      </a:r>
                      <a:endParaRPr sz="1450" u="none" strike="noStrike" cap="none">
                        <a:latin typeface="Calibri"/>
                        <a:ea typeface="Calibri"/>
                        <a:cs typeface="Calibri"/>
                        <a:sym typeface="Calibri"/>
                      </a:endParaRPr>
                    </a:p>
                  </a:txBody>
                  <a:tcPr marL="0" marR="0" marT="171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AD3"/>
                    </a:solidFill>
                  </a:tcPr>
                </a:tc>
                <a:tc>
                  <a:txBody>
                    <a:bodyPr/>
                    <a:lstStyle/>
                    <a:p>
                      <a:pPr marL="74930" marR="0" lvl="0" indent="0" algn="l" rtl="0">
                        <a:lnSpc>
                          <a:spcPct val="100000"/>
                        </a:lnSpc>
                        <a:spcBef>
                          <a:spcPts val="0"/>
                        </a:spcBef>
                        <a:spcAft>
                          <a:spcPts val="0"/>
                        </a:spcAft>
                        <a:buNone/>
                      </a:pPr>
                      <a:r>
                        <a:rPr lang="en-US" sz="1450" b="1" u="none" strike="noStrike" cap="none">
                          <a:solidFill>
                            <a:srgbClr val="FFFFFF"/>
                          </a:solidFill>
                          <a:latin typeface="Calibri"/>
                          <a:ea typeface="Calibri"/>
                          <a:cs typeface="Calibri"/>
                          <a:sym typeface="Calibri"/>
                        </a:rPr>
                        <a:t>Input b</a:t>
                      </a:r>
                      <a:endParaRPr sz="1450" u="none" strike="noStrike" cap="none">
                        <a:latin typeface="Calibri"/>
                        <a:ea typeface="Calibri"/>
                        <a:cs typeface="Calibri"/>
                        <a:sym typeface="Calibri"/>
                      </a:endParaRPr>
                    </a:p>
                  </a:txBody>
                  <a:tcPr marL="0" marR="0" marT="171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AD3"/>
                    </a:solidFill>
                  </a:tcPr>
                </a:tc>
                <a:extLst>
                  <a:ext uri="{0D108BD9-81ED-4DB2-BD59-A6C34878D82A}">
                    <a16:rowId xmlns:a16="http://schemas.microsoft.com/office/drawing/2014/main" val="10000"/>
                  </a:ext>
                </a:extLst>
              </a:tr>
              <a:tr h="387100">
                <a:tc>
                  <a:txBody>
                    <a:bodyPr/>
                    <a:lstStyle/>
                    <a:p>
                      <a:pPr marL="74930" marR="0" lvl="0" indent="0" algn="l" rtl="0">
                        <a:lnSpc>
                          <a:spcPct val="100000"/>
                        </a:lnSpc>
                        <a:spcBef>
                          <a:spcPts val="0"/>
                        </a:spcBef>
                        <a:spcAft>
                          <a:spcPts val="0"/>
                        </a:spcAft>
                        <a:buNone/>
                      </a:pPr>
                      <a:r>
                        <a:rPr lang="en-US" sz="1450" u="none" strike="noStrike" cap="none">
                          <a:latin typeface="Calibri"/>
                          <a:ea typeface="Calibri"/>
                          <a:cs typeface="Calibri"/>
                          <a:sym typeface="Calibri"/>
                        </a:rPr>
                        <a:t>A</a:t>
                      </a:r>
                      <a:endParaRPr sz="1450" u="none" strike="noStrike" cap="none">
                        <a:latin typeface="Calibri"/>
                        <a:ea typeface="Calibri"/>
                        <a:cs typeface="Calibri"/>
                        <a:sym typeface="Calibri"/>
                      </a:endParaRPr>
                    </a:p>
                  </a:txBody>
                  <a:tcPr marL="0" marR="0" marT="171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75565" marR="0" lvl="0" indent="0" algn="l" rtl="0">
                        <a:lnSpc>
                          <a:spcPct val="100000"/>
                        </a:lnSpc>
                        <a:spcBef>
                          <a:spcPts val="0"/>
                        </a:spcBef>
                        <a:spcAft>
                          <a:spcPts val="0"/>
                        </a:spcAft>
                        <a:buNone/>
                      </a:pPr>
                      <a:r>
                        <a:rPr lang="en-US" sz="1450" u="none" strike="noStrike" cap="none">
                          <a:latin typeface="Calibri"/>
                          <a:ea typeface="Calibri"/>
                          <a:cs typeface="Calibri"/>
                          <a:sym typeface="Calibri"/>
                        </a:rPr>
                        <a:t>B</a:t>
                      </a:r>
                      <a:endParaRPr sz="1450" u="none" strike="noStrike" cap="none">
                        <a:latin typeface="Calibri"/>
                        <a:ea typeface="Calibri"/>
                        <a:cs typeface="Calibri"/>
                        <a:sym typeface="Calibri"/>
                      </a:endParaRPr>
                    </a:p>
                  </a:txBody>
                  <a:tcPr marL="0" marR="0" marT="171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74930" marR="0" lvl="0" indent="0" algn="l" rtl="0">
                        <a:lnSpc>
                          <a:spcPct val="100000"/>
                        </a:lnSpc>
                        <a:spcBef>
                          <a:spcPts val="0"/>
                        </a:spcBef>
                        <a:spcAft>
                          <a:spcPts val="0"/>
                        </a:spcAft>
                        <a:buNone/>
                      </a:pPr>
                      <a:r>
                        <a:rPr lang="en-US" sz="1450" u="none" strike="noStrike" cap="none">
                          <a:latin typeface="Calibri"/>
                          <a:ea typeface="Calibri"/>
                          <a:cs typeface="Calibri"/>
                          <a:sym typeface="Calibri"/>
                        </a:rPr>
                        <a:t>C</a:t>
                      </a:r>
                      <a:endParaRPr sz="1450" u="none" strike="noStrike" cap="none">
                        <a:latin typeface="Calibri"/>
                        <a:ea typeface="Calibri"/>
                        <a:cs typeface="Calibri"/>
                        <a:sym typeface="Calibri"/>
                      </a:endParaRPr>
                    </a:p>
                  </a:txBody>
                  <a:tcPr marL="0" marR="0" marT="171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extLst>
                  <a:ext uri="{0D108BD9-81ED-4DB2-BD59-A6C34878D82A}">
                    <a16:rowId xmlns:a16="http://schemas.microsoft.com/office/drawing/2014/main" val="10001"/>
                  </a:ext>
                </a:extLst>
              </a:tr>
              <a:tr h="387100">
                <a:tc>
                  <a:txBody>
                    <a:bodyPr/>
                    <a:lstStyle/>
                    <a:p>
                      <a:pPr marL="74930" marR="0" lvl="0" indent="0" algn="l" rtl="0">
                        <a:lnSpc>
                          <a:spcPct val="100000"/>
                        </a:lnSpc>
                        <a:spcBef>
                          <a:spcPts val="0"/>
                        </a:spcBef>
                        <a:spcAft>
                          <a:spcPts val="0"/>
                        </a:spcAft>
                        <a:buNone/>
                      </a:pPr>
                      <a:r>
                        <a:rPr lang="en-US" sz="1450" u="none" strike="noStrike" cap="none">
                          <a:latin typeface="Calibri"/>
                          <a:ea typeface="Calibri"/>
                          <a:cs typeface="Calibri"/>
                          <a:sym typeface="Calibri"/>
                        </a:rPr>
                        <a:t>B</a:t>
                      </a:r>
                      <a:endParaRPr sz="1450" u="none" strike="noStrike" cap="none">
                        <a:latin typeface="Calibri"/>
                        <a:ea typeface="Calibri"/>
                        <a:cs typeface="Calibri"/>
                        <a:sym typeface="Calibri"/>
                      </a:endParaRPr>
                    </a:p>
                  </a:txBody>
                  <a:tcPr marL="0" marR="0" marT="184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tc>
                  <a:txBody>
                    <a:bodyPr/>
                    <a:lstStyle/>
                    <a:p>
                      <a:pPr marL="75565" marR="0" lvl="0" indent="0" algn="l" rtl="0">
                        <a:lnSpc>
                          <a:spcPct val="100000"/>
                        </a:lnSpc>
                        <a:spcBef>
                          <a:spcPts val="0"/>
                        </a:spcBef>
                        <a:spcAft>
                          <a:spcPts val="0"/>
                        </a:spcAft>
                        <a:buNone/>
                      </a:pPr>
                      <a:r>
                        <a:rPr lang="en-US" sz="1450" u="none" strike="noStrike" cap="none">
                          <a:latin typeface="Calibri"/>
                          <a:ea typeface="Calibri"/>
                          <a:cs typeface="Calibri"/>
                          <a:sym typeface="Calibri"/>
                        </a:rPr>
                        <a:t>D</a:t>
                      </a:r>
                      <a:endParaRPr sz="1450" u="none" strike="noStrike" cap="none">
                        <a:latin typeface="Calibri"/>
                        <a:ea typeface="Calibri"/>
                        <a:cs typeface="Calibri"/>
                        <a:sym typeface="Calibri"/>
                      </a:endParaRPr>
                    </a:p>
                  </a:txBody>
                  <a:tcPr marL="0" marR="0" marT="184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tc>
                  <a:txBody>
                    <a:bodyPr/>
                    <a:lstStyle/>
                    <a:p>
                      <a:pPr marL="74930" marR="0" lvl="0" indent="0" algn="l" rtl="0">
                        <a:lnSpc>
                          <a:spcPct val="100000"/>
                        </a:lnSpc>
                        <a:spcBef>
                          <a:spcPts val="0"/>
                        </a:spcBef>
                        <a:spcAft>
                          <a:spcPts val="0"/>
                        </a:spcAft>
                        <a:buNone/>
                      </a:pPr>
                      <a:r>
                        <a:rPr lang="en-US" sz="1450" u="none" strike="noStrike" cap="none">
                          <a:latin typeface="Calibri"/>
                          <a:ea typeface="Calibri"/>
                          <a:cs typeface="Calibri"/>
                          <a:sym typeface="Calibri"/>
                        </a:rPr>
                        <a:t>C</a:t>
                      </a:r>
                      <a:endParaRPr sz="1450" u="none" strike="noStrike" cap="none">
                        <a:latin typeface="Calibri"/>
                        <a:ea typeface="Calibri"/>
                        <a:cs typeface="Calibri"/>
                        <a:sym typeface="Calibri"/>
                      </a:endParaRPr>
                    </a:p>
                  </a:txBody>
                  <a:tcPr marL="0" marR="0" marT="184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extLst>
                  <a:ext uri="{0D108BD9-81ED-4DB2-BD59-A6C34878D82A}">
                    <a16:rowId xmlns:a16="http://schemas.microsoft.com/office/drawing/2014/main" val="10002"/>
                  </a:ext>
                </a:extLst>
              </a:tr>
              <a:tr h="388625">
                <a:tc>
                  <a:txBody>
                    <a:bodyPr/>
                    <a:lstStyle/>
                    <a:p>
                      <a:pPr marL="74930" marR="0" lvl="0" indent="0" algn="l" rtl="0">
                        <a:lnSpc>
                          <a:spcPct val="100000"/>
                        </a:lnSpc>
                        <a:spcBef>
                          <a:spcPts val="0"/>
                        </a:spcBef>
                        <a:spcAft>
                          <a:spcPts val="0"/>
                        </a:spcAft>
                        <a:buNone/>
                      </a:pPr>
                      <a:r>
                        <a:rPr lang="en-US" sz="1450" u="none" strike="noStrike" cap="none">
                          <a:latin typeface="Calibri"/>
                          <a:ea typeface="Calibri"/>
                          <a:cs typeface="Calibri"/>
                          <a:sym typeface="Calibri"/>
                        </a:rPr>
                        <a:t>C</a:t>
                      </a:r>
                      <a:endParaRPr sz="1450" u="none" strike="noStrike" cap="none">
                        <a:latin typeface="Calibri"/>
                        <a:ea typeface="Calibri"/>
                        <a:cs typeface="Calibri"/>
                        <a:sym typeface="Calibri"/>
                      </a:endParaRPr>
                    </a:p>
                  </a:txBody>
                  <a:tcPr marL="0" marR="0" marT="184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75565" marR="0" lvl="0" indent="0" algn="l" rtl="0">
                        <a:lnSpc>
                          <a:spcPct val="100000"/>
                        </a:lnSpc>
                        <a:spcBef>
                          <a:spcPts val="0"/>
                        </a:spcBef>
                        <a:spcAft>
                          <a:spcPts val="0"/>
                        </a:spcAft>
                        <a:buNone/>
                      </a:pPr>
                      <a:r>
                        <a:rPr lang="en-US" sz="1450" u="none" strike="noStrike" cap="none">
                          <a:latin typeface="Calibri"/>
                          <a:ea typeface="Calibri"/>
                          <a:cs typeface="Calibri"/>
                          <a:sym typeface="Calibri"/>
                        </a:rPr>
                        <a:t>B</a:t>
                      </a:r>
                      <a:endParaRPr sz="1450" u="none" strike="noStrike" cap="none">
                        <a:latin typeface="Calibri"/>
                        <a:ea typeface="Calibri"/>
                        <a:cs typeface="Calibri"/>
                        <a:sym typeface="Calibri"/>
                      </a:endParaRPr>
                    </a:p>
                  </a:txBody>
                  <a:tcPr marL="0" marR="0" marT="184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74930" marR="0" lvl="0" indent="0" algn="l" rtl="0">
                        <a:lnSpc>
                          <a:spcPct val="100000"/>
                        </a:lnSpc>
                        <a:spcBef>
                          <a:spcPts val="0"/>
                        </a:spcBef>
                        <a:spcAft>
                          <a:spcPts val="0"/>
                        </a:spcAft>
                        <a:buNone/>
                      </a:pPr>
                      <a:r>
                        <a:rPr lang="en-US" sz="1450" u="none" strike="noStrike" cap="none">
                          <a:latin typeface="Calibri"/>
                          <a:ea typeface="Calibri"/>
                          <a:cs typeface="Calibri"/>
                          <a:sym typeface="Calibri"/>
                        </a:rPr>
                        <a:t>E</a:t>
                      </a:r>
                      <a:endParaRPr sz="1450" u="none" strike="noStrike" cap="none">
                        <a:latin typeface="Calibri"/>
                        <a:ea typeface="Calibri"/>
                        <a:cs typeface="Calibri"/>
                        <a:sym typeface="Calibri"/>
                      </a:endParaRPr>
                    </a:p>
                  </a:txBody>
                  <a:tcPr marL="0" marR="0" marT="184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extLst>
                  <a:ext uri="{0D108BD9-81ED-4DB2-BD59-A6C34878D82A}">
                    <a16:rowId xmlns:a16="http://schemas.microsoft.com/office/drawing/2014/main" val="10003"/>
                  </a:ext>
                </a:extLst>
              </a:tr>
              <a:tr h="387100">
                <a:tc>
                  <a:txBody>
                    <a:bodyPr/>
                    <a:lstStyle/>
                    <a:p>
                      <a:pPr marL="74930" marR="0" lvl="0" indent="0" algn="l" rtl="0">
                        <a:lnSpc>
                          <a:spcPct val="100000"/>
                        </a:lnSpc>
                        <a:spcBef>
                          <a:spcPts val="0"/>
                        </a:spcBef>
                        <a:spcAft>
                          <a:spcPts val="0"/>
                        </a:spcAft>
                        <a:buNone/>
                      </a:pPr>
                      <a:r>
                        <a:rPr lang="en-US" sz="1450" u="none" strike="noStrike" cap="none">
                          <a:latin typeface="Calibri"/>
                          <a:ea typeface="Calibri"/>
                          <a:cs typeface="Calibri"/>
                          <a:sym typeface="Calibri"/>
                        </a:rPr>
                        <a:t>D</a:t>
                      </a:r>
                      <a:endParaRPr sz="1450" u="none" strike="noStrike" cap="none">
                        <a:latin typeface="Calibri"/>
                        <a:ea typeface="Calibri"/>
                        <a:cs typeface="Calibri"/>
                        <a:sym typeface="Calibri"/>
                      </a:endParaRPr>
                    </a:p>
                  </a:txBody>
                  <a:tcPr marL="0" marR="0" marT="17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tc>
                  <a:txBody>
                    <a:bodyPr/>
                    <a:lstStyle/>
                    <a:p>
                      <a:pPr marL="75565" marR="0" lvl="0" indent="0" algn="l" rtl="0">
                        <a:lnSpc>
                          <a:spcPct val="100000"/>
                        </a:lnSpc>
                        <a:spcBef>
                          <a:spcPts val="0"/>
                        </a:spcBef>
                        <a:spcAft>
                          <a:spcPts val="0"/>
                        </a:spcAft>
                        <a:buNone/>
                      </a:pPr>
                      <a:r>
                        <a:rPr lang="en-US" sz="1450" u="none" strike="noStrike" cap="none">
                          <a:latin typeface="Calibri"/>
                          <a:ea typeface="Calibri"/>
                          <a:cs typeface="Calibri"/>
                          <a:sym typeface="Calibri"/>
                        </a:rPr>
                        <a:t>B</a:t>
                      </a:r>
                      <a:endParaRPr sz="1450" u="none" strike="noStrike" cap="none">
                        <a:latin typeface="Calibri"/>
                        <a:ea typeface="Calibri"/>
                        <a:cs typeface="Calibri"/>
                        <a:sym typeface="Calibri"/>
                      </a:endParaRPr>
                    </a:p>
                  </a:txBody>
                  <a:tcPr marL="0" marR="0" marT="17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tc>
                  <a:txBody>
                    <a:bodyPr/>
                    <a:lstStyle/>
                    <a:p>
                      <a:pPr marL="74930" marR="0" lvl="0" indent="0" algn="l" rtl="0">
                        <a:lnSpc>
                          <a:spcPct val="100000"/>
                        </a:lnSpc>
                        <a:spcBef>
                          <a:spcPts val="0"/>
                        </a:spcBef>
                        <a:spcAft>
                          <a:spcPts val="0"/>
                        </a:spcAft>
                        <a:buNone/>
                      </a:pPr>
                      <a:r>
                        <a:rPr lang="en-US" sz="1450" u="none" strike="noStrike" cap="none">
                          <a:latin typeface="Calibri"/>
                          <a:ea typeface="Calibri"/>
                          <a:cs typeface="Calibri"/>
                          <a:sym typeface="Calibri"/>
                        </a:rPr>
                        <a:t>C</a:t>
                      </a:r>
                      <a:endParaRPr sz="1450" u="none" strike="noStrike" cap="none">
                        <a:latin typeface="Calibri"/>
                        <a:ea typeface="Calibri"/>
                        <a:cs typeface="Calibri"/>
                        <a:sym typeface="Calibri"/>
                      </a:endParaRPr>
                    </a:p>
                  </a:txBody>
                  <a:tcPr marL="0" marR="0" marT="17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extLst>
                  <a:ext uri="{0D108BD9-81ED-4DB2-BD59-A6C34878D82A}">
                    <a16:rowId xmlns:a16="http://schemas.microsoft.com/office/drawing/2014/main" val="10004"/>
                  </a:ext>
                </a:extLst>
              </a:tr>
              <a:tr h="387100">
                <a:tc>
                  <a:txBody>
                    <a:bodyPr/>
                    <a:lstStyle/>
                    <a:p>
                      <a:pPr marL="74930" marR="0" lvl="0" indent="0" algn="l" rtl="0">
                        <a:lnSpc>
                          <a:spcPct val="100000"/>
                        </a:lnSpc>
                        <a:spcBef>
                          <a:spcPts val="0"/>
                        </a:spcBef>
                        <a:spcAft>
                          <a:spcPts val="0"/>
                        </a:spcAft>
                        <a:buNone/>
                      </a:pPr>
                      <a:r>
                        <a:rPr lang="en-US" sz="1450" u="none" strike="noStrike" cap="none">
                          <a:latin typeface="Calibri"/>
                          <a:ea typeface="Calibri"/>
                          <a:cs typeface="Calibri"/>
                          <a:sym typeface="Calibri"/>
                        </a:rPr>
                        <a:t>E</a:t>
                      </a:r>
                      <a:endParaRPr sz="1450" u="none" strike="noStrike" cap="none">
                        <a:latin typeface="Calibri"/>
                        <a:ea typeface="Calibri"/>
                        <a:cs typeface="Calibri"/>
                        <a:sym typeface="Calibri"/>
                      </a:endParaRPr>
                    </a:p>
                  </a:txBody>
                  <a:tcPr marL="0" marR="0" marT="17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75565" marR="0" lvl="0" indent="0" algn="l" rtl="0">
                        <a:lnSpc>
                          <a:spcPct val="100000"/>
                        </a:lnSpc>
                        <a:spcBef>
                          <a:spcPts val="0"/>
                        </a:spcBef>
                        <a:spcAft>
                          <a:spcPts val="0"/>
                        </a:spcAft>
                        <a:buNone/>
                      </a:pPr>
                      <a:r>
                        <a:rPr lang="en-US" sz="1450" u="none" strike="noStrike" cap="none">
                          <a:latin typeface="Calibri"/>
                          <a:ea typeface="Calibri"/>
                          <a:cs typeface="Calibri"/>
                          <a:sym typeface="Calibri"/>
                        </a:rPr>
                        <a:t>D</a:t>
                      </a:r>
                      <a:endParaRPr sz="1450" u="none" strike="noStrike" cap="none">
                        <a:latin typeface="Calibri"/>
                        <a:ea typeface="Calibri"/>
                        <a:cs typeface="Calibri"/>
                        <a:sym typeface="Calibri"/>
                      </a:endParaRPr>
                    </a:p>
                  </a:txBody>
                  <a:tcPr marL="0" marR="0" marT="17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74930" marR="0" lvl="0" indent="0" algn="l" rtl="0">
                        <a:lnSpc>
                          <a:spcPct val="100000"/>
                        </a:lnSpc>
                        <a:spcBef>
                          <a:spcPts val="0"/>
                        </a:spcBef>
                        <a:spcAft>
                          <a:spcPts val="0"/>
                        </a:spcAft>
                        <a:buNone/>
                      </a:pPr>
                      <a:r>
                        <a:rPr lang="en-US" sz="1450" u="none" strike="noStrike" cap="none">
                          <a:latin typeface="Calibri"/>
                          <a:ea typeface="Calibri"/>
                          <a:cs typeface="Calibri"/>
                          <a:sym typeface="Calibri"/>
                        </a:rPr>
                        <a:t>C</a:t>
                      </a:r>
                      <a:endParaRPr sz="1450" u="none" strike="noStrike" cap="none">
                        <a:latin typeface="Calibri"/>
                        <a:ea typeface="Calibri"/>
                        <a:cs typeface="Calibri"/>
                        <a:sym typeface="Calibri"/>
                      </a:endParaRPr>
                    </a:p>
                  </a:txBody>
                  <a:tcPr marL="0" marR="0" marT="17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extLst>
                  <a:ext uri="{0D108BD9-81ED-4DB2-BD59-A6C34878D82A}">
                    <a16:rowId xmlns:a16="http://schemas.microsoft.com/office/drawing/2014/main" val="10005"/>
                  </a:ext>
                </a:extLst>
              </a:tr>
            </a:tbl>
          </a:graphicData>
        </a:graphic>
      </p:graphicFrame>
      <p:sp>
        <p:nvSpPr>
          <p:cNvPr id="285" name="Google Shape;285;p21"/>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Shape 289"/>
        <p:cNvGrpSpPr/>
        <p:nvPr/>
      </p:nvGrpSpPr>
      <p:grpSpPr>
        <a:xfrm>
          <a:off x="0" y="0"/>
          <a:ext cx="0" cy="0"/>
          <a:chOff x="0" y="0"/>
          <a:chExt cx="0" cy="0"/>
        </a:xfrm>
      </p:grpSpPr>
      <p:sp>
        <p:nvSpPr>
          <p:cNvPr id="290" name="Google Shape;290;p22"/>
          <p:cNvSpPr txBox="1"/>
          <p:nvPr/>
        </p:nvSpPr>
        <p:spPr>
          <a:xfrm>
            <a:off x="948436" y="1686814"/>
            <a:ext cx="1374140" cy="2205355"/>
          </a:xfrm>
          <a:prstGeom prst="rect">
            <a:avLst/>
          </a:prstGeom>
          <a:noFill/>
          <a:ln>
            <a:noFill/>
          </a:ln>
        </p:spPr>
        <p:txBody>
          <a:bodyPr spcFirstLastPara="1" wrap="square" lIns="0" tIns="12700" rIns="0" bIns="0" anchor="t" anchorCtr="0">
            <a:spAutoFit/>
          </a:bodyPr>
          <a:lstStyle/>
          <a:p>
            <a:pPr marL="201295" marR="0" lvl="0" indent="-189230" algn="l" rtl="0">
              <a:lnSpc>
                <a:spcPct val="100000"/>
              </a:lnSpc>
              <a:spcBef>
                <a:spcPts val="0"/>
              </a:spcBef>
              <a:spcAft>
                <a:spcPts val="0"/>
              </a:spcAft>
              <a:buClr>
                <a:schemeClr val="dk1"/>
              </a:buClr>
              <a:buSzPts val="1950"/>
              <a:buFont typeface="Arial"/>
              <a:buChar char="•"/>
            </a:pPr>
            <a:r>
              <a:rPr lang="en-US" sz="1950">
                <a:solidFill>
                  <a:schemeClr val="dk1"/>
                </a:solidFill>
                <a:latin typeface="Calibri"/>
                <a:ea typeface="Calibri"/>
                <a:cs typeface="Calibri"/>
                <a:sym typeface="Calibri"/>
              </a:rPr>
              <a:t>Input string</a:t>
            </a:r>
            <a:endParaRPr sz="1950">
              <a:solidFill>
                <a:schemeClr val="dk1"/>
              </a:solidFill>
              <a:latin typeface="Calibri"/>
              <a:ea typeface="Calibri"/>
              <a:cs typeface="Calibri"/>
              <a:sym typeface="Calibri"/>
            </a:endParaRPr>
          </a:p>
          <a:p>
            <a:pPr marL="0" marR="0" lvl="0" indent="0" algn="l" rtl="0">
              <a:lnSpc>
                <a:spcPct val="100000"/>
              </a:lnSpc>
              <a:spcBef>
                <a:spcPts val="15"/>
              </a:spcBef>
              <a:spcAft>
                <a:spcPts val="0"/>
              </a:spcAft>
              <a:buNone/>
            </a:pPr>
            <a:endParaRPr sz="1950">
              <a:solidFill>
                <a:schemeClr val="dk1"/>
              </a:solidFill>
              <a:latin typeface="Calibri"/>
              <a:ea typeface="Calibri"/>
              <a:cs typeface="Calibri"/>
              <a:sym typeface="Calibri"/>
            </a:endParaRPr>
          </a:p>
          <a:p>
            <a:pPr marL="13334" marR="730885" lvl="0" indent="0" algn="l" rtl="0">
              <a:lnSpc>
                <a:spcPct val="105900"/>
              </a:lnSpc>
              <a:spcBef>
                <a:spcPts val="5"/>
              </a:spcBef>
              <a:spcAft>
                <a:spcPts val="0"/>
              </a:spcAft>
              <a:buNone/>
            </a:pPr>
            <a:r>
              <a:rPr lang="en-US" sz="1950">
                <a:solidFill>
                  <a:schemeClr val="dk1"/>
                </a:solidFill>
                <a:latin typeface="Calibri"/>
                <a:ea typeface="Calibri"/>
                <a:cs typeface="Calibri"/>
                <a:sym typeface="Calibri"/>
              </a:rPr>
              <a:t>abb  aaabb</a:t>
            </a:r>
            <a:endParaRPr sz="1950">
              <a:solidFill>
                <a:schemeClr val="dk1"/>
              </a:solidFill>
              <a:latin typeface="Calibri"/>
              <a:ea typeface="Calibri"/>
              <a:cs typeface="Calibri"/>
              <a:sym typeface="Calibri"/>
            </a:endParaRPr>
          </a:p>
          <a:p>
            <a:pPr marL="13334" marR="0" lvl="0" indent="0" algn="l" rtl="0">
              <a:lnSpc>
                <a:spcPct val="100000"/>
              </a:lnSpc>
              <a:spcBef>
                <a:spcPts val="200"/>
              </a:spcBef>
              <a:spcAft>
                <a:spcPts val="0"/>
              </a:spcAft>
              <a:buNone/>
            </a:pPr>
            <a:r>
              <a:rPr lang="en-US" sz="1950">
                <a:solidFill>
                  <a:schemeClr val="dk1"/>
                </a:solidFill>
                <a:latin typeface="Calibri"/>
                <a:ea typeface="Calibri"/>
                <a:cs typeface="Calibri"/>
                <a:sym typeface="Calibri"/>
              </a:rPr>
              <a:t>aaabbbabb</a:t>
            </a:r>
            <a:endParaRPr sz="1950">
              <a:solidFill>
                <a:schemeClr val="dk1"/>
              </a:solidFill>
              <a:latin typeface="Calibri"/>
              <a:ea typeface="Calibri"/>
              <a:cs typeface="Calibri"/>
              <a:sym typeface="Calibri"/>
            </a:endParaRPr>
          </a:p>
          <a:p>
            <a:pPr marL="0" marR="0" lvl="0" indent="0" algn="l" rtl="0">
              <a:lnSpc>
                <a:spcPct val="100000"/>
              </a:lnSpc>
              <a:spcBef>
                <a:spcPts val="20"/>
              </a:spcBef>
              <a:spcAft>
                <a:spcPts val="0"/>
              </a:spcAft>
              <a:buNone/>
            </a:pPr>
            <a:endParaRPr sz="2100">
              <a:solidFill>
                <a:schemeClr val="dk1"/>
              </a:solidFill>
              <a:latin typeface="Calibri"/>
              <a:ea typeface="Calibri"/>
              <a:cs typeface="Calibri"/>
              <a:sym typeface="Calibri"/>
            </a:endParaRPr>
          </a:p>
          <a:p>
            <a:pPr marL="13334" marR="0" lvl="0" indent="0" algn="l" rtl="0">
              <a:lnSpc>
                <a:spcPct val="100000"/>
              </a:lnSpc>
              <a:spcBef>
                <a:spcPts val="0"/>
              </a:spcBef>
              <a:spcAft>
                <a:spcPts val="0"/>
              </a:spcAft>
              <a:buNone/>
            </a:pPr>
            <a:r>
              <a:rPr lang="en-US" sz="1950">
                <a:solidFill>
                  <a:schemeClr val="dk1"/>
                </a:solidFill>
                <a:latin typeface="Calibri"/>
                <a:ea typeface="Calibri"/>
                <a:cs typeface="Calibri"/>
                <a:sym typeface="Calibri"/>
              </a:rPr>
              <a:t>aabc</a:t>
            </a:r>
            <a:endParaRPr sz="1950">
              <a:solidFill>
                <a:schemeClr val="dk1"/>
              </a:solidFill>
              <a:latin typeface="Calibri"/>
              <a:ea typeface="Calibri"/>
              <a:cs typeface="Calibri"/>
              <a:sym typeface="Calibri"/>
            </a:endParaRPr>
          </a:p>
        </p:txBody>
      </p:sp>
      <p:graphicFrame>
        <p:nvGraphicFramePr>
          <p:cNvPr id="291" name="Google Shape;291;p22"/>
          <p:cNvGraphicFramePr/>
          <p:nvPr/>
        </p:nvGraphicFramePr>
        <p:xfrm>
          <a:off x="5130291" y="1658620"/>
          <a:ext cx="3653775" cy="2729475"/>
        </p:xfrm>
        <a:graphic>
          <a:graphicData uri="http://schemas.openxmlformats.org/drawingml/2006/table">
            <a:tbl>
              <a:tblPr firstRow="1" bandRow="1">
                <a:noFill/>
                <a:tableStyleId>{E85DE1A1-A1B0-44A0-A59F-CCC16BF1A76C}</a:tableStyleId>
              </a:tblPr>
              <a:tblGrid>
                <a:gridCol w="1217925">
                  <a:extLst>
                    <a:ext uri="{9D8B030D-6E8A-4147-A177-3AD203B41FA5}">
                      <a16:colId xmlns:a16="http://schemas.microsoft.com/office/drawing/2014/main" val="20000"/>
                    </a:ext>
                  </a:extLst>
                </a:gridCol>
                <a:gridCol w="1217925">
                  <a:extLst>
                    <a:ext uri="{9D8B030D-6E8A-4147-A177-3AD203B41FA5}">
                      <a16:colId xmlns:a16="http://schemas.microsoft.com/office/drawing/2014/main" val="20001"/>
                    </a:ext>
                  </a:extLst>
                </a:gridCol>
                <a:gridCol w="1217925">
                  <a:extLst>
                    <a:ext uri="{9D8B030D-6E8A-4147-A177-3AD203B41FA5}">
                      <a16:colId xmlns:a16="http://schemas.microsoft.com/office/drawing/2014/main" val="20002"/>
                    </a:ext>
                  </a:extLst>
                </a:gridCol>
              </a:tblGrid>
              <a:tr h="454150">
                <a:tc>
                  <a:txBody>
                    <a:bodyPr/>
                    <a:lstStyle/>
                    <a:p>
                      <a:pPr marL="74930" marR="0" lvl="0" indent="0" algn="l" rtl="0">
                        <a:lnSpc>
                          <a:spcPct val="100000"/>
                        </a:lnSpc>
                        <a:spcBef>
                          <a:spcPts val="0"/>
                        </a:spcBef>
                        <a:spcAft>
                          <a:spcPts val="0"/>
                        </a:spcAft>
                        <a:buNone/>
                      </a:pPr>
                      <a:r>
                        <a:rPr lang="en-US" sz="1450" b="1" u="none" strike="noStrike" cap="none">
                          <a:solidFill>
                            <a:srgbClr val="FFFFFF"/>
                          </a:solidFill>
                          <a:latin typeface="Calibri"/>
                          <a:ea typeface="Calibri"/>
                          <a:cs typeface="Calibri"/>
                          <a:sym typeface="Calibri"/>
                        </a:rPr>
                        <a:t>State</a:t>
                      </a:r>
                      <a:endParaRPr sz="1450" u="none" strike="noStrike" cap="none">
                        <a:latin typeface="Calibri"/>
                        <a:ea typeface="Calibri"/>
                        <a:cs typeface="Calibri"/>
                        <a:sym typeface="Calibri"/>
                      </a:endParaRPr>
                    </a:p>
                  </a:txBody>
                  <a:tcPr marL="0" marR="0" marT="171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AD3"/>
                    </a:solidFill>
                  </a:tcPr>
                </a:tc>
                <a:tc>
                  <a:txBody>
                    <a:bodyPr/>
                    <a:lstStyle/>
                    <a:p>
                      <a:pPr marL="74295" marR="0" lvl="0" indent="0" algn="l" rtl="0">
                        <a:lnSpc>
                          <a:spcPct val="100000"/>
                        </a:lnSpc>
                        <a:spcBef>
                          <a:spcPts val="0"/>
                        </a:spcBef>
                        <a:spcAft>
                          <a:spcPts val="0"/>
                        </a:spcAft>
                        <a:buNone/>
                      </a:pPr>
                      <a:r>
                        <a:rPr lang="en-US" sz="1450" b="1" u="none" strike="noStrike" cap="none">
                          <a:solidFill>
                            <a:srgbClr val="FFFFFF"/>
                          </a:solidFill>
                          <a:latin typeface="Calibri"/>
                          <a:ea typeface="Calibri"/>
                          <a:cs typeface="Calibri"/>
                          <a:sym typeface="Calibri"/>
                        </a:rPr>
                        <a:t>Input a</a:t>
                      </a:r>
                      <a:endParaRPr sz="1450" u="none" strike="noStrike" cap="none">
                        <a:latin typeface="Calibri"/>
                        <a:ea typeface="Calibri"/>
                        <a:cs typeface="Calibri"/>
                        <a:sym typeface="Calibri"/>
                      </a:endParaRPr>
                    </a:p>
                  </a:txBody>
                  <a:tcPr marL="0" marR="0" marT="171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AD3"/>
                    </a:solidFill>
                  </a:tcPr>
                </a:tc>
                <a:tc>
                  <a:txBody>
                    <a:bodyPr/>
                    <a:lstStyle/>
                    <a:p>
                      <a:pPr marL="74930" marR="0" lvl="0" indent="0" algn="l" rtl="0">
                        <a:lnSpc>
                          <a:spcPct val="100000"/>
                        </a:lnSpc>
                        <a:spcBef>
                          <a:spcPts val="0"/>
                        </a:spcBef>
                        <a:spcAft>
                          <a:spcPts val="0"/>
                        </a:spcAft>
                        <a:buNone/>
                      </a:pPr>
                      <a:r>
                        <a:rPr lang="en-US" sz="1450" b="1" u="none" strike="noStrike" cap="none">
                          <a:solidFill>
                            <a:srgbClr val="FFFFFF"/>
                          </a:solidFill>
                          <a:latin typeface="Calibri"/>
                          <a:ea typeface="Calibri"/>
                          <a:cs typeface="Calibri"/>
                          <a:sym typeface="Calibri"/>
                        </a:rPr>
                        <a:t>Input b</a:t>
                      </a:r>
                      <a:endParaRPr sz="1450" u="none" strike="noStrike" cap="none">
                        <a:latin typeface="Calibri"/>
                        <a:ea typeface="Calibri"/>
                        <a:cs typeface="Calibri"/>
                        <a:sym typeface="Calibri"/>
                      </a:endParaRPr>
                    </a:p>
                  </a:txBody>
                  <a:tcPr marL="0" marR="0" marT="171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AD3"/>
                    </a:solidFill>
                  </a:tcPr>
                </a:tc>
                <a:extLst>
                  <a:ext uri="{0D108BD9-81ED-4DB2-BD59-A6C34878D82A}">
                    <a16:rowId xmlns:a16="http://schemas.microsoft.com/office/drawing/2014/main" val="10000"/>
                  </a:ext>
                </a:extLst>
              </a:tr>
              <a:tr h="455675">
                <a:tc>
                  <a:txBody>
                    <a:bodyPr/>
                    <a:lstStyle/>
                    <a:p>
                      <a:pPr marL="74930" marR="0" lvl="0" indent="0" algn="l" rtl="0">
                        <a:lnSpc>
                          <a:spcPct val="100000"/>
                        </a:lnSpc>
                        <a:spcBef>
                          <a:spcPts val="0"/>
                        </a:spcBef>
                        <a:spcAft>
                          <a:spcPts val="0"/>
                        </a:spcAft>
                        <a:buNone/>
                      </a:pPr>
                      <a:r>
                        <a:rPr lang="en-US" sz="1450" u="none" strike="noStrike" cap="none">
                          <a:latin typeface="Calibri"/>
                          <a:ea typeface="Calibri"/>
                          <a:cs typeface="Calibri"/>
                          <a:sym typeface="Calibri"/>
                        </a:rPr>
                        <a:t>A</a:t>
                      </a:r>
                      <a:endParaRPr sz="1450" u="none" strike="noStrike" cap="none">
                        <a:latin typeface="Calibri"/>
                        <a:ea typeface="Calibri"/>
                        <a:cs typeface="Calibri"/>
                        <a:sym typeface="Calibri"/>
                      </a:endParaRPr>
                    </a:p>
                  </a:txBody>
                  <a:tcPr marL="0" marR="0" marT="184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74295" marR="0" lvl="0" indent="0" algn="l" rtl="0">
                        <a:lnSpc>
                          <a:spcPct val="100000"/>
                        </a:lnSpc>
                        <a:spcBef>
                          <a:spcPts val="0"/>
                        </a:spcBef>
                        <a:spcAft>
                          <a:spcPts val="0"/>
                        </a:spcAft>
                        <a:buNone/>
                      </a:pPr>
                      <a:r>
                        <a:rPr lang="en-US" sz="1450" u="none" strike="noStrike" cap="none">
                          <a:latin typeface="Calibri"/>
                          <a:ea typeface="Calibri"/>
                          <a:cs typeface="Calibri"/>
                          <a:sym typeface="Calibri"/>
                        </a:rPr>
                        <a:t>B</a:t>
                      </a:r>
                      <a:endParaRPr sz="1450" u="none" strike="noStrike" cap="none">
                        <a:latin typeface="Calibri"/>
                        <a:ea typeface="Calibri"/>
                        <a:cs typeface="Calibri"/>
                        <a:sym typeface="Calibri"/>
                      </a:endParaRPr>
                    </a:p>
                  </a:txBody>
                  <a:tcPr marL="0" marR="0" marT="184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74930" marR="0" lvl="0" indent="0" algn="l" rtl="0">
                        <a:lnSpc>
                          <a:spcPct val="100000"/>
                        </a:lnSpc>
                        <a:spcBef>
                          <a:spcPts val="0"/>
                        </a:spcBef>
                        <a:spcAft>
                          <a:spcPts val="0"/>
                        </a:spcAft>
                        <a:buNone/>
                      </a:pPr>
                      <a:r>
                        <a:rPr lang="en-US" sz="1450" u="none" strike="noStrike" cap="none">
                          <a:latin typeface="Calibri"/>
                          <a:ea typeface="Calibri"/>
                          <a:cs typeface="Calibri"/>
                          <a:sym typeface="Calibri"/>
                        </a:rPr>
                        <a:t>C</a:t>
                      </a:r>
                      <a:endParaRPr sz="1450" u="none" strike="noStrike" cap="none">
                        <a:latin typeface="Calibri"/>
                        <a:ea typeface="Calibri"/>
                        <a:cs typeface="Calibri"/>
                        <a:sym typeface="Calibri"/>
                      </a:endParaRPr>
                    </a:p>
                  </a:txBody>
                  <a:tcPr marL="0" marR="0" marT="184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extLst>
                  <a:ext uri="{0D108BD9-81ED-4DB2-BD59-A6C34878D82A}">
                    <a16:rowId xmlns:a16="http://schemas.microsoft.com/office/drawing/2014/main" val="10001"/>
                  </a:ext>
                </a:extLst>
              </a:tr>
              <a:tr h="454150">
                <a:tc>
                  <a:txBody>
                    <a:bodyPr/>
                    <a:lstStyle/>
                    <a:p>
                      <a:pPr marL="74930" marR="0" lvl="0" indent="0" algn="l" rtl="0">
                        <a:lnSpc>
                          <a:spcPct val="100000"/>
                        </a:lnSpc>
                        <a:spcBef>
                          <a:spcPts val="0"/>
                        </a:spcBef>
                        <a:spcAft>
                          <a:spcPts val="0"/>
                        </a:spcAft>
                        <a:buNone/>
                      </a:pPr>
                      <a:r>
                        <a:rPr lang="en-US" sz="1450" u="none" strike="noStrike" cap="none">
                          <a:latin typeface="Calibri"/>
                          <a:ea typeface="Calibri"/>
                          <a:cs typeface="Calibri"/>
                          <a:sym typeface="Calibri"/>
                        </a:rPr>
                        <a:t>B</a:t>
                      </a:r>
                      <a:endParaRPr sz="1450" u="none" strike="noStrike" cap="none">
                        <a:latin typeface="Calibri"/>
                        <a:ea typeface="Calibri"/>
                        <a:cs typeface="Calibri"/>
                        <a:sym typeface="Calibri"/>
                      </a:endParaRPr>
                    </a:p>
                  </a:txBody>
                  <a:tcPr marL="0" marR="0" marT="171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tc>
                  <a:txBody>
                    <a:bodyPr/>
                    <a:lstStyle/>
                    <a:p>
                      <a:pPr marL="74295" marR="0" lvl="0" indent="0" algn="l" rtl="0">
                        <a:lnSpc>
                          <a:spcPct val="100000"/>
                        </a:lnSpc>
                        <a:spcBef>
                          <a:spcPts val="0"/>
                        </a:spcBef>
                        <a:spcAft>
                          <a:spcPts val="0"/>
                        </a:spcAft>
                        <a:buNone/>
                      </a:pPr>
                      <a:r>
                        <a:rPr lang="en-US" sz="1450" u="none" strike="noStrike" cap="none">
                          <a:latin typeface="Calibri"/>
                          <a:ea typeface="Calibri"/>
                          <a:cs typeface="Calibri"/>
                          <a:sym typeface="Calibri"/>
                        </a:rPr>
                        <a:t>D</a:t>
                      </a:r>
                      <a:endParaRPr sz="1450" u="none" strike="noStrike" cap="none">
                        <a:latin typeface="Calibri"/>
                        <a:ea typeface="Calibri"/>
                        <a:cs typeface="Calibri"/>
                        <a:sym typeface="Calibri"/>
                      </a:endParaRPr>
                    </a:p>
                  </a:txBody>
                  <a:tcPr marL="0" marR="0" marT="171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tc>
                  <a:txBody>
                    <a:bodyPr/>
                    <a:lstStyle/>
                    <a:p>
                      <a:pPr marL="74930" marR="0" lvl="0" indent="0" algn="l" rtl="0">
                        <a:lnSpc>
                          <a:spcPct val="100000"/>
                        </a:lnSpc>
                        <a:spcBef>
                          <a:spcPts val="0"/>
                        </a:spcBef>
                        <a:spcAft>
                          <a:spcPts val="0"/>
                        </a:spcAft>
                        <a:buNone/>
                      </a:pPr>
                      <a:r>
                        <a:rPr lang="en-US" sz="1450" u="none" strike="noStrike" cap="none">
                          <a:latin typeface="Calibri"/>
                          <a:ea typeface="Calibri"/>
                          <a:cs typeface="Calibri"/>
                          <a:sym typeface="Calibri"/>
                        </a:rPr>
                        <a:t>C</a:t>
                      </a:r>
                      <a:endParaRPr sz="1450" u="none" strike="noStrike" cap="none">
                        <a:latin typeface="Calibri"/>
                        <a:ea typeface="Calibri"/>
                        <a:cs typeface="Calibri"/>
                        <a:sym typeface="Calibri"/>
                      </a:endParaRPr>
                    </a:p>
                  </a:txBody>
                  <a:tcPr marL="0" marR="0" marT="171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extLst>
                  <a:ext uri="{0D108BD9-81ED-4DB2-BD59-A6C34878D82A}">
                    <a16:rowId xmlns:a16="http://schemas.microsoft.com/office/drawing/2014/main" val="10002"/>
                  </a:ext>
                </a:extLst>
              </a:tr>
              <a:tr h="455675">
                <a:tc>
                  <a:txBody>
                    <a:bodyPr/>
                    <a:lstStyle/>
                    <a:p>
                      <a:pPr marL="74930" marR="0" lvl="0" indent="0" algn="l" rtl="0">
                        <a:lnSpc>
                          <a:spcPct val="100000"/>
                        </a:lnSpc>
                        <a:spcBef>
                          <a:spcPts val="0"/>
                        </a:spcBef>
                        <a:spcAft>
                          <a:spcPts val="0"/>
                        </a:spcAft>
                        <a:buNone/>
                      </a:pPr>
                      <a:r>
                        <a:rPr lang="en-US" sz="1450" u="none" strike="noStrike" cap="none">
                          <a:latin typeface="Calibri"/>
                          <a:ea typeface="Calibri"/>
                          <a:cs typeface="Calibri"/>
                          <a:sym typeface="Calibri"/>
                        </a:rPr>
                        <a:t>C</a:t>
                      </a:r>
                      <a:endParaRPr sz="1450" u="none" strike="noStrike" cap="none">
                        <a:latin typeface="Calibri"/>
                        <a:ea typeface="Calibri"/>
                        <a:cs typeface="Calibri"/>
                        <a:sym typeface="Calibri"/>
                      </a:endParaRPr>
                    </a:p>
                  </a:txBody>
                  <a:tcPr marL="0" marR="0" marT="184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74295" marR="0" lvl="0" indent="0" algn="l" rtl="0">
                        <a:lnSpc>
                          <a:spcPct val="100000"/>
                        </a:lnSpc>
                        <a:spcBef>
                          <a:spcPts val="0"/>
                        </a:spcBef>
                        <a:spcAft>
                          <a:spcPts val="0"/>
                        </a:spcAft>
                        <a:buNone/>
                      </a:pPr>
                      <a:r>
                        <a:rPr lang="en-US" sz="1450" u="none" strike="noStrike" cap="none">
                          <a:latin typeface="Calibri"/>
                          <a:ea typeface="Calibri"/>
                          <a:cs typeface="Calibri"/>
                          <a:sym typeface="Calibri"/>
                        </a:rPr>
                        <a:t>B</a:t>
                      </a:r>
                      <a:endParaRPr sz="1450" u="none" strike="noStrike" cap="none">
                        <a:latin typeface="Calibri"/>
                        <a:ea typeface="Calibri"/>
                        <a:cs typeface="Calibri"/>
                        <a:sym typeface="Calibri"/>
                      </a:endParaRPr>
                    </a:p>
                  </a:txBody>
                  <a:tcPr marL="0" marR="0" marT="184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74930" marR="0" lvl="0" indent="0" algn="l" rtl="0">
                        <a:lnSpc>
                          <a:spcPct val="100000"/>
                        </a:lnSpc>
                        <a:spcBef>
                          <a:spcPts val="0"/>
                        </a:spcBef>
                        <a:spcAft>
                          <a:spcPts val="0"/>
                        </a:spcAft>
                        <a:buNone/>
                      </a:pPr>
                      <a:r>
                        <a:rPr lang="en-US" sz="1450" u="none" strike="noStrike" cap="none">
                          <a:latin typeface="Calibri"/>
                          <a:ea typeface="Calibri"/>
                          <a:cs typeface="Calibri"/>
                          <a:sym typeface="Calibri"/>
                        </a:rPr>
                        <a:t>E</a:t>
                      </a:r>
                      <a:endParaRPr sz="1450" u="none" strike="noStrike" cap="none">
                        <a:latin typeface="Calibri"/>
                        <a:ea typeface="Calibri"/>
                        <a:cs typeface="Calibri"/>
                        <a:sym typeface="Calibri"/>
                      </a:endParaRPr>
                    </a:p>
                  </a:txBody>
                  <a:tcPr marL="0" marR="0" marT="184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extLst>
                  <a:ext uri="{0D108BD9-81ED-4DB2-BD59-A6C34878D82A}">
                    <a16:rowId xmlns:a16="http://schemas.microsoft.com/office/drawing/2014/main" val="10003"/>
                  </a:ext>
                </a:extLst>
              </a:tr>
              <a:tr h="454150">
                <a:tc>
                  <a:txBody>
                    <a:bodyPr/>
                    <a:lstStyle/>
                    <a:p>
                      <a:pPr marL="74930" marR="0" lvl="0" indent="0" algn="l" rtl="0">
                        <a:lnSpc>
                          <a:spcPct val="100000"/>
                        </a:lnSpc>
                        <a:spcBef>
                          <a:spcPts val="0"/>
                        </a:spcBef>
                        <a:spcAft>
                          <a:spcPts val="0"/>
                        </a:spcAft>
                        <a:buNone/>
                      </a:pPr>
                      <a:r>
                        <a:rPr lang="en-US" sz="1450" u="none" strike="noStrike" cap="none">
                          <a:latin typeface="Calibri"/>
                          <a:ea typeface="Calibri"/>
                          <a:cs typeface="Calibri"/>
                          <a:sym typeface="Calibri"/>
                        </a:rPr>
                        <a:t>D</a:t>
                      </a:r>
                      <a:endParaRPr sz="1450" u="none" strike="noStrike" cap="none">
                        <a:latin typeface="Calibri"/>
                        <a:ea typeface="Calibri"/>
                        <a:cs typeface="Calibri"/>
                        <a:sym typeface="Calibri"/>
                      </a:endParaRPr>
                    </a:p>
                  </a:txBody>
                  <a:tcPr marL="0" marR="0" marT="171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tc>
                  <a:txBody>
                    <a:bodyPr/>
                    <a:lstStyle/>
                    <a:p>
                      <a:pPr marL="74295" marR="0" lvl="0" indent="0" algn="l" rtl="0">
                        <a:lnSpc>
                          <a:spcPct val="100000"/>
                        </a:lnSpc>
                        <a:spcBef>
                          <a:spcPts val="0"/>
                        </a:spcBef>
                        <a:spcAft>
                          <a:spcPts val="0"/>
                        </a:spcAft>
                        <a:buNone/>
                      </a:pPr>
                      <a:r>
                        <a:rPr lang="en-US" sz="1450" u="none" strike="noStrike" cap="none">
                          <a:latin typeface="Calibri"/>
                          <a:ea typeface="Calibri"/>
                          <a:cs typeface="Calibri"/>
                          <a:sym typeface="Calibri"/>
                        </a:rPr>
                        <a:t>B</a:t>
                      </a:r>
                      <a:endParaRPr sz="1450" u="none" strike="noStrike" cap="none">
                        <a:latin typeface="Calibri"/>
                        <a:ea typeface="Calibri"/>
                        <a:cs typeface="Calibri"/>
                        <a:sym typeface="Calibri"/>
                      </a:endParaRPr>
                    </a:p>
                  </a:txBody>
                  <a:tcPr marL="0" marR="0" marT="171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tc>
                  <a:txBody>
                    <a:bodyPr/>
                    <a:lstStyle/>
                    <a:p>
                      <a:pPr marL="74930" marR="0" lvl="0" indent="0" algn="l" rtl="0">
                        <a:lnSpc>
                          <a:spcPct val="100000"/>
                        </a:lnSpc>
                        <a:spcBef>
                          <a:spcPts val="0"/>
                        </a:spcBef>
                        <a:spcAft>
                          <a:spcPts val="0"/>
                        </a:spcAft>
                        <a:buNone/>
                      </a:pPr>
                      <a:r>
                        <a:rPr lang="en-US" sz="1450" u="none" strike="noStrike" cap="none">
                          <a:latin typeface="Calibri"/>
                          <a:ea typeface="Calibri"/>
                          <a:cs typeface="Calibri"/>
                          <a:sym typeface="Calibri"/>
                        </a:rPr>
                        <a:t>C</a:t>
                      </a:r>
                      <a:endParaRPr sz="1450" u="none" strike="noStrike" cap="none">
                        <a:latin typeface="Calibri"/>
                        <a:ea typeface="Calibri"/>
                        <a:cs typeface="Calibri"/>
                        <a:sym typeface="Calibri"/>
                      </a:endParaRPr>
                    </a:p>
                  </a:txBody>
                  <a:tcPr marL="0" marR="0" marT="171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extLst>
                  <a:ext uri="{0D108BD9-81ED-4DB2-BD59-A6C34878D82A}">
                    <a16:rowId xmlns:a16="http://schemas.microsoft.com/office/drawing/2014/main" val="10004"/>
                  </a:ext>
                </a:extLst>
              </a:tr>
              <a:tr h="455675">
                <a:tc>
                  <a:txBody>
                    <a:bodyPr/>
                    <a:lstStyle/>
                    <a:p>
                      <a:pPr marL="74930" marR="0" lvl="0" indent="0" algn="l" rtl="0">
                        <a:lnSpc>
                          <a:spcPct val="100000"/>
                        </a:lnSpc>
                        <a:spcBef>
                          <a:spcPts val="0"/>
                        </a:spcBef>
                        <a:spcAft>
                          <a:spcPts val="0"/>
                        </a:spcAft>
                        <a:buNone/>
                      </a:pPr>
                      <a:r>
                        <a:rPr lang="en-US" sz="1450" u="none" strike="noStrike" cap="none">
                          <a:latin typeface="Calibri"/>
                          <a:ea typeface="Calibri"/>
                          <a:cs typeface="Calibri"/>
                          <a:sym typeface="Calibri"/>
                        </a:rPr>
                        <a:t>E</a:t>
                      </a:r>
                      <a:endParaRPr sz="1450" u="none" strike="noStrike" cap="none">
                        <a:latin typeface="Calibri"/>
                        <a:ea typeface="Calibri"/>
                        <a:cs typeface="Calibri"/>
                        <a:sym typeface="Calibri"/>
                      </a:endParaRPr>
                    </a:p>
                  </a:txBody>
                  <a:tcPr marL="0" marR="0" marT="17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74295" marR="0" lvl="0" indent="0" algn="l" rtl="0">
                        <a:lnSpc>
                          <a:spcPct val="100000"/>
                        </a:lnSpc>
                        <a:spcBef>
                          <a:spcPts val="0"/>
                        </a:spcBef>
                        <a:spcAft>
                          <a:spcPts val="0"/>
                        </a:spcAft>
                        <a:buNone/>
                      </a:pPr>
                      <a:r>
                        <a:rPr lang="en-US" sz="1450" u="none" strike="noStrike" cap="none">
                          <a:latin typeface="Calibri"/>
                          <a:ea typeface="Calibri"/>
                          <a:cs typeface="Calibri"/>
                          <a:sym typeface="Calibri"/>
                        </a:rPr>
                        <a:t>D</a:t>
                      </a:r>
                      <a:endParaRPr sz="1450" u="none" strike="noStrike" cap="none">
                        <a:latin typeface="Calibri"/>
                        <a:ea typeface="Calibri"/>
                        <a:cs typeface="Calibri"/>
                        <a:sym typeface="Calibri"/>
                      </a:endParaRPr>
                    </a:p>
                  </a:txBody>
                  <a:tcPr marL="0" marR="0" marT="17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74930" marR="0" lvl="0" indent="0" algn="l" rtl="0">
                        <a:lnSpc>
                          <a:spcPct val="100000"/>
                        </a:lnSpc>
                        <a:spcBef>
                          <a:spcPts val="0"/>
                        </a:spcBef>
                        <a:spcAft>
                          <a:spcPts val="0"/>
                        </a:spcAft>
                        <a:buNone/>
                      </a:pPr>
                      <a:r>
                        <a:rPr lang="en-US" sz="1450" u="none" strike="noStrike" cap="none">
                          <a:latin typeface="Calibri"/>
                          <a:ea typeface="Calibri"/>
                          <a:cs typeface="Calibri"/>
                          <a:sym typeface="Calibri"/>
                        </a:rPr>
                        <a:t>C</a:t>
                      </a:r>
                      <a:endParaRPr sz="1450" u="none" strike="noStrike" cap="none">
                        <a:latin typeface="Calibri"/>
                        <a:ea typeface="Calibri"/>
                        <a:cs typeface="Calibri"/>
                        <a:sym typeface="Calibri"/>
                      </a:endParaRPr>
                    </a:p>
                  </a:txBody>
                  <a:tcPr marL="0" marR="0" marT="17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extLst>
                  <a:ext uri="{0D108BD9-81ED-4DB2-BD59-A6C34878D82A}">
                    <a16:rowId xmlns:a16="http://schemas.microsoft.com/office/drawing/2014/main" val="10005"/>
                  </a:ext>
                </a:extLst>
              </a:tr>
            </a:tbl>
          </a:graphicData>
        </a:graphic>
      </p:graphicFrame>
      <p:pic>
        <p:nvPicPr>
          <p:cNvPr id="292" name="Google Shape;292;p22"/>
          <p:cNvPicPr preferRelativeResize="0"/>
          <p:nvPr/>
        </p:nvPicPr>
        <p:blipFill rotWithShape="1">
          <a:blip r:embed="rId3">
            <a:alphaModFix/>
          </a:blip>
          <a:srcRect/>
          <a:stretch/>
        </p:blipFill>
        <p:spPr>
          <a:xfrm>
            <a:off x="5425440" y="4858511"/>
            <a:ext cx="3230880" cy="1589532"/>
          </a:xfrm>
          <a:prstGeom prst="rect">
            <a:avLst/>
          </a:prstGeom>
          <a:noFill/>
          <a:ln>
            <a:noFill/>
          </a:ln>
        </p:spPr>
      </p:pic>
      <p:sp>
        <p:nvSpPr>
          <p:cNvPr id="293" name="Google Shape;293;p22"/>
          <p:cNvSpPr txBox="1"/>
          <p:nvPr/>
        </p:nvSpPr>
        <p:spPr>
          <a:xfrm>
            <a:off x="5585714" y="5553455"/>
            <a:ext cx="132715"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rgbClr val="FFFFFF"/>
                </a:solidFill>
                <a:latin typeface="Calibri"/>
                <a:ea typeface="Calibri"/>
                <a:cs typeface="Calibri"/>
                <a:sym typeface="Calibri"/>
              </a:rPr>
              <a:t>A</a:t>
            </a:r>
            <a:endParaRPr sz="1450">
              <a:solidFill>
                <a:schemeClr val="dk1"/>
              </a:solidFill>
              <a:latin typeface="Calibri"/>
              <a:ea typeface="Calibri"/>
              <a:cs typeface="Calibri"/>
              <a:sym typeface="Calibri"/>
            </a:endParaRPr>
          </a:p>
        </p:txBody>
      </p:sp>
      <p:sp>
        <p:nvSpPr>
          <p:cNvPr id="294" name="Google Shape;294;p22"/>
          <p:cNvSpPr txBox="1"/>
          <p:nvPr/>
        </p:nvSpPr>
        <p:spPr>
          <a:xfrm>
            <a:off x="6663181" y="5894832"/>
            <a:ext cx="123825"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rgbClr val="FFFFFF"/>
                </a:solidFill>
                <a:latin typeface="Calibri"/>
                <a:ea typeface="Calibri"/>
                <a:cs typeface="Calibri"/>
                <a:sym typeface="Calibri"/>
              </a:rPr>
              <a:t>C</a:t>
            </a:r>
            <a:endParaRPr sz="1450">
              <a:solidFill>
                <a:schemeClr val="dk1"/>
              </a:solidFill>
              <a:latin typeface="Calibri"/>
              <a:ea typeface="Calibri"/>
              <a:cs typeface="Calibri"/>
              <a:sym typeface="Calibri"/>
            </a:endParaRPr>
          </a:p>
        </p:txBody>
      </p:sp>
      <p:sp>
        <p:nvSpPr>
          <p:cNvPr id="295" name="Google Shape;295;p22"/>
          <p:cNvSpPr txBox="1"/>
          <p:nvPr/>
        </p:nvSpPr>
        <p:spPr>
          <a:xfrm>
            <a:off x="6393434" y="5120640"/>
            <a:ext cx="125730"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rgbClr val="FFFFFF"/>
                </a:solidFill>
                <a:latin typeface="Calibri"/>
                <a:ea typeface="Calibri"/>
                <a:cs typeface="Calibri"/>
                <a:sym typeface="Calibri"/>
              </a:rPr>
              <a:t>B</a:t>
            </a:r>
            <a:endParaRPr sz="1450">
              <a:solidFill>
                <a:schemeClr val="dk1"/>
              </a:solidFill>
              <a:latin typeface="Calibri"/>
              <a:ea typeface="Calibri"/>
              <a:cs typeface="Calibri"/>
              <a:sym typeface="Calibri"/>
            </a:endParaRPr>
          </a:p>
        </p:txBody>
      </p:sp>
      <p:sp>
        <p:nvSpPr>
          <p:cNvPr id="296" name="Google Shape;296;p22"/>
          <p:cNvSpPr txBox="1"/>
          <p:nvPr/>
        </p:nvSpPr>
        <p:spPr>
          <a:xfrm>
            <a:off x="7382509" y="5337047"/>
            <a:ext cx="139065"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rgbClr val="FFFFFF"/>
                </a:solidFill>
                <a:latin typeface="Calibri"/>
                <a:ea typeface="Calibri"/>
                <a:cs typeface="Calibri"/>
                <a:sym typeface="Calibri"/>
              </a:rPr>
              <a:t>D</a:t>
            </a:r>
            <a:endParaRPr sz="1450">
              <a:solidFill>
                <a:schemeClr val="dk1"/>
              </a:solidFill>
              <a:latin typeface="Calibri"/>
              <a:ea typeface="Calibri"/>
              <a:cs typeface="Calibri"/>
              <a:sym typeface="Calibri"/>
            </a:endParaRPr>
          </a:p>
        </p:txBody>
      </p:sp>
      <p:sp>
        <p:nvSpPr>
          <p:cNvPr id="297" name="Google Shape;297;p22"/>
          <p:cNvSpPr txBox="1"/>
          <p:nvPr/>
        </p:nvSpPr>
        <p:spPr>
          <a:xfrm>
            <a:off x="8370061" y="5462016"/>
            <a:ext cx="115570"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rgbClr val="FFFFFF"/>
                </a:solidFill>
                <a:latin typeface="Calibri"/>
                <a:ea typeface="Calibri"/>
                <a:cs typeface="Calibri"/>
                <a:sym typeface="Calibri"/>
              </a:rPr>
              <a:t>E</a:t>
            </a:r>
            <a:endParaRPr sz="1450">
              <a:solidFill>
                <a:schemeClr val="dk1"/>
              </a:solidFill>
              <a:latin typeface="Calibri"/>
              <a:ea typeface="Calibri"/>
              <a:cs typeface="Calibri"/>
              <a:sym typeface="Calibri"/>
            </a:endParaRPr>
          </a:p>
        </p:txBody>
      </p:sp>
      <p:sp>
        <p:nvSpPr>
          <p:cNvPr id="298" name="Google Shape;298;p22"/>
          <p:cNvSpPr txBox="1"/>
          <p:nvPr/>
        </p:nvSpPr>
        <p:spPr>
          <a:xfrm>
            <a:off x="5935979" y="5158740"/>
            <a:ext cx="114300"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chemeClr val="dk1"/>
                </a:solidFill>
                <a:latin typeface="Calibri"/>
                <a:ea typeface="Calibri"/>
                <a:cs typeface="Calibri"/>
                <a:sym typeface="Calibri"/>
              </a:rPr>
              <a:t>a</a:t>
            </a:r>
            <a:endParaRPr sz="1450">
              <a:solidFill>
                <a:schemeClr val="dk1"/>
              </a:solidFill>
              <a:latin typeface="Calibri"/>
              <a:ea typeface="Calibri"/>
              <a:cs typeface="Calibri"/>
              <a:sym typeface="Calibri"/>
            </a:endParaRPr>
          </a:p>
        </p:txBody>
      </p:sp>
      <p:sp>
        <p:nvSpPr>
          <p:cNvPr id="299" name="Google Shape;299;p22"/>
          <p:cNvSpPr txBox="1"/>
          <p:nvPr/>
        </p:nvSpPr>
        <p:spPr>
          <a:xfrm>
            <a:off x="6109970" y="5913120"/>
            <a:ext cx="122555"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chemeClr val="dk1"/>
                </a:solidFill>
                <a:latin typeface="Calibri"/>
                <a:ea typeface="Calibri"/>
                <a:cs typeface="Calibri"/>
                <a:sym typeface="Calibri"/>
              </a:rPr>
              <a:t>b</a:t>
            </a:r>
            <a:endParaRPr sz="1450">
              <a:solidFill>
                <a:schemeClr val="dk1"/>
              </a:solidFill>
              <a:latin typeface="Calibri"/>
              <a:ea typeface="Calibri"/>
              <a:cs typeface="Calibri"/>
              <a:sym typeface="Calibri"/>
            </a:endParaRPr>
          </a:p>
        </p:txBody>
      </p:sp>
      <p:sp>
        <p:nvSpPr>
          <p:cNvPr id="300" name="Google Shape;300;p22"/>
          <p:cNvSpPr txBox="1"/>
          <p:nvPr/>
        </p:nvSpPr>
        <p:spPr>
          <a:xfrm>
            <a:off x="6928357" y="5056123"/>
            <a:ext cx="114300"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chemeClr val="dk1"/>
                </a:solidFill>
                <a:latin typeface="Calibri"/>
                <a:ea typeface="Calibri"/>
                <a:cs typeface="Calibri"/>
                <a:sym typeface="Calibri"/>
              </a:rPr>
              <a:t>a</a:t>
            </a:r>
            <a:endParaRPr sz="1450">
              <a:solidFill>
                <a:schemeClr val="dk1"/>
              </a:solidFill>
              <a:latin typeface="Calibri"/>
              <a:ea typeface="Calibri"/>
              <a:cs typeface="Calibri"/>
              <a:sym typeface="Calibri"/>
            </a:endParaRPr>
          </a:p>
        </p:txBody>
      </p:sp>
      <p:sp>
        <p:nvSpPr>
          <p:cNvPr id="301" name="Google Shape;301;p22"/>
          <p:cNvSpPr txBox="1"/>
          <p:nvPr/>
        </p:nvSpPr>
        <p:spPr>
          <a:xfrm>
            <a:off x="6492494" y="5551932"/>
            <a:ext cx="122555"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chemeClr val="dk1"/>
                </a:solidFill>
                <a:latin typeface="Calibri"/>
                <a:ea typeface="Calibri"/>
                <a:cs typeface="Calibri"/>
                <a:sym typeface="Calibri"/>
              </a:rPr>
              <a:t>b</a:t>
            </a:r>
            <a:endParaRPr sz="1450">
              <a:solidFill>
                <a:schemeClr val="dk1"/>
              </a:solidFill>
              <a:latin typeface="Calibri"/>
              <a:ea typeface="Calibri"/>
              <a:cs typeface="Calibri"/>
              <a:sym typeface="Calibri"/>
            </a:endParaRPr>
          </a:p>
        </p:txBody>
      </p:sp>
      <p:sp>
        <p:nvSpPr>
          <p:cNvPr id="302" name="Google Shape;302;p22"/>
          <p:cNvSpPr txBox="1"/>
          <p:nvPr/>
        </p:nvSpPr>
        <p:spPr>
          <a:xfrm>
            <a:off x="6779006" y="5539740"/>
            <a:ext cx="114300"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chemeClr val="dk1"/>
                </a:solidFill>
                <a:latin typeface="Calibri"/>
                <a:ea typeface="Calibri"/>
                <a:cs typeface="Calibri"/>
                <a:sym typeface="Calibri"/>
              </a:rPr>
              <a:t>a</a:t>
            </a:r>
            <a:endParaRPr sz="1450">
              <a:solidFill>
                <a:schemeClr val="dk1"/>
              </a:solidFill>
              <a:latin typeface="Calibri"/>
              <a:ea typeface="Calibri"/>
              <a:cs typeface="Calibri"/>
              <a:sym typeface="Calibri"/>
            </a:endParaRPr>
          </a:p>
        </p:txBody>
      </p:sp>
      <p:sp>
        <p:nvSpPr>
          <p:cNvPr id="303" name="Google Shape;303;p22"/>
          <p:cNvSpPr txBox="1"/>
          <p:nvPr/>
        </p:nvSpPr>
        <p:spPr>
          <a:xfrm>
            <a:off x="7566914" y="5957315"/>
            <a:ext cx="122555"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chemeClr val="dk1"/>
                </a:solidFill>
                <a:latin typeface="Calibri"/>
                <a:ea typeface="Calibri"/>
                <a:cs typeface="Calibri"/>
                <a:sym typeface="Calibri"/>
              </a:rPr>
              <a:t>b</a:t>
            </a:r>
            <a:endParaRPr sz="1450">
              <a:solidFill>
                <a:schemeClr val="dk1"/>
              </a:solidFill>
              <a:latin typeface="Calibri"/>
              <a:ea typeface="Calibri"/>
              <a:cs typeface="Calibri"/>
              <a:sym typeface="Calibri"/>
            </a:endParaRPr>
          </a:p>
        </p:txBody>
      </p:sp>
      <p:sp>
        <p:nvSpPr>
          <p:cNvPr id="304" name="Google Shape;304;p22"/>
          <p:cNvSpPr txBox="1"/>
          <p:nvPr/>
        </p:nvSpPr>
        <p:spPr>
          <a:xfrm>
            <a:off x="7067042" y="4669282"/>
            <a:ext cx="114300"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chemeClr val="dk1"/>
                </a:solidFill>
                <a:latin typeface="Calibri"/>
                <a:ea typeface="Calibri"/>
                <a:cs typeface="Calibri"/>
                <a:sym typeface="Calibri"/>
              </a:rPr>
              <a:t>a</a:t>
            </a:r>
            <a:endParaRPr sz="1450">
              <a:solidFill>
                <a:schemeClr val="dk1"/>
              </a:solidFill>
              <a:latin typeface="Calibri"/>
              <a:ea typeface="Calibri"/>
              <a:cs typeface="Calibri"/>
              <a:sym typeface="Calibri"/>
            </a:endParaRPr>
          </a:p>
        </p:txBody>
      </p:sp>
      <p:sp>
        <p:nvSpPr>
          <p:cNvPr id="305" name="Google Shape;305;p22"/>
          <p:cNvSpPr txBox="1"/>
          <p:nvPr/>
        </p:nvSpPr>
        <p:spPr>
          <a:xfrm>
            <a:off x="7067042" y="5664708"/>
            <a:ext cx="122555"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chemeClr val="dk1"/>
                </a:solidFill>
                <a:latin typeface="Calibri"/>
                <a:ea typeface="Calibri"/>
                <a:cs typeface="Calibri"/>
                <a:sym typeface="Calibri"/>
              </a:rPr>
              <a:t>b</a:t>
            </a:r>
            <a:endParaRPr sz="1450">
              <a:solidFill>
                <a:schemeClr val="dk1"/>
              </a:solidFill>
              <a:latin typeface="Calibri"/>
              <a:ea typeface="Calibri"/>
              <a:cs typeface="Calibri"/>
              <a:sym typeface="Calibri"/>
            </a:endParaRPr>
          </a:p>
        </p:txBody>
      </p:sp>
      <p:sp>
        <p:nvSpPr>
          <p:cNvPr id="306" name="Google Shape;306;p22"/>
          <p:cNvSpPr txBox="1"/>
          <p:nvPr/>
        </p:nvSpPr>
        <p:spPr>
          <a:xfrm>
            <a:off x="7954009" y="5297423"/>
            <a:ext cx="114300"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chemeClr val="dk1"/>
                </a:solidFill>
                <a:latin typeface="Calibri"/>
                <a:ea typeface="Calibri"/>
                <a:cs typeface="Calibri"/>
                <a:sym typeface="Calibri"/>
              </a:rPr>
              <a:t>a</a:t>
            </a:r>
            <a:endParaRPr sz="1450">
              <a:solidFill>
                <a:schemeClr val="dk1"/>
              </a:solidFill>
              <a:latin typeface="Calibri"/>
              <a:ea typeface="Calibri"/>
              <a:cs typeface="Calibri"/>
              <a:sym typeface="Calibri"/>
            </a:endParaRPr>
          </a:p>
        </p:txBody>
      </p:sp>
      <p:sp>
        <p:nvSpPr>
          <p:cNvPr id="307" name="Google Shape;307;p22"/>
          <p:cNvSpPr txBox="1"/>
          <p:nvPr/>
        </p:nvSpPr>
        <p:spPr>
          <a:xfrm>
            <a:off x="8313928" y="6198108"/>
            <a:ext cx="122555"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chemeClr val="dk1"/>
                </a:solidFill>
                <a:latin typeface="Calibri"/>
                <a:ea typeface="Calibri"/>
                <a:cs typeface="Calibri"/>
                <a:sym typeface="Calibri"/>
              </a:rPr>
              <a:t>b</a:t>
            </a:r>
            <a:endParaRPr sz="1450">
              <a:solidFill>
                <a:schemeClr val="dk1"/>
              </a:solidFill>
              <a:latin typeface="Calibri"/>
              <a:ea typeface="Calibri"/>
              <a:cs typeface="Calibri"/>
              <a:sym typeface="Calibri"/>
            </a:endParaRPr>
          </a:p>
        </p:txBody>
      </p:sp>
      <p:sp>
        <p:nvSpPr>
          <p:cNvPr id="308" name="Google Shape;308;p22"/>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Shape 312"/>
        <p:cNvGrpSpPr/>
        <p:nvPr/>
      </p:nvGrpSpPr>
      <p:grpSpPr>
        <a:xfrm>
          <a:off x="0" y="0"/>
          <a:ext cx="0" cy="0"/>
          <a:chOff x="0" y="0"/>
          <a:chExt cx="0" cy="0"/>
        </a:xfrm>
      </p:grpSpPr>
      <p:sp>
        <p:nvSpPr>
          <p:cNvPr id="313" name="Google Shape;313;p23"/>
          <p:cNvSpPr txBox="1">
            <a:spLocks noGrp="1"/>
          </p:cNvSpPr>
          <p:nvPr>
            <p:ph type="title"/>
          </p:nvPr>
        </p:nvSpPr>
        <p:spPr>
          <a:xfrm>
            <a:off x="375410" y="838200"/>
            <a:ext cx="8920989" cy="466794"/>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950" b="1"/>
              <a:t>Pattern recognition using </a:t>
            </a:r>
            <a:r>
              <a:rPr lang="en-US" b="1"/>
              <a:t>Nondeterministic FSA (</a:t>
            </a:r>
            <a:r>
              <a:rPr lang="en-US" sz="2950" b="1"/>
              <a:t>NFSA)</a:t>
            </a:r>
            <a:endParaRPr sz="2950" b="1"/>
          </a:p>
        </p:txBody>
      </p:sp>
      <p:sp>
        <p:nvSpPr>
          <p:cNvPr id="314" name="Google Shape;314;p23"/>
          <p:cNvSpPr txBox="1"/>
          <p:nvPr/>
        </p:nvSpPr>
        <p:spPr>
          <a:xfrm>
            <a:off x="375411" y="2412492"/>
            <a:ext cx="9075420" cy="2830903"/>
          </a:xfrm>
          <a:prstGeom prst="rect">
            <a:avLst/>
          </a:prstGeom>
          <a:noFill/>
          <a:ln>
            <a:noFill/>
          </a:ln>
        </p:spPr>
        <p:txBody>
          <a:bodyPr spcFirstLastPara="1" wrap="square" lIns="0" tIns="12050" rIns="0" bIns="0" anchor="t" anchorCtr="0">
            <a:spAutoFit/>
          </a:bodyPr>
          <a:lstStyle/>
          <a:p>
            <a:pPr marL="201295" marR="0" lvl="0" indent="-189230" algn="l" rtl="0">
              <a:lnSpc>
                <a:spcPct val="100000"/>
              </a:lnSpc>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How to handle non-determinism:</a:t>
            </a:r>
            <a:endParaRPr sz="2800">
              <a:solidFill>
                <a:schemeClr val="dk1"/>
              </a:solidFill>
              <a:latin typeface="Calibri"/>
              <a:ea typeface="Calibri"/>
              <a:cs typeface="Calibri"/>
              <a:sym typeface="Calibri"/>
            </a:endParaRPr>
          </a:p>
          <a:p>
            <a:pPr marL="0" marR="0" lvl="0" indent="0" algn="l" rtl="0">
              <a:lnSpc>
                <a:spcPct val="100000"/>
              </a:lnSpc>
              <a:spcBef>
                <a:spcPts val="25"/>
              </a:spcBef>
              <a:spcAft>
                <a:spcPts val="0"/>
              </a:spcAft>
              <a:buNone/>
            </a:pPr>
            <a:endParaRPr sz="2800">
              <a:solidFill>
                <a:schemeClr val="dk1"/>
              </a:solidFill>
              <a:latin typeface="Calibri"/>
              <a:ea typeface="Calibri"/>
              <a:cs typeface="Calibri"/>
              <a:sym typeface="Calibri"/>
            </a:endParaRPr>
          </a:p>
          <a:p>
            <a:pPr marL="436880" marR="75565" lvl="0" indent="-424815" algn="l" rtl="0">
              <a:lnSpc>
                <a:spcPct val="75000"/>
              </a:lnSpc>
              <a:spcBef>
                <a:spcPts val="0"/>
              </a:spcBef>
              <a:spcAft>
                <a:spcPts val="0"/>
              </a:spcAft>
              <a:buClr>
                <a:schemeClr val="dk1"/>
              </a:buClr>
              <a:buSzPts val="2800"/>
              <a:buFont typeface="Calibri"/>
              <a:buAutoNum type="arabicPeriod"/>
            </a:pPr>
            <a:r>
              <a:rPr lang="en-US" sz="2800">
                <a:solidFill>
                  <a:schemeClr val="dk1"/>
                </a:solidFill>
                <a:latin typeface="Calibri"/>
                <a:ea typeface="Calibri"/>
                <a:cs typeface="Calibri"/>
                <a:sym typeface="Calibri"/>
              </a:rPr>
              <a:t>Backup (Backtrack) - we should have a marker in the input to track where we were in  the input and in which state of the automata … if we take a wrong choice</a:t>
            </a:r>
            <a:endParaRPr sz="2800">
              <a:solidFill>
                <a:schemeClr val="dk1"/>
              </a:solidFill>
              <a:latin typeface="Calibri"/>
              <a:ea typeface="Calibri"/>
              <a:cs typeface="Calibri"/>
              <a:sym typeface="Calibri"/>
            </a:endParaRPr>
          </a:p>
          <a:p>
            <a:pPr marL="436880" marR="5080" lvl="0" indent="-424815" algn="l" rtl="0">
              <a:lnSpc>
                <a:spcPct val="75000"/>
              </a:lnSpc>
              <a:spcBef>
                <a:spcPts val="795"/>
              </a:spcBef>
              <a:spcAft>
                <a:spcPts val="0"/>
              </a:spcAft>
              <a:buClr>
                <a:schemeClr val="dk1"/>
              </a:buClr>
              <a:buSzPts val="2800"/>
              <a:buFont typeface="Calibri"/>
              <a:buAutoNum type="arabicPeriod"/>
            </a:pPr>
            <a:r>
              <a:rPr lang="en-US" sz="2800">
                <a:solidFill>
                  <a:schemeClr val="dk1"/>
                </a:solidFill>
                <a:latin typeface="Calibri"/>
                <a:ea typeface="Calibri"/>
                <a:cs typeface="Calibri"/>
                <a:sym typeface="Calibri"/>
              </a:rPr>
              <a:t>Look-ahead – we should look ahead in the input to decide which path / alternative to  take</a:t>
            </a:r>
            <a:endParaRPr sz="2800">
              <a:solidFill>
                <a:schemeClr val="dk1"/>
              </a:solidFill>
              <a:latin typeface="Calibri"/>
              <a:ea typeface="Calibri"/>
              <a:cs typeface="Calibri"/>
              <a:sym typeface="Calibri"/>
            </a:endParaRPr>
          </a:p>
          <a:p>
            <a:pPr marL="437515" marR="0" lvl="0" indent="-425450" algn="l" rtl="0">
              <a:lnSpc>
                <a:spcPct val="100000"/>
              </a:lnSpc>
              <a:spcBef>
                <a:spcPts val="570"/>
              </a:spcBef>
              <a:spcAft>
                <a:spcPts val="0"/>
              </a:spcAft>
              <a:buClr>
                <a:schemeClr val="dk1"/>
              </a:buClr>
              <a:buSzPts val="2800"/>
              <a:buFont typeface="Calibri"/>
              <a:buAutoNum type="arabicPeriod"/>
            </a:pPr>
            <a:r>
              <a:rPr lang="en-US" sz="2800">
                <a:solidFill>
                  <a:schemeClr val="dk1"/>
                </a:solidFill>
                <a:latin typeface="Calibri"/>
                <a:ea typeface="Calibri"/>
                <a:cs typeface="Calibri"/>
                <a:sym typeface="Calibri"/>
              </a:rPr>
              <a:t>Parallelism – execute every alternative path in parallel</a:t>
            </a:r>
            <a:endParaRPr sz="2800">
              <a:solidFill>
                <a:schemeClr val="dk1"/>
              </a:solidFill>
              <a:latin typeface="Calibri"/>
              <a:ea typeface="Calibri"/>
              <a:cs typeface="Calibri"/>
              <a:sym typeface="Calibri"/>
            </a:endParaRPr>
          </a:p>
        </p:txBody>
      </p:sp>
      <p:sp>
        <p:nvSpPr>
          <p:cNvPr id="315" name="Google Shape;315;p23"/>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Shape 319"/>
        <p:cNvGrpSpPr/>
        <p:nvPr/>
      </p:nvGrpSpPr>
      <p:grpSpPr>
        <a:xfrm>
          <a:off x="0" y="0"/>
          <a:ext cx="0" cy="0"/>
          <a:chOff x="0" y="0"/>
          <a:chExt cx="0" cy="0"/>
        </a:xfrm>
      </p:grpSpPr>
      <p:sp>
        <p:nvSpPr>
          <p:cNvPr id="320" name="Google Shape;320;p24"/>
          <p:cNvSpPr txBox="1">
            <a:spLocks noGrp="1"/>
          </p:cNvSpPr>
          <p:nvPr>
            <p:ph type="title"/>
          </p:nvPr>
        </p:nvSpPr>
        <p:spPr>
          <a:xfrm>
            <a:off x="762000" y="533400"/>
            <a:ext cx="7848600" cy="466794"/>
          </a:xfrm>
          <a:prstGeom prst="rect">
            <a:avLst/>
          </a:prstGeom>
          <a:noFill/>
          <a:ln>
            <a:noFill/>
          </a:ln>
        </p:spPr>
        <p:txBody>
          <a:bodyPr spcFirstLastPara="1" wrap="square" lIns="0" tIns="12700" rIns="0" bIns="0" anchor="t" anchorCtr="0">
            <a:spAutoFit/>
          </a:bodyPr>
          <a:lstStyle/>
          <a:p>
            <a:pPr marL="12700" lvl="0" indent="0" algn="just" rtl="0">
              <a:lnSpc>
                <a:spcPct val="100000"/>
              </a:lnSpc>
              <a:spcBef>
                <a:spcPts val="0"/>
              </a:spcBef>
              <a:spcAft>
                <a:spcPts val="0"/>
              </a:spcAft>
              <a:buNone/>
            </a:pPr>
            <a:r>
              <a:rPr lang="en-US" sz="2950" b="1"/>
              <a:t>Morphological Analysis / Parsing</a:t>
            </a:r>
            <a:endParaRPr sz="2950" b="1"/>
          </a:p>
        </p:txBody>
      </p:sp>
      <p:sp>
        <p:nvSpPr>
          <p:cNvPr id="321" name="Google Shape;321;p24"/>
          <p:cNvSpPr txBox="1"/>
          <p:nvPr/>
        </p:nvSpPr>
        <p:spPr>
          <a:xfrm>
            <a:off x="267208" y="1991360"/>
            <a:ext cx="8957945" cy="3554095"/>
          </a:xfrm>
          <a:prstGeom prst="rect">
            <a:avLst/>
          </a:prstGeom>
          <a:noFill/>
          <a:ln>
            <a:noFill/>
          </a:ln>
        </p:spPr>
        <p:txBody>
          <a:bodyPr spcFirstLastPara="1" wrap="square" lIns="0" tIns="91425" rIns="0" bIns="0" anchor="t" anchorCtr="0">
            <a:spAutoFit/>
          </a:bodyPr>
          <a:lstStyle/>
          <a:p>
            <a:pPr marL="201295" marR="0" lvl="0" indent="-189230" algn="l" rtl="0">
              <a:lnSpc>
                <a:spcPct val="100000"/>
              </a:lnSpc>
              <a:spcBef>
                <a:spcPts val="0"/>
              </a:spcBef>
              <a:spcAft>
                <a:spcPts val="0"/>
              </a:spcAft>
              <a:buClr>
                <a:schemeClr val="dk1"/>
              </a:buClr>
              <a:buSzPts val="1950"/>
              <a:buFont typeface="Arial"/>
              <a:buChar char="•"/>
            </a:pPr>
            <a:r>
              <a:rPr lang="en-US" sz="1950">
                <a:solidFill>
                  <a:schemeClr val="dk1"/>
                </a:solidFill>
                <a:latin typeface="Calibri"/>
                <a:ea typeface="Calibri"/>
                <a:cs typeface="Calibri"/>
                <a:sym typeface="Calibri"/>
              </a:rPr>
              <a:t>What is a “morpheme”?</a:t>
            </a:r>
            <a:endParaRPr sz="1950">
              <a:solidFill>
                <a:schemeClr val="dk1"/>
              </a:solidFill>
              <a:latin typeface="Calibri"/>
              <a:ea typeface="Calibri"/>
              <a:cs typeface="Calibri"/>
              <a:sym typeface="Calibri"/>
            </a:endParaRPr>
          </a:p>
          <a:p>
            <a:pPr marL="238759" marR="4048125" lvl="0" indent="0" algn="l" rtl="0">
              <a:lnSpc>
                <a:spcPct val="153846"/>
              </a:lnSpc>
              <a:spcBef>
                <a:spcPts val="175"/>
              </a:spcBef>
              <a:spcAft>
                <a:spcPts val="0"/>
              </a:spcAft>
              <a:buNone/>
            </a:pPr>
            <a:r>
              <a:rPr lang="en-US" sz="1950">
                <a:solidFill>
                  <a:schemeClr val="dk1"/>
                </a:solidFill>
                <a:latin typeface="Calibri"/>
                <a:ea typeface="Calibri"/>
                <a:cs typeface="Calibri"/>
                <a:sym typeface="Calibri"/>
              </a:rPr>
              <a:t>A minimal meaning-bearing unit in a language  eg. Dog -&gt; 1 morpheme ‘dog’</a:t>
            </a:r>
            <a:endParaRPr/>
          </a:p>
          <a:p>
            <a:pPr marL="631190" marR="0" lvl="0" indent="0" algn="l" rtl="0">
              <a:lnSpc>
                <a:spcPct val="100000"/>
              </a:lnSpc>
              <a:spcBef>
                <a:spcPts val="425"/>
              </a:spcBef>
              <a:spcAft>
                <a:spcPts val="0"/>
              </a:spcAft>
              <a:buNone/>
            </a:pPr>
            <a:r>
              <a:rPr lang="en-US" sz="1950">
                <a:solidFill>
                  <a:schemeClr val="dk1"/>
                </a:solidFill>
                <a:latin typeface="Calibri"/>
                <a:ea typeface="Calibri"/>
                <a:cs typeface="Calibri"/>
                <a:sym typeface="Calibri"/>
              </a:rPr>
              <a:t>cats -&gt; 2 morphemes ‘cat’ + ‘s’</a:t>
            </a:r>
            <a:endParaRPr sz="195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1900">
              <a:solidFill>
                <a:schemeClr val="dk1"/>
              </a:solidFill>
              <a:latin typeface="Calibri"/>
              <a:ea typeface="Calibri"/>
              <a:cs typeface="Calibri"/>
              <a:sym typeface="Calibri"/>
            </a:endParaRPr>
          </a:p>
          <a:p>
            <a:pPr marL="201295" marR="5080" lvl="0" indent="-189230" algn="l" rtl="0">
              <a:lnSpc>
                <a:spcPct val="91900"/>
              </a:lnSpc>
              <a:spcBef>
                <a:spcPts val="1390"/>
              </a:spcBef>
              <a:spcAft>
                <a:spcPts val="0"/>
              </a:spcAft>
              <a:buClr>
                <a:schemeClr val="dk1"/>
              </a:buClr>
              <a:buSzPts val="1950"/>
              <a:buFont typeface="Arial"/>
              <a:buChar char="•"/>
            </a:pPr>
            <a:r>
              <a:rPr lang="en-US" sz="1950">
                <a:solidFill>
                  <a:schemeClr val="dk1"/>
                </a:solidFill>
                <a:latin typeface="Calibri"/>
                <a:ea typeface="Calibri"/>
                <a:cs typeface="Calibri"/>
                <a:sym typeface="Calibri"/>
              </a:rPr>
              <a:t>The problem of recognizing that a word breaks down into component morphemes and  building a structural representation of this fact is known as “Morphological Analysis /  Parsing”</a:t>
            </a:r>
            <a:endParaRPr sz="1950">
              <a:solidFill>
                <a:schemeClr val="dk1"/>
              </a:solidFill>
              <a:latin typeface="Calibri"/>
              <a:ea typeface="Calibri"/>
              <a:cs typeface="Calibri"/>
              <a:sym typeface="Calibri"/>
            </a:endParaRPr>
          </a:p>
          <a:p>
            <a:pPr marL="0" marR="6074410" lvl="0" indent="0" algn="ctr" rtl="0">
              <a:lnSpc>
                <a:spcPct val="100000"/>
              </a:lnSpc>
              <a:spcBef>
                <a:spcPts val="409"/>
              </a:spcBef>
              <a:spcAft>
                <a:spcPts val="0"/>
              </a:spcAft>
              <a:buNone/>
            </a:pPr>
            <a:r>
              <a:rPr lang="en-US" sz="1950">
                <a:solidFill>
                  <a:schemeClr val="dk1"/>
                </a:solidFill>
                <a:latin typeface="Calibri"/>
                <a:ea typeface="Calibri"/>
                <a:cs typeface="Calibri"/>
                <a:sym typeface="Calibri"/>
              </a:rPr>
              <a:t>eg. doctors – doctor + s</a:t>
            </a:r>
            <a:endParaRPr/>
          </a:p>
          <a:p>
            <a:pPr marL="0" marR="6071870" lvl="0" indent="0" algn="ctr" rtl="0">
              <a:lnSpc>
                <a:spcPct val="100000"/>
              </a:lnSpc>
              <a:spcBef>
                <a:spcPts val="630"/>
              </a:spcBef>
              <a:spcAft>
                <a:spcPts val="0"/>
              </a:spcAft>
              <a:buNone/>
            </a:pPr>
            <a:r>
              <a:rPr lang="en-US" sz="1950">
                <a:solidFill>
                  <a:schemeClr val="dk1"/>
                </a:solidFill>
                <a:latin typeface="Calibri"/>
                <a:ea typeface="Calibri"/>
                <a:cs typeface="Calibri"/>
                <a:sym typeface="Calibri"/>
              </a:rPr>
              <a:t>foxes – fox + es</a:t>
            </a:r>
            <a:endParaRPr sz="1950">
              <a:solidFill>
                <a:schemeClr val="dk1"/>
              </a:solidFill>
              <a:latin typeface="Calibri"/>
              <a:ea typeface="Calibri"/>
              <a:cs typeface="Calibri"/>
              <a:sym typeface="Calibri"/>
            </a:endParaRPr>
          </a:p>
        </p:txBody>
      </p:sp>
      <p:sp>
        <p:nvSpPr>
          <p:cNvPr id="322" name="Google Shape;322;p24"/>
          <p:cNvSpPr txBox="1"/>
          <p:nvPr/>
        </p:nvSpPr>
        <p:spPr>
          <a:xfrm>
            <a:off x="609345" y="5500489"/>
            <a:ext cx="1722755" cy="762000"/>
          </a:xfrm>
          <a:prstGeom prst="rect">
            <a:avLst/>
          </a:prstGeom>
          <a:noFill/>
          <a:ln>
            <a:noFill/>
          </a:ln>
        </p:spPr>
        <p:txBody>
          <a:bodyPr spcFirstLastPara="1" wrap="square" lIns="0" tIns="137150" rIns="0" bIns="0" anchor="t" anchorCtr="0">
            <a:spAutoFit/>
          </a:bodyPr>
          <a:lstStyle/>
          <a:p>
            <a:pPr marL="345440" marR="0" lvl="0" indent="0" algn="l" rtl="0">
              <a:lnSpc>
                <a:spcPct val="100000"/>
              </a:lnSpc>
              <a:spcBef>
                <a:spcPts val="0"/>
              </a:spcBef>
              <a:spcAft>
                <a:spcPts val="0"/>
              </a:spcAft>
              <a:buNone/>
            </a:pPr>
            <a:r>
              <a:rPr lang="en-US" sz="1950">
                <a:solidFill>
                  <a:schemeClr val="dk1"/>
                </a:solidFill>
                <a:latin typeface="Calibri"/>
                <a:ea typeface="Calibri"/>
                <a:cs typeface="Calibri"/>
                <a:sym typeface="Calibri"/>
              </a:rPr>
              <a:t>talking	–</a:t>
            </a:r>
            <a:endParaRPr sz="1950">
              <a:solidFill>
                <a:schemeClr val="dk1"/>
              </a:solidFill>
              <a:latin typeface="Calibri"/>
              <a:ea typeface="Calibri"/>
              <a:cs typeface="Calibri"/>
              <a:sym typeface="Calibri"/>
            </a:endParaRPr>
          </a:p>
          <a:p>
            <a:pPr marL="12700" marR="0" lvl="0" indent="0" algn="l" rtl="0">
              <a:lnSpc>
                <a:spcPct val="100000"/>
              </a:lnSpc>
              <a:spcBef>
                <a:spcPts val="735"/>
              </a:spcBef>
              <a:spcAft>
                <a:spcPts val="0"/>
              </a:spcAft>
              <a:buNone/>
            </a:pPr>
            <a:r>
              <a:rPr lang="en-US" sz="1450">
                <a:solidFill>
                  <a:srgbClr val="445369"/>
                </a:solidFill>
                <a:latin typeface="Calibri"/>
                <a:ea typeface="Calibri"/>
                <a:cs typeface="Calibri"/>
                <a:sym typeface="Calibri"/>
              </a:rPr>
              <a:t>(surface / input forms)</a:t>
            </a:r>
            <a:endParaRPr sz="1450">
              <a:solidFill>
                <a:schemeClr val="dk1"/>
              </a:solidFill>
              <a:latin typeface="Calibri"/>
              <a:ea typeface="Calibri"/>
              <a:cs typeface="Calibri"/>
              <a:sym typeface="Calibri"/>
            </a:endParaRPr>
          </a:p>
        </p:txBody>
      </p:sp>
      <p:sp>
        <p:nvSpPr>
          <p:cNvPr id="323" name="Google Shape;323;p24"/>
          <p:cNvSpPr txBox="1"/>
          <p:nvPr/>
        </p:nvSpPr>
        <p:spPr>
          <a:xfrm>
            <a:off x="2635504" y="5500489"/>
            <a:ext cx="1472565" cy="762000"/>
          </a:xfrm>
          <a:prstGeom prst="rect">
            <a:avLst/>
          </a:prstGeom>
          <a:noFill/>
          <a:ln>
            <a:noFill/>
          </a:ln>
        </p:spPr>
        <p:txBody>
          <a:bodyPr spcFirstLastPara="1" wrap="square" lIns="0" tIns="137150" rIns="0" bIns="0" anchor="t" anchorCtr="0">
            <a:spAutoFit/>
          </a:bodyPr>
          <a:lstStyle/>
          <a:p>
            <a:pPr marL="85725" marR="0" lvl="0" indent="0" algn="l" rtl="0">
              <a:lnSpc>
                <a:spcPct val="100000"/>
              </a:lnSpc>
              <a:spcBef>
                <a:spcPts val="0"/>
              </a:spcBef>
              <a:spcAft>
                <a:spcPts val="0"/>
              </a:spcAft>
              <a:buNone/>
            </a:pPr>
            <a:r>
              <a:rPr lang="en-US" sz="1950">
                <a:solidFill>
                  <a:schemeClr val="dk1"/>
                </a:solidFill>
                <a:latin typeface="Calibri"/>
                <a:ea typeface="Calibri"/>
                <a:cs typeface="Calibri"/>
                <a:sym typeface="Calibri"/>
              </a:rPr>
              <a:t>talk	+	ing</a:t>
            </a:r>
            <a:endParaRPr sz="1950">
              <a:solidFill>
                <a:schemeClr val="dk1"/>
              </a:solidFill>
              <a:latin typeface="Calibri"/>
              <a:ea typeface="Calibri"/>
              <a:cs typeface="Calibri"/>
              <a:sym typeface="Calibri"/>
            </a:endParaRPr>
          </a:p>
          <a:p>
            <a:pPr marL="12700" marR="0" lvl="0" indent="0" algn="l" rtl="0">
              <a:lnSpc>
                <a:spcPct val="100000"/>
              </a:lnSpc>
              <a:spcBef>
                <a:spcPts val="735"/>
              </a:spcBef>
              <a:spcAft>
                <a:spcPts val="0"/>
              </a:spcAft>
              <a:buNone/>
            </a:pPr>
            <a:r>
              <a:rPr lang="en-US" sz="1450">
                <a:solidFill>
                  <a:srgbClr val="445369"/>
                </a:solidFill>
                <a:latin typeface="Calibri"/>
                <a:ea typeface="Calibri"/>
                <a:cs typeface="Calibri"/>
                <a:sym typeface="Calibri"/>
              </a:rPr>
              <a:t>(stem)	(suffix)</a:t>
            </a:r>
            <a:endParaRPr sz="1450">
              <a:solidFill>
                <a:schemeClr val="dk1"/>
              </a:solidFill>
              <a:latin typeface="Calibri"/>
              <a:ea typeface="Calibri"/>
              <a:cs typeface="Calibri"/>
              <a:sym typeface="Calibri"/>
            </a:endParaRPr>
          </a:p>
        </p:txBody>
      </p:sp>
      <p:sp>
        <p:nvSpPr>
          <p:cNvPr id="324" name="Google Shape;324;p24"/>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Shape 328"/>
        <p:cNvGrpSpPr/>
        <p:nvPr/>
      </p:nvGrpSpPr>
      <p:grpSpPr>
        <a:xfrm>
          <a:off x="0" y="0"/>
          <a:ext cx="0" cy="0"/>
          <a:chOff x="0" y="0"/>
          <a:chExt cx="0" cy="0"/>
        </a:xfrm>
      </p:grpSpPr>
      <p:sp>
        <p:nvSpPr>
          <p:cNvPr id="329" name="Google Shape;329;p25"/>
          <p:cNvSpPr txBox="1"/>
          <p:nvPr/>
        </p:nvSpPr>
        <p:spPr>
          <a:xfrm>
            <a:off x="256540" y="1359153"/>
            <a:ext cx="4081779" cy="322580"/>
          </a:xfrm>
          <a:prstGeom prst="rect">
            <a:avLst/>
          </a:prstGeom>
          <a:noFill/>
          <a:ln>
            <a:noFill/>
          </a:ln>
        </p:spPr>
        <p:txBody>
          <a:bodyPr spcFirstLastPara="1" wrap="square" lIns="0" tIns="12700" rIns="0" bIns="0" anchor="t" anchorCtr="0">
            <a:spAutoFit/>
          </a:bodyPr>
          <a:lstStyle/>
          <a:p>
            <a:pPr marL="201295" marR="0" lvl="0" indent="-189230" algn="l" rtl="0">
              <a:lnSpc>
                <a:spcPct val="100000"/>
              </a:lnSpc>
              <a:spcBef>
                <a:spcPts val="0"/>
              </a:spcBef>
              <a:spcAft>
                <a:spcPts val="0"/>
              </a:spcAft>
              <a:buClr>
                <a:schemeClr val="dk1"/>
              </a:buClr>
              <a:buSzPts val="1950"/>
              <a:buFont typeface="Arial"/>
              <a:buChar char="•"/>
            </a:pPr>
            <a:r>
              <a:rPr lang="en-US" sz="1950">
                <a:solidFill>
                  <a:schemeClr val="dk1"/>
                </a:solidFill>
                <a:latin typeface="Calibri"/>
                <a:ea typeface="Calibri"/>
                <a:cs typeface="Calibri"/>
                <a:sym typeface="Calibri"/>
              </a:rPr>
              <a:t>Different surfaces can have same stem</a:t>
            </a:r>
            <a:endParaRPr sz="1950">
              <a:solidFill>
                <a:schemeClr val="dk1"/>
              </a:solidFill>
              <a:latin typeface="Calibri"/>
              <a:ea typeface="Calibri"/>
              <a:cs typeface="Calibri"/>
              <a:sym typeface="Calibri"/>
            </a:endParaRPr>
          </a:p>
        </p:txBody>
      </p:sp>
      <p:sp>
        <p:nvSpPr>
          <p:cNvPr id="330" name="Google Shape;330;p25"/>
          <p:cNvSpPr txBox="1"/>
          <p:nvPr/>
        </p:nvSpPr>
        <p:spPr>
          <a:xfrm>
            <a:off x="426466" y="1610733"/>
            <a:ext cx="2384425" cy="762000"/>
          </a:xfrm>
          <a:prstGeom prst="rect">
            <a:avLst/>
          </a:prstGeom>
          <a:noFill/>
          <a:ln>
            <a:noFill/>
          </a:ln>
        </p:spPr>
        <p:txBody>
          <a:bodyPr spcFirstLastPara="1" wrap="square" lIns="0" tIns="137150" rIns="0" bIns="0" anchor="t" anchorCtr="0">
            <a:spAutoFit/>
          </a:bodyPr>
          <a:lstStyle/>
          <a:p>
            <a:pPr marL="12700" marR="0" lvl="0" indent="0" algn="l" rtl="0">
              <a:lnSpc>
                <a:spcPct val="100000"/>
              </a:lnSpc>
              <a:spcBef>
                <a:spcPts val="0"/>
              </a:spcBef>
              <a:spcAft>
                <a:spcPts val="0"/>
              </a:spcAft>
              <a:buNone/>
            </a:pPr>
            <a:r>
              <a:rPr lang="en-US" sz="1950">
                <a:solidFill>
                  <a:schemeClr val="dk1"/>
                </a:solidFill>
                <a:latin typeface="Calibri"/>
                <a:ea typeface="Calibri"/>
                <a:cs typeface="Calibri"/>
                <a:sym typeface="Calibri"/>
              </a:rPr>
              <a:t>eg. sings, sang, sung	-</a:t>
            </a:r>
            <a:endParaRPr sz="1950">
              <a:solidFill>
                <a:schemeClr val="dk1"/>
              </a:solidFill>
              <a:latin typeface="Calibri"/>
              <a:ea typeface="Calibri"/>
              <a:cs typeface="Calibri"/>
              <a:sym typeface="Calibri"/>
            </a:endParaRPr>
          </a:p>
          <a:p>
            <a:pPr marL="750570" marR="0" lvl="0" indent="0" algn="l" rtl="0">
              <a:lnSpc>
                <a:spcPct val="100000"/>
              </a:lnSpc>
              <a:spcBef>
                <a:spcPts val="735"/>
              </a:spcBef>
              <a:spcAft>
                <a:spcPts val="0"/>
              </a:spcAft>
              <a:buNone/>
            </a:pPr>
            <a:r>
              <a:rPr lang="en-US" sz="1450">
                <a:solidFill>
                  <a:srgbClr val="445369"/>
                </a:solidFill>
                <a:latin typeface="Calibri"/>
                <a:ea typeface="Calibri"/>
                <a:cs typeface="Calibri"/>
                <a:sym typeface="Calibri"/>
              </a:rPr>
              <a:t>surfaces</a:t>
            </a:r>
            <a:endParaRPr sz="1450">
              <a:solidFill>
                <a:schemeClr val="dk1"/>
              </a:solidFill>
              <a:latin typeface="Calibri"/>
              <a:ea typeface="Calibri"/>
              <a:cs typeface="Calibri"/>
              <a:sym typeface="Calibri"/>
            </a:endParaRPr>
          </a:p>
        </p:txBody>
      </p:sp>
      <p:sp>
        <p:nvSpPr>
          <p:cNvPr id="331" name="Google Shape;331;p25"/>
          <p:cNvSpPr txBox="1"/>
          <p:nvPr/>
        </p:nvSpPr>
        <p:spPr>
          <a:xfrm>
            <a:off x="2962895" y="1610725"/>
            <a:ext cx="2649900" cy="756000"/>
          </a:xfrm>
          <a:prstGeom prst="rect">
            <a:avLst/>
          </a:prstGeom>
          <a:noFill/>
          <a:ln>
            <a:noFill/>
          </a:ln>
        </p:spPr>
        <p:txBody>
          <a:bodyPr spcFirstLastPara="1" wrap="square" lIns="0" tIns="137150" rIns="0" bIns="0" anchor="t" anchorCtr="0">
            <a:spAutoFit/>
          </a:bodyPr>
          <a:lstStyle/>
          <a:p>
            <a:pPr marL="60325" marR="0" lvl="0" indent="0" algn="l" rtl="0">
              <a:lnSpc>
                <a:spcPct val="100000"/>
              </a:lnSpc>
              <a:spcBef>
                <a:spcPts val="0"/>
              </a:spcBef>
              <a:spcAft>
                <a:spcPts val="0"/>
              </a:spcAft>
              <a:buNone/>
            </a:pPr>
            <a:r>
              <a:rPr lang="en-US" sz="1950">
                <a:solidFill>
                  <a:schemeClr val="dk1"/>
                </a:solidFill>
                <a:latin typeface="Calibri"/>
                <a:ea typeface="Calibri"/>
                <a:cs typeface="Calibri"/>
                <a:sym typeface="Calibri"/>
              </a:rPr>
              <a:t>sing</a:t>
            </a:r>
            <a:endParaRPr sz="1950">
              <a:solidFill>
                <a:schemeClr val="dk1"/>
              </a:solidFill>
              <a:latin typeface="Calibri"/>
              <a:ea typeface="Calibri"/>
              <a:cs typeface="Calibri"/>
              <a:sym typeface="Calibri"/>
            </a:endParaRPr>
          </a:p>
          <a:p>
            <a:pPr marL="12700" marR="0" lvl="0" indent="0" algn="l" rtl="0">
              <a:lnSpc>
                <a:spcPct val="100000"/>
              </a:lnSpc>
              <a:spcBef>
                <a:spcPts val="735"/>
              </a:spcBef>
              <a:spcAft>
                <a:spcPts val="0"/>
              </a:spcAft>
              <a:buNone/>
            </a:pPr>
            <a:r>
              <a:rPr lang="en-US" sz="1450">
                <a:solidFill>
                  <a:srgbClr val="445369"/>
                </a:solidFill>
                <a:latin typeface="Calibri"/>
                <a:ea typeface="Calibri"/>
                <a:cs typeface="Calibri"/>
                <a:sym typeface="Calibri"/>
              </a:rPr>
              <a:t>stem / common lemma</a:t>
            </a:r>
            <a:endParaRPr sz="1450">
              <a:solidFill>
                <a:schemeClr val="dk1"/>
              </a:solidFill>
              <a:latin typeface="Calibri"/>
              <a:ea typeface="Calibri"/>
              <a:cs typeface="Calibri"/>
              <a:sym typeface="Calibri"/>
            </a:endParaRPr>
          </a:p>
        </p:txBody>
      </p:sp>
      <p:sp>
        <p:nvSpPr>
          <p:cNvPr id="332" name="Google Shape;332;p25"/>
          <p:cNvSpPr txBox="1"/>
          <p:nvPr/>
        </p:nvSpPr>
        <p:spPr>
          <a:xfrm>
            <a:off x="256540" y="2419858"/>
            <a:ext cx="8547735" cy="5198859"/>
          </a:xfrm>
          <a:prstGeom prst="rect">
            <a:avLst/>
          </a:prstGeom>
          <a:noFill/>
          <a:ln>
            <a:noFill/>
          </a:ln>
        </p:spPr>
        <p:txBody>
          <a:bodyPr spcFirstLastPara="1" wrap="square" lIns="0" tIns="12700" rIns="0" bIns="0" anchor="t" anchorCtr="0">
            <a:spAutoFit/>
          </a:bodyPr>
          <a:lstStyle/>
          <a:p>
            <a:pPr marL="201295" marR="0" lvl="0" indent="-189230" algn="just" rtl="0">
              <a:lnSpc>
                <a:spcPct val="100000"/>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Mapping from surfaces to stem / lemma is also called “Lemmatization”</a:t>
            </a:r>
            <a:endParaRPr sz="2400">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chemeClr val="dk1"/>
              </a:buClr>
              <a:buSzPts val="2400"/>
              <a:buFont typeface="Arial"/>
              <a:buNone/>
            </a:pPr>
            <a:endParaRPr sz="2400">
              <a:solidFill>
                <a:schemeClr val="dk1"/>
              </a:solidFill>
              <a:latin typeface="Calibri"/>
              <a:ea typeface="Calibri"/>
              <a:cs typeface="Calibri"/>
              <a:sym typeface="Calibri"/>
            </a:endParaRPr>
          </a:p>
          <a:p>
            <a:pPr marL="201295" marR="0" lvl="0" indent="-189230" algn="just" rtl="0">
              <a:lnSpc>
                <a:spcPct val="100000"/>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Stemming – simple to implement, useful in applications like IR and Web search</a:t>
            </a:r>
            <a:endParaRPr sz="2400">
              <a:solidFill>
                <a:schemeClr val="dk1"/>
              </a:solidFill>
              <a:latin typeface="Calibri"/>
              <a:ea typeface="Calibri"/>
              <a:cs typeface="Calibri"/>
              <a:sym typeface="Calibri"/>
            </a:endParaRPr>
          </a:p>
          <a:p>
            <a:pPr marL="201295" marR="0" lvl="0" indent="-189230" algn="just" rtl="0">
              <a:lnSpc>
                <a:spcPct val="100000"/>
              </a:lnSpc>
              <a:spcBef>
                <a:spcPts val="60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Lemmatization – complex to implement, NLP applications which relies on meaning</a:t>
            </a:r>
            <a:endParaRPr sz="2400">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chemeClr val="dk1"/>
              </a:buClr>
              <a:buSzPts val="2400"/>
              <a:buFont typeface="Arial"/>
              <a:buNone/>
            </a:pPr>
            <a:endParaRPr sz="2400">
              <a:solidFill>
                <a:schemeClr val="dk1"/>
              </a:solidFill>
              <a:latin typeface="Calibri"/>
              <a:ea typeface="Calibri"/>
              <a:cs typeface="Calibri"/>
              <a:sym typeface="Calibri"/>
            </a:endParaRPr>
          </a:p>
          <a:p>
            <a:pPr marL="201295" marR="0" lvl="0" indent="-189230" algn="just" rtl="0">
              <a:lnSpc>
                <a:spcPct val="100000"/>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Can the problem of morphological analysis be solved by Lookup?</a:t>
            </a:r>
            <a:endParaRPr sz="2400">
              <a:solidFill>
                <a:schemeClr val="dk1"/>
              </a:solidFill>
              <a:latin typeface="Calibri"/>
              <a:ea typeface="Calibri"/>
              <a:cs typeface="Calibri"/>
              <a:sym typeface="Calibri"/>
            </a:endParaRPr>
          </a:p>
          <a:p>
            <a:pPr marL="372110" marR="0" lvl="1" indent="-152400" algn="just" rtl="0">
              <a:lnSpc>
                <a:spcPct val="100000"/>
              </a:lnSpc>
              <a:spcBef>
                <a:spcPts val="600"/>
              </a:spcBef>
              <a:spcAft>
                <a:spcPts val="0"/>
              </a:spcAft>
              <a:buClr>
                <a:schemeClr val="dk1"/>
              </a:buClr>
              <a:buSzPts val="2400"/>
              <a:buFont typeface="Calibri"/>
              <a:buChar char="-"/>
            </a:pPr>
            <a:r>
              <a:rPr lang="en-US" sz="2400" b="0" i="0" u="none" strike="noStrike" cap="none">
                <a:solidFill>
                  <a:schemeClr val="dk1"/>
                </a:solidFill>
                <a:latin typeface="Calibri"/>
                <a:ea typeface="Calibri"/>
                <a:cs typeface="Calibri"/>
                <a:sym typeface="Calibri"/>
              </a:rPr>
              <a:t>may be possible for a small subset but not for entire language</a:t>
            </a:r>
            <a:endParaRPr sz="2400" b="0" i="0" u="none" strike="noStrike" cap="none">
              <a:solidFill>
                <a:schemeClr val="dk1"/>
              </a:solidFill>
              <a:latin typeface="Calibri"/>
              <a:ea typeface="Calibri"/>
              <a:cs typeface="Calibri"/>
              <a:sym typeface="Calibri"/>
            </a:endParaRPr>
          </a:p>
          <a:p>
            <a:pPr marL="372110" marR="0" lvl="1" indent="-152400" algn="just" rtl="0">
              <a:lnSpc>
                <a:spcPct val="100000"/>
              </a:lnSpc>
              <a:spcBef>
                <a:spcPts val="600"/>
              </a:spcBef>
              <a:spcAft>
                <a:spcPts val="0"/>
              </a:spcAft>
              <a:buClr>
                <a:schemeClr val="dk1"/>
              </a:buClr>
              <a:buSzPts val="2400"/>
              <a:buFont typeface="Calibri"/>
              <a:buChar char="-"/>
            </a:pPr>
            <a:r>
              <a:rPr lang="en-US" sz="2400" b="0" i="0" u="none" strike="noStrike" cap="none">
                <a:solidFill>
                  <a:schemeClr val="dk1"/>
                </a:solidFill>
                <a:latin typeface="Calibri"/>
                <a:ea typeface="Calibri"/>
                <a:cs typeface="Calibri"/>
                <a:sym typeface="Calibri"/>
              </a:rPr>
              <a:t>1 verb – various forms</a:t>
            </a:r>
            <a:endParaRPr sz="2400" b="0" i="0" u="none" strike="noStrike" cap="none">
              <a:solidFill>
                <a:schemeClr val="dk1"/>
              </a:solidFill>
              <a:latin typeface="Calibri"/>
              <a:ea typeface="Calibri"/>
              <a:cs typeface="Calibri"/>
              <a:sym typeface="Calibri"/>
            </a:endParaRPr>
          </a:p>
          <a:p>
            <a:pPr marL="372110" marR="0" lvl="1" indent="-152400" algn="just" rtl="0">
              <a:lnSpc>
                <a:spcPct val="100000"/>
              </a:lnSpc>
              <a:spcBef>
                <a:spcPts val="600"/>
              </a:spcBef>
              <a:spcAft>
                <a:spcPts val="0"/>
              </a:spcAft>
              <a:buClr>
                <a:schemeClr val="dk1"/>
              </a:buClr>
              <a:buSzPts val="2400"/>
              <a:buFont typeface="Calibri"/>
              <a:buChar char="-"/>
            </a:pPr>
            <a:r>
              <a:rPr lang="en-US" sz="2400" b="0" i="0" u="none" strike="noStrike" cap="none">
                <a:solidFill>
                  <a:schemeClr val="dk1"/>
                </a:solidFill>
                <a:latin typeface="Calibri"/>
                <a:ea typeface="Calibri"/>
                <a:cs typeface="Calibri"/>
                <a:sym typeface="Calibri"/>
              </a:rPr>
              <a:t>1 noun – various forms</a:t>
            </a:r>
            <a:endParaRPr sz="2400" b="0" i="0" u="none" strike="noStrike" cap="none">
              <a:solidFill>
                <a:schemeClr val="dk1"/>
              </a:solidFill>
              <a:latin typeface="Calibri"/>
              <a:ea typeface="Calibri"/>
              <a:cs typeface="Calibri"/>
              <a:sym typeface="Calibri"/>
            </a:endParaRPr>
          </a:p>
          <a:p>
            <a:pPr marL="372110" marR="0" lvl="1" indent="-152400" algn="just" rtl="0">
              <a:lnSpc>
                <a:spcPct val="100000"/>
              </a:lnSpc>
              <a:spcBef>
                <a:spcPts val="600"/>
              </a:spcBef>
              <a:spcAft>
                <a:spcPts val="0"/>
              </a:spcAft>
              <a:buClr>
                <a:schemeClr val="dk1"/>
              </a:buClr>
              <a:buSzPts val="2400"/>
              <a:buFont typeface="Calibri"/>
              <a:buChar char="-"/>
            </a:pPr>
            <a:r>
              <a:rPr lang="en-US" sz="2400" b="0" i="0" u="none" strike="noStrike" cap="none">
                <a:solidFill>
                  <a:schemeClr val="dk1"/>
                </a:solidFill>
                <a:latin typeface="Calibri"/>
                <a:ea typeface="Calibri"/>
                <a:cs typeface="Calibri"/>
                <a:sym typeface="Calibri"/>
              </a:rPr>
              <a:t>Some languages are morphologically complex – Russian, Turkish</a:t>
            </a:r>
            <a:endParaRPr sz="2400" b="0" i="0" u="none" strike="noStrike" cap="none">
              <a:solidFill>
                <a:schemeClr val="dk1"/>
              </a:solidFill>
              <a:latin typeface="Calibri"/>
              <a:ea typeface="Calibri"/>
              <a:cs typeface="Calibri"/>
              <a:sym typeface="Calibri"/>
            </a:endParaRPr>
          </a:p>
        </p:txBody>
      </p:sp>
      <p:sp>
        <p:nvSpPr>
          <p:cNvPr id="333" name="Google Shape;333;p25"/>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Shape 337"/>
        <p:cNvGrpSpPr/>
        <p:nvPr/>
      </p:nvGrpSpPr>
      <p:grpSpPr>
        <a:xfrm>
          <a:off x="0" y="0"/>
          <a:ext cx="0" cy="0"/>
          <a:chOff x="0" y="0"/>
          <a:chExt cx="0" cy="0"/>
        </a:xfrm>
      </p:grpSpPr>
      <p:sp>
        <p:nvSpPr>
          <p:cNvPr id="338" name="Google Shape;338;p26"/>
          <p:cNvSpPr txBox="1">
            <a:spLocks noGrp="1"/>
          </p:cNvSpPr>
          <p:nvPr>
            <p:ph type="title"/>
          </p:nvPr>
        </p:nvSpPr>
        <p:spPr>
          <a:xfrm>
            <a:off x="754125" y="1308350"/>
            <a:ext cx="2082000" cy="4206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a:t>Morphemes</a:t>
            </a:r>
            <a:endParaRPr/>
          </a:p>
        </p:txBody>
      </p:sp>
      <p:grpSp>
        <p:nvGrpSpPr>
          <p:cNvPr id="339" name="Google Shape;339;p26"/>
          <p:cNvGrpSpPr/>
          <p:nvPr/>
        </p:nvGrpSpPr>
        <p:grpSpPr>
          <a:xfrm>
            <a:off x="3529584" y="2302763"/>
            <a:ext cx="1530350" cy="549910"/>
            <a:chOff x="3529584" y="2302763"/>
            <a:chExt cx="1530350" cy="549910"/>
          </a:xfrm>
        </p:grpSpPr>
        <p:sp>
          <p:nvSpPr>
            <p:cNvPr id="340" name="Google Shape;340;p26"/>
            <p:cNvSpPr/>
            <p:nvPr/>
          </p:nvSpPr>
          <p:spPr>
            <a:xfrm>
              <a:off x="3535680" y="2308860"/>
              <a:ext cx="1519555" cy="538480"/>
            </a:xfrm>
            <a:custGeom>
              <a:avLst/>
              <a:gdLst/>
              <a:ahLst/>
              <a:cxnLst/>
              <a:rect l="l" t="t" r="r" b="b"/>
              <a:pathLst>
                <a:path w="1519554" h="538480" extrusionOk="0">
                  <a:moveTo>
                    <a:pt x="1429385" y="0"/>
                  </a:moveTo>
                  <a:lnTo>
                    <a:pt x="89916" y="0"/>
                  </a:lnTo>
                  <a:lnTo>
                    <a:pt x="54610" y="6985"/>
                  </a:lnTo>
                  <a:lnTo>
                    <a:pt x="26035" y="26162"/>
                  </a:lnTo>
                  <a:lnTo>
                    <a:pt x="6985" y="54737"/>
                  </a:lnTo>
                  <a:lnTo>
                    <a:pt x="0" y="89915"/>
                  </a:lnTo>
                  <a:lnTo>
                    <a:pt x="0" y="448310"/>
                  </a:lnTo>
                  <a:lnTo>
                    <a:pt x="6985" y="483488"/>
                  </a:lnTo>
                  <a:lnTo>
                    <a:pt x="26035" y="512063"/>
                  </a:lnTo>
                  <a:lnTo>
                    <a:pt x="54610" y="531240"/>
                  </a:lnTo>
                  <a:lnTo>
                    <a:pt x="89916" y="538226"/>
                  </a:lnTo>
                  <a:lnTo>
                    <a:pt x="1429385" y="538226"/>
                  </a:lnTo>
                  <a:lnTo>
                    <a:pt x="1464691" y="531240"/>
                  </a:lnTo>
                  <a:lnTo>
                    <a:pt x="1493266" y="512063"/>
                  </a:lnTo>
                  <a:lnTo>
                    <a:pt x="1512316" y="483488"/>
                  </a:lnTo>
                  <a:lnTo>
                    <a:pt x="1519301" y="448310"/>
                  </a:lnTo>
                  <a:lnTo>
                    <a:pt x="1519301" y="89915"/>
                  </a:lnTo>
                  <a:lnTo>
                    <a:pt x="1512316" y="54737"/>
                  </a:lnTo>
                  <a:lnTo>
                    <a:pt x="1493266" y="26162"/>
                  </a:lnTo>
                  <a:lnTo>
                    <a:pt x="1464691" y="6985"/>
                  </a:lnTo>
                  <a:lnTo>
                    <a:pt x="1429385"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1" name="Google Shape;341;p26"/>
            <p:cNvSpPr/>
            <p:nvPr/>
          </p:nvSpPr>
          <p:spPr>
            <a:xfrm>
              <a:off x="3529584" y="2302763"/>
              <a:ext cx="1530350" cy="549910"/>
            </a:xfrm>
            <a:custGeom>
              <a:avLst/>
              <a:gdLst/>
              <a:ahLst/>
              <a:cxnLst/>
              <a:rect l="l" t="t" r="r" b="b"/>
              <a:pathLst>
                <a:path w="1530350" h="549910" extrusionOk="0">
                  <a:moveTo>
                    <a:pt x="1529842" y="85344"/>
                  </a:moveTo>
                  <a:lnTo>
                    <a:pt x="1528826" y="79248"/>
                  </a:lnTo>
                  <a:lnTo>
                    <a:pt x="1526794" y="67056"/>
                  </a:lnTo>
                  <a:lnTo>
                    <a:pt x="1523746" y="57912"/>
                  </a:lnTo>
                  <a:lnTo>
                    <a:pt x="1520698" y="52832"/>
                  </a:lnTo>
                  <a:lnTo>
                    <a:pt x="1520698" y="95885"/>
                  </a:lnTo>
                  <a:lnTo>
                    <a:pt x="1520698" y="453898"/>
                  </a:lnTo>
                  <a:lnTo>
                    <a:pt x="1517650" y="472059"/>
                  </a:lnTo>
                  <a:lnTo>
                    <a:pt x="1519174" y="470535"/>
                  </a:lnTo>
                  <a:lnTo>
                    <a:pt x="1516126" y="479679"/>
                  </a:lnTo>
                  <a:lnTo>
                    <a:pt x="1510030" y="494919"/>
                  </a:lnTo>
                  <a:lnTo>
                    <a:pt x="1505458" y="502539"/>
                  </a:lnTo>
                  <a:lnTo>
                    <a:pt x="1505458" y="501015"/>
                  </a:lnTo>
                  <a:lnTo>
                    <a:pt x="1500886" y="508635"/>
                  </a:lnTo>
                  <a:lnTo>
                    <a:pt x="1494790" y="514731"/>
                  </a:lnTo>
                  <a:lnTo>
                    <a:pt x="1488694" y="519303"/>
                  </a:lnTo>
                  <a:lnTo>
                    <a:pt x="1482598" y="525399"/>
                  </a:lnTo>
                  <a:lnTo>
                    <a:pt x="1482598" y="523875"/>
                  </a:lnTo>
                  <a:lnTo>
                    <a:pt x="1474978" y="528447"/>
                  </a:lnTo>
                  <a:lnTo>
                    <a:pt x="1476502" y="528447"/>
                  </a:lnTo>
                  <a:lnTo>
                    <a:pt x="1468882" y="533019"/>
                  </a:lnTo>
                  <a:lnTo>
                    <a:pt x="1459738" y="536067"/>
                  </a:lnTo>
                  <a:lnTo>
                    <a:pt x="1461262" y="534543"/>
                  </a:lnTo>
                  <a:lnTo>
                    <a:pt x="1452118" y="537591"/>
                  </a:lnTo>
                  <a:lnTo>
                    <a:pt x="1444498" y="539115"/>
                  </a:lnTo>
                  <a:lnTo>
                    <a:pt x="86868" y="539115"/>
                  </a:lnTo>
                  <a:lnTo>
                    <a:pt x="77724" y="537591"/>
                  </a:lnTo>
                  <a:lnTo>
                    <a:pt x="79248" y="537591"/>
                  </a:lnTo>
                  <a:lnTo>
                    <a:pt x="74676" y="536067"/>
                  </a:lnTo>
                  <a:lnTo>
                    <a:pt x="70104" y="534543"/>
                  </a:lnTo>
                  <a:lnTo>
                    <a:pt x="71628" y="536067"/>
                  </a:lnTo>
                  <a:lnTo>
                    <a:pt x="62484" y="533019"/>
                  </a:lnTo>
                  <a:lnTo>
                    <a:pt x="54864" y="528447"/>
                  </a:lnTo>
                  <a:lnTo>
                    <a:pt x="56388" y="528447"/>
                  </a:lnTo>
                  <a:lnTo>
                    <a:pt x="51308" y="525399"/>
                  </a:lnTo>
                  <a:lnTo>
                    <a:pt x="48768" y="523875"/>
                  </a:lnTo>
                  <a:lnTo>
                    <a:pt x="48768" y="525399"/>
                  </a:lnTo>
                  <a:lnTo>
                    <a:pt x="41148" y="519303"/>
                  </a:lnTo>
                  <a:lnTo>
                    <a:pt x="42672" y="519303"/>
                  </a:lnTo>
                  <a:lnTo>
                    <a:pt x="35052" y="514731"/>
                  </a:lnTo>
                  <a:lnTo>
                    <a:pt x="36576" y="514731"/>
                  </a:lnTo>
                  <a:lnTo>
                    <a:pt x="30480" y="508635"/>
                  </a:lnTo>
                  <a:lnTo>
                    <a:pt x="26797" y="502539"/>
                  </a:lnTo>
                  <a:lnTo>
                    <a:pt x="25908" y="501015"/>
                  </a:lnTo>
                  <a:lnTo>
                    <a:pt x="25908" y="502539"/>
                  </a:lnTo>
                  <a:lnTo>
                    <a:pt x="21336" y="494919"/>
                  </a:lnTo>
                  <a:lnTo>
                    <a:pt x="15240" y="479679"/>
                  </a:lnTo>
                  <a:lnTo>
                    <a:pt x="12700" y="472059"/>
                  </a:lnTo>
                  <a:lnTo>
                    <a:pt x="12192" y="470535"/>
                  </a:lnTo>
                  <a:lnTo>
                    <a:pt x="12192" y="462915"/>
                  </a:lnTo>
                  <a:lnTo>
                    <a:pt x="10668" y="453898"/>
                  </a:lnTo>
                  <a:lnTo>
                    <a:pt x="10668" y="95885"/>
                  </a:lnTo>
                  <a:lnTo>
                    <a:pt x="12192" y="86868"/>
                  </a:lnTo>
                  <a:lnTo>
                    <a:pt x="12192" y="79248"/>
                  </a:lnTo>
                  <a:lnTo>
                    <a:pt x="12700" y="77724"/>
                  </a:lnTo>
                  <a:lnTo>
                    <a:pt x="15240" y="70104"/>
                  </a:lnTo>
                  <a:lnTo>
                    <a:pt x="21336" y="54864"/>
                  </a:lnTo>
                  <a:lnTo>
                    <a:pt x="25908" y="48768"/>
                  </a:lnTo>
                  <a:lnTo>
                    <a:pt x="30480" y="41148"/>
                  </a:lnTo>
                  <a:lnTo>
                    <a:pt x="35052" y="36576"/>
                  </a:lnTo>
                  <a:lnTo>
                    <a:pt x="36957" y="35052"/>
                  </a:lnTo>
                  <a:lnTo>
                    <a:pt x="42672" y="30480"/>
                  </a:lnTo>
                  <a:lnTo>
                    <a:pt x="41148" y="30480"/>
                  </a:lnTo>
                  <a:lnTo>
                    <a:pt x="56388" y="21336"/>
                  </a:lnTo>
                  <a:lnTo>
                    <a:pt x="54864" y="21336"/>
                  </a:lnTo>
                  <a:lnTo>
                    <a:pt x="62484" y="16764"/>
                  </a:lnTo>
                  <a:lnTo>
                    <a:pt x="62484" y="18288"/>
                  </a:lnTo>
                  <a:lnTo>
                    <a:pt x="67056" y="16764"/>
                  </a:lnTo>
                  <a:lnTo>
                    <a:pt x="71628" y="15240"/>
                  </a:lnTo>
                  <a:lnTo>
                    <a:pt x="70104" y="15240"/>
                  </a:lnTo>
                  <a:lnTo>
                    <a:pt x="79248" y="12192"/>
                  </a:lnTo>
                  <a:lnTo>
                    <a:pt x="77724" y="12192"/>
                  </a:lnTo>
                  <a:lnTo>
                    <a:pt x="86868" y="10668"/>
                  </a:lnTo>
                  <a:lnTo>
                    <a:pt x="1444498" y="10668"/>
                  </a:lnTo>
                  <a:lnTo>
                    <a:pt x="1452118" y="12192"/>
                  </a:lnTo>
                  <a:lnTo>
                    <a:pt x="1461262" y="15240"/>
                  </a:lnTo>
                  <a:lnTo>
                    <a:pt x="1459738" y="15240"/>
                  </a:lnTo>
                  <a:lnTo>
                    <a:pt x="1468882" y="18288"/>
                  </a:lnTo>
                  <a:lnTo>
                    <a:pt x="1468882" y="16764"/>
                  </a:lnTo>
                  <a:lnTo>
                    <a:pt x="1476502" y="21336"/>
                  </a:lnTo>
                  <a:lnTo>
                    <a:pt x="1474978" y="21336"/>
                  </a:lnTo>
                  <a:lnTo>
                    <a:pt x="1482598" y="25908"/>
                  </a:lnTo>
                  <a:lnTo>
                    <a:pt x="1488694" y="30480"/>
                  </a:lnTo>
                  <a:lnTo>
                    <a:pt x="1494790" y="36576"/>
                  </a:lnTo>
                  <a:lnTo>
                    <a:pt x="1494790" y="35052"/>
                  </a:lnTo>
                  <a:lnTo>
                    <a:pt x="1500886" y="42672"/>
                  </a:lnTo>
                  <a:lnTo>
                    <a:pt x="1500886" y="41148"/>
                  </a:lnTo>
                  <a:lnTo>
                    <a:pt x="1505458" y="48768"/>
                  </a:lnTo>
                  <a:lnTo>
                    <a:pt x="1510030" y="54864"/>
                  </a:lnTo>
                  <a:lnTo>
                    <a:pt x="1516126" y="70104"/>
                  </a:lnTo>
                  <a:lnTo>
                    <a:pt x="1519174" y="79248"/>
                  </a:lnTo>
                  <a:lnTo>
                    <a:pt x="1517650" y="77724"/>
                  </a:lnTo>
                  <a:lnTo>
                    <a:pt x="1520698" y="95885"/>
                  </a:lnTo>
                  <a:lnTo>
                    <a:pt x="1520698" y="52832"/>
                  </a:lnTo>
                  <a:lnTo>
                    <a:pt x="1514602" y="42672"/>
                  </a:lnTo>
                  <a:lnTo>
                    <a:pt x="1513332" y="41148"/>
                  </a:lnTo>
                  <a:lnTo>
                    <a:pt x="1508506" y="35052"/>
                  </a:lnTo>
                  <a:lnTo>
                    <a:pt x="1496314" y="22860"/>
                  </a:lnTo>
                  <a:lnTo>
                    <a:pt x="1488694" y="16764"/>
                  </a:lnTo>
                  <a:lnTo>
                    <a:pt x="1481074" y="12192"/>
                  </a:lnTo>
                  <a:lnTo>
                    <a:pt x="1478026" y="10668"/>
                  </a:lnTo>
                  <a:lnTo>
                    <a:pt x="1471930" y="7620"/>
                  </a:lnTo>
                  <a:lnTo>
                    <a:pt x="1464310" y="4572"/>
                  </a:lnTo>
                  <a:lnTo>
                    <a:pt x="1435354" y="0"/>
                  </a:lnTo>
                  <a:lnTo>
                    <a:pt x="96012" y="0"/>
                  </a:lnTo>
                  <a:lnTo>
                    <a:pt x="85344" y="1524"/>
                  </a:lnTo>
                  <a:lnTo>
                    <a:pt x="35052" y="22860"/>
                  </a:lnTo>
                  <a:lnTo>
                    <a:pt x="7620" y="57912"/>
                  </a:lnTo>
                  <a:lnTo>
                    <a:pt x="0" y="95885"/>
                  </a:lnTo>
                  <a:lnTo>
                    <a:pt x="0" y="455422"/>
                  </a:lnTo>
                  <a:lnTo>
                    <a:pt x="16764" y="507111"/>
                  </a:lnTo>
                  <a:lnTo>
                    <a:pt x="28956" y="520827"/>
                  </a:lnTo>
                  <a:lnTo>
                    <a:pt x="35052" y="528447"/>
                  </a:lnTo>
                  <a:lnTo>
                    <a:pt x="50292" y="537591"/>
                  </a:lnTo>
                  <a:lnTo>
                    <a:pt x="59436" y="542163"/>
                  </a:lnTo>
                  <a:lnTo>
                    <a:pt x="67056" y="545211"/>
                  </a:lnTo>
                  <a:lnTo>
                    <a:pt x="76200" y="548259"/>
                  </a:lnTo>
                  <a:lnTo>
                    <a:pt x="85344" y="548259"/>
                  </a:lnTo>
                  <a:lnTo>
                    <a:pt x="96012" y="549783"/>
                  </a:lnTo>
                  <a:lnTo>
                    <a:pt x="1435354" y="549783"/>
                  </a:lnTo>
                  <a:lnTo>
                    <a:pt x="1444498" y="548259"/>
                  </a:lnTo>
                  <a:lnTo>
                    <a:pt x="1455166" y="548259"/>
                  </a:lnTo>
                  <a:lnTo>
                    <a:pt x="1464310" y="545211"/>
                  </a:lnTo>
                  <a:lnTo>
                    <a:pt x="1471930" y="542163"/>
                  </a:lnTo>
                  <a:lnTo>
                    <a:pt x="1478026" y="539115"/>
                  </a:lnTo>
                  <a:lnTo>
                    <a:pt x="1481074" y="537591"/>
                  </a:lnTo>
                  <a:lnTo>
                    <a:pt x="1483614" y="536067"/>
                  </a:lnTo>
                  <a:lnTo>
                    <a:pt x="1496314" y="528447"/>
                  </a:lnTo>
                  <a:lnTo>
                    <a:pt x="1499362" y="525399"/>
                  </a:lnTo>
                  <a:lnTo>
                    <a:pt x="1523746" y="491871"/>
                  </a:lnTo>
                  <a:lnTo>
                    <a:pt x="1528826" y="470535"/>
                  </a:lnTo>
                  <a:lnTo>
                    <a:pt x="1529842" y="464439"/>
                  </a:lnTo>
                  <a:lnTo>
                    <a:pt x="1529842" y="85344"/>
                  </a:lnTo>
                  <a:close/>
                </a:path>
              </a:pathLst>
            </a:custGeom>
            <a:solidFill>
              <a:srgbClr val="416F9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342" name="Google Shape;342;p26"/>
          <p:cNvSpPr txBox="1"/>
          <p:nvPr/>
        </p:nvSpPr>
        <p:spPr>
          <a:xfrm>
            <a:off x="3624071" y="2431795"/>
            <a:ext cx="955675"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rgbClr val="FFFFFF"/>
                </a:solidFill>
                <a:latin typeface="Calibri"/>
                <a:ea typeface="Calibri"/>
                <a:cs typeface="Calibri"/>
                <a:sym typeface="Calibri"/>
              </a:rPr>
              <a:t>Morphemes</a:t>
            </a:r>
            <a:endParaRPr sz="1450">
              <a:solidFill>
                <a:schemeClr val="dk1"/>
              </a:solidFill>
              <a:latin typeface="Calibri"/>
              <a:ea typeface="Calibri"/>
              <a:cs typeface="Calibri"/>
              <a:sym typeface="Calibri"/>
            </a:endParaRPr>
          </a:p>
        </p:txBody>
      </p:sp>
      <p:grpSp>
        <p:nvGrpSpPr>
          <p:cNvPr id="343" name="Google Shape;343;p26"/>
          <p:cNvGrpSpPr/>
          <p:nvPr/>
        </p:nvGrpSpPr>
        <p:grpSpPr>
          <a:xfrm>
            <a:off x="687324" y="3144011"/>
            <a:ext cx="1571625" cy="593090"/>
            <a:chOff x="687324" y="3144011"/>
            <a:chExt cx="1571625" cy="593090"/>
          </a:xfrm>
        </p:grpSpPr>
        <p:sp>
          <p:nvSpPr>
            <p:cNvPr id="344" name="Google Shape;344;p26"/>
            <p:cNvSpPr/>
            <p:nvPr/>
          </p:nvSpPr>
          <p:spPr>
            <a:xfrm>
              <a:off x="691895" y="3148583"/>
              <a:ext cx="1560830" cy="582295"/>
            </a:xfrm>
            <a:custGeom>
              <a:avLst/>
              <a:gdLst/>
              <a:ahLst/>
              <a:cxnLst/>
              <a:rect l="l" t="t" r="r" b="b"/>
              <a:pathLst>
                <a:path w="1560830" h="582295" extrusionOk="0">
                  <a:moveTo>
                    <a:pt x="1464310" y="0"/>
                  </a:moveTo>
                  <a:lnTo>
                    <a:pt x="97523" y="0"/>
                  </a:lnTo>
                  <a:lnTo>
                    <a:pt x="59778" y="7746"/>
                  </a:lnTo>
                  <a:lnTo>
                    <a:pt x="28765" y="28701"/>
                  </a:lnTo>
                  <a:lnTo>
                    <a:pt x="7734" y="59816"/>
                  </a:lnTo>
                  <a:lnTo>
                    <a:pt x="0" y="97536"/>
                  </a:lnTo>
                  <a:lnTo>
                    <a:pt x="0" y="486028"/>
                  </a:lnTo>
                  <a:lnTo>
                    <a:pt x="7734" y="523493"/>
                  </a:lnTo>
                  <a:lnTo>
                    <a:pt x="28765" y="554101"/>
                  </a:lnTo>
                  <a:lnTo>
                    <a:pt x="59778" y="574548"/>
                  </a:lnTo>
                  <a:lnTo>
                    <a:pt x="97523" y="582040"/>
                  </a:lnTo>
                  <a:lnTo>
                    <a:pt x="1464310" y="582040"/>
                  </a:lnTo>
                  <a:lnTo>
                    <a:pt x="1501775" y="574548"/>
                  </a:lnTo>
                  <a:lnTo>
                    <a:pt x="1532382" y="554101"/>
                  </a:lnTo>
                  <a:lnTo>
                    <a:pt x="1552829" y="523493"/>
                  </a:lnTo>
                  <a:lnTo>
                    <a:pt x="1560322" y="486028"/>
                  </a:lnTo>
                  <a:lnTo>
                    <a:pt x="1560322" y="97536"/>
                  </a:lnTo>
                  <a:lnTo>
                    <a:pt x="1552829" y="59816"/>
                  </a:lnTo>
                  <a:lnTo>
                    <a:pt x="1532382" y="28701"/>
                  </a:lnTo>
                  <a:lnTo>
                    <a:pt x="1501775" y="7746"/>
                  </a:lnTo>
                  <a:lnTo>
                    <a:pt x="1464310"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5" name="Google Shape;345;p26"/>
            <p:cNvSpPr/>
            <p:nvPr/>
          </p:nvSpPr>
          <p:spPr>
            <a:xfrm>
              <a:off x="687324" y="3144011"/>
              <a:ext cx="1571625" cy="593090"/>
            </a:xfrm>
            <a:custGeom>
              <a:avLst/>
              <a:gdLst/>
              <a:ahLst/>
              <a:cxnLst/>
              <a:rect l="l" t="t" r="r" b="b"/>
              <a:pathLst>
                <a:path w="1571625" h="593089" extrusionOk="0">
                  <a:moveTo>
                    <a:pt x="1571625" y="91440"/>
                  </a:moveTo>
                  <a:lnTo>
                    <a:pt x="1568577" y="82296"/>
                  </a:lnTo>
                  <a:lnTo>
                    <a:pt x="1567053" y="71628"/>
                  </a:lnTo>
                  <a:lnTo>
                    <a:pt x="1565021" y="65532"/>
                  </a:lnTo>
                  <a:lnTo>
                    <a:pt x="1564005" y="62484"/>
                  </a:lnTo>
                  <a:lnTo>
                    <a:pt x="1560957" y="56388"/>
                  </a:lnTo>
                  <a:lnTo>
                    <a:pt x="1560957" y="92964"/>
                  </a:lnTo>
                  <a:lnTo>
                    <a:pt x="1560957" y="499618"/>
                  </a:lnTo>
                  <a:lnTo>
                    <a:pt x="1559433" y="508762"/>
                  </a:lnTo>
                  <a:lnTo>
                    <a:pt x="1556385" y="517906"/>
                  </a:lnTo>
                  <a:lnTo>
                    <a:pt x="1556385" y="516382"/>
                  </a:lnTo>
                  <a:lnTo>
                    <a:pt x="1553337" y="525526"/>
                  </a:lnTo>
                  <a:lnTo>
                    <a:pt x="1527429" y="560578"/>
                  </a:lnTo>
                  <a:lnTo>
                    <a:pt x="1519809" y="566674"/>
                  </a:lnTo>
                  <a:lnTo>
                    <a:pt x="1521333" y="565150"/>
                  </a:lnTo>
                  <a:lnTo>
                    <a:pt x="1512189" y="571246"/>
                  </a:lnTo>
                  <a:lnTo>
                    <a:pt x="1513713" y="569722"/>
                  </a:lnTo>
                  <a:lnTo>
                    <a:pt x="1504569" y="574294"/>
                  </a:lnTo>
                  <a:lnTo>
                    <a:pt x="1496949" y="577342"/>
                  </a:lnTo>
                  <a:lnTo>
                    <a:pt x="1487805" y="580390"/>
                  </a:lnTo>
                  <a:lnTo>
                    <a:pt x="1487805" y="578866"/>
                  </a:lnTo>
                  <a:lnTo>
                    <a:pt x="1469517" y="581914"/>
                  </a:lnTo>
                  <a:lnTo>
                    <a:pt x="102133" y="581914"/>
                  </a:lnTo>
                  <a:lnTo>
                    <a:pt x="92989" y="580390"/>
                  </a:lnTo>
                  <a:lnTo>
                    <a:pt x="83845" y="578866"/>
                  </a:lnTo>
                  <a:lnTo>
                    <a:pt x="83845" y="580390"/>
                  </a:lnTo>
                  <a:lnTo>
                    <a:pt x="65544" y="574294"/>
                  </a:lnTo>
                  <a:lnTo>
                    <a:pt x="67068" y="574294"/>
                  </a:lnTo>
                  <a:lnTo>
                    <a:pt x="60972" y="571246"/>
                  </a:lnTo>
                  <a:lnTo>
                    <a:pt x="57924" y="569722"/>
                  </a:lnTo>
                  <a:lnTo>
                    <a:pt x="57924" y="571246"/>
                  </a:lnTo>
                  <a:lnTo>
                    <a:pt x="52209" y="566674"/>
                  </a:lnTo>
                  <a:lnTo>
                    <a:pt x="50304" y="565150"/>
                  </a:lnTo>
                  <a:lnTo>
                    <a:pt x="50304" y="566674"/>
                  </a:lnTo>
                  <a:lnTo>
                    <a:pt x="42684" y="560578"/>
                  </a:lnTo>
                  <a:lnTo>
                    <a:pt x="44208" y="560578"/>
                  </a:lnTo>
                  <a:lnTo>
                    <a:pt x="36588" y="554482"/>
                  </a:lnTo>
                  <a:lnTo>
                    <a:pt x="30492" y="548386"/>
                  </a:lnTo>
                  <a:lnTo>
                    <a:pt x="32016" y="548386"/>
                  </a:lnTo>
                  <a:lnTo>
                    <a:pt x="25908" y="540766"/>
                  </a:lnTo>
                  <a:lnTo>
                    <a:pt x="16764" y="525526"/>
                  </a:lnTo>
                  <a:lnTo>
                    <a:pt x="14224" y="517906"/>
                  </a:lnTo>
                  <a:lnTo>
                    <a:pt x="13716" y="516382"/>
                  </a:lnTo>
                  <a:lnTo>
                    <a:pt x="13716" y="517906"/>
                  </a:lnTo>
                  <a:lnTo>
                    <a:pt x="10668" y="499618"/>
                  </a:lnTo>
                  <a:lnTo>
                    <a:pt x="10668" y="92964"/>
                  </a:lnTo>
                  <a:lnTo>
                    <a:pt x="13716" y="74676"/>
                  </a:lnTo>
                  <a:lnTo>
                    <a:pt x="16764" y="65532"/>
                  </a:lnTo>
                  <a:lnTo>
                    <a:pt x="16764" y="67056"/>
                  </a:lnTo>
                  <a:lnTo>
                    <a:pt x="17526" y="65532"/>
                  </a:lnTo>
                  <a:lnTo>
                    <a:pt x="21336" y="57912"/>
                  </a:lnTo>
                  <a:lnTo>
                    <a:pt x="25908" y="50292"/>
                  </a:lnTo>
                  <a:lnTo>
                    <a:pt x="32016" y="44196"/>
                  </a:lnTo>
                  <a:lnTo>
                    <a:pt x="30492" y="44196"/>
                  </a:lnTo>
                  <a:lnTo>
                    <a:pt x="36588" y="36576"/>
                  </a:lnTo>
                  <a:lnTo>
                    <a:pt x="36588" y="38100"/>
                  </a:lnTo>
                  <a:lnTo>
                    <a:pt x="38112" y="36576"/>
                  </a:lnTo>
                  <a:lnTo>
                    <a:pt x="42684" y="32004"/>
                  </a:lnTo>
                  <a:lnTo>
                    <a:pt x="44589" y="30480"/>
                  </a:lnTo>
                  <a:lnTo>
                    <a:pt x="50304" y="25908"/>
                  </a:lnTo>
                  <a:lnTo>
                    <a:pt x="57924" y="21336"/>
                  </a:lnTo>
                  <a:lnTo>
                    <a:pt x="67068" y="16764"/>
                  </a:lnTo>
                  <a:lnTo>
                    <a:pt x="65544" y="18288"/>
                  </a:lnTo>
                  <a:lnTo>
                    <a:pt x="68592" y="16764"/>
                  </a:lnTo>
                  <a:lnTo>
                    <a:pt x="74688" y="13716"/>
                  </a:lnTo>
                  <a:lnTo>
                    <a:pt x="74688" y="15240"/>
                  </a:lnTo>
                  <a:lnTo>
                    <a:pt x="79273" y="13716"/>
                  </a:lnTo>
                  <a:lnTo>
                    <a:pt x="83845" y="12192"/>
                  </a:lnTo>
                  <a:lnTo>
                    <a:pt x="92989" y="10668"/>
                  </a:lnTo>
                  <a:lnTo>
                    <a:pt x="1478661" y="10668"/>
                  </a:lnTo>
                  <a:lnTo>
                    <a:pt x="1487805" y="12192"/>
                  </a:lnTo>
                  <a:lnTo>
                    <a:pt x="1496949" y="15240"/>
                  </a:lnTo>
                  <a:lnTo>
                    <a:pt x="1496949" y="13716"/>
                  </a:lnTo>
                  <a:lnTo>
                    <a:pt x="1504569" y="18288"/>
                  </a:lnTo>
                  <a:lnTo>
                    <a:pt x="1504569" y="16764"/>
                  </a:lnTo>
                  <a:lnTo>
                    <a:pt x="1513713" y="21336"/>
                  </a:lnTo>
                  <a:lnTo>
                    <a:pt x="1512189" y="21336"/>
                  </a:lnTo>
                  <a:lnTo>
                    <a:pt x="1521333" y="25908"/>
                  </a:lnTo>
                  <a:lnTo>
                    <a:pt x="1519809" y="25908"/>
                  </a:lnTo>
                  <a:lnTo>
                    <a:pt x="1527429" y="32004"/>
                  </a:lnTo>
                  <a:lnTo>
                    <a:pt x="1527429" y="30480"/>
                  </a:lnTo>
                  <a:lnTo>
                    <a:pt x="1533525" y="38100"/>
                  </a:lnTo>
                  <a:lnTo>
                    <a:pt x="1533525" y="36576"/>
                  </a:lnTo>
                  <a:lnTo>
                    <a:pt x="1539621" y="44196"/>
                  </a:lnTo>
                  <a:lnTo>
                    <a:pt x="1545717" y="50292"/>
                  </a:lnTo>
                  <a:lnTo>
                    <a:pt x="1550289" y="57912"/>
                  </a:lnTo>
                  <a:lnTo>
                    <a:pt x="1553337" y="67056"/>
                  </a:lnTo>
                  <a:lnTo>
                    <a:pt x="1553337" y="65532"/>
                  </a:lnTo>
                  <a:lnTo>
                    <a:pt x="1559433" y="83820"/>
                  </a:lnTo>
                  <a:lnTo>
                    <a:pt x="1560957" y="92964"/>
                  </a:lnTo>
                  <a:lnTo>
                    <a:pt x="1560957" y="56388"/>
                  </a:lnTo>
                  <a:lnTo>
                    <a:pt x="1559433" y="53340"/>
                  </a:lnTo>
                  <a:lnTo>
                    <a:pt x="1553337" y="44196"/>
                  </a:lnTo>
                  <a:lnTo>
                    <a:pt x="1548765" y="36576"/>
                  </a:lnTo>
                  <a:lnTo>
                    <a:pt x="1541145" y="30480"/>
                  </a:lnTo>
                  <a:lnTo>
                    <a:pt x="1533525" y="22860"/>
                  </a:lnTo>
                  <a:lnTo>
                    <a:pt x="1525905" y="16764"/>
                  </a:lnTo>
                  <a:lnTo>
                    <a:pt x="1520825" y="13716"/>
                  </a:lnTo>
                  <a:lnTo>
                    <a:pt x="1518285" y="12192"/>
                  </a:lnTo>
                  <a:lnTo>
                    <a:pt x="1515237" y="10668"/>
                  </a:lnTo>
                  <a:lnTo>
                    <a:pt x="1509141" y="7620"/>
                  </a:lnTo>
                  <a:lnTo>
                    <a:pt x="1499997" y="4572"/>
                  </a:lnTo>
                  <a:lnTo>
                    <a:pt x="1489329" y="1524"/>
                  </a:lnTo>
                  <a:lnTo>
                    <a:pt x="1480185" y="0"/>
                  </a:lnTo>
                  <a:lnTo>
                    <a:pt x="91465" y="0"/>
                  </a:lnTo>
                  <a:lnTo>
                    <a:pt x="80797" y="1524"/>
                  </a:lnTo>
                  <a:lnTo>
                    <a:pt x="44208" y="16764"/>
                  </a:lnTo>
                  <a:lnTo>
                    <a:pt x="16764" y="44196"/>
                  </a:lnTo>
                  <a:lnTo>
                    <a:pt x="0" y="91440"/>
                  </a:lnTo>
                  <a:lnTo>
                    <a:pt x="0" y="499618"/>
                  </a:lnTo>
                  <a:lnTo>
                    <a:pt x="1524" y="510286"/>
                  </a:lnTo>
                  <a:lnTo>
                    <a:pt x="16764" y="546862"/>
                  </a:lnTo>
                  <a:lnTo>
                    <a:pt x="53352" y="580390"/>
                  </a:lnTo>
                  <a:lnTo>
                    <a:pt x="62496" y="583438"/>
                  </a:lnTo>
                  <a:lnTo>
                    <a:pt x="71640" y="588010"/>
                  </a:lnTo>
                  <a:lnTo>
                    <a:pt x="80797" y="589534"/>
                  </a:lnTo>
                  <a:lnTo>
                    <a:pt x="102133" y="592582"/>
                  </a:lnTo>
                  <a:lnTo>
                    <a:pt x="1469517" y="592582"/>
                  </a:lnTo>
                  <a:lnTo>
                    <a:pt x="1499997" y="588010"/>
                  </a:lnTo>
                  <a:lnTo>
                    <a:pt x="1509141" y="583438"/>
                  </a:lnTo>
                  <a:lnTo>
                    <a:pt x="1513713" y="581914"/>
                  </a:lnTo>
                  <a:lnTo>
                    <a:pt x="1518285" y="580390"/>
                  </a:lnTo>
                  <a:lnTo>
                    <a:pt x="1529715" y="571246"/>
                  </a:lnTo>
                  <a:lnTo>
                    <a:pt x="1535430" y="566674"/>
                  </a:lnTo>
                  <a:lnTo>
                    <a:pt x="1541145" y="562102"/>
                  </a:lnTo>
                  <a:lnTo>
                    <a:pt x="1548765" y="554482"/>
                  </a:lnTo>
                  <a:lnTo>
                    <a:pt x="1553337" y="546862"/>
                  </a:lnTo>
                  <a:lnTo>
                    <a:pt x="1559433" y="539242"/>
                  </a:lnTo>
                  <a:lnTo>
                    <a:pt x="1564005" y="530098"/>
                  </a:lnTo>
                  <a:lnTo>
                    <a:pt x="1567053" y="520954"/>
                  </a:lnTo>
                  <a:lnTo>
                    <a:pt x="1567434" y="517906"/>
                  </a:lnTo>
                  <a:lnTo>
                    <a:pt x="1568577" y="510286"/>
                  </a:lnTo>
                  <a:lnTo>
                    <a:pt x="1571625" y="499618"/>
                  </a:lnTo>
                  <a:lnTo>
                    <a:pt x="1571625" y="91440"/>
                  </a:lnTo>
                  <a:close/>
                </a:path>
              </a:pathLst>
            </a:custGeom>
            <a:solidFill>
              <a:srgbClr val="416F9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346" name="Google Shape;346;p26"/>
          <p:cNvSpPr txBox="1"/>
          <p:nvPr/>
        </p:nvSpPr>
        <p:spPr>
          <a:xfrm>
            <a:off x="1225041" y="3294634"/>
            <a:ext cx="488950"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rgbClr val="FFFFFF"/>
                </a:solidFill>
                <a:latin typeface="Calibri"/>
                <a:ea typeface="Calibri"/>
                <a:cs typeface="Calibri"/>
                <a:sym typeface="Calibri"/>
              </a:rPr>
              <a:t>Stems</a:t>
            </a:r>
            <a:endParaRPr sz="1450">
              <a:solidFill>
                <a:schemeClr val="dk1"/>
              </a:solidFill>
              <a:latin typeface="Calibri"/>
              <a:ea typeface="Calibri"/>
              <a:cs typeface="Calibri"/>
              <a:sym typeface="Calibri"/>
            </a:endParaRPr>
          </a:p>
        </p:txBody>
      </p:sp>
      <p:grpSp>
        <p:nvGrpSpPr>
          <p:cNvPr id="347" name="Google Shape;347;p26"/>
          <p:cNvGrpSpPr/>
          <p:nvPr/>
        </p:nvGrpSpPr>
        <p:grpSpPr>
          <a:xfrm>
            <a:off x="5830824" y="4401311"/>
            <a:ext cx="1570990" cy="929640"/>
            <a:chOff x="5830824" y="4401311"/>
            <a:chExt cx="1570990" cy="929640"/>
          </a:xfrm>
        </p:grpSpPr>
        <p:sp>
          <p:nvSpPr>
            <p:cNvPr id="348" name="Google Shape;348;p26"/>
            <p:cNvSpPr/>
            <p:nvPr/>
          </p:nvSpPr>
          <p:spPr>
            <a:xfrm>
              <a:off x="5835395" y="4405883"/>
              <a:ext cx="1560830" cy="920750"/>
            </a:xfrm>
            <a:custGeom>
              <a:avLst/>
              <a:gdLst/>
              <a:ahLst/>
              <a:cxnLst/>
              <a:rect l="l" t="t" r="r" b="b"/>
              <a:pathLst>
                <a:path w="1560829" h="920750" extrusionOk="0">
                  <a:moveTo>
                    <a:pt x="1407922" y="0"/>
                  </a:moveTo>
                  <a:lnTo>
                    <a:pt x="153924" y="0"/>
                  </a:lnTo>
                  <a:lnTo>
                    <a:pt x="105155" y="7874"/>
                  </a:lnTo>
                  <a:lnTo>
                    <a:pt x="62864" y="29590"/>
                  </a:lnTo>
                  <a:lnTo>
                    <a:pt x="29590" y="62864"/>
                  </a:lnTo>
                  <a:lnTo>
                    <a:pt x="7874" y="105155"/>
                  </a:lnTo>
                  <a:lnTo>
                    <a:pt x="0" y="153923"/>
                  </a:lnTo>
                  <a:lnTo>
                    <a:pt x="0" y="766317"/>
                  </a:lnTo>
                  <a:lnTo>
                    <a:pt x="7874" y="815085"/>
                  </a:lnTo>
                  <a:lnTo>
                    <a:pt x="29590" y="857376"/>
                  </a:lnTo>
                  <a:lnTo>
                    <a:pt x="62864" y="890651"/>
                  </a:lnTo>
                  <a:lnTo>
                    <a:pt x="105155" y="912367"/>
                  </a:lnTo>
                  <a:lnTo>
                    <a:pt x="153924" y="920241"/>
                  </a:lnTo>
                  <a:lnTo>
                    <a:pt x="1407922" y="920241"/>
                  </a:lnTo>
                  <a:lnTo>
                    <a:pt x="1455927" y="912367"/>
                  </a:lnTo>
                  <a:lnTo>
                    <a:pt x="1497837" y="890651"/>
                  </a:lnTo>
                  <a:lnTo>
                    <a:pt x="1530857" y="857376"/>
                  </a:lnTo>
                  <a:lnTo>
                    <a:pt x="1552575" y="815085"/>
                  </a:lnTo>
                  <a:lnTo>
                    <a:pt x="1560322" y="766317"/>
                  </a:lnTo>
                  <a:lnTo>
                    <a:pt x="1560322" y="153923"/>
                  </a:lnTo>
                  <a:lnTo>
                    <a:pt x="1552575" y="105155"/>
                  </a:lnTo>
                  <a:lnTo>
                    <a:pt x="1530857" y="62864"/>
                  </a:lnTo>
                  <a:lnTo>
                    <a:pt x="1497837" y="29590"/>
                  </a:lnTo>
                  <a:lnTo>
                    <a:pt x="1455927" y="7874"/>
                  </a:lnTo>
                  <a:lnTo>
                    <a:pt x="1407922"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9" name="Google Shape;349;p26"/>
            <p:cNvSpPr/>
            <p:nvPr/>
          </p:nvSpPr>
          <p:spPr>
            <a:xfrm>
              <a:off x="5830824" y="4401311"/>
              <a:ext cx="1570990" cy="929640"/>
            </a:xfrm>
            <a:custGeom>
              <a:avLst/>
              <a:gdLst/>
              <a:ahLst/>
              <a:cxnLst/>
              <a:rect l="l" t="t" r="r" b="b"/>
              <a:pathLst>
                <a:path w="1570990" h="929639" extrusionOk="0">
                  <a:moveTo>
                    <a:pt x="1570863" y="158496"/>
                  </a:moveTo>
                  <a:lnTo>
                    <a:pt x="1567942" y="128016"/>
                  </a:lnTo>
                  <a:lnTo>
                    <a:pt x="1567815" y="126492"/>
                  </a:lnTo>
                  <a:lnTo>
                    <a:pt x="1560195" y="101092"/>
                  </a:lnTo>
                  <a:lnTo>
                    <a:pt x="1560195" y="158496"/>
                  </a:lnTo>
                  <a:lnTo>
                    <a:pt x="1560195" y="771144"/>
                  </a:lnTo>
                  <a:lnTo>
                    <a:pt x="1557147" y="801624"/>
                  </a:lnTo>
                  <a:lnTo>
                    <a:pt x="1552575" y="815340"/>
                  </a:lnTo>
                  <a:lnTo>
                    <a:pt x="1554099" y="815340"/>
                  </a:lnTo>
                  <a:lnTo>
                    <a:pt x="1541907" y="842772"/>
                  </a:lnTo>
                  <a:lnTo>
                    <a:pt x="1541907" y="841248"/>
                  </a:lnTo>
                  <a:lnTo>
                    <a:pt x="1534287" y="854964"/>
                  </a:lnTo>
                  <a:lnTo>
                    <a:pt x="1534287" y="853440"/>
                  </a:lnTo>
                  <a:lnTo>
                    <a:pt x="1526667" y="865632"/>
                  </a:lnTo>
                  <a:lnTo>
                    <a:pt x="1515999" y="876300"/>
                  </a:lnTo>
                  <a:lnTo>
                    <a:pt x="1505331" y="885444"/>
                  </a:lnTo>
                  <a:lnTo>
                    <a:pt x="1506855" y="885444"/>
                  </a:lnTo>
                  <a:lnTo>
                    <a:pt x="1494663" y="894588"/>
                  </a:lnTo>
                  <a:lnTo>
                    <a:pt x="1482471" y="902208"/>
                  </a:lnTo>
                  <a:lnTo>
                    <a:pt x="1468755" y="908304"/>
                  </a:lnTo>
                  <a:lnTo>
                    <a:pt x="1470279" y="908304"/>
                  </a:lnTo>
                  <a:lnTo>
                    <a:pt x="1455039" y="912876"/>
                  </a:lnTo>
                  <a:lnTo>
                    <a:pt x="1456563" y="912876"/>
                  </a:lnTo>
                  <a:lnTo>
                    <a:pt x="1426083" y="918972"/>
                  </a:lnTo>
                  <a:lnTo>
                    <a:pt x="143256" y="918972"/>
                  </a:lnTo>
                  <a:lnTo>
                    <a:pt x="128016" y="915924"/>
                  </a:lnTo>
                  <a:lnTo>
                    <a:pt x="114300" y="912876"/>
                  </a:lnTo>
                  <a:lnTo>
                    <a:pt x="100584" y="908304"/>
                  </a:lnTo>
                  <a:lnTo>
                    <a:pt x="86868" y="902208"/>
                  </a:lnTo>
                  <a:lnTo>
                    <a:pt x="88392" y="902208"/>
                  </a:lnTo>
                  <a:lnTo>
                    <a:pt x="74676" y="894588"/>
                  </a:lnTo>
                  <a:lnTo>
                    <a:pt x="53340" y="876300"/>
                  </a:lnTo>
                  <a:lnTo>
                    <a:pt x="44196" y="865632"/>
                  </a:lnTo>
                  <a:lnTo>
                    <a:pt x="36195" y="854964"/>
                  </a:lnTo>
                  <a:lnTo>
                    <a:pt x="35052" y="853440"/>
                  </a:lnTo>
                  <a:lnTo>
                    <a:pt x="35052" y="854964"/>
                  </a:lnTo>
                  <a:lnTo>
                    <a:pt x="28321" y="842772"/>
                  </a:lnTo>
                  <a:lnTo>
                    <a:pt x="27432" y="841248"/>
                  </a:lnTo>
                  <a:lnTo>
                    <a:pt x="27432" y="842772"/>
                  </a:lnTo>
                  <a:lnTo>
                    <a:pt x="21336" y="829056"/>
                  </a:lnTo>
                  <a:lnTo>
                    <a:pt x="12192" y="801624"/>
                  </a:lnTo>
                  <a:lnTo>
                    <a:pt x="13716" y="801624"/>
                  </a:lnTo>
                  <a:lnTo>
                    <a:pt x="10668" y="786384"/>
                  </a:lnTo>
                  <a:lnTo>
                    <a:pt x="9144" y="771144"/>
                  </a:lnTo>
                  <a:lnTo>
                    <a:pt x="9144" y="158496"/>
                  </a:lnTo>
                  <a:lnTo>
                    <a:pt x="10668" y="143256"/>
                  </a:lnTo>
                  <a:lnTo>
                    <a:pt x="13462" y="129540"/>
                  </a:lnTo>
                  <a:lnTo>
                    <a:pt x="13716" y="128016"/>
                  </a:lnTo>
                  <a:lnTo>
                    <a:pt x="12192" y="129540"/>
                  </a:lnTo>
                  <a:lnTo>
                    <a:pt x="16764" y="114300"/>
                  </a:lnTo>
                  <a:lnTo>
                    <a:pt x="21336" y="100596"/>
                  </a:lnTo>
                  <a:lnTo>
                    <a:pt x="27432" y="86868"/>
                  </a:lnTo>
                  <a:lnTo>
                    <a:pt x="27432" y="88392"/>
                  </a:lnTo>
                  <a:lnTo>
                    <a:pt x="28321" y="86868"/>
                  </a:lnTo>
                  <a:lnTo>
                    <a:pt x="35052" y="74676"/>
                  </a:lnTo>
                  <a:lnTo>
                    <a:pt x="35052" y="76200"/>
                  </a:lnTo>
                  <a:lnTo>
                    <a:pt x="36195" y="74676"/>
                  </a:lnTo>
                  <a:lnTo>
                    <a:pt x="44196" y="64020"/>
                  </a:lnTo>
                  <a:lnTo>
                    <a:pt x="53340" y="53340"/>
                  </a:lnTo>
                  <a:lnTo>
                    <a:pt x="74676" y="35052"/>
                  </a:lnTo>
                  <a:lnTo>
                    <a:pt x="88392" y="27432"/>
                  </a:lnTo>
                  <a:lnTo>
                    <a:pt x="86868" y="28956"/>
                  </a:lnTo>
                  <a:lnTo>
                    <a:pt x="89535" y="27432"/>
                  </a:lnTo>
                  <a:lnTo>
                    <a:pt x="100584" y="21336"/>
                  </a:lnTo>
                  <a:lnTo>
                    <a:pt x="114300" y="16764"/>
                  </a:lnTo>
                  <a:lnTo>
                    <a:pt x="128016" y="13716"/>
                  </a:lnTo>
                  <a:lnTo>
                    <a:pt x="143256" y="10668"/>
                  </a:lnTo>
                  <a:lnTo>
                    <a:pt x="1426083" y="10668"/>
                  </a:lnTo>
                  <a:lnTo>
                    <a:pt x="1456563" y="16764"/>
                  </a:lnTo>
                  <a:lnTo>
                    <a:pt x="1455039" y="16764"/>
                  </a:lnTo>
                  <a:lnTo>
                    <a:pt x="1470279" y="21336"/>
                  </a:lnTo>
                  <a:lnTo>
                    <a:pt x="1468755" y="21336"/>
                  </a:lnTo>
                  <a:lnTo>
                    <a:pt x="1482471" y="28956"/>
                  </a:lnTo>
                  <a:lnTo>
                    <a:pt x="1482471" y="27432"/>
                  </a:lnTo>
                  <a:lnTo>
                    <a:pt x="1494663" y="35052"/>
                  </a:lnTo>
                  <a:lnTo>
                    <a:pt x="1506855" y="44208"/>
                  </a:lnTo>
                  <a:lnTo>
                    <a:pt x="1505331" y="44208"/>
                  </a:lnTo>
                  <a:lnTo>
                    <a:pt x="1515999" y="53340"/>
                  </a:lnTo>
                  <a:lnTo>
                    <a:pt x="1526667" y="64020"/>
                  </a:lnTo>
                  <a:lnTo>
                    <a:pt x="1534287" y="76200"/>
                  </a:lnTo>
                  <a:lnTo>
                    <a:pt x="1534287" y="74676"/>
                  </a:lnTo>
                  <a:lnTo>
                    <a:pt x="1541907" y="88392"/>
                  </a:lnTo>
                  <a:lnTo>
                    <a:pt x="1548003" y="100596"/>
                  </a:lnTo>
                  <a:lnTo>
                    <a:pt x="1554099" y="114300"/>
                  </a:lnTo>
                  <a:lnTo>
                    <a:pt x="1552575" y="114300"/>
                  </a:lnTo>
                  <a:lnTo>
                    <a:pt x="1557147" y="129540"/>
                  </a:lnTo>
                  <a:lnTo>
                    <a:pt x="1557147" y="128016"/>
                  </a:lnTo>
                  <a:lnTo>
                    <a:pt x="1560195" y="158496"/>
                  </a:lnTo>
                  <a:lnTo>
                    <a:pt x="1560195" y="101092"/>
                  </a:lnTo>
                  <a:lnTo>
                    <a:pt x="1534287" y="57912"/>
                  </a:lnTo>
                  <a:lnTo>
                    <a:pt x="1500759" y="27432"/>
                  </a:lnTo>
                  <a:lnTo>
                    <a:pt x="1468755" y="10668"/>
                  </a:lnTo>
                  <a:lnTo>
                    <a:pt x="1459611" y="7620"/>
                  </a:lnTo>
                  <a:lnTo>
                    <a:pt x="1444371" y="3048"/>
                  </a:lnTo>
                  <a:lnTo>
                    <a:pt x="1427607" y="0"/>
                  </a:lnTo>
                  <a:lnTo>
                    <a:pt x="141732" y="0"/>
                  </a:lnTo>
                  <a:lnTo>
                    <a:pt x="96012" y="12192"/>
                  </a:lnTo>
                  <a:lnTo>
                    <a:pt x="35052" y="57912"/>
                  </a:lnTo>
                  <a:lnTo>
                    <a:pt x="12192" y="96012"/>
                  </a:lnTo>
                  <a:lnTo>
                    <a:pt x="0" y="141732"/>
                  </a:lnTo>
                  <a:lnTo>
                    <a:pt x="0" y="787908"/>
                  </a:lnTo>
                  <a:lnTo>
                    <a:pt x="6096" y="818388"/>
                  </a:lnTo>
                  <a:lnTo>
                    <a:pt x="25908" y="859536"/>
                  </a:lnTo>
                  <a:lnTo>
                    <a:pt x="56388" y="893064"/>
                  </a:lnTo>
                  <a:lnTo>
                    <a:pt x="70104" y="902208"/>
                  </a:lnTo>
                  <a:lnTo>
                    <a:pt x="82296" y="911352"/>
                  </a:lnTo>
                  <a:lnTo>
                    <a:pt x="96012" y="917448"/>
                  </a:lnTo>
                  <a:lnTo>
                    <a:pt x="111252" y="923544"/>
                  </a:lnTo>
                  <a:lnTo>
                    <a:pt x="141732" y="929640"/>
                  </a:lnTo>
                  <a:lnTo>
                    <a:pt x="1427607" y="929640"/>
                  </a:lnTo>
                  <a:lnTo>
                    <a:pt x="1444371" y="926592"/>
                  </a:lnTo>
                  <a:lnTo>
                    <a:pt x="1459611" y="923544"/>
                  </a:lnTo>
                  <a:lnTo>
                    <a:pt x="1469898" y="918972"/>
                  </a:lnTo>
                  <a:lnTo>
                    <a:pt x="1487043" y="911352"/>
                  </a:lnTo>
                  <a:lnTo>
                    <a:pt x="1543431" y="859536"/>
                  </a:lnTo>
                  <a:lnTo>
                    <a:pt x="1553591" y="842772"/>
                  </a:lnTo>
                  <a:lnTo>
                    <a:pt x="1558671" y="833628"/>
                  </a:lnTo>
                  <a:lnTo>
                    <a:pt x="1567815" y="803148"/>
                  </a:lnTo>
                  <a:lnTo>
                    <a:pt x="1570863" y="771144"/>
                  </a:lnTo>
                  <a:lnTo>
                    <a:pt x="1570863" y="158496"/>
                  </a:lnTo>
                  <a:close/>
                </a:path>
              </a:pathLst>
            </a:custGeom>
            <a:solidFill>
              <a:srgbClr val="416F9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350" name="Google Shape;350;p26"/>
          <p:cNvSpPr txBox="1"/>
          <p:nvPr/>
        </p:nvSpPr>
        <p:spPr>
          <a:xfrm>
            <a:off x="6038341" y="4486655"/>
            <a:ext cx="1137920" cy="714375"/>
          </a:xfrm>
          <a:prstGeom prst="rect">
            <a:avLst/>
          </a:prstGeom>
          <a:noFill/>
          <a:ln>
            <a:noFill/>
          </a:ln>
        </p:spPr>
        <p:txBody>
          <a:bodyPr spcFirstLastPara="1" wrap="square" lIns="0" tIns="8250" rIns="0" bIns="0" anchor="t" anchorCtr="0">
            <a:spAutoFit/>
          </a:bodyPr>
          <a:lstStyle/>
          <a:p>
            <a:pPr marL="12700" marR="5080" lvl="0" indent="400685" algn="l" rtl="0">
              <a:lnSpc>
                <a:spcPct val="102099"/>
              </a:lnSpc>
              <a:spcBef>
                <a:spcPts val="0"/>
              </a:spcBef>
              <a:spcAft>
                <a:spcPts val="0"/>
              </a:spcAft>
              <a:buNone/>
            </a:pPr>
            <a:r>
              <a:rPr lang="en-US" sz="1450">
                <a:solidFill>
                  <a:srgbClr val="FFFFFF"/>
                </a:solidFill>
                <a:latin typeface="Calibri"/>
                <a:ea typeface="Calibri"/>
                <a:cs typeface="Calibri"/>
                <a:sym typeface="Calibri"/>
              </a:rPr>
              <a:t>Infix  Inserted inside</a:t>
            </a:r>
            <a:endParaRPr sz="1450">
              <a:solidFill>
                <a:schemeClr val="dk1"/>
              </a:solidFill>
              <a:latin typeface="Calibri"/>
              <a:ea typeface="Calibri"/>
              <a:cs typeface="Calibri"/>
              <a:sym typeface="Calibri"/>
            </a:endParaRPr>
          </a:p>
          <a:p>
            <a:pPr marL="386715" marR="0" lvl="0" indent="0" algn="l" rtl="0">
              <a:lnSpc>
                <a:spcPct val="100000"/>
              </a:lnSpc>
              <a:spcBef>
                <a:spcPts val="160"/>
              </a:spcBef>
              <a:spcAft>
                <a:spcPts val="0"/>
              </a:spcAft>
              <a:buNone/>
            </a:pPr>
            <a:r>
              <a:rPr lang="en-US" sz="1450">
                <a:solidFill>
                  <a:srgbClr val="FFFFFF"/>
                </a:solidFill>
                <a:latin typeface="Calibri"/>
                <a:ea typeface="Calibri"/>
                <a:cs typeface="Calibri"/>
                <a:sym typeface="Calibri"/>
              </a:rPr>
              <a:t>stem</a:t>
            </a:r>
            <a:endParaRPr sz="1450">
              <a:solidFill>
                <a:schemeClr val="dk1"/>
              </a:solidFill>
              <a:latin typeface="Calibri"/>
              <a:ea typeface="Calibri"/>
              <a:cs typeface="Calibri"/>
              <a:sym typeface="Calibri"/>
            </a:endParaRPr>
          </a:p>
        </p:txBody>
      </p:sp>
      <p:grpSp>
        <p:nvGrpSpPr>
          <p:cNvPr id="351" name="Google Shape;351;p26"/>
          <p:cNvGrpSpPr/>
          <p:nvPr/>
        </p:nvGrpSpPr>
        <p:grpSpPr>
          <a:xfrm>
            <a:off x="3880104" y="4401311"/>
            <a:ext cx="1570990" cy="929640"/>
            <a:chOff x="3880104" y="4401311"/>
            <a:chExt cx="1570990" cy="929640"/>
          </a:xfrm>
        </p:grpSpPr>
        <p:sp>
          <p:nvSpPr>
            <p:cNvPr id="352" name="Google Shape;352;p26"/>
            <p:cNvSpPr/>
            <p:nvPr/>
          </p:nvSpPr>
          <p:spPr>
            <a:xfrm>
              <a:off x="3886199" y="4405883"/>
              <a:ext cx="1560830" cy="920750"/>
            </a:xfrm>
            <a:custGeom>
              <a:avLst/>
              <a:gdLst/>
              <a:ahLst/>
              <a:cxnLst/>
              <a:rect l="l" t="t" r="r" b="b"/>
              <a:pathLst>
                <a:path w="1560829" h="920750" extrusionOk="0">
                  <a:moveTo>
                    <a:pt x="1406398" y="0"/>
                  </a:moveTo>
                  <a:lnTo>
                    <a:pt x="152400" y="0"/>
                  </a:lnTo>
                  <a:lnTo>
                    <a:pt x="104394" y="7874"/>
                  </a:lnTo>
                  <a:lnTo>
                    <a:pt x="62484" y="29590"/>
                  </a:lnTo>
                  <a:lnTo>
                    <a:pt x="29463" y="62864"/>
                  </a:lnTo>
                  <a:lnTo>
                    <a:pt x="7747" y="105155"/>
                  </a:lnTo>
                  <a:lnTo>
                    <a:pt x="0" y="153923"/>
                  </a:lnTo>
                  <a:lnTo>
                    <a:pt x="0" y="766317"/>
                  </a:lnTo>
                  <a:lnTo>
                    <a:pt x="7747" y="815085"/>
                  </a:lnTo>
                  <a:lnTo>
                    <a:pt x="29463" y="857376"/>
                  </a:lnTo>
                  <a:lnTo>
                    <a:pt x="62484" y="890651"/>
                  </a:lnTo>
                  <a:lnTo>
                    <a:pt x="104394" y="912367"/>
                  </a:lnTo>
                  <a:lnTo>
                    <a:pt x="152400" y="920241"/>
                  </a:lnTo>
                  <a:lnTo>
                    <a:pt x="1406398" y="920241"/>
                  </a:lnTo>
                  <a:lnTo>
                    <a:pt x="1455165" y="912367"/>
                  </a:lnTo>
                  <a:lnTo>
                    <a:pt x="1497457" y="890651"/>
                  </a:lnTo>
                  <a:lnTo>
                    <a:pt x="1530730" y="857376"/>
                  </a:lnTo>
                  <a:lnTo>
                    <a:pt x="1552448" y="815085"/>
                  </a:lnTo>
                  <a:lnTo>
                    <a:pt x="1560322" y="766317"/>
                  </a:lnTo>
                  <a:lnTo>
                    <a:pt x="1560322" y="153923"/>
                  </a:lnTo>
                  <a:lnTo>
                    <a:pt x="1552448" y="105155"/>
                  </a:lnTo>
                  <a:lnTo>
                    <a:pt x="1530730" y="62864"/>
                  </a:lnTo>
                  <a:lnTo>
                    <a:pt x="1497457" y="29590"/>
                  </a:lnTo>
                  <a:lnTo>
                    <a:pt x="1455165" y="7874"/>
                  </a:lnTo>
                  <a:lnTo>
                    <a:pt x="1406398"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3" name="Google Shape;353;p26"/>
            <p:cNvSpPr/>
            <p:nvPr/>
          </p:nvSpPr>
          <p:spPr>
            <a:xfrm>
              <a:off x="3880104" y="4401311"/>
              <a:ext cx="1570990" cy="929640"/>
            </a:xfrm>
            <a:custGeom>
              <a:avLst/>
              <a:gdLst/>
              <a:ahLst/>
              <a:cxnLst/>
              <a:rect l="l" t="t" r="r" b="b"/>
              <a:pathLst>
                <a:path w="1570989" h="929639" extrusionOk="0">
                  <a:moveTo>
                    <a:pt x="1570863" y="141732"/>
                  </a:moveTo>
                  <a:lnTo>
                    <a:pt x="1568450" y="129540"/>
                  </a:lnTo>
                  <a:lnTo>
                    <a:pt x="1564767" y="111252"/>
                  </a:lnTo>
                  <a:lnTo>
                    <a:pt x="1560195" y="99822"/>
                  </a:lnTo>
                  <a:lnTo>
                    <a:pt x="1560195" y="143256"/>
                  </a:lnTo>
                  <a:lnTo>
                    <a:pt x="1560195" y="786384"/>
                  </a:lnTo>
                  <a:lnTo>
                    <a:pt x="1557147" y="801624"/>
                  </a:lnTo>
                  <a:lnTo>
                    <a:pt x="1558671" y="801624"/>
                  </a:lnTo>
                  <a:lnTo>
                    <a:pt x="1549527" y="829056"/>
                  </a:lnTo>
                  <a:lnTo>
                    <a:pt x="1543431" y="842772"/>
                  </a:lnTo>
                  <a:lnTo>
                    <a:pt x="1543431" y="841248"/>
                  </a:lnTo>
                  <a:lnTo>
                    <a:pt x="1535811" y="854964"/>
                  </a:lnTo>
                  <a:lnTo>
                    <a:pt x="1535811" y="853440"/>
                  </a:lnTo>
                  <a:lnTo>
                    <a:pt x="1526667" y="865632"/>
                  </a:lnTo>
                  <a:lnTo>
                    <a:pt x="1517523" y="876300"/>
                  </a:lnTo>
                  <a:lnTo>
                    <a:pt x="1496187" y="894588"/>
                  </a:lnTo>
                  <a:lnTo>
                    <a:pt x="1482471" y="902208"/>
                  </a:lnTo>
                  <a:lnTo>
                    <a:pt x="1483995" y="902208"/>
                  </a:lnTo>
                  <a:lnTo>
                    <a:pt x="1470279" y="908304"/>
                  </a:lnTo>
                  <a:lnTo>
                    <a:pt x="1456563" y="912876"/>
                  </a:lnTo>
                  <a:lnTo>
                    <a:pt x="1442847" y="915924"/>
                  </a:lnTo>
                  <a:lnTo>
                    <a:pt x="1427607" y="918972"/>
                  </a:lnTo>
                  <a:lnTo>
                    <a:pt x="144780" y="918972"/>
                  </a:lnTo>
                  <a:lnTo>
                    <a:pt x="114300" y="912876"/>
                  </a:lnTo>
                  <a:lnTo>
                    <a:pt x="115824" y="912876"/>
                  </a:lnTo>
                  <a:lnTo>
                    <a:pt x="100584" y="908304"/>
                  </a:lnTo>
                  <a:lnTo>
                    <a:pt x="102108" y="908304"/>
                  </a:lnTo>
                  <a:lnTo>
                    <a:pt x="88392" y="902208"/>
                  </a:lnTo>
                  <a:lnTo>
                    <a:pt x="76200" y="894588"/>
                  </a:lnTo>
                  <a:lnTo>
                    <a:pt x="64008" y="885444"/>
                  </a:lnTo>
                  <a:lnTo>
                    <a:pt x="65532" y="885444"/>
                  </a:lnTo>
                  <a:lnTo>
                    <a:pt x="54864" y="876300"/>
                  </a:lnTo>
                  <a:lnTo>
                    <a:pt x="44196" y="865632"/>
                  </a:lnTo>
                  <a:lnTo>
                    <a:pt x="37465" y="854964"/>
                  </a:lnTo>
                  <a:lnTo>
                    <a:pt x="36576" y="853440"/>
                  </a:lnTo>
                  <a:lnTo>
                    <a:pt x="36576" y="854964"/>
                  </a:lnTo>
                  <a:lnTo>
                    <a:pt x="29845" y="842772"/>
                  </a:lnTo>
                  <a:lnTo>
                    <a:pt x="28956" y="841248"/>
                  </a:lnTo>
                  <a:lnTo>
                    <a:pt x="28956" y="842772"/>
                  </a:lnTo>
                  <a:lnTo>
                    <a:pt x="16764" y="815340"/>
                  </a:lnTo>
                  <a:lnTo>
                    <a:pt x="18288" y="815340"/>
                  </a:lnTo>
                  <a:lnTo>
                    <a:pt x="13716" y="801624"/>
                  </a:lnTo>
                  <a:lnTo>
                    <a:pt x="10668" y="771144"/>
                  </a:lnTo>
                  <a:lnTo>
                    <a:pt x="10668" y="158496"/>
                  </a:lnTo>
                  <a:lnTo>
                    <a:pt x="13716" y="128016"/>
                  </a:lnTo>
                  <a:lnTo>
                    <a:pt x="13716" y="129540"/>
                  </a:lnTo>
                  <a:lnTo>
                    <a:pt x="14224" y="128016"/>
                  </a:lnTo>
                  <a:lnTo>
                    <a:pt x="18288" y="114300"/>
                  </a:lnTo>
                  <a:lnTo>
                    <a:pt x="16764" y="114300"/>
                  </a:lnTo>
                  <a:lnTo>
                    <a:pt x="28956" y="86868"/>
                  </a:lnTo>
                  <a:lnTo>
                    <a:pt x="28956" y="88392"/>
                  </a:lnTo>
                  <a:lnTo>
                    <a:pt x="29845" y="86868"/>
                  </a:lnTo>
                  <a:lnTo>
                    <a:pt x="36576" y="74676"/>
                  </a:lnTo>
                  <a:lnTo>
                    <a:pt x="36576" y="76200"/>
                  </a:lnTo>
                  <a:lnTo>
                    <a:pt x="37465" y="74676"/>
                  </a:lnTo>
                  <a:lnTo>
                    <a:pt x="44196" y="64020"/>
                  </a:lnTo>
                  <a:lnTo>
                    <a:pt x="54864" y="53340"/>
                  </a:lnTo>
                  <a:lnTo>
                    <a:pt x="65532" y="44208"/>
                  </a:lnTo>
                  <a:lnTo>
                    <a:pt x="64008" y="44208"/>
                  </a:lnTo>
                  <a:lnTo>
                    <a:pt x="76200" y="35052"/>
                  </a:lnTo>
                  <a:lnTo>
                    <a:pt x="88392" y="27432"/>
                  </a:lnTo>
                  <a:lnTo>
                    <a:pt x="88392" y="28956"/>
                  </a:lnTo>
                  <a:lnTo>
                    <a:pt x="91059" y="27432"/>
                  </a:lnTo>
                  <a:lnTo>
                    <a:pt x="102108" y="21336"/>
                  </a:lnTo>
                  <a:lnTo>
                    <a:pt x="100584" y="21336"/>
                  </a:lnTo>
                  <a:lnTo>
                    <a:pt x="115824" y="16764"/>
                  </a:lnTo>
                  <a:lnTo>
                    <a:pt x="114300" y="16764"/>
                  </a:lnTo>
                  <a:lnTo>
                    <a:pt x="144780" y="10668"/>
                  </a:lnTo>
                  <a:lnTo>
                    <a:pt x="1427607" y="10668"/>
                  </a:lnTo>
                  <a:lnTo>
                    <a:pt x="1442847" y="13716"/>
                  </a:lnTo>
                  <a:lnTo>
                    <a:pt x="1456563" y="16764"/>
                  </a:lnTo>
                  <a:lnTo>
                    <a:pt x="1470279" y="21336"/>
                  </a:lnTo>
                  <a:lnTo>
                    <a:pt x="1483995" y="28956"/>
                  </a:lnTo>
                  <a:lnTo>
                    <a:pt x="1482471" y="27432"/>
                  </a:lnTo>
                  <a:lnTo>
                    <a:pt x="1496187" y="35052"/>
                  </a:lnTo>
                  <a:lnTo>
                    <a:pt x="1517523" y="53340"/>
                  </a:lnTo>
                  <a:lnTo>
                    <a:pt x="1526667" y="64020"/>
                  </a:lnTo>
                  <a:lnTo>
                    <a:pt x="1535811" y="76200"/>
                  </a:lnTo>
                  <a:lnTo>
                    <a:pt x="1535811" y="74676"/>
                  </a:lnTo>
                  <a:lnTo>
                    <a:pt x="1543431" y="88392"/>
                  </a:lnTo>
                  <a:lnTo>
                    <a:pt x="1549527" y="100596"/>
                  </a:lnTo>
                  <a:lnTo>
                    <a:pt x="1554099" y="114300"/>
                  </a:lnTo>
                  <a:lnTo>
                    <a:pt x="1558671" y="129540"/>
                  </a:lnTo>
                  <a:lnTo>
                    <a:pt x="1557147" y="128016"/>
                  </a:lnTo>
                  <a:lnTo>
                    <a:pt x="1560195" y="143256"/>
                  </a:lnTo>
                  <a:lnTo>
                    <a:pt x="1560195" y="99822"/>
                  </a:lnTo>
                  <a:lnTo>
                    <a:pt x="1558671" y="96012"/>
                  </a:lnTo>
                  <a:lnTo>
                    <a:pt x="1535811" y="57912"/>
                  </a:lnTo>
                  <a:lnTo>
                    <a:pt x="1502283" y="27432"/>
                  </a:lnTo>
                  <a:lnTo>
                    <a:pt x="1469771" y="10668"/>
                  </a:lnTo>
                  <a:lnTo>
                    <a:pt x="1444371" y="3048"/>
                  </a:lnTo>
                  <a:lnTo>
                    <a:pt x="1429131" y="0"/>
                  </a:lnTo>
                  <a:lnTo>
                    <a:pt x="143256" y="0"/>
                  </a:lnTo>
                  <a:lnTo>
                    <a:pt x="70104" y="27432"/>
                  </a:lnTo>
                  <a:lnTo>
                    <a:pt x="36576" y="57912"/>
                  </a:lnTo>
                  <a:lnTo>
                    <a:pt x="12192" y="96012"/>
                  </a:lnTo>
                  <a:lnTo>
                    <a:pt x="0" y="158496"/>
                  </a:lnTo>
                  <a:lnTo>
                    <a:pt x="0" y="771144"/>
                  </a:lnTo>
                  <a:lnTo>
                    <a:pt x="19812" y="847344"/>
                  </a:lnTo>
                  <a:lnTo>
                    <a:pt x="47244" y="883920"/>
                  </a:lnTo>
                  <a:lnTo>
                    <a:pt x="83820" y="911352"/>
                  </a:lnTo>
                  <a:lnTo>
                    <a:pt x="126492" y="926592"/>
                  </a:lnTo>
                  <a:lnTo>
                    <a:pt x="143256" y="929640"/>
                  </a:lnTo>
                  <a:lnTo>
                    <a:pt x="1429131" y="929640"/>
                  </a:lnTo>
                  <a:lnTo>
                    <a:pt x="1459611" y="923544"/>
                  </a:lnTo>
                  <a:lnTo>
                    <a:pt x="1471041" y="918972"/>
                  </a:lnTo>
                  <a:lnTo>
                    <a:pt x="1474851" y="917448"/>
                  </a:lnTo>
                  <a:lnTo>
                    <a:pt x="1514475" y="893064"/>
                  </a:lnTo>
                  <a:lnTo>
                    <a:pt x="1544955" y="859536"/>
                  </a:lnTo>
                  <a:lnTo>
                    <a:pt x="1554607" y="842772"/>
                  </a:lnTo>
                  <a:lnTo>
                    <a:pt x="1558671" y="833628"/>
                  </a:lnTo>
                  <a:lnTo>
                    <a:pt x="1564767" y="818388"/>
                  </a:lnTo>
                  <a:lnTo>
                    <a:pt x="1570863" y="787908"/>
                  </a:lnTo>
                  <a:lnTo>
                    <a:pt x="1570863" y="141732"/>
                  </a:lnTo>
                  <a:close/>
                </a:path>
              </a:pathLst>
            </a:custGeom>
            <a:solidFill>
              <a:srgbClr val="416F9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354" name="Google Shape;354;p26"/>
          <p:cNvSpPr txBox="1"/>
          <p:nvPr/>
        </p:nvSpPr>
        <p:spPr>
          <a:xfrm>
            <a:off x="4152900" y="4599432"/>
            <a:ext cx="1000125" cy="472440"/>
          </a:xfrm>
          <a:prstGeom prst="rect">
            <a:avLst/>
          </a:prstGeom>
          <a:noFill/>
          <a:ln>
            <a:noFill/>
          </a:ln>
        </p:spPr>
        <p:txBody>
          <a:bodyPr spcFirstLastPara="1" wrap="square" lIns="0" tIns="8250" rIns="0" bIns="0" anchor="t" anchorCtr="0">
            <a:spAutoFit/>
          </a:bodyPr>
          <a:lstStyle/>
          <a:p>
            <a:pPr marL="12700" marR="5080" lvl="0" indent="286385" algn="l" rtl="0">
              <a:lnSpc>
                <a:spcPct val="102099"/>
              </a:lnSpc>
              <a:spcBef>
                <a:spcPts val="0"/>
              </a:spcBef>
              <a:spcAft>
                <a:spcPts val="0"/>
              </a:spcAft>
              <a:buNone/>
            </a:pPr>
            <a:r>
              <a:rPr lang="en-US" sz="1450">
                <a:solidFill>
                  <a:srgbClr val="FFFFFF"/>
                </a:solidFill>
                <a:latin typeface="Calibri"/>
                <a:ea typeface="Calibri"/>
                <a:cs typeface="Calibri"/>
                <a:sym typeface="Calibri"/>
              </a:rPr>
              <a:t>Suffix  Follows stem</a:t>
            </a:r>
            <a:endParaRPr sz="1450">
              <a:solidFill>
                <a:schemeClr val="dk1"/>
              </a:solidFill>
              <a:latin typeface="Calibri"/>
              <a:ea typeface="Calibri"/>
              <a:cs typeface="Calibri"/>
              <a:sym typeface="Calibri"/>
            </a:endParaRPr>
          </a:p>
        </p:txBody>
      </p:sp>
      <p:grpSp>
        <p:nvGrpSpPr>
          <p:cNvPr id="355" name="Google Shape;355;p26"/>
          <p:cNvGrpSpPr/>
          <p:nvPr/>
        </p:nvGrpSpPr>
        <p:grpSpPr>
          <a:xfrm>
            <a:off x="1568196" y="4443996"/>
            <a:ext cx="1570990" cy="887094"/>
            <a:chOff x="1568196" y="4443996"/>
            <a:chExt cx="1570990" cy="887094"/>
          </a:xfrm>
        </p:grpSpPr>
        <p:sp>
          <p:nvSpPr>
            <p:cNvPr id="356" name="Google Shape;356;p26"/>
            <p:cNvSpPr/>
            <p:nvPr/>
          </p:nvSpPr>
          <p:spPr>
            <a:xfrm>
              <a:off x="1572768" y="4450080"/>
              <a:ext cx="1560830" cy="876300"/>
            </a:xfrm>
            <a:custGeom>
              <a:avLst/>
              <a:gdLst/>
              <a:ahLst/>
              <a:cxnLst/>
              <a:rect l="l" t="t" r="r" b="b"/>
              <a:pathLst>
                <a:path w="1560830" h="876300" extrusionOk="0">
                  <a:moveTo>
                    <a:pt x="1415542" y="0"/>
                  </a:moveTo>
                  <a:lnTo>
                    <a:pt x="146304" y="0"/>
                  </a:lnTo>
                  <a:lnTo>
                    <a:pt x="100075" y="7493"/>
                  </a:lnTo>
                  <a:lnTo>
                    <a:pt x="59943" y="28194"/>
                  </a:lnTo>
                  <a:lnTo>
                    <a:pt x="28193" y="59562"/>
                  </a:lnTo>
                  <a:lnTo>
                    <a:pt x="7493" y="99314"/>
                  </a:lnTo>
                  <a:lnTo>
                    <a:pt x="0" y="144780"/>
                  </a:lnTo>
                  <a:lnTo>
                    <a:pt x="0" y="729996"/>
                  </a:lnTo>
                  <a:lnTo>
                    <a:pt x="7493" y="776224"/>
                  </a:lnTo>
                  <a:lnTo>
                    <a:pt x="28193" y="816356"/>
                  </a:lnTo>
                  <a:lnTo>
                    <a:pt x="59943" y="848106"/>
                  </a:lnTo>
                  <a:lnTo>
                    <a:pt x="100075" y="868807"/>
                  </a:lnTo>
                  <a:lnTo>
                    <a:pt x="146304" y="876300"/>
                  </a:lnTo>
                  <a:lnTo>
                    <a:pt x="1415542" y="876300"/>
                  </a:lnTo>
                  <a:lnTo>
                    <a:pt x="1461643" y="868807"/>
                  </a:lnTo>
                  <a:lnTo>
                    <a:pt x="1501394" y="848106"/>
                  </a:lnTo>
                  <a:lnTo>
                    <a:pt x="1532636" y="816356"/>
                  </a:lnTo>
                  <a:lnTo>
                    <a:pt x="1552956" y="776224"/>
                  </a:lnTo>
                  <a:lnTo>
                    <a:pt x="1560321" y="729996"/>
                  </a:lnTo>
                  <a:lnTo>
                    <a:pt x="1560321" y="144780"/>
                  </a:lnTo>
                  <a:lnTo>
                    <a:pt x="1552956" y="99314"/>
                  </a:lnTo>
                  <a:lnTo>
                    <a:pt x="1532636" y="59562"/>
                  </a:lnTo>
                  <a:lnTo>
                    <a:pt x="1501394" y="28194"/>
                  </a:lnTo>
                  <a:lnTo>
                    <a:pt x="1461643" y="7493"/>
                  </a:lnTo>
                  <a:lnTo>
                    <a:pt x="1415542"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7" name="Google Shape;357;p26"/>
            <p:cNvSpPr/>
            <p:nvPr/>
          </p:nvSpPr>
          <p:spPr>
            <a:xfrm>
              <a:off x="1568196" y="4443996"/>
              <a:ext cx="1570990" cy="887094"/>
            </a:xfrm>
            <a:custGeom>
              <a:avLst/>
              <a:gdLst/>
              <a:ahLst/>
              <a:cxnLst/>
              <a:rect l="l" t="t" r="r" b="b"/>
              <a:pathLst>
                <a:path w="1570989" h="887095" extrusionOk="0">
                  <a:moveTo>
                    <a:pt x="1570863" y="150863"/>
                  </a:moveTo>
                  <a:lnTo>
                    <a:pt x="1567815" y="120383"/>
                  </a:lnTo>
                  <a:lnTo>
                    <a:pt x="1560195" y="97523"/>
                  </a:lnTo>
                  <a:lnTo>
                    <a:pt x="1560195" y="137147"/>
                  </a:lnTo>
                  <a:lnTo>
                    <a:pt x="1560195" y="749668"/>
                  </a:lnTo>
                  <a:lnTo>
                    <a:pt x="1557147" y="764908"/>
                  </a:lnTo>
                  <a:lnTo>
                    <a:pt x="1557147" y="763384"/>
                  </a:lnTo>
                  <a:lnTo>
                    <a:pt x="1554099" y="778624"/>
                  </a:lnTo>
                  <a:lnTo>
                    <a:pt x="1554099" y="777100"/>
                  </a:lnTo>
                  <a:lnTo>
                    <a:pt x="1549527" y="790816"/>
                  </a:lnTo>
                  <a:lnTo>
                    <a:pt x="1543431" y="803008"/>
                  </a:lnTo>
                  <a:lnTo>
                    <a:pt x="1535811" y="815200"/>
                  </a:lnTo>
                  <a:lnTo>
                    <a:pt x="1535811" y="813676"/>
                  </a:lnTo>
                  <a:lnTo>
                    <a:pt x="1528191" y="825868"/>
                  </a:lnTo>
                  <a:lnTo>
                    <a:pt x="1519047" y="835012"/>
                  </a:lnTo>
                  <a:lnTo>
                    <a:pt x="1508379" y="844156"/>
                  </a:lnTo>
                  <a:lnTo>
                    <a:pt x="1509903" y="844156"/>
                  </a:lnTo>
                  <a:lnTo>
                    <a:pt x="1497711" y="853300"/>
                  </a:lnTo>
                  <a:lnTo>
                    <a:pt x="1497711" y="851776"/>
                  </a:lnTo>
                  <a:lnTo>
                    <a:pt x="1487043" y="859396"/>
                  </a:lnTo>
                  <a:lnTo>
                    <a:pt x="1474851" y="865492"/>
                  </a:lnTo>
                  <a:lnTo>
                    <a:pt x="1447419" y="874636"/>
                  </a:lnTo>
                  <a:lnTo>
                    <a:pt x="1447419" y="873112"/>
                  </a:lnTo>
                  <a:lnTo>
                    <a:pt x="1433703" y="876160"/>
                  </a:lnTo>
                  <a:lnTo>
                    <a:pt x="137160" y="876160"/>
                  </a:lnTo>
                  <a:lnTo>
                    <a:pt x="129540" y="874636"/>
                  </a:lnTo>
                  <a:lnTo>
                    <a:pt x="121920" y="873112"/>
                  </a:lnTo>
                  <a:lnTo>
                    <a:pt x="83820" y="859396"/>
                  </a:lnTo>
                  <a:lnTo>
                    <a:pt x="71628" y="851776"/>
                  </a:lnTo>
                  <a:lnTo>
                    <a:pt x="73152" y="853300"/>
                  </a:lnTo>
                  <a:lnTo>
                    <a:pt x="60960" y="844156"/>
                  </a:lnTo>
                  <a:lnTo>
                    <a:pt x="42672" y="825868"/>
                  </a:lnTo>
                  <a:lnTo>
                    <a:pt x="33528" y="813676"/>
                  </a:lnTo>
                  <a:lnTo>
                    <a:pt x="35052" y="815200"/>
                  </a:lnTo>
                  <a:lnTo>
                    <a:pt x="34036" y="813676"/>
                  </a:lnTo>
                  <a:lnTo>
                    <a:pt x="27432" y="803008"/>
                  </a:lnTo>
                  <a:lnTo>
                    <a:pt x="21336" y="790816"/>
                  </a:lnTo>
                  <a:lnTo>
                    <a:pt x="17272" y="778624"/>
                  </a:lnTo>
                  <a:lnTo>
                    <a:pt x="16764" y="777100"/>
                  </a:lnTo>
                  <a:lnTo>
                    <a:pt x="16764" y="778624"/>
                  </a:lnTo>
                  <a:lnTo>
                    <a:pt x="13970" y="764908"/>
                  </a:lnTo>
                  <a:lnTo>
                    <a:pt x="13716" y="763384"/>
                  </a:lnTo>
                  <a:lnTo>
                    <a:pt x="13716" y="764908"/>
                  </a:lnTo>
                  <a:lnTo>
                    <a:pt x="10922" y="751192"/>
                  </a:lnTo>
                  <a:lnTo>
                    <a:pt x="10668" y="749668"/>
                  </a:lnTo>
                  <a:lnTo>
                    <a:pt x="10668" y="137147"/>
                  </a:lnTo>
                  <a:lnTo>
                    <a:pt x="16764" y="109715"/>
                  </a:lnTo>
                  <a:lnTo>
                    <a:pt x="21336" y="95999"/>
                  </a:lnTo>
                  <a:lnTo>
                    <a:pt x="21336" y="97523"/>
                  </a:lnTo>
                  <a:lnTo>
                    <a:pt x="21971" y="95999"/>
                  </a:lnTo>
                  <a:lnTo>
                    <a:pt x="27432" y="83807"/>
                  </a:lnTo>
                  <a:lnTo>
                    <a:pt x="27432" y="85331"/>
                  </a:lnTo>
                  <a:lnTo>
                    <a:pt x="28321" y="83807"/>
                  </a:lnTo>
                  <a:lnTo>
                    <a:pt x="35052" y="73139"/>
                  </a:lnTo>
                  <a:lnTo>
                    <a:pt x="33528" y="73139"/>
                  </a:lnTo>
                  <a:lnTo>
                    <a:pt x="51816" y="51803"/>
                  </a:lnTo>
                  <a:lnTo>
                    <a:pt x="60960" y="42659"/>
                  </a:lnTo>
                  <a:lnTo>
                    <a:pt x="73152" y="35039"/>
                  </a:lnTo>
                  <a:lnTo>
                    <a:pt x="71628" y="35039"/>
                  </a:lnTo>
                  <a:lnTo>
                    <a:pt x="83820" y="27419"/>
                  </a:lnTo>
                  <a:lnTo>
                    <a:pt x="95999" y="21336"/>
                  </a:lnTo>
                  <a:lnTo>
                    <a:pt x="109728" y="16751"/>
                  </a:lnTo>
                  <a:lnTo>
                    <a:pt x="123444" y="13703"/>
                  </a:lnTo>
                  <a:lnTo>
                    <a:pt x="121920" y="13703"/>
                  </a:lnTo>
                  <a:lnTo>
                    <a:pt x="150876" y="10655"/>
                  </a:lnTo>
                  <a:lnTo>
                    <a:pt x="1419987" y="10655"/>
                  </a:lnTo>
                  <a:lnTo>
                    <a:pt x="1461135" y="16751"/>
                  </a:lnTo>
                  <a:lnTo>
                    <a:pt x="1497711" y="35039"/>
                  </a:lnTo>
                  <a:lnTo>
                    <a:pt x="1509903" y="42659"/>
                  </a:lnTo>
                  <a:lnTo>
                    <a:pt x="1508379" y="42659"/>
                  </a:lnTo>
                  <a:lnTo>
                    <a:pt x="1519047" y="51803"/>
                  </a:lnTo>
                  <a:lnTo>
                    <a:pt x="1528191" y="62471"/>
                  </a:lnTo>
                  <a:lnTo>
                    <a:pt x="1535811" y="73139"/>
                  </a:lnTo>
                  <a:lnTo>
                    <a:pt x="1543431" y="85331"/>
                  </a:lnTo>
                  <a:lnTo>
                    <a:pt x="1543431" y="83807"/>
                  </a:lnTo>
                  <a:lnTo>
                    <a:pt x="1549527" y="97523"/>
                  </a:lnTo>
                  <a:lnTo>
                    <a:pt x="1549527" y="95999"/>
                  </a:lnTo>
                  <a:lnTo>
                    <a:pt x="1554099" y="109715"/>
                  </a:lnTo>
                  <a:lnTo>
                    <a:pt x="1560195" y="137147"/>
                  </a:lnTo>
                  <a:lnTo>
                    <a:pt x="1560195" y="97523"/>
                  </a:lnTo>
                  <a:lnTo>
                    <a:pt x="1559687" y="95999"/>
                  </a:lnTo>
                  <a:lnTo>
                    <a:pt x="1558671" y="92951"/>
                  </a:lnTo>
                  <a:lnTo>
                    <a:pt x="1515999" y="35039"/>
                  </a:lnTo>
                  <a:lnTo>
                    <a:pt x="1473327" y="10655"/>
                  </a:lnTo>
                  <a:lnTo>
                    <a:pt x="1419987" y="0"/>
                  </a:lnTo>
                  <a:lnTo>
                    <a:pt x="150876" y="0"/>
                  </a:lnTo>
                  <a:lnTo>
                    <a:pt x="79248" y="18275"/>
                  </a:lnTo>
                  <a:lnTo>
                    <a:pt x="44196" y="44183"/>
                  </a:lnTo>
                  <a:lnTo>
                    <a:pt x="18288" y="79235"/>
                  </a:lnTo>
                  <a:lnTo>
                    <a:pt x="0" y="135623"/>
                  </a:lnTo>
                  <a:lnTo>
                    <a:pt x="0" y="751192"/>
                  </a:lnTo>
                  <a:lnTo>
                    <a:pt x="18288" y="807580"/>
                  </a:lnTo>
                  <a:lnTo>
                    <a:pt x="44196" y="842632"/>
                  </a:lnTo>
                  <a:lnTo>
                    <a:pt x="79248" y="868540"/>
                  </a:lnTo>
                  <a:lnTo>
                    <a:pt x="120396" y="883780"/>
                  </a:lnTo>
                  <a:lnTo>
                    <a:pt x="135636" y="886828"/>
                  </a:lnTo>
                  <a:lnTo>
                    <a:pt x="1435227" y="886828"/>
                  </a:lnTo>
                  <a:lnTo>
                    <a:pt x="1450467" y="883780"/>
                  </a:lnTo>
                  <a:lnTo>
                    <a:pt x="1464183" y="880732"/>
                  </a:lnTo>
                  <a:lnTo>
                    <a:pt x="1474470" y="876160"/>
                  </a:lnTo>
                  <a:lnTo>
                    <a:pt x="1477899" y="874636"/>
                  </a:lnTo>
                  <a:lnTo>
                    <a:pt x="1515999" y="853300"/>
                  </a:lnTo>
                  <a:lnTo>
                    <a:pt x="1544955" y="819772"/>
                  </a:lnTo>
                  <a:lnTo>
                    <a:pt x="1563243" y="780148"/>
                  </a:lnTo>
                  <a:lnTo>
                    <a:pt x="1563751" y="778624"/>
                  </a:lnTo>
                  <a:lnTo>
                    <a:pt x="1567815" y="766432"/>
                  </a:lnTo>
                  <a:lnTo>
                    <a:pt x="1567942" y="764908"/>
                  </a:lnTo>
                  <a:lnTo>
                    <a:pt x="1569339" y="751192"/>
                  </a:lnTo>
                  <a:lnTo>
                    <a:pt x="1570863" y="735952"/>
                  </a:lnTo>
                  <a:lnTo>
                    <a:pt x="1570863" y="150863"/>
                  </a:lnTo>
                  <a:close/>
                </a:path>
              </a:pathLst>
            </a:custGeom>
            <a:solidFill>
              <a:srgbClr val="416F9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358" name="Google Shape;358;p26"/>
          <p:cNvSpPr txBox="1"/>
          <p:nvPr/>
        </p:nvSpPr>
        <p:spPr>
          <a:xfrm>
            <a:off x="1781301" y="4620767"/>
            <a:ext cx="1123315" cy="472440"/>
          </a:xfrm>
          <a:prstGeom prst="rect">
            <a:avLst/>
          </a:prstGeom>
          <a:noFill/>
          <a:ln>
            <a:noFill/>
          </a:ln>
        </p:spPr>
        <p:txBody>
          <a:bodyPr spcFirstLastPara="1" wrap="square" lIns="0" tIns="8250" rIns="0" bIns="0" anchor="t" anchorCtr="0">
            <a:spAutoFit/>
          </a:bodyPr>
          <a:lstStyle/>
          <a:p>
            <a:pPr marL="12700" marR="5080" lvl="0" indent="340360" algn="l" rtl="0">
              <a:lnSpc>
                <a:spcPct val="102099"/>
              </a:lnSpc>
              <a:spcBef>
                <a:spcPts val="0"/>
              </a:spcBef>
              <a:spcAft>
                <a:spcPts val="0"/>
              </a:spcAft>
              <a:buNone/>
            </a:pPr>
            <a:r>
              <a:rPr lang="en-US" sz="1450">
                <a:solidFill>
                  <a:srgbClr val="FFFFFF"/>
                </a:solidFill>
                <a:latin typeface="Calibri"/>
                <a:ea typeface="Calibri"/>
                <a:cs typeface="Calibri"/>
                <a:sym typeface="Calibri"/>
              </a:rPr>
              <a:t>Prefix  Precedes stem</a:t>
            </a:r>
            <a:endParaRPr sz="1450">
              <a:solidFill>
                <a:schemeClr val="dk1"/>
              </a:solidFill>
              <a:latin typeface="Calibri"/>
              <a:ea typeface="Calibri"/>
              <a:cs typeface="Calibri"/>
              <a:sym typeface="Calibri"/>
            </a:endParaRPr>
          </a:p>
        </p:txBody>
      </p:sp>
      <p:grpSp>
        <p:nvGrpSpPr>
          <p:cNvPr id="359" name="Google Shape;359;p26"/>
          <p:cNvGrpSpPr/>
          <p:nvPr/>
        </p:nvGrpSpPr>
        <p:grpSpPr>
          <a:xfrm>
            <a:off x="5050536" y="3104387"/>
            <a:ext cx="1570990" cy="593090"/>
            <a:chOff x="5050536" y="3104387"/>
            <a:chExt cx="1570990" cy="593090"/>
          </a:xfrm>
        </p:grpSpPr>
        <p:sp>
          <p:nvSpPr>
            <p:cNvPr id="360" name="Google Shape;360;p26"/>
            <p:cNvSpPr/>
            <p:nvPr/>
          </p:nvSpPr>
          <p:spPr>
            <a:xfrm>
              <a:off x="5055107" y="3108960"/>
              <a:ext cx="1560830" cy="582295"/>
            </a:xfrm>
            <a:custGeom>
              <a:avLst/>
              <a:gdLst/>
              <a:ahLst/>
              <a:cxnLst/>
              <a:rect l="l" t="t" r="r" b="b"/>
              <a:pathLst>
                <a:path w="1560829" h="582295" extrusionOk="0">
                  <a:moveTo>
                    <a:pt x="1464310" y="0"/>
                  </a:moveTo>
                  <a:lnTo>
                    <a:pt x="97536" y="0"/>
                  </a:lnTo>
                  <a:lnTo>
                    <a:pt x="59181" y="7747"/>
                  </a:lnTo>
                  <a:lnTo>
                    <a:pt x="28193" y="28701"/>
                  </a:lnTo>
                  <a:lnTo>
                    <a:pt x="7492" y="59816"/>
                  </a:lnTo>
                  <a:lnTo>
                    <a:pt x="0" y="97536"/>
                  </a:lnTo>
                  <a:lnTo>
                    <a:pt x="0" y="486028"/>
                  </a:lnTo>
                  <a:lnTo>
                    <a:pt x="7492" y="523493"/>
                  </a:lnTo>
                  <a:lnTo>
                    <a:pt x="28193" y="554101"/>
                  </a:lnTo>
                  <a:lnTo>
                    <a:pt x="59181" y="574548"/>
                  </a:lnTo>
                  <a:lnTo>
                    <a:pt x="97536" y="582040"/>
                  </a:lnTo>
                  <a:lnTo>
                    <a:pt x="1464310" y="582040"/>
                  </a:lnTo>
                  <a:lnTo>
                    <a:pt x="1501774" y="574548"/>
                  </a:lnTo>
                  <a:lnTo>
                    <a:pt x="1532382" y="554101"/>
                  </a:lnTo>
                  <a:lnTo>
                    <a:pt x="1552828" y="523493"/>
                  </a:lnTo>
                  <a:lnTo>
                    <a:pt x="1560321" y="486028"/>
                  </a:lnTo>
                  <a:lnTo>
                    <a:pt x="1560321" y="97536"/>
                  </a:lnTo>
                  <a:lnTo>
                    <a:pt x="1552828" y="59816"/>
                  </a:lnTo>
                  <a:lnTo>
                    <a:pt x="1532382" y="28701"/>
                  </a:lnTo>
                  <a:lnTo>
                    <a:pt x="1501774" y="7747"/>
                  </a:lnTo>
                  <a:lnTo>
                    <a:pt x="1464310"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1" name="Google Shape;361;p26"/>
            <p:cNvSpPr/>
            <p:nvPr/>
          </p:nvSpPr>
          <p:spPr>
            <a:xfrm>
              <a:off x="5050536" y="3104387"/>
              <a:ext cx="1570990" cy="593090"/>
            </a:xfrm>
            <a:custGeom>
              <a:avLst/>
              <a:gdLst/>
              <a:ahLst/>
              <a:cxnLst/>
              <a:rect l="l" t="t" r="r" b="b"/>
              <a:pathLst>
                <a:path w="1570990" h="593089" extrusionOk="0">
                  <a:moveTo>
                    <a:pt x="1570863" y="102108"/>
                  </a:moveTo>
                  <a:lnTo>
                    <a:pt x="1566291" y="71628"/>
                  </a:lnTo>
                  <a:lnTo>
                    <a:pt x="1563243" y="65532"/>
                  </a:lnTo>
                  <a:lnTo>
                    <a:pt x="1560195" y="59448"/>
                  </a:lnTo>
                  <a:lnTo>
                    <a:pt x="1560195" y="102108"/>
                  </a:lnTo>
                  <a:lnTo>
                    <a:pt x="1560195" y="488950"/>
                  </a:lnTo>
                  <a:lnTo>
                    <a:pt x="1558658" y="499618"/>
                  </a:lnTo>
                  <a:lnTo>
                    <a:pt x="1557134" y="508762"/>
                  </a:lnTo>
                  <a:lnTo>
                    <a:pt x="1558658" y="508762"/>
                  </a:lnTo>
                  <a:lnTo>
                    <a:pt x="1555610" y="517906"/>
                  </a:lnTo>
                  <a:lnTo>
                    <a:pt x="1555610" y="516382"/>
                  </a:lnTo>
                  <a:lnTo>
                    <a:pt x="1552562" y="525526"/>
                  </a:lnTo>
                  <a:lnTo>
                    <a:pt x="1548003" y="533146"/>
                  </a:lnTo>
                  <a:lnTo>
                    <a:pt x="1549527" y="533146"/>
                  </a:lnTo>
                  <a:lnTo>
                    <a:pt x="1543431" y="540766"/>
                  </a:lnTo>
                  <a:lnTo>
                    <a:pt x="1544955" y="540766"/>
                  </a:lnTo>
                  <a:lnTo>
                    <a:pt x="1538859" y="548386"/>
                  </a:lnTo>
                  <a:lnTo>
                    <a:pt x="1526667" y="560578"/>
                  </a:lnTo>
                  <a:lnTo>
                    <a:pt x="1519034" y="566674"/>
                  </a:lnTo>
                  <a:lnTo>
                    <a:pt x="1519034" y="565150"/>
                  </a:lnTo>
                  <a:lnTo>
                    <a:pt x="1511427" y="571246"/>
                  </a:lnTo>
                  <a:lnTo>
                    <a:pt x="1511427" y="569722"/>
                  </a:lnTo>
                  <a:lnTo>
                    <a:pt x="1503807" y="574294"/>
                  </a:lnTo>
                  <a:lnTo>
                    <a:pt x="1494663" y="577342"/>
                  </a:lnTo>
                  <a:lnTo>
                    <a:pt x="1496187" y="577342"/>
                  </a:lnTo>
                  <a:lnTo>
                    <a:pt x="1485519" y="580390"/>
                  </a:lnTo>
                  <a:lnTo>
                    <a:pt x="1487043" y="580390"/>
                  </a:lnTo>
                  <a:lnTo>
                    <a:pt x="1476362" y="581914"/>
                  </a:lnTo>
                  <a:lnTo>
                    <a:pt x="92964" y="581914"/>
                  </a:lnTo>
                  <a:lnTo>
                    <a:pt x="82296" y="580390"/>
                  </a:lnTo>
                  <a:lnTo>
                    <a:pt x="83820" y="580390"/>
                  </a:lnTo>
                  <a:lnTo>
                    <a:pt x="65532" y="574294"/>
                  </a:lnTo>
                  <a:lnTo>
                    <a:pt x="60452" y="571246"/>
                  </a:lnTo>
                  <a:lnTo>
                    <a:pt x="57912" y="569722"/>
                  </a:lnTo>
                  <a:lnTo>
                    <a:pt x="57912" y="571246"/>
                  </a:lnTo>
                  <a:lnTo>
                    <a:pt x="52197" y="566674"/>
                  </a:lnTo>
                  <a:lnTo>
                    <a:pt x="50292" y="565150"/>
                  </a:lnTo>
                  <a:lnTo>
                    <a:pt x="50292" y="566674"/>
                  </a:lnTo>
                  <a:lnTo>
                    <a:pt x="42672" y="560578"/>
                  </a:lnTo>
                  <a:lnTo>
                    <a:pt x="30480" y="548386"/>
                  </a:lnTo>
                  <a:lnTo>
                    <a:pt x="16764" y="525526"/>
                  </a:lnTo>
                  <a:lnTo>
                    <a:pt x="14224" y="517906"/>
                  </a:lnTo>
                  <a:lnTo>
                    <a:pt x="13716" y="516382"/>
                  </a:lnTo>
                  <a:lnTo>
                    <a:pt x="13716" y="517906"/>
                  </a:lnTo>
                  <a:lnTo>
                    <a:pt x="10668" y="499618"/>
                  </a:lnTo>
                  <a:lnTo>
                    <a:pt x="9398" y="490474"/>
                  </a:lnTo>
                  <a:lnTo>
                    <a:pt x="9144" y="488950"/>
                  </a:lnTo>
                  <a:lnTo>
                    <a:pt x="9144" y="102108"/>
                  </a:lnTo>
                  <a:lnTo>
                    <a:pt x="13716" y="74676"/>
                  </a:lnTo>
                  <a:lnTo>
                    <a:pt x="16764" y="65532"/>
                  </a:lnTo>
                  <a:lnTo>
                    <a:pt x="16764" y="67056"/>
                  </a:lnTo>
                  <a:lnTo>
                    <a:pt x="17526" y="65532"/>
                  </a:lnTo>
                  <a:lnTo>
                    <a:pt x="21336" y="57912"/>
                  </a:lnTo>
                  <a:lnTo>
                    <a:pt x="25908" y="50292"/>
                  </a:lnTo>
                  <a:lnTo>
                    <a:pt x="25908" y="51816"/>
                  </a:lnTo>
                  <a:lnTo>
                    <a:pt x="26797" y="50292"/>
                  </a:lnTo>
                  <a:lnTo>
                    <a:pt x="30480" y="44196"/>
                  </a:lnTo>
                  <a:lnTo>
                    <a:pt x="36576" y="36576"/>
                  </a:lnTo>
                  <a:lnTo>
                    <a:pt x="36576" y="38100"/>
                  </a:lnTo>
                  <a:lnTo>
                    <a:pt x="38100" y="36576"/>
                  </a:lnTo>
                  <a:lnTo>
                    <a:pt x="42672" y="32004"/>
                  </a:lnTo>
                  <a:lnTo>
                    <a:pt x="50292" y="25908"/>
                  </a:lnTo>
                  <a:lnTo>
                    <a:pt x="65532" y="16764"/>
                  </a:lnTo>
                  <a:lnTo>
                    <a:pt x="65532" y="18288"/>
                  </a:lnTo>
                  <a:lnTo>
                    <a:pt x="70104" y="16764"/>
                  </a:lnTo>
                  <a:lnTo>
                    <a:pt x="83820" y="12192"/>
                  </a:lnTo>
                  <a:lnTo>
                    <a:pt x="82296" y="12192"/>
                  </a:lnTo>
                  <a:lnTo>
                    <a:pt x="92964" y="10668"/>
                  </a:lnTo>
                  <a:lnTo>
                    <a:pt x="1476362" y="10668"/>
                  </a:lnTo>
                  <a:lnTo>
                    <a:pt x="1487043" y="12192"/>
                  </a:lnTo>
                  <a:lnTo>
                    <a:pt x="1485519" y="12192"/>
                  </a:lnTo>
                  <a:lnTo>
                    <a:pt x="1496187" y="15240"/>
                  </a:lnTo>
                  <a:lnTo>
                    <a:pt x="1494663" y="15240"/>
                  </a:lnTo>
                  <a:lnTo>
                    <a:pt x="1503807" y="18288"/>
                  </a:lnTo>
                  <a:lnTo>
                    <a:pt x="1503807" y="16764"/>
                  </a:lnTo>
                  <a:lnTo>
                    <a:pt x="1519034" y="25908"/>
                  </a:lnTo>
                  <a:lnTo>
                    <a:pt x="1526667" y="32004"/>
                  </a:lnTo>
                  <a:lnTo>
                    <a:pt x="1532763" y="38100"/>
                  </a:lnTo>
                  <a:lnTo>
                    <a:pt x="1532763" y="36576"/>
                  </a:lnTo>
                  <a:lnTo>
                    <a:pt x="1544955" y="51816"/>
                  </a:lnTo>
                  <a:lnTo>
                    <a:pt x="1543431" y="50292"/>
                  </a:lnTo>
                  <a:lnTo>
                    <a:pt x="1549527" y="57912"/>
                  </a:lnTo>
                  <a:lnTo>
                    <a:pt x="1548003" y="57912"/>
                  </a:lnTo>
                  <a:lnTo>
                    <a:pt x="1552562" y="67056"/>
                  </a:lnTo>
                  <a:lnTo>
                    <a:pt x="1552562" y="65532"/>
                  </a:lnTo>
                  <a:lnTo>
                    <a:pt x="1558658" y="83820"/>
                  </a:lnTo>
                  <a:lnTo>
                    <a:pt x="1557134" y="83820"/>
                  </a:lnTo>
                  <a:lnTo>
                    <a:pt x="1560195" y="102108"/>
                  </a:lnTo>
                  <a:lnTo>
                    <a:pt x="1560195" y="59448"/>
                  </a:lnTo>
                  <a:lnTo>
                    <a:pt x="1532763" y="22860"/>
                  </a:lnTo>
                  <a:lnTo>
                    <a:pt x="1515986" y="12192"/>
                  </a:lnTo>
                  <a:lnTo>
                    <a:pt x="1513459" y="10668"/>
                  </a:lnTo>
                  <a:lnTo>
                    <a:pt x="1508379" y="7620"/>
                  </a:lnTo>
                  <a:lnTo>
                    <a:pt x="1497711" y="4572"/>
                  </a:lnTo>
                  <a:lnTo>
                    <a:pt x="1488567" y="1524"/>
                  </a:lnTo>
                  <a:lnTo>
                    <a:pt x="1477886" y="0"/>
                  </a:lnTo>
                  <a:lnTo>
                    <a:pt x="91440" y="0"/>
                  </a:lnTo>
                  <a:lnTo>
                    <a:pt x="80772" y="1524"/>
                  </a:lnTo>
                  <a:lnTo>
                    <a:pt x="36576" y="22860"/>
                  </a:lnTo>
                  <a:lnTo>
                    <a:pt x="12192" y="53340"/>
                  </a:lnTo>
                  <a:lnTo>
                    <a:pt x="0" y="91440"/>
                  </a:lnTo>
                  <a:lnTo>
                    <a:pt x="0" y="499618"/>
                  </a:lnTo>
                  <a:lnTo>
                    <a:pt x="1524" y="510286"/>
                  </a:lnTo>
                  <a:lnTo>
                    <a:pt x="16764" y="546862"/>
                  </a:lnTo>
                  <a:lnTo>
                    <a:pt x="53340" y="580390"/>
                  </a:lnTo>
                  <a:lnTo>
                    <a:pt x="62484" y="583438"/>
                  </a:lnTo>
                  <a:lnTo>
                    <a:pt x="71628" y="588010"/>
                  </a:lnTo>
                  <a:lnTo>
                    <a:pt x="80772" y="589534"/>
                  </a:lnTo>
                  <a:lnTo>
                    <a:pt x="102108" y="592582"/>
                  </a:lnTo>
                  <a:lnTo>
                    <a:pt x="1468755" y="592582"/>
                  </a:lnTo>
                  <a:lnTo>
                    <a:pt x="1497711" y="588010"/>
                  </a:lnTo>
                  <a:lnTo>
                    <a:pt x="1512189" y="581914"/>
                  </a:lnTo>
                  <a:lnTo>
                    <a:pt x="1515986" y="580390"/>
                  </a:lnTo>
                  <a:lnTo>
                    <a:pt x="1525143" y="574294"/>
                  </a:lnTo>
                  <a:lnTo>
                    <a:pt x="1528953" y="571246"/>
                  </a:lnTo>
                  <a:lnTo>
                    <a:pt x="1534668" y="566674"/>
                  </a:lnTo>
                  <a:lnTo>
                    <a:pt x="1566291" y="520954"/>
                  </a:lnTo>
                  <a:lnTo>
                    <a:pt x="1566659" y="517906"/>
                  </a:lnTo>
                  <a:lnTo>
                    <a:pt x="1569339" y="499618"/>
                  </a:lnTo>
                  <a:lnTo>
                    <a:pt x="1570863" y="490474"/>
                  </a:lnTo>
                  <a:lnTo>
                    <a:pt x="1570863" y="102108"/>
                  </a:lnTo>
                  <a:close/>
                </a:path>
              </a:pathLst>
            </a:custGeom>
            <a:solidFill>
              <a:srgbClr val="416F9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362" name="Google Shape;362;p26"/>
          <p:cNvSpPr txBox="1"/>
          <p:nvPr/>
        </p:nvSpPr>
        <p:spPr>
          <a:xfrm>
            <a:off x="5565902" y="3255010"/>
            <a:ext cx="529590"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rgbClr val="FFFFFF"/>
                </a:solidFill>
                <a:latin typeface="Calibri"/>
                <a:ea typeface="Calibri"/>
                <a:cs typeface="Calibri"/>
                <a:sym typeface="Calibri"/>
              </a:rPr>
              <a:t>Affixes</a:t>
            </a:r>
            <a:endParaRPr sz="1450">
              <a:solidFill>
                <a:schemeClr val="dk1"/>
              </a:solidFill>
              <a:latin typeface="Calibri"/>
              <a:ea typeface="Calibri"/>
              <a:cs typeface="Calibri"/>
              <a:sym typeface="Calibri"/>
            </a:endParaRPr>
          </a:p>
        </p:txBody>
      </p:sp>
      <p:grpSp>
        <p:nvGrpSpPr>
          <p:cNvPr id="363" name="Google Shape;363;p26"/>
          <p:cNvGrpSpPr/>
          <p:nvPr/>
        </p:nvGrpSpPr>
        <p:grpSpPr>
          <a:xfrm>
            <a:off x="7833360" y="4401311"/>
            <a:ext cx="1570990" cy="929640"/>
            <a:chOff x="7833360" y="4401311"/>
            <a:chExt cx="1570990" cy="929640"/>
          </a:xfrm>
        </p:grpSpPr>
        <p:sp>
          <p:nvSpPr>
            <p:cNvPr id="364" name="Google Shape;364;p26"/>
            <p:cNvSpPr/>
            <p:nvPr/>
          </p:nvSpPr>
          <p:spPr>
            <a:xfrm>
              <a:off x="7837931" y="4405883"/>
              <a:ext cx="1560830" cy="920750"/>
            </a:xfrm>
            <a:custGeom>
              <a:avLst/>
              <a:gdLst/>
              <a:ahLst/>
              <a:cxnLst/>
              <a:rect l="l" t="t" r="r" b="b"/>
              <a:pathLst>
                <a:path w="1560829" h="920750" extrusionOk="0">
                  <a:moveTo>
                    <a:pt x="1407922" y="0"/>
                  </a:moveTo>
                  <a:lnTo>
                    <a:pt x="153924" y="0"/>
                  </a:lnTo>
                  <a:lnTo>
                    <a:pt x="105156" y="7874"/>
                  </a:lnTo>
                  <a:lnTo>
                    <a:pt x="62865" y="29590"/>
                  </a:lnTo>
                  <a:lnTo>
                    <a:pt x="29591" y="62864"/>
                  </a:lnTo>
                  <a:lnTo>
                    <a:pt x="7874" y="105155"/>
                  </a:lnTo>
                  <a:lnTo>
                    <a:pt x="0" y="153923"/>
                  </a:lnTo>
                  <a:lnTo>
                    <a:pt x="0" y="766317"/>
                  </a:lnTo>
                  <a:lnTo>
                    <a:pt x="7874" y="815085"/>
                  </a:lnTo>
                  <a:lnTo>
                    <a:pt x="29591" y="857376"/>
                  </a:lnTo>
                  <a:lnTo>
                    <a:pt x="62865" y="890651"/>
                  </a:lnTo>
                  <a:lnTo>
                    <a:pt x="105156" y="912367"/>
                  </a:lnTo>
                  <a:lnTo>
                    <a:pt x="153924" y="920241"/>
                  </a:lnTo>
                  <a:lnTo>
                    <a:pt x="1407922" y="920241"/>
                  </a:lnTo>
                  <a:lnTo>
                    <a:pt x="1455927" y="912367"/>
                  </a:lnTo>
                  <a:lnTo>
                    <a:pt x="1497838" y="890651"/>
                  </a:lnTo>
                  <a:lnTo>
                    <a:pt x="1530858" y="857376"/>
                  </a:lnTo>
                  <a:lnTo>
                    <a:pt x="1552575" y="815085"/>
                  </a:lnTo>
                  <a:lnTo>
                    <a:pt x="1560322" y="766317"/>
                  </a:lnTo>
                  <a:lnTo>
                    <a:pt x="1560322" y="153923"/>
                  </a:lnTo>
                  <a:lnTo>
                    <a:pt x="1552575" y="105155"/>
                  </a:lnTo>
                  <a:lnTo>
                    <a:pt x="1530858" y="62864"/>
                  </a:lnTo>
                  <a:lnTo>
                    <a:pt x="1497838" y="29590"/>
                  </a:lnTo>
                  <a:lnTo>
                    <a:pt x="1455927" y="7874"/>
                  </a:lnTo>
                  <a:lnTo>
                    <a:pt x="1407922"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5" name="Google Shape;365;p26"/>
            <p:cNvSpPr/>
            <p:nvPr/>
          </p:nvSpPr>
          <p:spPr>
            <a:xfrm>
              <a:off x="7833360" y="4401311"/>
              <a:ext cx="1570990" cy="929640"/>
            </a:xfrm>
            <a:custGeom>
              <a:avLst/>
              <a:gdLst/>
              <a:ahLst/>
              <a:cxnLst/>
              <a:rect l="l" t="t" r="r" b="b"/>
              <a:pathLst>
                <a:path w="1570990" h="929639" extrusionOk="0">
                  <a:moveTo>
                    <a:pt x="1570863" y="158496"/>
                  </a:moveTo>
                  <a:lnTo>
                    <a:pt x="1567942" y="128016"/>
                  </a:lnTo>
                  <a:lnTo>
                    <a:pt x="1567815" y="126492"/>
                  </a:lnTo>
                  <a:lnTo>
                    <a:pt x="1560195" y="101092"/>
                  </a:lnTo>
                  <a:lnTo>
                    <a:pt x="1560195" y="158496"/>
                  </a:lnTo>
                  <a:lnTo>
                    <a:pt x="1560195" y="771144"/>
                  </a:lnTo>
                  <a:lnTo>
                    <a:pt x="1557147" y="801624"/>
                  </a:lnTo>
                  <a:lnTo>
                    <a:pt x="1554099" y="815340"/>
                  </a:lnTo>
                  <a:lnTo>
                    <a:pt x="1541907" y="842772"/>
                  </a:lnTo>
                  <a:lnTo>
                    <a:pt x="1541907" y="841248"/>
                  </a:lnTo>
                  <a:lnTo>
                    <a:pt x="1534287" y="854964"/>
                  </a:lnTo>
                  <a:lnTo>
                    <a:pt x="1534287" y="853440"/>
                  </a:lnTo>
                  <a:lnTo>
                    <a:pt x="1526667" y="865632"/>
                  </a:lnTo>
                  <a:lnTo>
                    <a:pt x="1515999" y="876300"/>
                  </a:lnTo>
                  <a:lnTo>
                    <a:pt x="1517523" y="876300"/>
                  </a:lnTo>
                  <a:lnTo>
                    <a:pt x="1505331" y="885444"/>
                  </a:lnTo>
                  <a:lnTo>
                    <a:pt x="1506855" y="885444"/>
                  </a:lnTo>
                  <a:lnTo>
                    <a:pt x="1494663" y="894588"/>
                  </a:lnTo>
                  <a:lnTo>
                    <a:pt x="1482471" y="902208"/>
                  </a:lnTo>
                  <a:lnTo>
                    <a:pt x="1468755" y="908304"/>
                  </a:lnTo>
                  <a:lnTo>
                    <a:pt x="1470279" y="908304"/>
                  </a:lnTo>
                  <a:lnTo>
                    <a:pt x="1456563" y="912876"/>
                  </a:lnTo>
                  <a:lnTo>
                    <a:pt x="1441323" y="915924"/>
                  </a:lnTo>
                  <a:lnTo>
                    <a:pt x="1442847" y="915924"/>
                  </a:lnTo>
                  <a:lnTo>
                    <a:pt x="1427607" y="918972"/>
                  </a:lnTo>
                  <a:lnTo>
                    <a:pt x="143256" y="918972"/>
                  </a:lnTo>
                  <a:lnTo>
                    <a:pt x="128016" y="915924"/>
                  </a:lnTo>
                  <a:lnTo>
                    <a:pt x="114300" y="912876"/>
                  </a:lnTo>
                  <a:lnTo>
                    <a:pt x="100584" y="908304"/>
                  </a:lnTo>
                  <a:lnTo>
                    <a:pt x="86868" y="902208"/>
                  </a:lnTo>
                  <a:lnTo>
                    <a:pt x="88392" y="902208"/>
                  </a:lnTo>
                  <a:lnTo>
                    <a:pt x="74676" y="894588"/>
                  </a:lnTo>
                  <a:lnTo>
                    <a:pt x="76200" y="894588"/>
                  </a:lnTo>
                  <a:lnTo>
                    <a:pt x="64008" y="885444"/>
                  </a:lnTo>
                  <a:lnTo>
                    <a:pt x="53340" y="876300"/>
                  </a:lnTo>
                  <a:lnTo>
                    <a:pt x="44196" y="865632"/>
                  </a:lnTo>
                  <a:lnTo>
                    <a:pt x="36195" y="854964"/>
                  </a:lnTo>
                  <a:lnTo>
                    <a:pt x="35052" y="853440"/>
                  </a:lnTo>
                  <a:lnTo>
                    <a:pt x="35052" y="854964"/>
                  </a:lnTo>
                  <a:lnTo>
                    <a:pt x="28321" y="842772"/>
                  </a:lnTo>
                  <a:lnTo>
                    <a:pt x="27432" y="841248"/>
                  </a:lnTo>
                  <a:lnTo>
                    <a:pt x="27432" y="842772"/>
                  </a:lnTo>
                  <a:lnTo>
                    <a:pt x="21336" y="829056"/>
                  </a:lnTo>
                  <a:lnTo>
                    <a:pt x="16764" y="815340"/>
                  </a:lnTo>
                  <a:lnTo>
                    <a:pt x="13716" y="801624"/>
                  </a:lnTo>
                  <a:lnTo>
                    <a:pt x="10668" y="786384"/>
                  </a:lnTo>
                  <a:lnTo>
                    <a:pt x="10668" y="143256"/>
                  </a:lnTo>
                  <a:lnTo>
                    <a:pt x="13716" y="128016"/>
                  </a:lnTo>
                  <a:lnTo>
                    <a:pt x="13716" y="129540"/>
                  </a:lnTo>
                  <a:lnTo>
                    <a:pt x="13970" y="128016"/>
                  </a:lnTo>
                  <a:lnTo>
                    <a:pt x="16764" y="114300"/>
                  </a:lnTo>
                  <a:lnTo>
                    <a:pt x="21336" y="100596"/>
                  </a:lnTo>
                  <a:lnTo>
                    <a:pt x="27432" y="86868"/>
                  </a:lnTo>
                  <a:lnTo>
                    <a:pt x="27432" y="88392"/>
                  </a:lnTo>
                  <a:lnTo>
                    <a:pt x="28321" y="86868"/>
                  </a:lnTo>
                  <a:lnTo>
                    <a:pt x="35052" y="74676"/>
                  </a:lnTo>
                  <a:lnTo>
                    <a:pt x="35052" y="76200"/>
                  </a:lnTo>
                  <a:lnTo>
                    <a:pt x="36195" y="74676"/>
                  </a:lnTo>
                  <a:lnTo>
                    <a:pt x="44196" y="64020"/>
                  </a:lnTo>
                  <a:lnTo>
                    <a:pt x="53340" y="53340"/>
                  </a:lnTo>
                  <a:lnTo>
                    <a:pt x="64008" y="44208"/>
                  </a:lnTo>
                  <a:lnTo>
                    <a:pt x="76200" y="35052"/>
                  </a:lnTo>
                  <a:lnTo>
                    <a:pt x="74676" y="35052"/>
                  </a:lnTo>
                  <a:lnTo>
                    <a:pt x="88392" y="27432"/>
                  </a:lnTo>
                  <a:lnTo>
                    <a:pt x="86868" y="28956"/>
                  </a:lnTo>
                  <a:lnTo>
                    <a:pt x="89535" y="27432"/>
                  </a:lnTo>
                  <a:lnTo>
                    <a:pt x="100584" y="21336"/>
                  </a:lnTo>
                  <a:lnTo>
                    <a:pt x="114300" y="16764"/>
                  </a:lnTo>
                  <a:lnTo>
                    <a:pt x="128016" y="13716"/>
                  </a:lnTo>
                  <a:lnTo>
                    <a:pt x="143256" y="10668"/>
                  </a:lnTo>
                  <a:lnTo>
                    <a:pt x="1427607" y="10668"/>
                  </a:lnTo>
                  <a:lnTo>
                    <a:pt x="1442847" y="13716"/>
                  </a:lnTo>
                  <a:lnTo>
                    <a:pt x="1441323" y="13716"/>
                  </a:lnTo>
                  <a:lnTo>
                    <a:pt x="1456563" y="16764"/>
                  </a:lnTo>
                  <a:lnTo>
                    <a:pt x="1470279" y="21336"/>
                  </a:lnTo>
                  <a:lnTo>
                    <a:pt x="1468755" y="21336"/>
                  </a:lnTo>
                  <a:lnTo>
                    <a:pt x="1482471" y="28956"/>
                  </a:lnTo>
                  <a:lnTo>
                    <a:pt x="1482471" y="27432"/>
                  </a:lnTo>
                  <a:lnTo>
                    <a:pt x="1494663" y="35052"/>
                  </a:lnTo>
                  <a:lnTo>
                    <a:pt x="1506855" y="44208"/>
                  </a:lnTo>
                  <a:lnTo>
                    <a:pt x="1505331" y="44208"/>
                  </a:lnTo>
                  <a:lnTo>
                    <a:pt x="1517523" y="53340"/>
                  </a:lnTo>
                  <a:lnTo>
                    <a:pt x="1515999" y="53340"/>
                  </a:lnTo>
                  <a:lnTo>
                    <a:pt x="1526667" y="64020"/>
                  </a:lnTo>
                  <a:lnTo>
                    <a:pt x="1534287" y="76200"/>
                  </a:lnTo>
                  <a:lnTo>
                    <a:pt x="1534287" y="74676"/>
                  </a:lnTo>
                  <a:lnTo>
                    <a:pt x="1541907" y="88392"/>
                  </a:lnTo>
                  <a:lnTo>
                    <a:pt x="1548003" y="100596"/>
                  </a:lnTo>
                  <a:lnTo>
                    <a:pt x="1554099" y="114300"/>
                  </a:lnTo>
                  <a:lnTo>
                    <a:pt x="1557147" y="129540"/>
                  </a:lnTo>
                  <a:lnTo>
                    <a:pt x="1557147" y="128016"/>
                  </a:lnTo>
                  <a:lnTo>
                    <a:pt x="1560195" y="158496"/>
                  </a:lnTo>
                  <a:lnTo>
                    <a:pt x="1560195" y="101092"/>
                  </a:lnTo>
                  <a:lnTo>
                    <a:pt x="1534287" y="57912"/>
                  </a:lnTo>
                  <a:lnTo>
                    <a:pt x="1500759" y="27432"/>
                  </a:lnTo>
                  <a:lnTo>
                    <a:pt x="1468755" y="10668"/>
                  </a:lnTo>
                  <a:lnTo>
                    <a:pt x="1459611" y="7620"/>
                  </a:lnTo>
                  <a:lnTo>
                    <a:pt x="1444371" y="3048"/>
                  </a:lnTo>
                  <a:lnTo>
                    <a:pt x="1427607" y="0"/>
                  </a:lnTo>
                  <a:lnTo>
                    <a:pt x="141732" y="0"/>
                  </a:lnTo>
                  <a:lnTo>
                    <a:pt x="82296" y="18288"/>
                  </a:lnTo>
                  <a:lnTo>
                    <a:pt x="45720" y="45732"/>
                  </a:lnTo>
                  <a:lnTo>
                    <a:pt x="12192" y="96012"/>
                  </a:lnTo>
                  <a:lnTo>
                    <a:pt x="0" y="141732"/>
                  </a:lnTo>
                  <a:lnTo>
                    <a:pt x="0" y="787908"/>
                  </a:lnTo>
                  <a:lnTo>
                    <a:pt x="18288" y="847344"/>
                  </a:lnTo>
                  <a:lnTo>
                    <a:pt x="45720" y="883920"/>
                  </a:lnTo>
                  <a:lnTo>
                    <a:pt x="111252" y="923544"/>
                  </a:lnTo>
                  <a:lnTo>
                    <a:pt x="141732" y="929640"/>
                  </a:lnTo>
                  <a:lnTo>
                    <a:pt x="1427607" y="929640"/>
                  </a:lnTo>
                  <a:lnTo>
                    <a:pt x="1444371" y="926592"/>
                  </a:lnTo>
                  <a:lnTo>
                    <a:pt x="1459611" y="923544"/>
                  </a:lnTo>
                  <a:lnTo>
                    <a:pt x="1469898" y="918972"/>
                  </a:lnTo>
                  <a:lnTo>
                    <a:pt x="1487043" y="911352"/>
                  </a:lnTo>
                  <a:lnTo>
                    <a:pt x="1543431" y="859536"/>
                  </a:lnTo>
                  <a:lnTo>
                    <a:pt x="1553591" y="842772"/>
                  </a:lnTo>
                  <a:lnTo>
                    <a:pt x="1558671" y="833628"/>
                  </a:lnTo>
                  <a:lnTo>
                    <a:pt x="1567815" y="803148"/>
                  </a:lnTo>
                  <a:lnTo>
                    <a:pt x="1570863" y="771144"/>
                  </a:lnTo>
                  <a:lnTo>
                    <a:pt x="1570863" y="158496"/>
                  </a:lnTo>
                  <a:close/>
                </a:path>
              </a:pathLst>
            </a:custGeom>
            <a:solidFill>
              <a:srgbClr val="416F9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366" name="Google Shape;366;p26"/>
          <p:cNvSpPr txBox="1"/>
          <p:nvPr/>
        </p:nvSpPr>
        <p:spPr>
          <a:xfrm>
            <a:off x="8121650" y="4485650"/>
            <a:ext cx="1229100" cy="687300"/>
          </a:xfrm>
          <a:prstGeom prst="rect">
            <a:avLst/>
          </a:prstGeom>
          <a:noFill/>
          <a:ln>
            <a:noFill/>
          </a:ln>
        </p:spPr>
        <p:txBody>
          <a:bodyPr spcFirstLastPara="1" wrap="square" lIns="0" tIns="8250" rIns="0" bIns="0" anchor="t" anchorCtr="0">
            <a:spAutoFit/>
          </a:bodyPr>
          <a:lstStyle/>
          <a:p>
            <a:pPr marL="12700" marR="5080" lvl="0" indent="43180" algn="l" rtl="0">
              <a:lnSpc>
                <a:spcPct val="102099"/>
              </a:lnSpc>
              <a:spcBef>
                <a:spcPts val="0"/>
              </a:spcBef>
              <a:spcAft>
                <a:spcPts val="0"/>
              </a:spcAft>
              <a:buNone/>
            </a:pPr>
            <a:r>
              <a:rPr lang="en-US" sz="1450">
                <a:solidFill>
                  <a:srgbClr val="FFFFFF"/>
                </a:solidFill>
                <a:latin typeface="Calibri"/>
                <a:ea typeface="Calibri"/>
                <a:cs typeface="Calibri"/>
                <a:sym typeface="Calibri"/>
              </a:rPr>
              <a:t>Circumfixes  Precedes	+  follows stem</a:t>
            </a:r>
            <a:endParaRPr sz="1450">
              <a:solidFill>
                <a:schemeClr val="dk1"/>
              </a:solidFill>
              <a:latin typeface="Calibri"/>
              <a:ea typeface="Calibri"/>
              <a:cs typeface="Calibri"/>
              <a:sym typeface="Calibri"/>
            </a:endParaRPr>
          </a:p>
        </p:txBody>
      </p:sp>
      <p:sp>
        <p:nvSpPr>
          <p:cNvPr id="367" name="Google Shape;367;p26"/>
          <p:cNvSpPr/>
          <p:nvPr/>
        </p:nvSpPr>
        <p:spPr>
          <a:xfrm>
            <a:off x="1470660" y="2847339"/>
            <a:ext cx="7150734" cy="1602740"/>
          </a:xfrm>
          <a:custGeom>
            <a:avLst/>
            <a:gdLst/>
            <a:ahLst/>
            <a:cxnLst/>
            <a:rect l="l" t="t" r="r" b="b"/>
            <a:pathLst>
              <a:path w="7150734" h="1602739" extrusionOk="0">
                <a:moveTo>
                  <a:pt x="3198749" y="1226058"/>
                </a:moveTo>
                <a:lnTo>
                  <a:pt x="3192780" y="1226058"/>
                </a:lnTo>
                <a:lnTo>
                  <a:pt x="3192780" y="1558544"/>
                </a:lnTo>
                <a:lnTo>
                  <a:pt x="3198749" y="1558544"/>
                </a:lnTo>
                <a:lnTo>
                  <a:pt x="3198749" y="1226058"/>
                </a:lnTo>
                <a:close/>
              </a:path>
              <a:path w="7150734" h="1602739" extrusionOk="0">
                <a:moveTo>
                  <a:pt x="4367657" y="133604"/>
                </a:moveTo>
                <a:lnTo>
                  <a:pt x="4361561" y="133604"/>
                </a:lnTo>
                <a:lnTo>
                  <a:pt x="4361561" y="261620"/>
                </a:lnTo>
                <a:lnTo>
                  <a:pt x="4367657" y="261620"/>
                </a:lnTo>
                <a:lnTo>
                  <a:pt x="4367657" y="133604"/>
                </a:lnTo>
                <a:close/>
              </a:path>
              <a:path w="7150734" h="1602739" extrusionOk="0">
                <a:moveTo>
                  <a:pt x="4367657" y="129540"/>
                </a:moveTo>
                <a:lnTo>
                  <a:pt x="2827020" y="129540"/>
                </a:lnTo>
                <a:lnTo>
                  <a:pt x="2827020" y="0"/>
                </a:lnTo>
                <a:lnTo>
                  <a:pt x="2822448" y="0"/>
                </a:lnTo>
                <a:lnTo>
                  <a:pt x="2822448" y="129540"/>
                </a:lnTo>
                <a:lnTo>
                  <a:pt x="2822448" y="133350"/>
                </a:lnTo>
                <a:lnTo>
                  <a:pt x="2822448" y="149860"/>
                </a:lnTo>
                <a:lnTo>
                  <a:pt x="4318" y="149860"/>
                </a:lnTo>
                <a:lnTo>
                  <a:pt x="3175" y="149860"/>
                </a:lnTo>
                <a:lnTo>
                  <a:pt x="3175" y="151130"/>
                </a:lnTo>
                <a:lnTo>
                  <a:pt x="3175" y="152400"/>
                </a:lnTo>
                <a:lnTo>
                  <a:pt x="3048" y="152400"/>
                </a:lnTo>
                <a:lnTo>
                  <a:pt x="3048" y="151130"/>
                </a:lnTo>
                <a:lnTo>
                  <a:pt x="3175" y="151130"/>
                </a:lnTo>
                <a:lnTo>
                  <a:pt x="3175" y="149860"/>
                </a:lnTo>
                <a:lnTo>
                  <a:pt x="0" y="149860"/>
                </a:lnTo>
                <a:lnTo>
                  <a:pt x="0" y="151130"/>
                </a:lnTo>
                <a:lnTo>
                  <a:pt x="0" y="152400"/>
                </a:lnTo>
                <a:lnTo>
                  <a:pt x="0" y="153670"/>
                </a:lnTo>
                <a:lnTo>
                  <a:pt x="0" y="302260"/>
                </a:lnTo>
                <a:lnTo>
                  <a:pt x="4572" y="302260"/>
                </a:lnTo>
                <a:lnTo>
                  <a:pt x="4572" y="153670"/>
                </a:lnTo>
                <a:lnTo>
                  <a:pt x="2827020" y="153670"/>
                </a:lnTo>
                <a:lnTo>
                  <a:pt x="2827020" y="152400"/>
                </a:lnTo>
                <a:lnTo>
                  <a:pt x="2827020" y="151130"/>
                </a:lnTo>
                <a:lnTo>
                  <a:pt x="2827020" y="149860"/>
                </a:lnTo>
                <a:lnTo>
                  <a:pt x="2827020" y="133350"/>
                </a:lnTo>
                <a:lnTo>
                  <a:pt x="4367657" y="133350"/>
                </a:lnTo>
                <a:lnTo>
                  <a:pt x="4367657" y="129540"/>
                </a:lnTo>
                <a:close/>
              </a:path>
              <a:path w="7150734" h="1602739" extrusionOk="0">
                <a:moveTo>
                  <a:pt x="5147945" y="1226820"/>
                </a:moveTo>
                <a:lnTo>
                  <a:pt x="5143487" y="1226820"/>
                </a:lnTo>
                <a:lnTo>
                  <a:pt x="5143487" y="1226058"/>
                </a:lnTo>
                <a:lnTo>
                  <a:pt x="4364609" y="1226058"/>
                </a:lnTo>
                <a:lnTo>
                  <a:pt x="4364609" y="1226820"/>
                </a:lnTo>
                <a:lnTo>
                  <a:pt x="5141836" y="1226820"/>
                </a:lnTo>
                <a:lnTo>
                  <a:pt x="5141836" y="1558290"/>
                </a:lnTo>
                <a:lnTo>
                  <a:pt x="5147945" y="1558290"/>
                </a:lnTo>
                <a:lnTo>
                  <a:pt x="5147945" y="1226820"/>
                </a:lnTo>
                <a:close/>
              </a:path>
              <a:path w="7150734" h="1602739" extrusionOk="0">
                <a:moveTo>
                  <a:pt x="5147945" y="1224915"/>
                </a:moveTo>
                <a:lnTo>
                  <a:pt x="5143487" y="1224915"/>
                </a:lnTo>
                <a:lnTo>
                  <a:pt x="5144884" y="1226312"/>
                </a:lnTo>
                <a:lnTo>
                  <a:pt x="5147945" y="1226312"/>
                </a:lnTo>
                <a:lnTo>
                  <a:pt x="5147945" y="1224915"/>
                </a:lnTo>
                <a:close/>
              </a:path>
              <a:path w="7150734" h="1602739" extrusionOk="0">
                <a:moveTo>
                  <a:pt x="7150481" y="1198880"/>
                </a:moveTo>
                <a:lnTo>
                  <a:pt x="4367657" y="1198880"/>
                </a:lnTo>
                <a:lnTo>
                  <a:pt x="4367657" y="843280"/>
                </a:lnTo>
                <a:lnTo>
                  <a:pt x="4361561" y="843280"/>
                </a:lnTo>
                <a:lnTo>
                  <a:pt x="4361561" y="1198880"/>
                </a:lnTo>
                <a:lnTo>
                  <a:pt x="4361561" y="1205230"/>
                </a:lnTo>
                <a:lnTo>
                  <a:pt x="4361561" y="1219200"/>
                </a:lnTo>
                <a:lnTo>
                  <a:pt x="885190" y="1219200"/>
                </a:lnTo>
                <a:lnTo>
                  <a:pt x="885063" y="1219200"/>
                </a:lnTo>
                <a:lnTo>
                  <a:pt x="885063" y="1223010"/>
                </a:lnTo>
                <a:lnTo>
                  <a:pt x="885063" y="1224280"/>
                </a:lnTo>
                <a:lnTo>
                  <a:pt x="883920" y="1224280"/>
                </a:lnTo>
                <a:lnTo>
                  <a:pt x="883920" y="1223010"/>
                </a:lnTo>
                <a:lnTo>
                  <a:pt x="885063" y="1223010"/>
                </a:lnTo>
                <a:lnTo>
                  <a:pt x="885063" y="1219200"/>
                </a:lnTo>
                <a:lnTo>
                  <a:pt x="880872" y="1219200"/>
                </a:lnTo>
                <a:lnTo>
                  <a:pt x="880872" y="1223010"/>
                </a:lnTo>
                <a:lnTo>
                  <a:pt x="880872" y="1224280"/>
                </a:lnTo>
                <a:lnTo>
                  <a:pt x="880872" y="1225550"/>
                </a:lnTo>
                <a:lnTo>
                  <a:pt x="880872" y="1602740"/>
                </a:lnTo>
                <a:lnTo>
                  <a:pt x="885444" y="1602740"/>
                </a:lnTo>
                <a:lnTo>
                  <a:pt x="885444" y="1225550"/>
                </a:lnTo>
                <a:lnTo>
                  <a:pt x="5143487" y="1225550"/>
                </a:lnTo>
                <a:lnTo>
                  <a:pt x="5143487" y="1224915"/>
                </a:lnTo>
                <a:lnTo>
                  <a:pt x="5143487" y="1224280"/>
                </a:lnTo>
                <a:lnTo>
                  <a:pt x="5147945" y="1224280"/>
                </a:lnTo>
                <a:lnTo>
                  <a:pt x="5147945" y="1223010"/>
                </a:lnTo>
                <a:lnTo>
                  <a:pt x="5147945" y="1220470"/>
                </a:lnTo>
                <a:lnTo>
                  <a:pt x="4367657" y="1220470"/>
                </a:lnTo>
                <a:lnTo>
                  <a:pt x="4367657" y="1219200"/>
                </a:lnTo>
                <a:lnTo>
                  <a:pt x="4367657" y="1205230"/>
                </a:lnTo>
                <a:lnTo>
                  <a:pt x="7145909" y="1205230"/>
                </a:lnTo>
                <a:lnTo>
                  <a:pt x="7145909" y="1558544"/>
                </a:lnTo>
                <a:lnTo>
                  <a:pt x="7150481" y="1558544"/>
                </a:lnTo>
                <a:lnTo>
                  <a:pt x="7150481" y="1205230"/>
                </a:lnTo>
                <a:lnTo>
                  <a:pt x="7150481" y="1204976"/>
                </a:lnTo>
                <a:lnTo>
                  <a:pt x="7150481" y="119888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8" name="Google Shape;368;p26"/>
          <p:cNvSpPr txBox="1"/>
          <p:nvPr/>
        </p:nvSpPr>
        <p:spPr>
          <a:xfrm>
            <a:off x="612394" y="5937503"/>
            <a:ext cx="4001770" cy="472440"/>
          </a:xfrm>
          <a:prstGeom prst="rect">
            <a:avLst/>
          </a:prstGeom>
          <a:noFill/>
          <a:ln>
            <a:noFill/>
          </a:ln>
        </p:spPr>
        <p:txBody>
          <a:bodyPr spcFirstLastPara="1" wrap="square" lIns="0" tIns="8250" rIns="0" bIns="0" anchor="t" anchorCtr="0">
            <a:spAutoFit/>
          </a:bodyPr>
          <a:lstStyle/>
          <a:p>
            <a:pPr marL="12700" marR="5080" lvl="0" indent="0" algn="l" rtl="0">
              <a:lnSpc>
                <a:spcPct val="102099"/>
              </a:lnSpc>
              <a:spcBef>
                <a:spcPts val="0"/>
              </a:spcBef>
              <a:spcAft>
                <a:spcPts val="0"/>
              </a:spcAft>
              <a:buNone/>
            </a:pPr>
            <a:r>
              <a:rPr lang="en-US" sz="1450">
                <a:solidFill>
                  <a:schemeClr val="dk1"/>
                </a:solidFill>
                <a:latin typeface="Calibri"/>
                <a:ea typeface="Calibri"/>
                <a:cs typeface="Calibri"/>
                <a:sym typeface="Calibri"/>
              </a:rPr>
              <a:t>More than one affixes in the same word are possible  Eg. Rewrites, preprocessing</a:t>
            </a:r>
            <a:endParaRPr sz="1450">
              <a:solidFill>
                <a:schemeClr val="dk1"/>
              </a:solidFill>
              <a:latin typeface="Calibri"/>
              <a:ea typeface="Calibri"/>
              <a:cs typeface="Calibri"/>
              <a:sym typeface="Calibri"/>
            </a:endParaRPr>
          </a:p>
        </p:txBody>
      </p:sp>
      <p:sp>
        <p:nvSpPr>
          <p:cNvPr id="369" name="Google Shape;369;p26"/>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Shape 373"/>
        <p:cNvGrpSpPr/>
        <p:nvPr/>
      </p:nvGrpSpPr>
      <p:grpSpPr>
        <a:xfrm>
          <a:off x="0" y="0"/>
          <a:ext cx="0" cy="0"/>
          <a:chOff x="0" y="0"/>
          <a:chExt cx="0" cy="0"/>
        </a:xfrm>
      </p:grpSpPr>
      <p:sp>
        <p:nvSpPr>
          <p:cNvPr id="374" name="Google Shape;374;p27"/>
          <p:cNvSpPr txBox="1">
            <a:spLocks noGrp="1"/>
          </p:cNvSpPr>
          <p:nvPr>
            <p:ph type="title"/>
          </p:nvPr>
        </p:nvSpPr>
        <p:spPr>
          <a:xfrm>
            <a:off x="391026" y="152400"/>
            <a:ext cx="9220200" cy="420628"/>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b="1"/>
              <a:t>Methods / Approaches to combine morphemes to from words</a:t>
            </a:r>
            <a:endParaRPr/>
          </a:p>
        </p:txBody>
      </p:sp>
      <p:sp>
        <p:nvSpPr>
          <p:cNvPr id="375" name="Google Shape;375;p27"/>
          <p:cNvSpPr txBox="1"/>
          <p:nvPr/>
        </p:nvSpPr>
        <p:spPr>
          <a:xfrm>
            <a:off x="205605" y="821184"/>
            <a:ext cx="9405621" cy="6927153"/>
          </a:xfrm>
          <a:prstGeom prst="rect">
            <a:avLst/>
          </a:prstGeom>
          <a:noFill/>
          <a:ln>
            <a:noFill/>
          </a:ln>
        </p:spPr>
        <p:txBody>
          <a:bodyPr spcFirstLastPara="1" wrap="square" lIns="0" tIns="12700" rIns="0" bIns="0" anchor="t" anchorCtr="0">
            <a:spAutoFit/>
          </a:bodyPr>
          <a:lstStyle/>
          <a:p>
            <a:pPr marL="214629" marR="828039" lvl="0" indent="-201930" algn="just" rtl="0">
              <a:lnSpc>
                <a:spcPct val="136900"/>
              </a:lnSpc>
              <a:spcBef>
                <a:spcPts val="0"/>
              </a:spcBef>
              <a:spcAft>
                <a:spcPts val="0"/>
              </a:spcAft>
              <a:buClr>
                <a:srgbClr val="445369"/>
              </a:buClr>
              <a:buSzPts val="2400"/>
              <a:buFont typeface="Arial"/>
              <a:buChar char="•"/>
            </a:pPr>
            <a:r>
              <a:rPr lang="en-US" sz="2400" b="1">
                <a:solidFill>
                  <a:srgbClr val="445369"/>
                </a:solidFill>
                <a:latin typeface="Times New Roman"/>
                <a:ea typeface="Times New Roman"/>
                <a:cs typeface="Times New Roman"/>
                <a:sym typeface="Times New Roman"/>
              </a:rPr>
              <a:t>Inflection </a:t>
            </a:r>
            <a:r>
              <a:rPr lang="en-US" sz="2400">
                <a:solidFill>
                  <a:schemeClr val="dk1"/>
                </a:solidFill>
                <a:latin typeface="Times New Roman"/>
                <a:ea typeface="Times New Roman"/>
                <a:cs typeface="Times New Roman"/>
                <a:sym typeface="Times New Roman"/>
              </a:rPr>
              <a:t>– combination of a word stem with a grammatical morpheme,  commonly plural with ‘s’ or past tense with ‘ed’, resulting in a word of same class </a:t>
            </a:r>
            <a:endParaRPr sz="2400">
              <a:solidFill>
                <a:schemeClr val="dk1"/>
              </a:solidFill>
              <a:latin typeface="Times New Roman"/>
              <a:ea typeface="Times New Roman"/>
              <a:cs typeface="Times New Roman"/>
              <a:sym typeface="Times New Roman"/>
            </a:endParaRPr>
          </a:p>
          <a:p>
            <a:pPr marL="12699" marR="828039" lvl="0" indent="0" algn="just" rtl="0">
              <a:lnSpc>
                <a:spcPct val="136900"/>
              </a:lnSpc>
              <a:spcBef>
                <a:spcPts val="100"/>
              </a:spcBef>
              <a:spcAft>
                <a:spcPts val="0"/>
              </a:spcAft>
              <a:buNone/>
            </a:pPr>
            <a:r>
              <a:rPr lang="en-US" sz="2400">
                <a:solidFill>
                  <a:srgbClr val="0070C0"/>
                </a:solidFill>
                <a:latin typeface="Times New Roman"/>
                <a:ea typeface="Times New Roman"/>
                <a:cs typeface="Times New Roman"/>
                <a:sym typeface="Times New Roman"/>
              </a:rPr>
              <a:t>eg. Papers,  walked</a:t>
            </a:r>
            <a:endParaRPr sz="2400">
              <a:solidFill>
                <a:srgbClr val="0070C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445369"/>
              </a:buClr>
              <a:buSzPts val="2400"/>
              <a:buFont typeface="Arial"/>
              <a:buNone/>
            </a:pPr>
            <a:endParaRPr sz="2400">
              <a:solidFill>
                <a:schemeClr val="dk1"/>
              </a:solidFill>
              <a:latin typeface="Times New Roman"/>
              <a:ea typeface="Times New Roman"/>
              <a:cs typeface="Times New Roman"/>
              <a:sym typeface="Times New Roman"/>
            </a:endParaRPr>
          </a:p>
          <a:p>
            <a:pPr marL="213359" marR="0" lvl="0" indent="-189230" algn="just" rtl="0">
              <a:lnSpc>
                <a:spcPct val="100000"/>
              </a:lnSpc>
              <a:spcBef>
                <a:spcPts val="1450"/>
              </a:spcBef>
              <a:spcAft>
                <a:spcPts val="0"/>
              </a:spcAft>
              <a:buClr>
                <a:srgbClr val="445369"/>
              </a:buClr>
              <a:buSzPts val="2400"/>
              <a:buFont typeface="Arial"/>
              <a:buChar char="•"/>
            </a:pPr>
            <a:r>
              <a:rPr lang="en-US" sz="2400" b="1">
                <a:solidFill>
                  <a:srgbClr val="445369"/>
                </a:solidFill>
                <a:latin typeface="Times New Roman"/>
                <a:ea typeface="Times New Roman"/>
                <a:cs typeface="Times New Roman"/>
                <a:sym typeface="Times New Roman"/>
              </a:rPr>
              <a:t>Derivation </a:t>
            </a:r>
            <a:r>
              <a:rPr lang="en-US" sz="2400">
                <a:solidFill>
                  <a:schemeClr val="dk1"/>
                </a:solidFill>
                <a:latin typeface="Times New Roman"/>
                <a:ea typeface="Times New Roman"/>
                <a:cs typeface="Times New Roman"/>
                <a:sym typeface="Times New Roman"/>
              </a:rPr>
              <a:t>– combination of a word stem with a grammatical morpheme resulting in a word of different class</a:t>
            </a:r>
            <a:endParaRPr sz="2400">
              <a:solidFill>
                <a:schemeClr val="dk1"/>
              </a:solidFill>
              <a:latin typeface="Times New Roman"/>
              <a:ea typeface="Times New Roman"/>
              <a:cs typeface="Times New Roman"/>
              <a:sym typeface="Times New Roman"/>
            </a:endParaRPr>
          </a:p>
          <a:p>
            <a:pPr marL="213359" marR="0" lvl="0" indent="-189230" algn="just" rtl="0">
              <a:lnSpc>
                <a:spcPct val="100000"/>
              </a:lnSpc>
              <a:spcBef>
                <a:spcPts val="1450"/>
              </a:spcBef>
              <a:spcAft>
                <a:spcPts val="0"/>
              </a:spcAft>
              <a:buClr>
                <a:srgbClr val="0070C0"/>
              </a:buClr>
              <a:buSzPts val="2400"/>
              <a:buFont typeface="Arial"/>
              <a:buChar char="•"/>
            </a:pPr>
            <a:r>
              <a:rPr lang="en-US" sz="2400">
                <a:solidFill>
                  <a:srgbClr val="0070C0"/>
                </a:solidFill>
                <a:latin typeface="Times New Roman"/>
                <a:ea typeface="Times New Roman"/>
                <a:cs typeface="Times New Roman"/>
                <a:sym typeface="Times New Roman"/>
              </a:rPr>
              <a:t>eg. fish → fisherry, computerize -&gt; computerization</a:t>
            </a:r>
            <a:endParaRPr sz="2400">
              <a:solidFill>
                <a:srgbClr val="0070C0"/>
              </a:solidFill>
              <a:latin typeface="Times New Roman"/>
              <a:ea typeface="Times New Roman"/>
              <a:cs typeface="Times New Roman"/>
              <a:sym typeface="Times New Roman"/>
            </a:endParaRPr>
          </a:p>
          <a:p>
            <a:pPr marL="0" marR="0" lvl="0" indent="0" algn="just" rtl="0">
              <a:lnSpc>
                <a:spcPct val="100000"/>
              </a:lnSpc>
              <a:spcBef>
                <a:spcPts val="10"/>
              </a:spcBef>
              <a:spcAft>
                <a:spcPts val="0"/>
              </a:spcAft>
              <a:buNone/>
            </a:pPr>
            <a:endParaRPr sz="2400">
              <a:solidFill>
                <a:schemeClr val="dk1"/>
              </a:solidFill>
              <a:latin typeface="Times New Roman"/>
              <a:ea typeface="Times New Roman"/>
              <a:cs typeface="Times New Roman"/>
              <a:sym typeface="Times New Roman"/>
            </a:endParaRPr>
          </a:p>
          <a:p>
            <a:pPr marL="214629" marR="2616200" lvl="0" indent="-201930" algn="just" rtl="0">
              <a:lnSpc>
                <a:spcPct val="127200"/>
              </a:lnSpc>
              <a:spcBef>
                <a:spcPts val="0"/>
              </a:spcBef>
              <a:spcAft>
                <a:spcPts val="0"/>
              </a:spcAft>
              <a:buClr>
                <a:srgbClr val="445369"/>
              </a:buClr>
              <a:buSzPts val="2400"/>
              <a:buFont typeface="Arial"/>
              <a:buChar char="•"/>
            </a:pPr>
            <a:r>
              <a:rPr lang="en-US" sz="2400">
                <a:solidFill>
                  <a:srgbClr val="445369"/>
                </a:solidFill>
                <a:latin typeface="Times New Roman"/>
                <a:ea typeface="Times New Roman"/>
                <a:cs typeface="Times New Roman"/>
                <a:sym typeface="Times New Roman"/>
              </a:rPr>
              <a:t>Compounding </a:t>
            </a:r>
            <a:r>
              <a:rPr lang="en-US" sz="2400">
                <a:solidFill>
                  <a:schemeClr val="dk1"/>
                </a:solidFill>
                <a:latin typeface="Times New Roman"/>
                <a:ea typeface="Times New Roman"/>
                <a:cs typeface="Times New Roman"/>
                <a:sym typeface="Times New Roman"/>
              </a:rPr>
              <a:t>– combination of multiple word stem together  eg. Battlefield, doghouse</a:t>
            </a:r>
            <a:endParaRPr sz="2400">
              <a:solidFill>
                <a:schemeClr val="dk1"/>
              </a:solidFill>
              <a:latin typeface="Times New Roman"/>
              <a:ea typeface="Times New Roman"/>
              <a:cs typeface="Times New Roman"/>
              <a:sym typeface="Times New Roman"/>
            </a:endParaRPr>
          </a:p>
          <a:p>
            <a:pPr marL="214629" marR="0" lvl="0" indent="-201930" algn="just" rtl="0">
              <a:lnSpc>
                <a:spcPct val="100000"/>
              </a:lnSpc>
              <a:spcBef>
                <a:spcPts val="630"/>
              </a:spcBef>
              <a:spcAft>
                <a:spcPts val="0"/>
              </a:spcAft>
              <a:buClr>
                <a:srgbClr val="445369"/>
              </a:buClr>
              <a:buSzPts val="2400"/>
              <a:buFont typeface="Arial"/>
              <a:buChar char="•"/>
            </a:pPr>
            <a:r>
              <a:rPr lang="en-US" sz="2400">
                <a:solidFill>
                  <a:srgbClr val="445369"/>
                </a:solidFill>
                <a:latin typeface="Times New Roman"/>
                <a:ea typeface="Times New Roman"/>
                <a:cs typeface="Times New Roman"/>
                <a:sym typeface="Times New Roman"/>
              </a:rPr>
              <a:t>Cliticization </a:t>
            </a:r>
            <a:r>
              <a:rPr lang="en-US" sz="2400">
                <a:solidFill>
                  <a:schemeClr val="dk1"/>
                </a:solidFill>
                <a:latin typeface="Times New Roman"/>
                <a:ea typeface="Times New Roman"/>
                <a:cs typeface="Times New Roman"/>
                <a:sym typeface="Times New Roman"/>
              </a:rPr>
              <a:t>– combination of a word stem with a “clitic”</a:t>
            </a:r>
            <a:endParaRPr sz="2400">
              <a:solidFill>
                <a:schemeClr val="dk1"/>
              </a:solidFill>
              <a:latin typeface="Times New Roman"/>
              <a:ea typeface="Times New Roman"/>
              <a:cs typeface="Times New Roman"/>
              <a:sym typeface="Times New Roman"/>
            </a:endParaRPr>
          </a:p>
          <a:p>
            <a:pPr marL="214629" marR="0" lvl="0" indent="0" algn="just" rtl="0">
              <a:lnSpc>
                <a:spcPct val="100000"/>
              </a:lnSpc>
              <a:spcBef>
                <a:spcPts val="630"/>
              </a:spcBef>
              <a:spcAft>
                <a:spcPts val="0"/>
              </a:spcAft>
              <a:buNone/>
            </a:pPr>
            <a:r>
              <a:rPr lang="en-US" sz="2400">
                <a:solidFill>
                  <a:schemeClr val="dk1"/>
                </a:solidFill>
                <a:latin typeface="Times New Roman"/>
                <a:ea typeface="Times New Roman"/>
                <a:cs typeface="Times New Roman"/>
                <a:sym typeface="Times New Roman"/>
              </a:rPr>
              <a:t>eg – I’hv	I’ll	I’m</a:t>
            </a:r>
            <a:endParaRPr sz="2400">
              <a:solidFill>
                <a:schemeClr val="dk1"/>
              </a:solidFill>
              <a:latin typeface="Times New Roman"/>
              <a:ea typeface="Times New Roman"/>
              <a:cs typeface="Times New Roman"/>
              <a:sym typeface="Times New Roman"/>
            </a:endParaRPr>
          </a:p>
          <a:p>
            <a:pPr marL="214629" marR="0" lvl="0" indent="0" algn="just" rtl="0">
              <a:lnSpc>
                <a:spcPct val="100000"/>
              </a:lnSpc>
              <a:spcBef>
                <a:spcPts val="630"/>
              </a:spcBef>
              <a:spcAft>
                <a:spcPts val="0"/>
              </a:spcAft>
              <a:buNone/>
            </a:pPr>
            <a:r>
              <a:rPr lang="en-US" sz="2400">
                <a:solidFill>
                  <a:schemeClr val="dk1"/>
                </a:solidFill>
                <a:latin typeface="Times New Roman"/>
                <a:ea typeface="Times New Roman"/>
                <a:cs typeface="Times New Roman"/>
                <a:sym typeface="Times New Roman"/>
              </a:rPr>
              <a:t>A clitic is a morpheme that acts syntactically like a word but is reduced in the form and  attached to another word</a:t>
            </a:r>
            <a:endParaRPr sz="2400">
              <a:solidFill>
                <a:schemeClr val="dk1"/>
              </a:solidFill>
              <a:latin typeface="Times New Roman"/>
              <a:ea typeface="Times New Roman"/>
              <a:cs typeface="Times New Roman"/>
              <a:sym typeface="Times New Roman"/>
            </a:endParaRPr>
          </a:p>
        </p:txBody>
      </p:sp>
      <p:sp>
        <p:nvSpPr>
          <p:cNvPr id="376" name="Google Shape;376;p27"/>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Shape 380"/>
        <p:cNvGrpSpPr/>
        <p:nvPr/>
      </p:nvGrpSpPr>
      <p:grpSpPr>
        <a:xfrm>
          <a:off x="0" y="0"/>
          <a:ext cx="0" cy="0"/>
          <a:chOff x="0" y="0"/>
          <a:chExt cx="0" cy="0"/>
        </a:xfrm>
      </p:grpSpPr>
      <p:sp>
        <p:nvSpPr>
          <p:cNvPr id="381" name="Google Shape;381;p28"/>
          <p:cNvSpPr txBox="1">
            <a:spLocks noGrp="1"/>
          </p:cNvSpPr>
          <p:nvPr>
            <p:ph type="title"/>
          </p:nvPr>
        </p:nvSpPr>
        <p:spPr>
          <a:xfrm>
            <a:off x="975867" y="748496"/>
            <a:ext cx="5577333" cy="420628"/>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b="1"/>
              <a:t>Inflectional Morphology</a:t>
            </a:r>
            <a:endParaRPr/>
          </a:p>
        </p:txBody>
      </p:sp>
      <p:sp>
        <p:nvSpPr>
          <p:cNvPr id="382" name="Google Shape;382;p28"/>
          <p:cNvSpPr txBox="1"/>
          <p:nvPr/>
        </p:nvSpPr>
        <p:spPr>
          <a:xfrm>
            <a:off x="256540" y="2078962"/>
            <a:ext cx="6881495" cy="1860125"/>
          </a:xfrm>
          <a:prstGeom prst="rect">
            <a:avLst/>
          </a:prstGeom>
          <a:noFill/>
          <a:ln>
            <a:noFill/>
          </a:ln>
        </p:spPr>
        <p:txBody>
          <a:bodyPr spcFirstLastPara="1" wrap="square" lIns="0" tIns="89525" rIns="0" bIns="0" anchor="t" anchorCtr="0">
            <a:spAutoFit/>
          </a:bodyPr>
          <a:lstStyle/>
          <a:p>
            <a:pPr marL="201295" marR="0" lvl="0" indent="-189230" algn="l" rtl="0">
              <a:lnSpc>
                <a:spcPct val="100000"/>
              </a:lnSpc>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In English language, only nouns, verbs and adjectives are inflected</a:t>
            </a:r>
            <a:endParaRPr sz="2000">
              <a:solidFill>
                <a:schemeClr val="dk1"/>
              </a:solidFill>
              <a:latin typeface="Times New Roman"/>
              <a:ea typeface="Times New Roman"/>
              <a:cs typeface="Times New Roman"/>
              <a:sym typeface="Times New Roman"/>
            </a:endParaRPr>
          </a:p>
          <a:p>
            <a:pPr marL="201295" marR="0" lvl="0" indent="-189230" algn="l" rtl="0">
              <a:lnSpc>
                <a:spcPct val="100000"/>
              </a:lnSpc>
              <a:spcBef>
                <a:spcPts val="60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Nouns can be inflected in two way –</a:t>
            </a:r>
            <a:endParaRPr/>
          </a:p>
          <a:p>
            <a:pPr marL="314960" marR="0" lvl="1" indent="-133984" algn="l" rtl="0">
              <a:lnSpc>
                <a:spcPct val="100000"/>
              </a:lnSpc>
              <a:spcBef>
                <a:spcPts val="600"/>
              </a:spcBef>
              <a:spcAft>
                <a:spcPts val="0"/>
              </a:spcAft>
              <a:buClr>
                <a:schemeClr val="dk1"/>
              </a:buClr>
              <a:buSzPts val="2000"/>
              <a:buFont typeface="Times New Roman"/>
              <a:buChar char="-"/>
            </a:pPr>
            <a:r>
              <a:rPr lang="en-US" sz="2000" b="0" i="0" u="none" strike="noStrike" cap="none">
                <a:solidFill>
                  <a:schemeClr val="dk1"/>
                </a:solidFill>
                <a:latin typeface="Times New Roman"/>
                <a:ea typeface="Times New Roman"/>
                <a:cs typeface="Times New Roman"/>
                <a:sym typeface="Times New Roman"/>
              </a:rPr>
              <a:t>affix used for plural</a:t>
            </a:r>
            <a:endParaRPr sz="2000" b="0" i="0" u="none" strike="noStrike" cap="none">
              <a:solidFill>
                <a:schemeClr val="dk1"/>
              </a:solidFill>
              <a:latin typeface="Times New Roman"/>
              <a:ea typeface="Times New Roman"/>
              <a:cs typeface="Times New Roman"/>
              <a:sym typeface="Times New Roman"/>
            </a:endParaRPr>
          </a:p>
          <a:p>
            <a:pPr marL="314960" marR="0" lvl="1" indent="-133984" algn="l" rtl="0">
              <a:lnSpc>
                <a:spcPct val="100000"/>
              </a:lnSpc>
              <a:spcBef>
                <a:spcPts val="600"/>
              </a:spcBef>
              <a:spcAft>
                <a:spcPts val="0"/>
              </a:spcAft>
              <a:buClr>
                <a:schemeClr val="dk1"/>
              </a:buClr>
              <a:buSzPts val="2000"/>
              <a:buFont typeface="Times New Roman"/>
              <a:buChar char="-"/>
            </a:pPr>
            <a:r>
              <a:rPr lang="en-US" sz="2000" b="0" i="0" u="none" strike="noStrike" cap="none">
                <a:solidFill>
                  <a:schemeClr val="dk1"/>
                </a:solidFill>
                <a:latin typeface="Times New Roman"/>
                <a:ea typeface="Times New Roman"/>
                <a:cs typeface="Times New Roman"/>
                <a:sym typeface="Times New Roman"/>
              </a:rPr>
              <a:t>affix used for possessive</a:t>
            </a:r>
            <a:endParaRPr/>
          </a:p>
        </p:txBody>
      </p:sp>
      <p:graphicFrame>
        <p:nvGraphicFramePr>
          <p:cNvPr id="383" name="Google Shape;383;p28"/>
          <p:cNvGraphicFramePr/>
          <p:nvPr/>
        </p:nvGraphicFramePr>
        <p:xfrm>
          <a:off x="899467" y="4282879"/>
          <a:ext cx="5059050" cy="918975"/>
        </p:xfrm>
        <a:graphic>
          <a:graphicData uri="http://schemas.openxmlformats.org/drawingml/2006/table">
            <a:tbl>
              <a:tblPr firstRow="1" bandRow="1">
                <a:noFill/>
                <a:tableStyleId>{E85DE1A1-A1B0-44A0-A59F-CCC16BF1A76C}</a:tableStyleId>
              </a:tblPr>
              <a:tblGrid>
                <a:gridCol w="1012200">
                  <a:extLst>
                    <a:ext uri="{9D8B030D-6E8A-4147-A177-3AD203B41FA5}">
                      <a16:colId xmlns:a16="http://schemas.microsoft.com/office/drawing/2014/main" val="20000"/>
                    </a:ext>
                  </a:extLst>
                </a:gridCol>
                <a:gridCol w="495300">
                  <a:extLst>
                    <a:ext uri="{9D8B030D-6E8A-4147-A177-3AD203B41FA5}">
                      <a16:colId xmlns:a16="http://schemas.microsoft.com/office/drawing/2014/main" val="20001"/>
                    </a:ext>
                  </a:extLst>
                </a:gridCol>
                <a:gridCol w="10299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1616700">
                  <a:extLst>
                    <a:ext uri="{9D8B030D-6E8A-4147-A177-3AD203B41FA5}">
                      <a16:colId xmlns:a16="http://schemas.microsoft.com/office/drawing/2014/main" val="20004"/>
                    </a:ext>
                  </a:extLst>
                </a:gridCol>
              </a:tblGrid>
              <a:tr h="306325">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AD3"/>
                    </a:solidFill>
                  </a:tcPr>
                </a:tc>
                <a:tc gridSpan="2">
                  <a:txBody>
                    <a:bodyPr/>
                    <a:lstStyle/>
                    <a:p>
                      <a:pPr marL="74930" marR="0" lvl="0" indent="0" algn="l" rtl="0">
                        <a:lnSpc>
                          <a:spcPct val="100000"/>
                        </a:lnSpc>
                        <a:spcBef>
                          <a:spcPts val="0"/>
                        </a:spcBef>
                        <a:spcAft>
                          <a:spcPts val="0"/>
                        </a:spcAft>
                        <a:buNone/>
                      </a:pPr>
                      <a:r>
                        <a:rPr lang="en-US" sz="1450" b="1" u="none" strike="noStrike" cap="none">
                          <a:solidFill>
                            <a:srgbClr val="FFFFFF"/>
                          </a:solidFill>
                          <a:latin typeface="Calibri"/>
                          <a:ea typeface="Calibri"/>
                          <a:cs typeface="Calibri"/>
                          <a:sym typeface="Calibri"/>
                        </a:rPr>
                        <a:t>Regular nouns</a:t>
                      </a:r>
                      <a:endParaRPr sz="1450" u="none" strike="noStrike" cap="none">
                        <a:latin typeface="Calibri"/>
                        <a:ea typeface="Calibri"/>
                        <a:cs typeface="Calibri"/>
                        <a:sym typeface="Calibri"/>
                      </a:endParaRPr>
                    </a:p>
                  </a:txBody>
                  <a:tcPr marL="0" marR="0" marT="190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AD3"/>
                    </a:solidFill>
                  </a:tcPr>
                </a:tc>
                <a:tc hMerge="1">
                  <a:txBody>
                    <a:bodyPr/>
                    <a:lstStyle/>
                    <a:p>
                      <a:endParaRPr lang="en-US"/>
                    </a:p>
                  </a:txBody>
                  <a:tcPr/>
                </a:tc>
                <a:tc gridSpan="2">
                  <a:txBody>
                    <a:bodyPr/>
                    <a:lstStyle/>
                    <a:p>
                      <a:pPr marL="73660" marR="0" lvl="0" indent="0" algn="l" rtl="0">
                        <a:lnSpc>
                          <a:spcPct val="100000"/>
                        </a:lnSpc>
                        <a:spcBef>
                          <a:spcPts val="0"/>
                        </a:spcBef>
                        <a:spcAft>
                          <a:spcPts val="0"/>
                        </a:spcAft>
                        <a:buNone/>
                      </a:pPr>
                      <a:r>
                        <a:rPr lang="en-US" sz="1450" b="1" u="none" strike="noStrike" cap="none">
                          <a:solidFill>
                            <a:srgbClr val="FFFFFF"/>
                          </a:solidFill>
                          <a:latin typeface="Calibri"/>
                          <a:ea typeface="Calibri"/>
                          <a:cs typeface="Calibri"/>
                          <a:sym typeface="Calibri"/>
                        </a:rPr>
                        <a:t>Irregular nouns</a:t>
                      </a:r>
                      <a:endParaRPr sz="1450" u="none" strike="noStrike" cap="none">
                        <a:latin typeface="Calibri"/>
                        <a:ea typeface="Calibri"/>
                        <a:cs typeface="Calibri"/>
                        <a:sym typeface="Calibri"/>
                      </a:endParaRPr>
                    </a:p>
                  </a:txBody>
                  <a:tcPr marL="0" marR="0" marT="190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AD3"/>
                    </a:solidFill>
                  </a:tcPr>
                </a:tc>
                <a:tc hMerge="1">
                  <a:txBody>
                    <a:bodyPr/>
                    <a:lstStyle/>
                    <a:p>
                      <a:endParaRPr lang="en-US"/>
                    </a:p>
                  </a:txBody>
                  <a:tcPr/>
                </a:tc>
                <a:extLst>
                  <a:ext uri="{0D108BD9-81ED-4DB2-BD59-A6C34878D82A}">
                    <a16:rowId xmlns:a16="http://schemas.microsoft.com/office/drawing/2014/main" val="10000"/>
                  </a:ext>
                </a:extLst>
              </a:tr>
              <a:tr h="306325">
                <a:tc>
                  <a:txBody>
                    <a:bodyPr/>
                    <a:lstStyle/>
                    <a:p>
                      <a:pPr marL="74295" marR="0" lvl="0" indent="0" algn="l" rtl="0">
                        <a:lnSpc>
                          <a:spcPct val="100000"/>
                        </a:lnSpc>
                        <a:spcBef>
                          <a:spcPts val="0"/>
                        </a:spcBef>
                        <a:spcAft>
                          <a:spcPts val="0"/>
                        </a:spcAft>
                        <a:buNone/>
                      </a:pPr>
                      <a:r>
                        <a:rPr lang="en-US" sz="1450" u="none" strike="noStrike" cap="none">
                          <a:latin typeface="Calibri"/>
                          <a:ea typeface="Calibri"/>
                          <a:cs typeface="Calibri"/>
                          <a:sym typeface="Calibri"/>
                        </a:rPr>
                        <a:t>Singular</a:t>
                      </a:r>
                      <a:endParaRPr sz="1450" u="none" strike="noStrike" cap="none">
                        <a:latin typeface="Calibri"/>
                        <a:ea typeface="Calibri"/>
                        <a:cs typeface="Calibri"/>
                        <a:sym typeface="Calibri"/>
                      </a:endParaRPr>
                    </a:p>
                  </a:txBody>
                  <a:tcPr marL="0" marR="0" marT="17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0" marR="101600" lvl="0" indent="0" algn="ctr" rtl="0">
                        <a:lnSpc>
                          <a:spcPct val="100000"/>
                        </a:lnSpc>
                        <a:spcBef>
                          <a:spcPts val="0"/>
                        </a:spcBef>
                        <a:spcAft>
                          <a:spcPts val="0"/>
                        </a:spcAft>
                        <a:buNone/>
                      </a:pPr>
                      <a:r>
                        <a:rPr lang="en-US" sz="1450" u="none" strike="noStrike" cap="none">
                          <a:latin typeface="Calibri"/>
                          <a:ea typeface="Calibri"/>
                          <a:cs typeface="Calibri"/>
                          <a:sym typeface="Calibri"/>
                        </a:rPr>
                        <a:t>cat</a:t>
                      </a:r>
                      <a:endParaRPr sz="1450" u="none" strike="noStrike" cap="none">
                        <a:latin typeface="Calibri"/>
                        <a:ea typeface="Calibri"/>
                        <a:cs typeface="Calibri"/>
                        <a:sym typeface="Calibri"/>
                      </a:endParaRPr>
                    </a:p>
                  </a:txBody>
                  <a:tcPr marL="0" marR="0" marT="17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74930" marR="0" lvl="0" indent="0" algn="l" rtl="0">
                        <a:lnSpc>
                          <a:spcPct val="100000"/>
                        </a:lnSpc>
                        <a:spcBef>
                          <a:spcPts val="0"/>
                        </a:spcBef>
                        <a:spcAft>
                          <a:spcPts val="0"/>
                        </a:spcAft>
                        <a:buNone/>
                      </a:pPr>
                      <a:r>
                        <a:rPr lang="en-US" sz="1450" u="none" strike="noStrike" cap="none">
                          <a:latin typeface="Calibri"/>
                          <a:ea typeface="Calibri"/>
                          <a:cs typeface="Calibri"/>
                          <a:sym typeface="Calibri"/>
                        </a:rPr>
                        <a:t>box</a:t>
                      </a:r>
                      <a:endParaRPr sz="1450" u="none" strike="noStrike" cap="none">
                        <a:latin typeface="Calibri"/>
                        <a:ea typeface="Calibri"/>
                        <a:cs typeface="Calibri"/>
                        <a:sym typeface="Calibri"/>
                      </a:endParaRPr>
                    </a:p>
                  </a:txBody>
                  <a:tcPr marL="0" marR="0" marT="17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74930" marR="0" lvl="0" indent="0" algn="l" rtl="0">
                        <a:lnSpc>
                          <a:spcPct val="100000"/>
                        </a:lnSpc>
                        <a:spcBef>
                          <a:spcPts val="0"/>
                        </a:spcBef>
                        <a:spcAft>
                          <a:spcPts val="0"/>
                        </a:spcAft>
                        <a:buNone/>
                      </a:pPr>
                      <a:r>
                        <a:rPr lang="en-US" sz="1450" u="none" strike="noStrike" cap="none">
                          <a:latin typeface="Calibri"/>
                          <a:ea typeface="Calibri"/>
                          <a:cs typeface="Calibri"/>
                          <a:sym typeface="Calibri"/>
                        </a:rPr>
                        <a:t>mouse</a:t>
                      </a:r>
                      <a:endParaRPr sz="1450" u="none" strike="noStrike" cap="none">
                        <a:latin typeface="Calibri"/>
                        <a:ea typeface="Calibri"/>
                        <a:cs typeface="Calibri"/>
                        <a:sym typeface="Calibri"/>
                      </a:endParaRPr>
                    </a:p>
                  </a:txBody>
                  <a:tcPr marL="0" marR="0" marT="17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74930" marR="0" lvl="0" indent="0" algn="l" rtl="0">
                        <a:lnSpc>
                          <a:spcPct val="100000"/>
                        </a:lnSpc>
                        <a:spcBef>
                          <a:spcPts val="0"/>
                        </a:spcBef>
                        <a:spcAft>
                          <a:spcPts val="0"/>
                        </a:spcAft>
                        <a:buNone/>
                      </a:pPr>
                      <a:r>
                        <a:rPr lang="en-US" sz="1450" u="none" strike="noStrike" cap="none">
                          <a:latin typeface="Calibri"/>
                          <a:ea typeface="Calibri"/>
                          <a:cs typeface="Calibri"/>
                          <a:sym typeface="Calibri"/>
                        </a:rPr>
                        <a:t>ox</a:t>
                      </a:r>
                      <a:endParaRPr/>
                    </a:p>
                  </a:txBody>
                  <a:tcPr marL="0" marR="0" marT="17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extLst>
                  <a:ext uri="{0D108BD9-81ED-4DB2-BD59-A6C34878D82A}">
                    <a16:rowId xmlns:a16="http://schemas.microsoft.com/office/drawing/2014/main" val="10001"/>
                  </a:ext>
                </a:extLst>
              </a:tr>
              <a:tr h="306325">
                <a:tc>
                  <a:txBody>
                    <a:bodyPr/>
                    <a:lstStyle/>
                    <a:p>
                      <a:pPr marL="74295" marR="0" lvl="0" indent="0" algn="l" rtl="0">
                        <a:lnSpc>
                          <a:spcPct val="100000"/>
                        </a:lnSpc>
                        <a:spcBef>
                          <a:spcPts val="0"/>
                        </a:spcBef>
                        <a:spcAft>
                          <a:spcPts val="0"/>
                        </a:spcAft>
                        <a:buNone/>
                      </a:pPr>
                      <a:r>
                        <a:rPr lang="en-US" sz="1450" u="none" strike="noStrike" cap="none">
                          <a:latin typeface="Calibri"/>
                          <a:ea typeface="Calibri"/>
                          <a:cs typeface="Calibri"/>
                          <a:sym typeface="Calibri"/>
                        </a:rPr>
                        <a:t>Plural</a:t>
                      </a:r>
                      <a:endParaRPr sz="1450" u="none" strike="noStrike" cap="none">
                        <a:latin typeface="Calibri"/>
                        <a:ea typeface="Calibri"/>
                        <a:cs typeface="Calibri"/>
                        <a:sym typeface="Calibri"/>
                      </a:endParaRPr>
                    </a:p>
                  </a:txBody>
                  <a:tcPr marL="0" marR="0" marT="17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tc>
                  <a:txBody>
                    <a:bodyPr/>
                    <a:lstStyle/>
                    <a:p>
                      <a:pPr marL="0" marR="29209" lvl="0" indent="0" algn="ctr" rtl="0">
                        <a:lnSpc>
                          <a:spcPct val="100000"/>
                        </a:lnSpc>
                        <a:spcBef>
                          <a:spcPts val="0"/>
                        </a:spcBef>
                        <a:spcAft>
                          <a:spcPts val="0"/>
                        </a:spcAft>
                        <a:buNone/>
                      </a:pPr>
                      <a:r>
                        <a:rPr lang="en-US" sz="1450" u="none" strike="noStrike" cap="none">
                          <a:latin typeface="Calibri"/>
                          <a:ea typeface="Calibri"/>
                          <a:cs typeface="Calibri"/>
                          <a:sym typeface="Calibri"/>
                        </a:rPr>
                        <a:t>cats</a:t>
                      </a:r>
                      <a:endParaRPr sz="1450" u="none" strike="noStrike" cap="none">
                        <a:latin typeface="Calibri"/>
                        <a:ea typeface="Calibri"/>
                        <a:cs typeface="Calibri"/>
                        <a:sym typeface="Calibri"/>
                      </a:endParaRPr>
                    </a:p>
                  </a:txBody>
                  <a:tcPr marL="0" marR="0" marT="17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tc>
                  <a:txBody>
                    <a:bodyPr/>
                    <a:lstStyle/>
                    <a:p>
                      <a:pPr marL="74930" marR="0" lvl="0" indent="0" algn="l" rtl="0">
                        <a:lnSpc>
                          <a:spcPct val="100000"/>
                        </a:lnSpc>
                        <a:spcBef>
                          <a:spcPts val="0"/>
                        </a:spcBef>
                        <a:spcAft>
                          <a:spcPts val="0"/>
                        </a:spcAft>
                        <a:buNone/>
                      </a:pPr>
                      <a:r>
                        <a:rPr lang="en-US" sz="1450" u="none" strike="noStrike" cap="none">
                          <a:latin typeface="Calibri"/>
                          <a:ea typeface="Calibri"/>
                          <a:cs typeface="Calibri"/>
                          <a:sym typeface="Calibri"/>
                        </a:rPr>
                        <a:t>boxes</a:t>
                      </a:r>
                      <a:endParaRPr sz="1450" u="none" strike="noStrike" cap="none">
                        <a:latin typeface="Calibri"/>
                        <a:ea typeface="Calibri"/>
                        <a:cs typeface="Calibri"/>
                        <a:sym typeface="Calibri"/>
                      </a:endParaRPr>
                    </a:p>
                  </a:txBody>
                  <a:tcPr marL="0" marR="0" marT="17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tc>
                  <a:txBody>
                    <a:bodyPr/>
                    <a:lstStyle/>
                    <a:p>
                      <a:pPr marL="74930" marR="0" lvl="0" indent="0" algn="l" rtl="0">
                        <a:lnSpc>
                          <a:spcPct val="100000"/>
                        </a:lnSpc>
                        <a:spcBef>
                          <a:spcPts val="0"/>
                        </a:spcBef>
                        <a:spcAft>
                          <a:spcPts val="0"/>
                        </a:spcAft>
                        <a:buNone/>
                      </a:pPr>
                      <a:r>
                        <a:rPr lang="en-US" sz="1450" u="none" strike="noStrike" cap="none">
                          <a:latin typeface="Calibri"/>
                          <a:ea typeface="Calibri"/>
                          <a:cs typeface="Calibri"/>
                          <a:sym typeface="Calibri"/>
                        </a:rPr>
                        <a:t>mice</a:t>
                      </a:r>
                      <a:endParaRPr sz="1450" u="none" strike="noStrike" cap="none">
                        <a:latin typeface="Calibri"/>
                        <a:ea typeface="Calibri"/>
                        <a:cs typeface="Calibri"/>
                        <a:sym typeface="Calibri"/>
                      </a:endParaRPr>
                    </a:p>
                  </a:txBody>
                  <a:tcPr marL="0" marR="0" marT="17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tc>
                  <a:txBody>
                    <a:bodyPr/>
                    <a:lstStyle/>
                    <a:p>
                      <a:pPr marL="74930" marR="0" lvl="0" indent="0" algn="l" rtl="0">
                        <a:lnSpc>
                          <a:spcPct val="100000"/>
                        </a:lnSpc>
                        <a:spcBef>
                          <a:spcPts val="0"/>
                        </a:spcBef>
                        <a:spcAft>
                          <a:spcPts val="0"/>
                        </a:spcAft>
                        <a:buNone/>
                      </a:pPr>
                      <a:r>
                        <a:rPr lang="en-US" sz="1450" u="none" strike="noStrike" cap="none">
                          <a:latin typeface="Calibri"/>
                          <a:ea typeface="Calibri"/>
                          <a:cs typeface="Calibri"/>
                          <a:sym typeface="Calibri"/>
                        </a:rPr>
                        <a:t>oxen</a:t>
                      </a:r>
                      <a:endParaRPr sz="1450" u="none" strike="noStrike" cap="none">
                        <a:latin typeface="Calibri"/>
                        <a:ea typeface="Calibri"/>
                        <a:cs typeface="Calibri"/>
                        <a:sym typeface="Calibri"/>
                      </a:endParaRPr>
                    </a:p>
                  </a:txBody>
                  <a:tcPr marL="0" marR="0" marT="17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extLst>
                  <a:ext uri="{0D108BD9-81ED-4DB2-BD59-A6C34878D82A}">
                    <a16:rowId xmlns:a16="http://schemas.microsoft.com/office/drawing/2014/main" val="10002"/>
                  </a:ext>
                </a:extLst>
              </a:tr>
            </a:tbl>
          </a:graphicData>
        </a:graphic>
      </p:graphicFrame>
      <p:sp>
        <p:nvSpPr>
          <p:cNvPr id="384" name="Google Shape;384;p28"/>
          <p:cNvSpPr txBox="1"/>
          <p:nvPr/>
        </p:nvSpPr>
        <p:spPr>
          <a:xfrm>
            <a:off x="754126" y="5400294"/>
            <a:ext cx="7475474" cy="1490152"/>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2400">
                <a:solidFill>
                  <a:schemeClr val="dk1"/>
                </a:solidFill>
                <a:latin typeface="Calibri"/>
                <a:ea typeface="Calibri"/>
                <a:cs typeface="Calibri"/>
                <a:sym typeface="Calibri"/>
              </a:rPr>
              <a:t>Possessive suffix is realized by apostrophe + s</a:t>
            </a:r>
            <a:endParaRPr/>
          </a:p>
          <a:p>
            <a:pPr marL="0" marR="0" lvl="0" indent="0" algn="l" rtl="0">
              <a:lnSpc>
                <a:spcPct val="100000"/>
              </a:lnSpc>
              <a:spcBef>
                <a:spcPts val="25"/>
              </a:spcBef>
              <a:spcAft>
                <a:spcPts val="0"/>
              </a:spcAft>
              <a:buNone/>
            </a:pPr>
            <a:endParaRPr sz="2400">
              <a:solidFill>
                <a:schemeClr val="dk1"/>
              </a:solidFill>
              <a:latin typeface="Calibri"/>
              <a:ea typeface="Calibri"/>
              <a:cs typeface="Calibri"/>
              <a:sym typeface="Calibri"/>
            </a:endParaRPr>
          </a:p>
          <a:p>
            <a:pPr marL="12700" marR="0" lvl="0" indent="0" algn="l" rtl="0">
              <a:lnSpc>
                <a:spcPct val="100000"/>
              </a:lnSpc>
              <a:spcBef>
                <a:spcPts val="0"/>
              </a:spcBef>
              <a:spcAft>
                <a:spcPts val="0"/>
              </a:spcAft>
              <a:buNone/>
            </a:pPr>
            <a:r>
              <a:rPr lang="en-US" sz="2400">
                <a:solidFill>
                  <a:schemeClr val="dk1"/>
                </a:solidFill>
                <a:latin typeface="Calibri"/>
                <a:ea typeface="Calibri"/>
                <a:cs typeface="Calibri"/>
                <a:sym typeface="Calibri"/>
              </a:rPr>
              <a:t>Eg for singular noun – child’s</a:t>
            </a:r>
            <a:endParaRPr sz="2400">
              <a:solidFill>
                <a:schemeClr val="dk1"/>
              </a:solidFill>
              <a:latin typeface="Calibri"/>
              <a:ea typeface="Calibri"/>
              <a:cs typeface="Calibri"/>
              <a:sym typeface="Calibri"/>
            </a:endParaRPr>
          </a:p>
          <a:p>
            <a:pPr marL="295275" marR="0" lvl="0" indent="0" algn="l" rtl="0">
              <a:lnSpc>
                <a:spcPct val="100000"/>
              </a:lnSpc>
              <a:spcBef>
                <a:spcPts val="0"/>
              </a:spcBef>
              <a:spcAft>
                <a:spcPts val="0"/>
              </a:spcAft>
              <a:buNone/>
            </a:pPr>
            <a:r>
              <a:rPr lang="en-US" sz="2400">
                <a:solidFill>
                  <a:schemeClr val="dk1"/>
                </a:solidFill>
                <a:latin typeface="Calibri"/>
                <a:ea typeface="Calibri"/>
                <a:cs typeface="Calibri"/>
                <a:sym typeface="Calibri"/>
              </a:rPr>
              <a:t>for plural	-	students’</a:t>
            </a:r>
            <a:endParaRPr sz="2400">
              <a:solidFill>
                <a:schemeClr val="dk1"/>
              </a:solidFill>
              <a:latin typeface="Calibri"/>
              <a:ea typeface="Calibri"/>
              <a:cs typeface="Calibri"/>
              <a:sym typeface="Calibri"/>
            </a:endParaRPr>
          </a:p>
        </p:txBody>
      </p:sp>
      <p:sp>
        <p:nvSpPr>
          <p:cNvPr id="385" name="Google Shape;385;p28"/>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Shape 389"/>
        <p:cNvGrpSpPr/>
        <p:nvPr/>
      </p:nvGrpSpPr>
      <p:grpSpPr>
        <a:xfrm>
          <a:off x="0" y="0"/>
          <a:ext cx="0" cy="0"/>
          <a:chOff x="0" y="0"/>
          <a:chExt cx="0" cy="0"/>
        </a:xfrm>
      </p:grpSpPr>
      <p:sp>
        <p:nvSpPr>
          <p:cNvPr id="390" name="Google Shape;390;p29"/>
          <p:cNvSpPr txBox="1">
            <a:spLocks noGrp="1"/>
          </p:cNvSpPr>
          <p:nvPr>
            <p:ph type="title"/>
          </p:nvPr>
        </p:nvSpPr>
        <p:spPr>
          <a:xfrm>
            <a:off x="1447800" y="286645"/>
            <a:ext cx="1349884" cy="420628"/>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b="1"/>
              <a:t>Verbs</a:t>
            </a:r>
            <a:endParaRPr/>
          </a:p>
        </p:txBody>
      </p:sp>
      <p:sp>
        <p:nvSpPr>
          <p:cNvPr id="391" name="Google Shape;391;p29"/>
          <p:cNvSpPr txBox="1"/>
          <p:nvPr/>
        </p:nvSpPr>
        <p:spPr>
          <a:xfrm>
            <a:off x="1091183" y="1003313"/>
            <a:ext cx="6558788" cy="1166986"/>
          </a:xfrm>
          <a:prstGeom prst="rect">
            <a:avLst/>
          </a:prstGeom>
          <a:noFill/>
          <a:ln>
            <a:noFill/>
          </a:ln>
        </p:spPr>
        <p:txBody>
          <a:bodyPr spcFirstLastPara="1" wrap="square" lIns="0" tIns="88900" rIns="0" bIns="0" anchor="t" anchorCtr="0">
            <a:spAutoFit/>
          </a:bodyPr>
          <a:lstStyle/>
          <a:p>
            <a:pPr marL="201295" marR="0" lvl="0" indent="-189230" algn="l" rtl="0">
              <a:lnSpc>
                <a:spcPct val="100000"/>
              </a:lnSpc>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Verbal inflection in English language is more complex</a:t>
            </a:r>
            <a:endParaRPr/>
          </a:p>
          <a:p>
            <a:pPr marL="201295" marR="0" lvl="0" indent="-189230" algn="l" rtl="0">
              <a:lnSpc>
                <a:spcPct val="100000"/>
              </a:lnSpc>
              <a:spcBef>
                <a:spcPts val="60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Regular and irregular classes of verbs</a:t>
            </a:r>
            <a:endParaRPr/>
          </a:p>
          <a:p>
            <a:pPr marL="201295" marR="0" lvl="0" indent="-189230" algn="l" rtl="0">
              <a:lnSpc>
                <a:spcPct val="100000"/>
              </a:lnSpc>
              <a:spcBef>
                <a:spcPts val="60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Majority of the verbs are in regular class</a:t>
            </a:r>
            <a:endParaRPr/>
          </a:p>
        </p:txBody>
      </p:sp>
      <p:pic>
        <p:nvPicPr>
          <p:cNvPr id="392" name="Google Shape;392;p29"/>
          <p:cNvPicPr preferRelativeResize="0"/>
          <p:nvPr/>
        </p:nvPicPr>
        <p:blipFill rotWithShape="1">
          <a:blip r:embed="rId3">
            <a:alphaModFix/>
          </a:blip>
          <a:srcRect/>
          <a:stretch/>
        </p:blipFill>
        <p:spPr>
          <a:xfrm>
            <a:off x="305944" y="2387358"/>
            <a:ext cx="5820536" cy="1982203"/>
          </a:xfrm>
          <a:prstGeom prst="rect">
            <a:avLst/>
          </a:prstGeom>
          <a:noFill/>
          <a:ln>
            <a:noFill/>
          </a:ln>
        </p:spPr>
      </p:pic>
      <p:pic>
        <p:nvPicPr>
          <p:cNvPr id="393" name="Google Shape;393;p29"/>
          <p:cNvPicPr preferRelativeResize="0"/>
          <p:nvPr/>
        </p:nvPicPr>
        <p:blipFill rotWithShape="1">
          <a:blip r:embed="rId4">
            <a:alphaModFix/>
          </a:blip>
          <a:srcRect/>
          <a:stretch/>
        </p:blipFill>
        <p:spPr>
          <a:xfrm>
            <a:off x="533400" y="4731136"/>
            <a:ext cx="6400800" cy="2497196"/>
          </a:xfrm>
          <a:prstGeom prst="rect">
            <a:avLst/>
          </a:prstGeom>
          <a:noFill/>
          <a:ln>
            <a:noFill/>
          </a:ln>
        </p:spPr>
      </p:pic>
      <p:sp>
        <p:nvSpPr>
          <p:cNvPr id="394" name="Google Shape;394;p29"/>
          <p:cNvSpPr txBox="1"/>
          <p:nvPr/>
        </p:nvSpPr>
        <p:spPr>
          <a:xfrm>
            <a:off x="6621375" y="2422576"/>
            <a:ext cx="3360900" cy="1855500"/>
          </a:xfrm>
          <a:prstGeom prst="rect">
            <a:avLst/>
          </a:prstGeom>
          <a:noFill/>
          <a:ln>
            <a:noFill/>
          </a:ln>
        </p:spPr>
        <p:txBody>
          <a:bodyPr spcFirstLastPara="1" wrap="square" lIns="0" tIns="8250" rIns="0" bIns="0" anchor="t" anchorCtr="0">
            <a:spAutoFit/>
          </a:bodyPr>
          <a:lstStyle/>
          <a:p>
            <a:pPr marL="201295" marR="5080" lvl="0" indent="-189230" algn="l" rtl="0">
              <a:spcBef>
                <a:spcPts val="0"/>
              </a:spcBef>
              <a:spcAft>
                <a:spcPts val="0"/>
              </a:spcAft>
              <a:buClr>
                <a:schemeClr val="dk1"/>
              </a:buClr>
              <a:buSzPts val="2000"/>
              <a:buFont typeface="Arial"/>
              <a:buChar char="•"/>
            </a:pPr>
            <a:r>
              <a:rPr lang="en-US" sz="2000" dirty="0">
                <a:solidFill>
                  <a:schemeClr val="dk1"/>
                </a:solidFill>
                <a:latin typeface="Times New Roman"/>
                <a:ea typeface="Times New Roman"/>
                <a:cs typeface="Times New Roman"/>
                <a:sym typeface="Times New Roman"/>
              </a:rPr>
              <a:t>While adding suffixes,  spelling changes are taking  place at morpheme  boundaries.</a:t>
            </a:r>
            <a:endParaRPr dirty="0"/>
          </a:p>
          <a:p>
            <a:pPr marL="201295" marR="824230" lvl="0" indent="-189230" algn="l" rtl="0">
              <a:spcBef>
                <a:spcPts val="0"/>
              </a:spcBef>
              <a:spcAft>
                <a:spcPts val="0"/>
              </a:spcAft>
              <a:buClr>
                <a:schemeClr val="dk1"/>
              </a:buClr>
              <a:buSzPts val="2000"/>
              <a:buFont typeface="Arial"/>
              <a:buChar char="•"/>
            </a:pPr>
            <a:r>
              <a:rPr lang="en-US" sz="2000" dirty="0" err="1">
                <a:solidFill>
                  <a:schemeClr val="dk1"/>
                </a:solidFill>
                <a:latin typeface="Times New Roman"/>
                <a:ea typeface="Times New Roman"/>
                <a:cs typeface="Times New Roman"/>
                <a:sym typeface="Times New Roman"/>
              </a:rPr>
              <a:t>Eg</a:t>
            </a:r>
            <a:r>
              <a:rPr lang="en-US" sz="2000" dirty="0">
                <a:solidFill>
                  <a:schemeClr val="dk1"/>
                </a:solidFill>
                <a:latin typeface="Times New Roman"/>
                <a:ea typeface="Times New Roman"/>
                <a:cs typeface="Times New Roman"/>
                <a:sym typeface="Times New Roman"/>
              </a:rPr>
              <a:t> beg – begged  </a:t>
            </a:r>
            <a:endParaRPr lang="en-US" sz="2000" dirty="0" smtClean="0">
              <a:solidFill>
                <a:schemeClr val="dk1"/>
              </a:solidFill>
              <a:latin typeface="Times New Roman"/>
              <a:ea typeface="Times New Roman"/>
              <a:cs typeface="Times New Roman"/>
              <a:sym typeface="Times New Roman"/>
            </a:endParaRPr>
          </a:p>
          <a:p>
            <a:pPr marL="201295" marR="824230" lvl="0" indent="-189230" algn="l" rtl="0">
              <a:spcBef>
                <a:spcPts val="0"/>
              </a:spcBef>
              <a:spcAft>
                <a:spcPts val="0"/>
              </a:spcAft>
              <a:buClr>
                <a:schemeClr val="dk1"/>
              </a:buClr>
              <a:buSzPts val="2000"/>
              <a:buFont typeface="Arial"/>
              <a:buChar char="•"/>
            </a:pPr>
            <a:r>
              <a:rPr lang="en-US" sz="2000" dirty="0" smtClean="0">
                <a:solidFill>
                  <a:schemeClr val="dk1"/>
                </a:solidFill>
                <a:latin typeface="Times New Roman"/>
                <a:ea typeface="Times New Roman"/>
                <a:cs typeface="Times New Roman"/>
                <a:sym typeface="Times New Roman"/>
              </a:rPr>
              <a:t>toss </a:t>
            </a:r>
            <a:r>
              <a:rPr lang="en-US" sz="2000" dirty="0">
                <a:solidFill>
                  <a:schemeClr val="dk1"/>
                </a:solidFill>
                <a:latin typeface="Times New Roman"/>
                <a:ea typeface="Times New Roman"/>
                <a:cs typeface="Times New Roman"/>
                <a:sym typeface="Times New Roman"/>
              </a:rPr>
              <a:t>– tosses</a:t>
            </a:r>
            <a:endParaRPr dirty="0"/>
          </a:p>
        </p:txBody>
      </p:sp>
      <p:sp>
        <p:nvSpPr>
          <p:cNvPr id="395" name="Google Shape;395;p29"/>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Shape 399"/>
        <p:cNvGrpSpPr/>
        <p:nvPr/>
      </p:nvGrpSpPr>
      <p:grpSpPr>
        <a:xfrm>
          <a:off x="0" y="0"/>
          <a:ext cx="0" cy="0"/>
          <a:chOff x="0" y="0"/>
          <a:chExt cx="0" cy="0"/>
        </a:xfrm>
      </p:grpSpPr>
      <p:sp>
        <p:nvSpPr>
          <p:cNvPr id="400" name="Google Shape;400;p30"/>
          <p:cNvSpPr txBox="1">
            <a:spLocks noGrp="1"/>
          </p:cNvSpPr>
          <p:nvPr>
            <p:ph type="title"/>
          </p:nvPr>
        </p:nvSpPr>
        <p:spPr>
          <a:xfrm>
            <a:off x="457200" y="674484"/>
            <a:ext cx="5638800" cy="420628"/>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b="1"/>
              <a:t>Derivational Morphology</a:t>
            </a:r>
            <a:endParaRPr/>
          </a:p>
        </p:txBody>
      </p:sp>
      <p:sp>
        <p:nvSpPr>
          <p:cNvPr id="401" name="Google Shape;401;p30"/>
          <p:cNvSpPr txBox="1"/>
          <p:nvPr/>
        </p:nvSpPr>
        <p:spPr>
          <a:xfrm>
            <a:off x="234258" y="1541532"/>
            <a:ext cx="9102725" cy="1782989"/>
          </a:xfrm>
          <a:prstGeom prst="rect">
            <a:avLst/>
          </a:prstGeom>
          <a:noFill/>
          <a:ln>
            <a:noFill/>
          </a:ln>
        </p:spPr>
        <p:txBody>
          <a:bodyPr spcFirstLastPara="1" wrap="square" lIns="0" tIns="12700" rIns="0" bIns="0" anchor="t" anchorCtr="0">
            <a:spAutoFit/>
          </a:bodyPr>
          <a:lstStyle/>
          <a:p>
            <a:pPr marL="201295" marR="0" lvl="0" indent="-189230" algn="l" rtl="0">
              <a:lnSpc>
                <a:spcPct val="113846"/>
              </a:lnSpc>
              <a:spcBef>
                <a:spcPts val="0"/>
              </a:spcBef>
              <a:spcAft>
                <a:spcPts val="0"/>
              </a:spcAft>
              <a:buClr>
                <a:schemeClr val="dk1"/>
              </a:buClr>
              <a:buSzPts val="1950"/>
              <a:buFont typeface="Arial"/>
              <a:buChar char="•"/>
            </a:pPr>
            <a:r>
              <a:rPr lang="en-US" sz="1950" dirty="0">
                <a:solidFill>
                  <a:schemeClr val="dk1"/>
                </a:solidFill>
                <a:latin typeface="Calibri"/>
                <a:ea typeface="Calibri"/>
                <a:cs typeface="Calibri"/>
                <a:sym typeface="Calibri"/>
              </a:rPr>
              <a:t>It is a combination of a word stem with a grammatical morpheme, resulting in a word of</a:t>
            </a:r>
            <a:endParaRPr sz="1950" dirty="0">
              <a:solidFill>
                <a:schemeClr val="dk1"/>
              </a:solidFill>
              <a:latin typeface="Calibri"/>
              <a:ea typeface="Calibri"/>
              <a:cs typeface="Calibri"/>
              <a:sym typeface="Calibri"/>
            </a:endParaRPr>
          </a:p>
          <a:p>
            <a:pPr marL="201295" marR="0" lvl="0" indent="0" algn="l" rtl="0">
              <a:lnSpc>
                <a:spcPct val="113846"/>
              </a:lnSpc>
              <a:spcBef>
                <a:spcPts val="0"/>
              </a:spcBef>
              <a:spcAft>
                <a:spcPts val="0"/>
              </a:spcAft>
              <a:buNone/>
            </a:pPr>
            <a:r>
              <a:rPr lang="en-US" sz="1950" dirty="0">
                <a:solidFill>
                  <a:schemeClr val="dk1"/>
                </a:solidFill>
                <a:latin typeface="Calibri"/>
                <a:ea typeface="Calibri"/>
                <a:cs typeface="Calibri"/>
                <a:sym typeface="Calibri"/>
              </a:rPr>
              <a:t>different class.</a:t>
            </a:r>
            <a:endParaRPr sz="1950" dirty="0">
              <a:solidFill>
                <a:schemeClr val="dk1"/>
              </a:solidFill>
              <a:latin typeface="Calibri"/>
              <a:ea typeface="Calibri"/>
              <a:cs typeface="Calibri"/>
              <a:sym typeface="Calibri"/>
            </a:endParaRPr>
          </a:p>
          <a:p>
            <a:pPr marL="201295" marR="136525" lvl="0" indent="-189230" algn="l" rtl="0">
              <a:lnSpc>
                <a:spcPct val="107692"/>
              </a:lnSpc>
              <a:spcBef>
                <a:spcPts val="835"/>
              </a:spcBef>
              <a:spcAft>
                <a:spcPts val="0"/>
              </a:spcAft>
              <a:buClr>
                <a:schemeClr val="dk1"/>
              </a:buClr>
              <a:buSzPts val="1950"/>
              <a:buFont typeface="Arial"/>
              <a:buChar char="•"/>
            </a:pPr>
            <a:r>
              <a:rPr lang="en-US" sz="1950" dirty="0">
                <a:solidFill>
                  <a:schemeClr val="dk1"/>
                </a:solidFill>
                <a:latin typeface="Calibri"/>
                <a:ea typeface="Calibri"/>
                <a:cs typeface="Calibri"/>
                <a:sym typeface="Calibri"/>
              </a:rPr>
              <a:t>A common derivation in English is formation of new noun, from verb or adjective – the  process is called as “nominalization</a:t>
            </a:r>
            <a:r>
              <a:rPr lang="en-US" sz="1950" dirty="0" smtClean="0">
                <a:solidFill>
                  <a:schemeClr val="dk1"/>
                </a:solidFill>
                <a:latin typeface="Calibri"/>
                <a:ea typeface="Calibri"/>
                <a:cs typeface="Calibri"/>
                <a:sym typeface="Calibri"/>
              </a:rPr>
              <a:t>”</a:t>
            </a:r>
          </a:p>
          <a:p>
            <a:pPr marL="201295" marR="136525" lvl="0" indent="-189230" algn="l" rtl="0">
              <a:lnSpc>
                <a:spcPct val="107692"/>
              </a:lnSpc>
              <a:spcBef>
                <a:spcPts val="835"/>
              </a:spcBef>
              <a:spcAft>
                <a:spcPts val="0"/>
              </a:spcAft>
              <a:buClr>
                <a:schemeClr val="dk1"/>
              </a:buClr>
              <a:buSzPts val="1950"/>
              <a:buFont typeface="Arial"/>
              <a:buChar char="•"/>
            </a:pPr>
            <a:endParaRPr dirty="0"/>
          </a:p>
        </p:txBody>
      </p:sp>
      <p:graphicFrame>
        <p:nvGraphicFramePr>
          <p:cNvPr id="402" name="Google Shape;402;p30"/>
          <p:cNvGraphicFramePr/>
          <p:nvPr/>
        </p:nvGraphicFramePr>
        <p:xfrm>
          <a:off x="663448" y="3773932"/>
          <a:ext cx="6704325" cy="2447550"/>
        </p:xfrm>
        <a:graphic>
          <a:graphicData uri="http://schemas.openxmlformats.org/drawingml/2006/table">
            <a:tbl>
              <a:tblPr firstRow="1" bandRow="1">
                <a:noFill/>
                <a:tableStyleId>{E85DE1A1-A1B0-44A0-A59F-CCC16BF1A76C}</a:tableStyleId>
              </a:tblPr>
              <a:tblGrid>
                <a:gridCol w="2233925">
                  <a:extLst>
                    <a:ext uri="{9D8B030D-6E8A-4147-A177-3AD203B41FA5}">
                      <a16:colId xmlns:a16="http://schemas.microsoft.com/office/drawing/2014/main" val="20000"/>
                    </a:ext>
                  </a:extLst>
                </a:gridCol>
                <a:gridCol w="2235200">
                  <a:extLst>
                    <a:ext uri="{9D8B030D-6E8A-4147-A177-3AD203B41FA5}">
                      <a16:colId xmlns:a16="http://schemas.microsoft.com/office/drawing/2014/main" val="20001"/>
                    </a:ext>
                  </a:extLst>
                </a:gridCol>
                <a:gridCol w="2235200">
                  <a:extLst>
                    <a:ext uri="{9D8B030D-6E8A-4147-A177-3AD203B41FA5}">
                      <a16:colId xmlns:a16="http://schemas.microsoft.com/office/drawing/2014/main" val="20002"/>
                    </a:ext>
                  </a:extLst>
                </a:gridCol>
              </a:tblGrid>
              <a:tr h="306325">
                <a:tc>
                  <a:txBody>
                    <a:bodyPr/>
                    <a:lstStyle/>
                    <a:p>
                      <a:pPr marL="74295" marR="0" lvl="0" indent="0" algn="l" rtl="0">
                        <a:lnSpc>
                          <a:spcPct val="100000"/>
                        </a:lnSpc>
                        <a:spcBef>
                          <a:spcPts val="0"/>
                        </a:spcBef>
                        <a:spcAft>
                          <a:spcPts val="0"/>
                        </a:spcAft>
                        <a:buNone/>
                      </a:pPr>
                      <a:r>
                        <a:rPr lang="en-US" sz="1450" b="1" u="none" strike="noStrike" cap="none">
                          <a:solidFill>
                            <a:srgbClr val="FFFFFF"/>
                          </a:solidFill>
                          <a:latin typeface="Calibri"/>
                          <a:ea typeface="Calibri"/>
                          <a:cs typeface="Calibri"/>
                          <a:sym typeface="Calibri"/>
                        </a:rPr>
                        <a:t>Suffix</a:t>
                      </a:r>
                      <a:endParaRPr sz="1450" u="none" strike="noStrike" cap="none">
                        <a:latin typeface="Calibri"/>
                        <a:ea typeface="Calibri"/>
                        <a:cs typeface="Calibri"/>
                        <a:sym typeface="Calibri"/>
                      </a:endParaRPr>
                    </a:p>
                  </a:txBody>
                  <a:tcPr marL="0" marR="0" marT="190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AD3"/>
                    </a:solidFill>
                  </a:tcPr>
                </a:tc>
                <a:tc>
                  <a:txBody>
                    <a:bodyPr/>
                    <a:lstStyle/>
                    <a:p>
                      <a:pPr marL="75565" marR="0" lvl="0" indent="0" algn="l" rtl="0">
                        <a:lnSpc>
                          <a:spcPct val="100000"/>
                        </a:lnSpc>
                        <a:spcBef>
                          <a:spcPts val="0"/>
                        </a:spcBef>
                        <a:spcAft>
                          <a:spcPts val="0"/>
                        </a:spcAft>
                        <a:buNone/>
                      </a:pPr>
                      <a:r>
                        <a:rPr lang="en-US" sz="1450" b="1" u="none" strike="noStrike" cap="none">
                          <a:solidFill>
                            <a:srgbClr val="FFFFFF"/>
                          </a:solidFill>
                          <a:latin typeface="Calibri"/>
                          <a:ea typeface="Calibri"/>
                          <a:cs typeface="Calibri"/>
                          <a:sym typeface="Calibri"/>
                        </a:rPr>
                        <a:t>Base verb / adj</a:t>
                      </a:r>
                      <a:endParaRPr sz="1450" u="none" strike="noStrike" cap="none">
                        <a:latin typeface="Calibri"/>
                        <a:ea typeface="Calibri"/>
                        <a:cs typeface="Calibri"/>
                        <a:sym typeface="Calibri"/>
                      </a:endParaRPr>
                    </a:p>
                  </a:txBody>
                  <a:tcPr marL="0" marR="0" marT="190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AD3"/>
                    </a:solidFill>
                  </a:tcPr>
                </a:tc>
                <a:tc>
                  <a:txBody>
                    <a:bodyPr/>
                    <a:lstStyle/>
                    <a:p>
                      <a:pPr marL="73660" marR="0" lvl="0" indent="0" algn="l" rtl="0">
                        <a:lnSpc>
                          <a:spcPct val="100000"/>
                        </a:lnSpc>
                        <a:spcBef>
                          <a:spcPts val="0"/>
                        </a:spcBef>
                        <a:spcAft>
                          <a:spcPts val="0"/>
                        </a:spcAft>
                        <a:buNone/>
                      </a:pPr>
                      <a:r>
                        <a:rPr lang="en-US" sz="1450" b="1" u="none" strike="noStrike" cap="none">
                          <a:solidFill>
                            <a:srgbClr val="FFFFFF"/>
                          </a:solidFill>
                          <a:latin typeface="Calibri"/>
                          <a:ea typeface="Calibri"/>
                          <a:cs typeface="Calibri"/>
                          <a:sym typeface="Calibri"/>
                        </a:rPr>
                        <a:t>Derived noun</a:t>
                      </a:r>
                      <a:endParaRPr sz="1450" u="none" strike="noStrike" cap="none">
                        <a:latin typeface="Calibri"/>
                        <a:ea typeface="Calibri"/>
                        <a:cs typeface="Calibri"/>
                        <a:sym typeface="Calibri"/>
                      </a:endParaRPr>
                    </a:p>
                  </a:txBody>
                  <a:tcPr marL="0" marR="0" marT="190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AD3"/>
                    </a:solidFill>
                  </a:tcPr>
                </a:tc>
                <a:extLst>
                  <a:ext uri="{0D108BD9-81ED-4DB2-BD59-A6C34878D82A}">
                    <a16:rowId xmlns:a16="http://schemas.microsoft.com/office/drawing/2014/main" val="10000"/>
                  </a:ext>
                </a:extLst>
              </a:tr>
              <a:tr h="306325">
                <a:tc>
                  <a:txBody>
                    <a:bodyPr/>
                    <a:lstStyle/>
                    <a:p>
                      <a:pPr marL="74295" marR="0" lvl="0" indent="0" algn="l" rtl="0">
                        <a:lnSpc>
                          <a:spcPct val="100000"/>
                        </a:lnSpc>
                        <a:spcBef>
                          <a:spcPts val="0"/>
                        </a:spcBef>
                        <a:spcAft>
                          <a:spcPts val="0"/>
                        </a:spcAft>
                        <a:buNone/>
                      </a:pPr>
                      <a:r>
                        <a:rPr lang="en-US" sz="1450" u="none" strike="noStrike" cap="none">
                          <a:latin typeface="Calibri"/>
                          <a:ea typeface="Calibri"/>
                          <a:cs typeface="Calibri"/>
                          <a:sym typeface="Calibri"/>
                        </a:rPr>
                        <a:t>-ee</a:t>
                      </a:r>
                      <a:endParaRPr sz="1450" u="none" strike="noStrike" cap="none">
                        <a:latin typeface="Calibri"/>
                        <a:ea typeface="Calibri"/>
                        <a:cs typeface="Calibri"/>
                        <a:sym typeface="Calibri"/>
                      </a:endParaRPr>
                    </a:p>
                  </a:txBody>
                  <a:tcPr marL="0" marR="0" marT="17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75565" marR="0" lvl="0" indent="0" algn="l" rtl="0">
                        <a:lnSpc>
                          <a:spcPct val="100000"/>
                        </a:lnSpc>
                        <a:spcBef>
                          <a:spcPts val="0"/>
                        </a:spcBef>
                        <a:spcAft>
                          <a:spcPts val="0"/>
                        </a:spcAft>
                        <a:buNone/>
                      </a:pPr>
                      <a:r>
                        <a:rPr lang="en-US" sz="1450" u="none" strike="noStrike" cap="none">
                          <a:latin typeface="Calibri"/>
                          <a:ea typeface="Calibri"/>
                          <a:cs typeface="Calibri"/>
                          <a:sym typeface="Calibri"/>
                        </a:rPr>
                        <a:t>Appoint (v)</a:t>
                      </a:r>
                      <a:endParaRPr sz="1450" u="none" strike="noStrike" cap="none">
                        <a:latin typeface="Calibri"/>
                        <a:ea typeface="Calibri"/>
                        <a:cs typeface="Calibri"/>
                        <a:sym typeface="Calibri"/>
                      </a:endParaRPr>
                    </a:p>
                  </a:txBody>
                  <a:tcPr marL="0" marR="0" marT="17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73660" marR="0" lvl="0" indent="0" algn="l" rtl="0">
                        <a:lnSpc>
                          <a:spcPct val="100000"/>
                        </a:lnSpc>
                        <a:spcBef>
                          <a:spcPts val="0"/>
                        </a:spcBef>
                        <a:spcAft>
                          <a:spcPts val="0"/>
                        </a:spcAft>
                        <a:buNone/>
                      </a:pPr>
                      <a:r>
                        <a:rPr lang="en-US" sz="1450" u="none" strike="noStrike" cap="none">
                          <a:latin typeface="Calibri"/>
                          <a:ea typeface="Calibri"/>
                          <a:cs typeface="Calibri"/>
                          <a:sym typeface="Calibri"/>
                        </a:rPr>
                        <a:t>Appointee</a:t>
                      </a:r>
                      <a:endParaRPr sz="1450" u="none" strike="noStrike" cap="none">
                        <a:latin typeface="Calibri"/>
                        <a:ea typeface="Calibri"/>
                        <a:cs typeface="Calibri"/>
                        <a:sym typeface="Calibri"/>
                      </a:endParaRPr>
                    </a:p>
                  </a:txBody>
                  <a:tcPr marL="0" marR="0" marT="17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extLst>
                  <a:ext uri="{0D108BD9-81ED-4DB2-BD59-A6C34878D82A}">
                    <a16:rowId xmlns:a16="http://schemas.microsoft.com/office/drawing/2014/main" val="10001"/>
                  </a:ext>
                </a:extLst>
              </a:tr>
              <a:tr h="304800">
                <a:tc>
                  <a:txBody>
                    <a:bodyPr/>
                    <a:lstStyle/>
                    <a:p>
                      <a:pPr marL="74295" marR="0" lvl="0" indent="0" algn="l" rtl="0">
                        <a:lnSpc>
                          <a:spcPct val="100000"/>
                        </a:lnSpc>
                        <a:spcBef>
                          <a:spcPts val="0"/>
                        </a:spcBef>
                        <a:spcAft>
                          <a:spcPts val="0"/>
                        </a:spcAft>
                        <a:buNone/>
                      </a:pPr>
                      <a:r>
                        <a:rPr lang="en-US" sz="1450" u="none" strike="noStrike" cap="none">
                          <a:latin typeface="Calibri"/>
                          <a:ea typeface="Calibri"/>
                          <a:cs typeface="Calibri"/>
                          <a:sym typeface="Calibri"/>
                        </a:rPr>
                        <a:t>-er</a:t>
                      </a:r>
                      <a:endParaRPr sz="1450" u="none" strike="noStrike" cap="none">
                        <a:latin typeface="Calibri"/>
                        <a:ea typeface="Calibri"/>
                        <a:cs typeface="Calibri"/>
                        <a:sym typeface="Calibri"/>
                      </a:endParaRPr>
                    </a:p>
                  </a:txBody>
                  <a:tcPr marL="0" marR="0" marT="17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tc>
                  <a:txBody>
                    <a:bodyPr/>
                    <a:lstStyle/>
                    <a:p>
                      <a:pPr marL="75565" marR="0" lvl="0" indent="0" algn="l" rtl="0">
                        <a:lnSpc>
                          <a:spcPct val="100000"/>
                        </a:lnSpc>
                        <a:spcBef>
                          <a:spcPts val="0"/>
                        </a:spcBef>
                        <a:spcAft>
                          <a:spcPts val="0"/>
                        </a:spcAft>
                        <a:buNone/>
                      </a:pPr>
                      <a:r>
                        <a:rPr lang="en-US" sz="1450" u="none" strike="noStrike" cap="none">
                          <a:latin typeface="Calibri"/>
                          <a:ea typeface="Calibri"/>
                          <a:cs typeface="Calibri"/>
                          <a:sym typeface="Calibri"/>
                        </a:rPr>
                        <a:t>Kill (v)</a:t>
                      </a:r>
                      <a:endParaRPr sz="1450" u="none" strike="noStrike" cap="none">
                        <a:latin typeface="Calibri"/>
                        <a:ea typeface="Calibri"/>
                        <a:cs typeface="Calibri"/>
                        <a:sym typeface="Calibri"/>
                      </a:endParaRPr>
                    </a:p>
                  </a:txBody>
                  <a:tcPr marL="0" marR="0" marT="17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tc>
                  <a:txBody>
                    <a:bodyPr/>
                    <a:lstStyle/>
                    <a:p>
                      <a:pPr marL="73660" marR="0" lvl="0" indent="0" algn="l" rtl="0">
                        <a:lnSpc>
                          <a:spcPct val="100000"/>
                        </a:lnSpc>
                        <a:spcBef>
                          <a:spcPts val="0"/>
                        </a:spcBef>
                        <a:spcAft>
                          <a:spcPts val="0"/>
                        </a:spcAft>
                        <a:buNone/>
                      </a:pPr>
                      <a:r>
                        <a:rPr lang="en-US" sz="1450" u="none" strike="noStrike" cap="none">
                          <a:latin typeface="Calibri"/>
                          <a:ea typeface="Calibri"/>
                          <a:cs typeface="Calibri"/>
                          <a:sym typeface="Calibri"/>
                        </a:rPr>
                        <a:t>Killer</a:t>
                      </a:r>
                      <a:endParaRPr sz="1450" u="none" strike="noStrike" cap="none">
                        <a:latin typeface="Calibri"/>
                        <a:ea typeface="Calibri"/>
                        <a:cs typeface="Calibri"/>
                        <a:sym typeface="Calibri"/>
                      </a:endParaRPr>
                    </a:p>
                  </a:txBody>
                  <a:tcPr marL="0" marR="0" marT="17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extLst>
                  <a:ext uri="{0D108BD9-81ED-4DB2-BD59-A6C34878D82A}">
                    <a16:rowId xmlns:a16="http://schemas.microsoft.com/office/drawing/2014/main" val="10002"/>
                  </a:ext>
                </a:extLst>
              </a:tr>
              <a:tr h="306325">
                <a:tc>
                  <a:txBody>
                    <a:bodyPr/>
                    <a:lstStyle/>
                    <a:p>
                      <a:pPr marL="74295" marR="0" lvl="0" indent="0" algn="l" rtl="0">
                        <a:lnSpc>
                          <a:spcPct val="100000"/>
                        </a:lnSpc>
                        <a:spcBef>
                          <a:spcPts val="0"/>
                        </a:spcBef>
                        <a:spcAft>
                          <a:spcPts val="0"/>
                        </a:spcAft>
                        <a:buNone/>
                      </a:pPr>
                      <a:r>
                        <a:rPr lang="en-US" sz="1450" u="none" strike="noStrike" cap="none">
                          <a:latin typeface="Calibri"/>
                          <a:ea typeface="Calibri"/>
                          <a:cs typeface="Calibri"/>
                          <a:sym typeface="Calibri"/>
                        </a:rPr>
                        <a:t>-ness</a:t>
                      </a:r>
                      <a:endParaRPr sz="1450" u="none" strike="noStrike" cap="none">
                        <a:latin typeface="Calibri"/>
                        <a:ea typeface="Calibri"/>
                        <a:cs typeface="Calibri"/>
                        <a:sym typeface="Calibri"/>
                      </a:endParaRPr>
                    </a:p>
                  </a:txBody>
                  <a:tcPr marL="0" marR="0" marT="190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75565" marR="0" lvl="0" indent="0" algn="l" rtl="0">
                        <a:lnSpc>
                          <a:spcPct val="100000"/>
                        </a:lnSpc>
                        <a:spcBef>
                          <a:spcPts val="0"/>
                        </a:spcBef>
                        <a:spcAft>
                          <a:spcPts val="0"/>
                        </a:spcAft>
                        <a:buNone/>
                      </a:pPr>
                      <a:r>
                        <a:rPr lang="en-US" sz="1450" u="none" strike="noStrike" cap="none">
                          <a:latin typeface="Calibri"/>
                          <a:ea typeface="Calibri"/>
                          <a:cs typeface="Calibri"/>
                          <a:sym typeface="Calibri"/>
                        </a:rPr>
                        <a:t>Fuzzy (a)</a:t>
                      </a:r>
                      <a:endParaRPr sz="1450" u="none" strike="noStrike" cap="none">
                        <a:latin typeface="Calibri"/>
                        <a:ea typeface="Calibri"/>
                        <a:cs typeface="Calibri"/>
                        <a:sym typeface="Calibri"/>
                      </a:endParaRPr>
                    </a:p>
                  </a:txBody>
                  <a:tcPr marL="0" marR="0" marT="190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73660" marR="0" lvl="0" indent="0" algn="l" rtl="0">
                        <a:lnSpc>
                          <a:spcPct val="100000"/>
                        </a:lnSpc>
                        <a:spcBef>
                          <a:spcPts val="0"/>
                        </a:spcBef>
                        <a:spcAft>
                          <a:spcPts val="0"/>
                        </a:spcAft>
                        <a:buNone/>
                      </a:pPr>
                      <a:r>
                        <a:rPr lang="en-US" sz="1450" u="none" strike="noStrike" cap="none">
                          <a:latin typeface="Calibri"/>
                          <a:ea typeface="Calibri"/>
                          <a:cs typeface="Calibri"/>
                          <a:sym typeface="Calibri"/>
                        </a:rPr>
                        <a:t>Fuzziness</a:t>
                      </a:r>
                      <a:endParaRPr sz="1450" u="none" strike="noStrike" cap="none">
                        <a:latin typeface="Calibri"/>
                        <a:ea typeface="Calibri"/>
                        <a:cs typeface="Calibri"/>
                        <a:sym typeface="Calibri"/>
                      </a:endParaRPr>
                    </a:p>
                  </a:txBody>
                  <a:tcPr marL="0" marR="0" marT="190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extLst>
                  <a:ext uri="{0D108BD9-81ED-4DB2-BD59-A6C34878D82A}">
                    <a16:rowId xmlns:a16="http://schemas.microsoft.com/office/drawing/2014/main" val="10003"/>
                  </a:ext>
                </a:extLst>
              </a:tr>
              <a:tr h="306325">
                <a:tc gridSpan="3">
                  <a:txBody>
                    <a:bodyPr/>
                    <a:lstStyle/>
                    <a:p>
                      <a:pPr marL="74295" marR="0" lvl="0" indent="0" algn="l" rtl="0">
                        <a:lnSpc>
                          <a:spcPct val="100000"/>
                        </a:lnSpc>
                        <a:spcBef>
                          <a:spcPts val="0"/>
                        </a:spcBef>
                        <a:spcAft>
                          <a:spcPts val="0"/>
                        </a:spcAft>
                        <a:buNone/>
                      </a:pPr>
                      <a:r>
                        <a:rPr lang="en-US" sz="1450" u="none" strike="noStrike" cap="none">
                          <a:solidFill>
                            <a:srgbClr val="445369"/>
                          </a:solidFill>
                          <a:latin typeface="Calibri"/>
                          <a:ea typeface="Calibri"/>
                          <a:cs typeface="Calibri"/>
                          <a:sym typeface="Calibri"/>
                        </a:rPr>
                        <a:t>Adjectives can be derived from word or noun</a:t>
                      </a:r>
                      <a:endParaRPr sz="1450" u="none" strike="noStrike" cap="none">
                        <a:latin typeface="Calibri"/>
                        <a:ea typeface="Calibri"/>
                        <a:cs typeface="Calibri"/>
                        <a:sym typeface="Calibri"/>
                      </a:endParaRPr>
                    </a:p>
                  </a:txBody>
                  <a:tcPr marL="0" marR="0" marT="190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4"/>
                  </a:ext>
                </a:extLst>
              </a:tr>
              <a:tr h="306325">
                <a:tc>
                  <a:txBody>
                    <a:bodyPr/>
                    <a:lstStyle/>
                    <a:p>
                      <a:pPr marL="0" marR="0" lvl="0" indent="0" algn="l" rtl="0">
                        <a:lnSpc>
                          <a:spcPct val="100000"/>
                        </a:lnSpc>
                        <a:spcBef>
                          <a:spcPts val="0"/>
                        </a:spcBef>
                        <a:spcAft>
                          <a:spcPts val="0"/>
                        </a:spcAft>
                        <a:buNone/>
                      </a:pPr>
                      <a:endParaRPr sz="17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75565" marR="0" lvl="0" indent="0" algn="l" rtl="0">
                        <a:lnSpc>
                          <a:spcPct val="100000"/>
                        </a:lnSpc>
                        <a:spcBef>
                          <a:spcPts val="0"/>
                        </a:spcBef>
                        <a:spcAft>
                          <a:spcPts val="0"/>
                        </a:spcAft>
                        <a:buNone/>
                      </a:pPr>
                      <a:r>
                        <a:rPr lang="en-US" sz="1450" u="none" strike="noStrike" cap="none">
                          <a:latin typeface="Calibri"/>
                          <a:ea typeface="Calibri"/>
                          <a:cs typeface="Calibri"/>
                          <a:sym typeface="Calibri"/>
                        </a:rPr>
                        <a:t>Base Noun / Verb</a:t>
                      </a:r>
                      <a:endParaRPr sz="1450" u="none" strike="noStrike" cap="none">
                        <a:latin typeface="Calibri"/>
                        <a:ea typeface="Calibri"/>
                        <a:cs typeface="Calibri"/>
                        <a:sym typeface="Calibri"/>
                      </a:endParaRPr>
                    </a:p>
                  </a:txBody>
                  <a:tcPr marL="0" marR="0" marT="17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73660" marR="0" lvl="0" indent="0" algn="l" rtl="0">
                        <a:lnSpc>
                          <a:spcPct val="100000"/>
                        </a:lnSpc>
                        <a:spcBef>
                          <a:spcPts val="0"/>
                        </a:spcBef>
                        <a:spcAft>
                          <a:spcPts val="0"/>
                        </a:spcAft>
                        <a:buNone/>
                      </a:pPr>
                      <a:r>
                        <a:rPr lang="en-US" sz="1450" u="none" strike="noStrike" cap="none">
                          <a:latin typeface="Calibri"/>
                          <a:ea typeface="Calibri"/>
                          <a:cs typeface="Calibri"/>
                          <a:sym typeface="Calibri"/>
                        </a:rPr>
                        <a:t>Derived Adj</a:t>
                      </a:r>
                      <a:endParaRPr sz="1450" u="none" strike="noStrike" cap="none">
                        <a:latin typeface="Calibri"/>
                        <a:ea typeface="Calibri"/>
                        <a:cs typeface="Calibri"/>
                        <a:sym typeface="Calibri"/>
                      </a:endParaRPr>
                    </a:p>
                  </a:txBody>
                  <a:tcPr marL="0" marR="0" marT="17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extLst>
                  <a:ext uri="{0D108BD9-81ED-4DB2-BD59-A6C34878D82A}">
                    <a16:rowId xmlns:a16="http://schemas.microsoft.com/office/drawing/2014/main" val="10005"/>
                  </a:ext>
                </a:extLst>
              </a:tr>
              <a:tr h="304800">
                <a:tc>
                  <a:txBody>
                    <a:bodyPr/>
                    <a:lstStyle/>
                    <a:p>
                      <a:pPr marL="74295" marR="0" lvl="0" indent="0" algn="l" rtl="0">
                        <a:lnSpc>
                          <a:spcPct val="100000"/>
                        </a:lnSpc>
                        <a:spcBef>
                          <a:spcPts val="0"/>
                        </a:spcBef>
                        <a:spcAft>
                          <a:spcPts val="0"/>
                        </a:spcAft>
                        <a:buNone/>
                      </a:pPr>
                      <a:r>
                        <a:rPr lang="en-US" sz="1450" u="none" strike="noStrike" cap="none">
                          <a:latin typeface="Calibri"/>
                          <a:ea typeface="Calibri"/>
                          <a:cs typeface="Calibri"/>
                          <a:sym typeface="Calibri"/>
                        </a:rPr>
                        <a:t>-able</a:t>
                      </a:r>
                      <a:endParaRPr sz="1450" u="none" strike="noStrike" cap="none">
                        <a:latin typeface="Calibri"/>
                        <a:ea typeface="Calibri"/>
                        <a:cs typeface="Calibri"/>
                        <a:sym typeface="Calibri"/>
                      </a:endParaRPr>
                    </a:p>
                  </a:txBody>
                  <a:tcPr marL="0" marR="0" marT="17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tc>
                  <a:txBody>
                    <a:bodyPr/>
                    <a:lstStyle/>
                    <a:p>
                      <a:pPr marL="75565" marR="0" lvl="0" indent="0" algn="l" rtl="0">
                        <a:lnSpc>
                          <a:spcPct val="100000"/>
                        </a:lnSpc>
                        <a:spcBef>
                          <a:spcPts val="0"/>
                        </a:spcBef>
                        <a:spcAft>
                          <a:spcPts val="0"/>
                        </a:spcAft>
                        <a:buNone/>
                      </a:pPr>
                      <a:r>
                        <a:rPr lang="en-US" sz="1450" u="none" strike="noStrike" cap="none">
                          <a:latin typeface="Calibri"/>
                          <a:ea typeface="Calibri"/>
                          <a:cs typeface="Calibri"/>
                          <a:sym typeface="Calibri"/>
                        </a:rPr>
                        <a:t>Suit (v)</a:t>
                      </a:r>
                      <a:endParaRPr sz="1450" u="none" strike="noStrike" cap="none">
                        <a:latin typeface="Calibri"/>
                        <a:ea typeface="Calibri"/>
                        <a:cs typeface="Calibri"/>
                        <a:sym typeface="Calibri"/>
                      </a:endParaRPr>
                    </a:p>
                  </a:txBody>
                  <a:tcPr marL="0" marR="0" marT="17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tc>
                  <a:txBody>
                    <a:bodyPr/>
                    <a:lstStyle/>
                    <a:p>
                      <a:pPr marL="73660" marR="0" lvl="0" indent="0" algn="l" rtl="0">
                        <a:lnSpc>
                          <a:spcPct val="100000"/>
                        </a:lnSpc>
                        <a:spcBef>
                          <a:spcPts val="0"/>
                        </a:spcBef>
                        <a:spcAft>
                          <a:spcPts val="0"/>
                        </a:spcAft>
                        <a:buNone/>
                      </a:pPr>
                      <a:r>
                        <a:rPr lang="en-US" sz="1450" u="none" strike="noStrike" cap="none">
                          <a:latin typeface="Calibri"/>
                          <a:ea typeface="Calibri"/>
                          <a:cs typeface="Calibri"/>
                          <a:sym typeface="Calibri"/>
                        </a:rPr>
                        <a:t>Suitable</a:t>
                      </a:r>
                      <a:endParaRPr sz="1450" u="none" strike="noStrike" cap="none">
                        <a:latin typeface="Calibri"/>
                        <a:ea typeface="Calibri"/>
                        <a:cs typeface="Calibri"/>
                        <a:sym typeface="Calibri"/>
                      </a:endParaRPr>
                    </a:p>
                  </a:txBody>
                  <a:tcPr marL="0" marR="0" marT="17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extLst>
                  <a:ext uri="{0D108BD9-81ED-4DB2-BD59-A6C34878D82A}">
                    <a16:rowId xmlns:a16="http://schemas.microsoft.com/office/drawing/2014/main" val="10006"/>
                  </a:ext>
                </a:extLst>
              </a:tr>
              <a:tr h="306325">
                <a:tc>
                  <a:txBody>
                    <a:bodyPr/>
                    <a:lstStyle/>
                    <a:p>
                      <a:pPr marL="74295" marR="0" lvl="0" indent="0" algn="l" rtl="0">
                        <a:lnSpc>
                          <a:spcPct val="100000"/>
                        </a:lnSpc>
                        <a:spcBef>
                          <a:spcPts val="0"/>
                        </a:spcBef>
                        <a:spcAft>
                          <a:spcPts val="0"/>
                        </a:spcAft>
                        <a:buNone/>
                      </a:pPr>
                      <a:r>
                        <a:rPr lang="en-US" sz="1450" u="none" strike="noStrike" cap="none">
                          <a:latin typeface="Calibri"/>
                          <a:ea typeface="Calibri"/>
                          <a:cs typeface="Calibri"/>
                          <a:sym typeface="Calibri"/>
                        </a:rPr>
                        <a:t>-less</a:t>
                      </a:r>
                      <a:endParaRPr sz="1450" u="none" strike="noStrike" cap="none">
                        <a:latin typeface="Calibri"/>
                        <a:ea typeface="Calibri"/>
                        <a:cs typeface="Calibri"/>
                        <a:sym typeface="Calibri"/>
                      </a:endParaRPr>
                    </a:p>
                  </a:txBody>
                  <a:tcPr marL="0" marR="0" marT="190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75565" marR="0" lvl="0" indent="0" algn="l" rtl="0">
                        <a:lnSpc>
                          <a:spcPct val="100000"/>
                        </a:lnSpc>
                        <a:spcBef>
                          <a:spcPts val="0"/>
                        </a:spcBef>
                        <a:spcAft>
                          <a:spcPts val="0"/>
                        </a:spcAft>
                        <a:buNone/>
                      </a:pPr>
                      <a:r>
                        <a:rPr lang="en-US" sz="1450" u="none" strike="noStrike" cap="none">
                          <a:latin typeface="Calibri"/>
                          <a:ea typeface="Calibri"/>
                          <a:cs typeface="Calibri"/>
                          <a:sym typeface="Calibri"/>
                        </a:rPr>
                        <a:t>Clue(n)</a:t>
                      </a:r>
                      <a:endParaRPr sz="1450" u="none" strike="noStrike" cap="none">
                        <a:latin typeface="Calibri"/>
                        <a:ea typeface="Calibri"/>
                        <a:cs typeface="Calibri"/>
                        <a:sym typeface="Calibri"/>
                      </a:endParaRPr>
                    </a:p>
                  </a:txBody>
                  <a:tcPr marL="0" marR="0" marT="190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73660" marR="0" lvl="0" indent="0" algn="l" rtl="0">
                        <a:lnSpc>
                          <a:spcPct val="100000"/>
                        </a:lnSpc>
                        <a:spcBef>
                          <a:spcPts val="0"/>
                        </a:spcBef>
                        <a:spcAft>
                          <a:spcPts val="0"/>
                        </a:spcAft>
                        <a:buNone/>
                      </a:pPr>
                      <a:r>
                        <a:rPr lang="en-US" sz="1450" u="none" strike="noStrike" cap="none">
                          <a:latin typeface="Calibri"/>
                          <a:ea typeface="Calibri"/>
                          <a:cs typeface="Calibri"/>
                          <a:sym typeface="Calibri"/>
                        </a:rPr>
                        <a:t>clueless</a:t>
                      </a:r>
                      <a:endParaRPr sz="1450" u="none" strike="noStrike" cap="none">
                        <a:latin typeface="Calibri"/>
                        <a:ea typeface="Calibri"/>
                        <a:cs typeface="Calibri"/>
                        <a:sym typeface="Calibri"/>
                      </a:endParaRPr>
                    </a:p>
                  </a:txBody>
                  <a:tcPr marL="0" marR="0" marT="190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extLst>
                  <a:ext uri="{0D108BD9-81ED-4DB2-BD59-A6C34878D82A}">
                    <a16:rowId xmlns:a16="http://schemas.microsoft.com/office/drawing/2014/main" val="10007"/>
                  </a:ext>
                </a:extLst>
              </a:tr>
            </a:tbl>
          </a:graphicData>
        </a:graphic>
      </p:graphicFrame>
      <p:sp>
        <p:nvSpPr>
          <p:cNvPr id="403" name="Google Shape;403;p30"/>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Shape 407"/>
        <p:cNvGrpSpPr/>
        <p:nvPr/>
      </p:nvGrpSpPr>
      <p:grpSpPr>
        <a:xfrm>
          <a:off x="0" y="0"/>
          <a:ext cx="0" cy="0"/>
          <a:chOff x="0" y="0"/>
          <a:chExt cx="0" cy="0"/>
        </a:xfrm>
      </p:grpSpPr>
      <p:sp>
        <p:nvSpPr>
          <p:cNvPr id="408" name="Google Shape;408;p31"/>
          <p:cNvSpPr txBox="1">
            <a:spLocks noGrp="1"/>
          </p:cNvSpPr>
          <p:nvPr>
            <p:ph type="title"/>
          </p:nvPr>
        </p:nvSpPr>
        <p:spPr>
          <a:xfrm>
            <a:off x="990600" y="685800"/>
            <a:ext cx="2895600" cy="466794"/>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950" b="1"/>
              <a:t>Cliticization</a:t>
            </a:r>
            <a:endParaRPr sz="2950" b="1"/>
          </a:p>
        </p:txBody>
      </p:sp>
      <p:sp>
        <p:nvSpPr>
          <p:cNvPr id="409" name="Google Shape;409;p31"/>
          <p:cNvSpPr txBox="1"/>
          <p:nvPr/>
        </p:nvSpPr>
        <p:spPr>
          <a:xfrm>
            <a:off x="430276" y="4877399"/>
            <a:ext cx="8104124" cy="1535677"/>
          </a:xfrm>
          <a:prstGeom prst="rect">
            <a:avLst/>
          </a:prstGeom>
          <a:noFill/>
          <a:ln>
            <a:noFill/>
          </a:ln>
        </p:spPr>
        <p:txBody>
          <a:bodyPr spcFirstLastPara="1" wrap="square" lIns="0" tIns="88250" rIns="0" bIns="0" anchor="t" anchorCtr="0">
            <a:spAutoFit/>
          </a:bodyPr>
          <a:lstStyle/>
          <a:p>
            <a:pPr marL="201295" marR="0" lvl="0" indent="-189230" algn="l" rtl="0">
              <a:lnSpc>
                <a:spcPct val="100000"/>
              </a:lnSpc>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Clitics preceding a word are Proclitics</a:t>
            </a:r>
            <a:endParaRPr sz="2800">
              <a:solidFill>
                <a:schemeClr val="dk1"/>
              </a:solidFill>
              <a:latin typeface="Calibri"/>
              <a:ea typeface="Calibri"/>
              <a:cs typeface="Calibri"/>
              <a:sym typeface="Calibri"/>
            </a:endParaRPr>
          </a:p>
          <a:p>
            <a:pPr marL="201295" marR="0" lvl="0" indent="-189230" algn="l" rtl="0">
              <a:lnSpc>
                <a:spcPct val="100000"/>
              </a:lnSpc>
              <a:spcBef>
                <a:spcPts val="60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Clitics following a word are Enclitics</a:t>
            </a:r>
            <a:endParaRPr sz="2800">
              <a:solidFill>
                <a:schemeClr val="dk1"/>
              </a:solidFill>
              <a:latin typeface="Calibri"/>
              <a:ea typeface="Calibri"/>
              <a:cs typeface="Calibri"/>
              <a:sym typeface="Calibri"/>
            </a:endParaRPr>
          </a:p>
          <a:p>
            <a:pPr marL="201295" marR="0" lvl="0" indent="-189230" algn="l" rtl="0">
              <a:lnSpc>
                <a:spcPct val="100000"/>
              </a:lnSpc>
              <a:spcBef>
                <a:spcPts val="605"/>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These are rarely found in English</a:t>
            </a:r>
            <a:endParaRPr sz="2800">
              <a:solidFill>
                <a:schemeClr val="dk1"/>
              </a:solidFill>
              <a:latin typeface="Calibri"/>
              <a:ea typeface="Calibri"/>
              <a:cs typeface="Calibri"/>
              <a:sym typeface="Calibri"/>
            </a:endParaRPr>
          </a:p>
        </p:txBody>
      </p:sp>
      <p:pic>
        <p:nvPicPr>
          <p:cNvPr id="410" name="Google Shape;410;p31"/>
          <p:cNvPicPr preferRelativeResize="0"/>
          <p:nvPr/>
        </p:nvPicPr>
        <p:blipFill rotWithShape="1">
          <a:blip r:embed="rId3">
            <a:alphaModFix/>
          </a:blip>
          <a:srcRect/>
          <a:stretch/>
        </p:blipFill>
        <p:spPr>
          <a:xfrm>
            <a:off x="1671827" y="2290572"/>
            <a:ext cx="6260591" cy="2028443"/>
          </a:xfrm>
          <a:prstGeom prst="rect">
            <a:avLst/>
          </a:prstGeom>
          <a:noFill/>
          <a:ln>
            <a:noFill/>
          </a:ln>
        </p:spPr>
      </p:pic>
      <p:sp>
        <p:nvSpPr>
          <p:cNvPr id="411" name="Google Shape;411;p31"/>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Shape 415"/>
        <p:cNvGrpSpPr/>
        <p:nvPr/>
      </p:nvGrpSpPr>
      <p:grpSpPr>
        <a:xfrm>
          <a:off x="0" y="0"/>
          <a:ext cx="0" cy="0"/>
          <a:chOff x="0" y="0"/>
          <a:chExt cx="0" cy="0"/>
        </a:xfrm>
      </p:grpSpPr>
      <p:sp>
        <p:nvSpPr>
          <p:cNvPr id="416" name="Google Shape;416;p32"/>
          <p:cNvSpPr txBox="1">
            <a:spLocks noGrp="1"/>
          </p:cNvSpPr>
          <p:nvPr>
            <p:ph type="title"/>
          </p:nvPr>
        </p:nvSpPr>
        <p:spPr>
          <a:xfrm>
            <a:off x="754125" y="1285500"/>
            <a:ext cx="7991400" cy="4206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a:t>Finite state morphological analysis / parsing</a:t>
            </a:r>
            <a:endParaRPr/>
          </a:p>
        </p:txBody>
      </p:sp>
      <p:sp>
        <p:nvSpPr>
          <p:cNvPr id="417" name="Google Shape;417;p32"/>
          <p:cNvSpPr txBox="1"/>
          <p:nvPr/>
        </p:nvSpPr>
        <p:spPr>
          <a:xfrm>
            <a:off x="331228" y="1895850"/>
            <a:ext cx="6912600" cy="366300"/>
          </a:xfrm>
          <a:prstGeom prst="rect">
            <a:avLst/>
          </a:prstGeom>
          <a:noFill/>
          <a:ln>
            <a:noFill/>
          </a:ln>
        </p:spPr>
        <p:txBody>
          <a:bodyPr spcFirstLastPara="1" wrap="square" lIns="0" tIns="12050" rIns="0" bIns="0" anchor="t" anchorCtr="0">
            <a:spAutoFit/>
          </a:bodyPr>
          <a:lstStyle/>
          <a:p>
            <a:pPr marL="201295" marR="0" lvl="0" indent="-189230" algn="l" rtl="0">
              <a:lnSpc>
                <a:spcPct val="100000"/>
              </a:lnSpc>
              <a:spcBef>
                <a:spcPts val="0"/>
              </a:spcBef>
              <a:spcAft>
                <a:spcPts val="0"/>
              </a:spcAft>
              <a:buClr>
                <a:schemeClr val="dk1"/>
              </a:buClr>
              <a:buSzPts val="2300"/>
              <a:buFont typeface="Arial"/>
              <a:buChar char="•"/>
            </a:pPr>
            <a:r>
              <a:rPr lang="en-US" sz="2300">
                <a:solidFill>
                  <a:schemeClr val="dk1"/>
                </a:solidFill>
                <a:latin typeface="Calibri"/>
                <a:ea typeface="Calibri"/>
                <a:cs typeface="Calibri"/>
                <a:sym typeface="Calibri"/>
              </a:rPr>
              <a:t>What is expected in morphological analysis?</a:t>
            </a:r>
            <a:endParaRPr sz="2300">
              <a:solidFill>
                <a:schemeClr val="dk1"/>
              </a:solidFill>
              <a:latin typeface="Calibri"/>
              <a:ea typeface="Calibri"/>
              <a:cs typeface="Calibri"/>
              <a:sym typeface="Calibri"/>
            </a:endParaRPr>
          </a:p>
        </p:txBody>
      </p:sp>
      <p:graphicFrame>
        <p:nvGraphicFramePr>
          <p:cNvPr id="418" name="Google Shape;418;p32"/>
          <p:cNvGraphicFramePr/>
          <p:nvPr/>
        </p:nvGraphicFramePr>
        <p:xfrm>
          <a:off x="680212" y="2579116"/>
          <a:ext cx="6912600" cy="1978150"/>
        </p:xfrm>
        <a:graphic>
          <a:graphicData uri="http://schemas.openxmlformats.org/drawingml/2006/table">
            <a:tbl>
              <a:tblPr firstRow="1" bandRow="1">
                <a:noFill/>
                <a:tableStyleId>{E85DE1A1-A1B0-44A0-A59F-CCC16BF1A76C}</a:tableStyleId>
              </a:tblPr>
              <a:tblGrid>
                <a:gridCol w="2235825">
                  <a:extLst>
                    <a:ext uri="{9D8B030D-6E8A-4147-A177-3AD203B41FA5}">
                      <a16:colId xmlns:a16="http://schemas.microsoft.com/office/drawing/2014/main" val="20000"/>
                    </a:ext>
                  </a:extLst>
                </a:gridCol>
                <a:gridCol w="2235825">
                  <a:extLst>
                    <a:ext uri="{9D8B030D-6E8A-4147-A177-3AD203B41FA5}">
                      <a16:colId xmlns:a16="http://schemas.microsoft.com/office/drawing/2014/main" val="20001"/>
                    </a:ext>
                  </a:extLst>
                </a:gridCol>
                <a:gridCol w="2234575">
                  <a:extLst>
                    <a:ext uri="{9D8B030D-6E8A-4147-A177-3AD203B41FA5}">
                      <a16:colId xmlns:a16="http://schemas.microsoft.com/office/drawing/2014/main" val="20002"/>
                    </a:ext>
                  </a:extLst>
                </a:gridCol>
                <a:gridCol w="206375">
                  <a:extLst>
                    <a:ext uri="{9D8B030D-6E8A-4147-A177-3AD203B41FA5}">
                      <a16:colId xmlns:a16="http://schemas.microsoft.com/office/drawing/2014/main" val="20003"/>
                    </a:ext>
                  </a:extLst>
                </a:gridCol>
              </a:tblGrid>
              <a:tr h="306325">
                <a:tc>
                  <a:txBody>
                    <a:bodyPr/>
                    <a:lstStyle/>
                    <a:p>
                      <a:pPr marL="74295" marR="0" lvl="0" indent="0" algn="l" rtl="0">
                        <a:lnSpc>
                          <a:spcPct val="100000"/>
                        </a:lnSpc>
                        <a:spcBef>
                          <a:spcPts val="0"/>
                        </a:spcBef>
                        <a:spcAft>
                          <a:spcPts val="0"/>
                        </a:spcAft>
                        <a:buNone/>
                      </a:pPr>
                      <a:r>
                        <a:rPr lang="en-US" sz="1450" b="1" u="none" strike="noStrike" cap="none">
                          <a:solidFill>
                            <a:srgbClr val="FFFFFF"/>
                          </a:solidFill>
                          <a:latin typeface="Calibri"/>
                          <a:ea typeface="Calibri"/>
                          <a:cs typeface="Calibri"/>
                          <a:sym typeface="Calibri"/>
                        </a:rPr>
                        <a:t>Input</a:t>
                      </a:r>
                      <a:endParaRPr sz="1450" u="none" strike="noStrike" cap="none">
                        <a:latin typeface="Calibri"/>
                        <a:ea typeface="Calibri"/>
                        <a:cs typeface="Calibri"/>
                        <a:sym typeface="Calibri"/>
                      </a:endParaRPr>
                    </a:p>
                  </a:txBody>
                  <a:tcPr marL="0" marR="0" marT="171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AD3"/>
                    </a:solidFill>
                  </a:tcPr>
                </a:tc>
                <a:tc>
                  <a:txBody>
                    <a:bodyPr/>
                    <a:lstStyle/>
                    <a:p>
                      <a:pPr marL="74295" marR="0" lvl="0" indent="0" algn="l" rtl="0">
                        <a:lnSpc>
                          <a:spcPct val="100000"/>
                        </a:lnSpc>
                        <a:spcBef>
                          <a:spcPts val="0"/>
                        </a:spcBef>
                        <a:spcAft>
                          <a:spcPts val="0"/>
                        </a:spcAft>
                        <a:buNone/>
                      </a:pPr>
                      <a:r>
                        <a:rPr lang="en-US" sz="1450" b="1" u="none" strike="noStrike" cap="none">
                          <a:solidFill>
                            <a:srgbClr val="FFFFFF"/>
                          </a:solidFill>
                          <a:latin typeface="Calibri"/>
                          <a:ea typeface="Calibri"/>
                          <a:cs typeface="Calibri"/>
                          <a:sym typeface="Calibri"/>
                        </a:rPr>
                        <a:t>Morphological Parse</a:t>
                      </a:r>
                      <a:endParaRPr sz="1450" u="none" strike="noStrike" cap="none">
                        <a:latin typeface="Calibri"/>
                        <a:ea typeface="Calibri"/>
                        <a:cs typeface="Calibri"/>
                        <a:sym typeface="Calibri"/>
                      </a:endParaRPr>
                    </a:p>
                  </a:txBody>
                  <a:tcPr marL="0" marR="0" marT="171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AD3"/>
                    </a:solidFill>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AD3"/>
                    </a:solidFill>
                  </a:tcPr>
                </a:tc>
                <a:tc rowSpan="3">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tcPr>
                </a:tc>
                <a:extLst>
                  <a:ext uri="{0D108BD9-81ED-4DB2-BD59-A6C34878D82A}">
                    <a16:rowId xmlns:a16="http://schemas.microsoft.com/office/drawing/2014/main" val="10000"/>
                  </a:ext>
                </a:extLst>
              </a:tr>
              <a:tr h="448050">
                <a:tc>
                  <a:txBody>
                    <a:bodyPr/>
                    <a:lstStyle/>
                    <a:p>
                      <a:pPr marL="74295" marR="0" lvl="0" indent="0" algn="l" rtl="0">
                        <a:lnSpc>
                          <a:spcPct val="100000"/>
                        </a:lnSpc>
                        <a:spcBef>
                          <a:spcPts val="0"/>
                        </a:spcBef>
                        <a:spcAft>
                          <a:spcPts val="0"/>
                        </a:spcAft>
                        <a:buNone/>
                      </a:pPr>
                      <a:r>
                        <a:rPr lang="en-US" sz="1450" u="none" strike="noStrike" cap="none">
                          <a:latin typeface="Calibri"/>
                          <a:ea typeface="Calibri"/>
                          <a:cs typeface="Calibri"/>
                          <a:sym typeface="Calibri"/>
                        </a:rPr>
                        <a:t>Cats</a:t>
                      </a:r>
                      <a:endParaRPr sz="1450" u="none" strike="noStrike" cap="none">
                        <a:latin typeface="Calibri"/>
                        <a:ea typeface="Calibri"/>
                        <a:cs typeface="Calibri"/>
                        <a:sym typeface="Calibri"/>
                      </a:endParaRPr>
                    </a:p>
                  </a:txBody>
                  <a:tcPr marL="0" marR="0" marT="171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74295" marR="0" lvl="0" indent="0" algn="l" rtl="0">
                        <a:lnSpc>
                          <a:spcPct val="100000"/>
                        </a:lnSpc>
                        <a:spcBef>
                          <a:spcPts val="0"/>
                        </a:spcBef>
                        <a:spcAft>
                          <a:spcPts val="0"/>
                        </a:spcAft>
                        <a:buNone/>
                      </a:pPr>
                      <a:r>
                        <a:rPr lang="en-US" sz="1450" u="none" strike="noStrike" cap="none">
                          <a:latin typeface="Calibri"/>
                          <a:ea typeface="Calibri"/>
                          <a:cs typeface="Calibri"/>
                          <a:sym typeface="Calibri"/>
                        </a:rPr>
                        <a:t>Cat + N + Pl</a:t>
                      </a:r>
                      <a:endParaRPr sz="1450" u="none" strike="noStrike" cap="none">
                        <a:latin typeface="Calibri"/>
                        <a:ea typeface="Calibri"/>
                        <a:cs typeface="Calibri"/>
                        <a:sym typeface="Calibri"/>
                      </a:endParaRPr>
                    </a:p>
                  </a:txBody>
                  <a:tcPr marL="0" marR="0" marT="171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vMerge="1">
                  <a:txBody>
                    <a:bodyPr/>
                    <a:lstStyle/>
                    <a:p>
                      <a:endParaRPr lang="en-US"/>
                    </a:p>
                  </a:txBody>
                  <a:tcPr/>
                </a:tc>
                <a:extLst>
                  <a:ext uri="{0D108BD9-81ED-4DB2-BD59-A6C34878D82A}">
                    <a16:rowId xmlns:a16="http://schemas.microsoft.com/office/drawing/2014/main" val="10001"/>
                  </a:ext>
                </a:extLst>
              </a:tr>
              <a:tr h="306325">
                <a:tc>
                  <a:txBody>
                    <a:bodyPr/>
                    <a:lstStyle/>
                    <a:p>
                      <a:pPr marL="74295" marR="0" lvl="0" indent="0" algn="l" rtl="0">
                        <a:lnSpc>
                          <a:spcPct val="100000"/>
                        </a:lnSpc>
                        <a:spcBef>
                          <a:spcPts val="0"/>
                        </a:spcBef>
                        <a:spcAft>
                          <a:spcPts val="0"/>
                        </a:spcAft>
                        <a:buNone/>
                      </a:pPr>
                      <a:r>
                        <a:rPr lang="en-US" sz="1450" u="none" strike="noStrike" cap="none">
                          <a:latin typeface="Calibri"/>
                          <a:ea typeface="Calibri"/>
                          <a:cs typeface="Calibri"/>
                          <a:sym typeface="Calibri"/>
                        </a:rPr>
                        <a:t>Cities</a:t>
                      </a:r>
                      <a:endParaRPr sz="1450" u="none" strike="noStrike" cap="none">
                        <a:latin typeface="Calibri"/>
                        <a:ea typeface="Calibri"/>
                        <a:cs typeface="Calibri"/>
                        <a:sym typeface="Calibri"/>
                      </a:endParaRPr>
                    </a:p>
                  </a:txBody>
                  <a:tcPr marL="0" marR="0" marT="171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tc>
                  <a:txBody>
                    <a:bodyPr/>
                    <a:lstStyle/>
                    <a:p>
                      <a:pPr marL="74295" marR="0" lvl="0" indent="0" algn="l" rtl="0">
                        <a:lnSpc>
                          <a:spcPct val="100000"/>
                        </a:lnSpc>
                        <a:spcBef>
                          <a:spcPts val="0"/>
                        </a:spcBef>
                        <a:spcAft>
                          <a:spcPts val="0"/>
                        </a:spcAft>
                        <a:buNone/>
                      </a:pPr>
                      <a:r>
                        <a:rPr lang="en-US" sz="1450" u="none" strike="noStrike" cap="none">
                          <a:latin typeface="Calibri"/>
                          <a:ea typeface="Calibri"/>
                          <a:cs typeface="Calibri"/>
                          <a:sym typeface="Calibri"/>
                        </a:rPr>
                        <a:t>City + N + Pl</a:t>
                      </a:r>
                      <a:endParaRPr sz="1450" u="none" strike="noStrike" cap="none">
                        <a:latin typeface="Calibri"/>
                        <a:ea typeface="Calibri"/>
                        <a:cs typeface="Calibri"/>
                        <a:sym typeface="Calibri"/>
                      </a:endParaRPr>
                    </a:p>
                  </a:txBody>
                  <a:tcPr marL="0" marR="0" marT="171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5B9AD3"/>
                      </a:solidFill>
                      <a:prstDash val="solid"/>
                      <a:round/>
                      <a:headEnd type="none" w="sm" len="sm"/>
                      <a:tailEnd type="none" w="sm" len="sm"/>
                    </a:lnB>
                    <a:solidFill>
                      <a:srgbClr val="E9EEF6"/>
                    </a:solidFill>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5B9AD3"/>
                      </a:solidFill>
                      <a:prstDash val="solid"/>
                      <a:round/>
                      <a:headEnd type="none" w="sm" len="sm"/>
                      <a:tailEnd type="none" w="sm" len="sm"/>
                    </a:lnB>
                    <a:solidFill>
                      <a:srgbClr val="E9EEF6"/>
                    </a:solidFill>
                  </a:tcPr>
                </a:tc>
                <a:tc vMerge="1">
                  <a:txBody>
                    <a:bodyPr/>
                    <a:lstStyle/>
                    <a:p>
                      <a:endParaRPr lang="en-US"/>
                    </a:p>
                  </a:txBody>
                  <a:tcPr/>
                </a:tc>
                <a:extLst>
                  <a:ext uri="{0D108BD9-81ED-4DB2-BD59-A6C34878D82A}">
                    <a16:rowId xmlns:a16="http://schemas.microsoft.com/office/drawing/2014/main" val="10002"/>
                  </a:ext>
                </a:extLst>
              </a:tr>
              <a:tr h="306325">
                <a:tc>
                  <a:txBody>
                    <a:bodyPr/>
                    <a:lstStyle/>
                    <a:p>
                      <a:pPr marL="74295" marR="0" lvl="0" indent="0" algn="l" rtl="0">
                        <a:lnSpc>
                          <a:spcPct val="100000"/>
                        </a:lnSpc>
                        <a:spcBef>
                          <a:spcPts val="0"/>
                        </a:spcBef>
                        <a:spcAft>
                          <a:spcPts val="0"/>
                        </a:spcAft>
                        <a:buNone/>
                      </a:pPr>
                      <a:r>
                        <a:rPr lang="en-US" sz="1450" u="none" strike="noStrike" cap="none">
                          <a:latin typeface="Calibri"/>
                          <a:ea typeface="Calibri"/>
                          <a:cs typeface="Calibri"/>
                          <a:sym typeface="Calibri"/>
                        </a:rPr>
                        <a:t>Caught</a:t>
                      </a:r>
                      <a:endParaRPr sz="1450" u="none" strike="noStrike" cap="none">
                        <a:latin typeface="Calibri"/>
                        <a:ea typeface="Calibri"/>
                        <a:cs typeface="Calibri"/>
                        <a:sym typeface="Calibri"/>
                      </a:endParaRPr>
                    </a:p>
                  </a:txBody>
                  <a:tcPr marL="0" marR="0" marT="171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74295" marR="0" lvl="0" indent="0" algn="l" rtl="0">
                        <a:lnSpc>
                          <a:spcPct val="100000"/>
                        </a:lnSpc>
                        <a:spcBef>
                          <a:spcPts val="0"/>
                        </a:spcBef>
                        <a:spcAft>
                          <a:spcPts val="0"/>
                        </a:spcAft>
                        <a:buNone/>
                      </a:pPr>
                      <a:r>
                        <a:rPr lang="en-US" sz="1450" u="none" strike="noStrike" cap="none">
                          <a:latin typeface="Calibri"/>
                          <a:ea typeface="Calibri"/>
                          <a:cs typeface="Calibri"/>
                          <a:sym typeface="Calibri"/>
                        </a:rPr>
                        <a:t>Catch + V + Past</a:t>
                      </a:r>
                      <a:endParaRPr sz="1450" u="none" strike="noStrike" cap="none">
                        <a:latin typeface="Calibri"/>
                        <a:ea typeface="Calibri"/>
                        <a:cs typeface="Calibri"/>
                        <a:sym typeface="Calibri"/>
                      </a:endParaRPr>
                    </a:p>
                  </a:txBody>
                  <a:tcPr marL="0" marR="0" marT="171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5B9AD3"/>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74295" marR="0" lvl="0" indent="0" algn="l" rtl="0">
                        <a:lnSpc>
                          <a:spcPct val="100000"/>
                        </a:lnSpc>
                        <a:spcBef>
                          <a:spcPts val="0"/>
                        </a:spcBef>
                        <a:spcAft>
                          <a:spcPts val="0"/>
                        </a:spcAft>
                        <a:buNone/>
                      </a:pPr>
                      <a:r>
                        <a:rPr lang="en-US" sz="1450" u="none" strike="noStrike" cap="none">
                          <a:latin typeface="Calibri"/>
                          <a:ea typeface="Calibri"/>
                          <a:cs typeface="Calibri"/>
                          <a:sym typeface="Calibri"/>
                        </a:rPr>
                        <a:t>Catch + V + PastParticiple</a:t>
                      </a:r>
                      <a:endParaRPr sz="1450" u="none" strike="noStrike" cap="none">
                        <a:latin typeface="Calibri"/>
                        <a:ea typeface="Calibri"/>
                        <a:cs typeface="Calibri"/>
                        <a:sym typeface="Calibri"/>
                      </a:endParaRPr>
                    </a:p>
                  </a:txBody>
                  <a:tcPr marL="0" marR="0" marT="171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5B9AD3"/>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rowSpan="3">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tcPr>
                </a:tc>
                <a:extLst>
                  <a:ext uri="{0D108BD9-81ED-4DB2-BD59-A6C34878D82A}">
                    <a16:rowId xmlns:a16="http://schemas.microsoft.com/office/drawing/2014/main" val="10003"/>
                  </a:ext>
                </a:extLst>
              </a:tr>
              <a:tr h="304800">
                <a:tc>
                  <a:txBody>
                    <a:bodyPr/>
                    <a:lstStyle/>
                    <a:p>
                      <a:pPr marL="74295" marR="0" lvl="0" indent="0" algn="l" rtl="0">
                        <a:lnSpc>
                          <a:spcPct val="100000"/>
                        </a:lnSpc>
                        <a:spcBef>
                          <a:spcPts val="0"/>
                        </a:spcBef>
                        <a:spcAft>
                          <a:spcPts val="0"/>
                        </a:spcAft>
                        <a:buNone/>
                      </a:pPr>
                      <a:r>
                        <a:rPr lang="en-US" sz="1450" u="none" strike="noStrike" cap="none">
                          <a:latin typeface="Calibri"/>
                          <a:ea typeface="Calibri"/>
                          <a:cs typeface="Calibri"/>
                          <a:sym typeface="Calibri"/>
                        </a:rPr>
                        <a:t>Dog</a:t>
                      </a:r>
                      <a:endParaRPr sz="1450" u="none" strike="noStrike" cap="none">
                        <a:latin typeface="Calibri"/>
                        <a:ea typeface="Calibri"/>
                        <a:cs typeface="Calibri"/>
                        <a:sym typeface="Calibri"/>
                      </a:endParaRPr>
                    </a:p>
                  </a:txBody>
                  <a:tcPr marL="0" marR="0" marT="17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tc>
                  <a:txBody>
                    <a:bodyPr/>
                    <a:lstStyle/>
                    <a:p>
                      <a:pPr marL="74295" marR="0" lvl="0" indent="0" algn="l" rtl="0">
                        <a:lnSpc>
                          <a:spcPct val="100000"/>
                        </a:lnSpc>
                        <a:spcBef>
                          <a:spcPts val="0"/>
                        </a:spcBef>
                        <a:spcAft>
                          <a:spcPts val="0"/>
                        </a:spcAft>
                        <a:buNone/>
                      </a:pPr>
                      <a:r>
                        <a:rPr lang="en-US" sz="1450" u="none" strike="noStrike" cap="none">
                          <a:latin typeface="Calibri"/>
                          <a:ea typeface="Calibri"/>
                          <a:cs typeface="Calibri"/>
                          <a:sym typeface="Calibri"/>
                        </a:rPr>
                        <a:t>Dog + N + SG</a:t>
                      </a:r>
                      <a:endParaRPr sz="1450" u="none" strike="noStrike" cap="none">
                        <a:latin typeface="Calibri"/>
                        <a:ea typeface="Calibri"/>
                        <a:cs typeface="Calibri"/>
                        <a:sym typeface="Calibri"/>
                      </a:endParaRPr>
                    </a:p>
                  </a:txBody>
                  <a:tcPr marL="0" marR="0" marT="17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tc vMerge="1">
                  <a:txBody>
                    <a:bodyPr/>
                    <a:lstStyle/>
                    <a:p>
                      <a:endParaRPr lang="en-US"/>
                    </a:p>
                  </a:txBody>
                  <a:tcPr/>
                </a:tc>
                <a:extLst>
                  <a:ext uri="{0D108BD9-81ED-4DB2-BD59-A6C34878D82A}">
                    <a16:rowId xmlns:a16="http://schemas.microsoft.com/office/drawing/2014/main" val="10004"/>
                  </a:ext>
                </a:extLst>
              </a:tr>
              <a:tr h="306325">
                <a:tc>
                  <a:txBody>
                    <a:bodyPr/>
                    <a:lstStyle/>
                    <a:p>
                      <a:pPr marL="74295" marR="0" lvl="0" indent="0" algn="l" rtl="0">
                        <a:lnSpc>
                          <a:spcPct val="100000"/>
                        </a:lnSpc>
                        <a:spcBef>
                          <a:spcPts val="0"/>
                        </a:spcBef>
                        <a:spcAft>
                          <a:spcPts val="0"/>
                        </a:spcAft>
                        <a:buNone/>
                      </a:pPr>
                      <a:r>
                        <a:rPr lang="en-US" sz="1450" u="none" strike="noStrike" cap="none">
                          <a:latin typeface="Calibri"/>
                          <a:ea typeface="Calibri"/>
                          <a:cs typeface="Calibri"/>
                          <a:sym typeface="Calibri"/>
                        </a:rPr>
                        <a:t>Playing</a:t>
                      </a:r>
                      <a:endParaRPr sz="1450" u="none" strike="noStrike" cap="none">
                        <a:latin typeface="Calibri"/>
                        <a:ea typeface="Calibri"/>
                        <a:cs typeface="Calibri"/>
                        <a:sym typeface="Calibri"/>
                      </a:endParaRPr>
                    </a:p>
                  </a:txBody>
                  <a:tcPr marL="0" marR="0" marT="190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74295" marR="0" lvl="0" indent="0" algn="l" rtl="0">
                        <a:lnSpc>
                          <a:spcPct val="100000"/>
                        </a:lnSpc>
                        <a:spcBef>
                          <a:spcPts val="0"/>
                        </a:spcBef>
                        <a:spcAft>
                          <a:spcPts val="0"/>
                        </a:spcAft>
                        <a:buNone/>
                      </a:pPr>
                      <a:r>
                        <a:rPr lang="en-US" sz="1450" u="none" strike="noStrike" cap="none">
                          <a:latin typeface="Calibri"/>
                          <a:ea typeface="Calibri"/>
                          <a:cs typeface="Calibri"/>
                          <a:sym typeface="Calibri"/>
                        </a:rPr>
                        <a:t>Play +V + PresPart</a:t>
                      </a:r>
                      <a:endParaRPr sz="1450" u="none" strike="noStrike" cap="none">
                        <a:latin typeface="Calibri"/>
                        <a:ea typeface="Calibri"/>
                        <a:cs typeface="Calibri"/>
                        <a:sym typeface="Calibri"/>
                      </a:endParaRPr>
                    </a:p>
                  </a:txBody>
                  <a:tcPr marL="0" marR="0" marT="190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vMerge="1">
                  <a:txBody>
                    <a:bodyPr/>
                    <a:lstStyle/>
                    <a:p>
                      <a:endParaRPr lang="en-US"/>
                    </a:p>
                  </a:txBody>
                  <a:tcPr/>
                </a:tc>
                <a:extLst>
                  <a:ext uri="{0D108BD9-81ED-4DB2-BD59-A6C34878D82A}">
                    <a16:rowId xmlns:a16="http://schemas.microsoft.com/office/drawing/2014/main" val="10005"/>
                  </a:ext>
                </a:extLst>
              </a:tr>
            </a:tbl>
          </a:graphicData>
        </a:graphic>
      </p:graphicFrame>
      <p:sp>
        <p:nvSpPr>
          <p:cNvPr id="419" name="Google Shape;419;p32"/>
          <p:cNvSpPr/>
          <p:nvPr/>
        </p:nvSpPr>
        <p:spPr>
          <a:xfrm>
            <a:off x="2922397" y="3646170"/>
            <a:ext cx="2235835" cy="306705"/>
          </a:xfrm>
          <a:custGeom>
            <a:avLst/>
            <a:gdLst/>
            <a:ahLst/>
            <a:cxnLst/>
            <a:rect l="l" t="t" r="r" b="b"/>
            <a:pathLst>
              <a:path w="2235835" h="306704" extrusionOk="0">
                <a:moveTo>
                  <a:pt x="2235835" y="0"/>
                </a:moveTo>
                <a:lnTo>
                  <a:pt x="0" y="0"/>
                </a:lnTo>
                <a:lnTo>
                  <a:pt x="0" y="306324"/>
                </a:lnTo>
                <a:lnTo>
                  <a:pt x="2235835" y="306324"/>
                </a:lnTo>
                <a:lnTo>
                  <a:pt x="2235835" y="0"/>
                </a:lnTo>
                <a:close/>
              </a:path>
            </a:pathLst>
          </a:custGeom>
          <a:solidFill>
            <a:srgbClr val="D1DDEE"/>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0" name="Google Shape;420;p32"/>
          <p:cNvSpPr txBox="1"/>
          <p:nvPr/>
        </p:nvSpPr>
        <p:spPr>
          <a:xfrm>
            <a:off x="7736078" y="3584194"/>
            <a:ext cx="782955"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rgbClr val="BE0000"/>
                </a:solidFill>
                <a:latin typeface="Calibri"/>
                <a:ea typeface="Calibri"/>
                <a:cs typeface="Calibri"/>
                <a:sym typeface="Calibri"/>
              </a:rPr>
              <a:t>ambiguity</a:t>
            </a:r>
            <a:endParaRPr sz="1450">
              <a:solidFill>
                <a:schemeClr val="dk1"/>
              </a:solidFill>
              <a:latin typeface="Calibri"/>
              <a:ea typeface="Calibri"/>
              <a:cs typeface="Calibri"/>
              <a:sym typeface="Calibri"/>
            </a:endParaRPr>
          </a:p>
        </p:txBody>
      </p:sp>
      <p:sp>
        <p:nvSpPr>
          <p:cNvPr id="421" name="Google Shape;421;p32"/>
          <p:cNvSpPr/>
          <p:nvPr/>
        </p:nvSpPr>
        <p:spPr>
          <a:xfrm>
            <a:off x="5029200" y="3677411"/>
            <a:ext cx="64135" cy="62865"/>
          </a:xfrm>
          <a:custGeom>
            <a:avLst/>
            <a:gdLst/>
            <a:ahLst/>
            <a:cxnLst/>
            <a:rect l="l" t="t" r="r" b="b"/>
            <a:pathLst>
              <a:path w="64135" h="62864" extrusionOk="0">
                <a:moveTo>
                  <a:pt x="62484" y="0"/>
                </a:moveTo>
                <a:lnTo>
                  <a:pt x="0" y="32003"/>
                </a:lnTo>
                <a:lnTo>
                  <a:pt x="64008" y="62484"/>
                </a:lnTo>
                <a:lnTo>
                  <a:pt x="63373" y="33527"/>
                </a:lnTo>
                <a:lnTo>
                  <a:pt x="53339" y="33527"/>
                </a:lnTo>
                <a:lnTo>
                  <a:pt x="53339" y="28955"/>
                </a:lnTo>
                <a:lnTo>
                  <a:pt x="63246" y="28828"/>
                </a:lnTo>
                <a:lnTo>
                  <a:pt x="62484"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2" name="Google Shape;422;p32"/>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Shape 426"/>
        <p:cNvGrpSpPr/>
        <p:nvPr/>
      </p:nvGrpSpPr>
      <p:grpSpPr>
        <a:xfrm>
          <a:off x="0" y="0"/>
          <a:ext cx="0" cy="0"/>
          <a:chOff x="0" y="0"/>
          <a:chExt cx="0" cy="0"/>
        </a:xfrm>
      </p:grpSpPr>
      <p:sp>
        <p:nvSpPr>
          <p:cNvPr id="427" name="Google Shape;427;p33"/>
          <p:cNvSpPr txBox="1">
            <a:spLocks noGrp="1"/>
          </p:cNvSpPr>
          <p:nvPr>
            <p:ph type="title"/>
          </p:nvPr>
        </p:nvSpPr>
        <p:spPr>
          <a:xfrm>
            <a:off x="456237" y="215530"/>
            <a:ext cx="6781800" cy="420628"/>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b="1"/>
              <a:t>How to build a Morphological parser?</a:t>
            </a:r>
            <a:endParaRPr/>
          </a:p>
        </p:txBody>
      </p:sp>
      <p:sp>
        <p:nvSpPr>
          <p:cNvPr id="428" name="Google Shape;428;p33"/>
          <p:cNvSpPr txBox="1"/>
          <p:nvPr/>
        </p:nvSpPr>
        <p:spPr>
          <a:xfrm>
            <a:off x="190500" y="838200"/>
            <a:ext cx="9677400" cy="6902467"/>
          </a:xfrm>
          <a:prstGeom prst="rect">
            <a:avLst/>
          </a:prstGeom>
          <a:noFill/>
          <a:ln>
            <a:noFill/>
          </a:ln>
        </p:spPr>
        <p:txBody>
          <a:bodyPr spcFirstLastPara="1" wrap="square" lIns="0" tIns="12050" rIns="0" bIns="0" anchor="t" anchorCtr="0">
            <a:spAutoFit/>
          </a:bodyPr>
          <a:lstStyle/>
          <a:p>
            <a:pPr marL="201295" marR="0" lvl="0" indent="-189230" algn="l" rtl="0">
              <a:lnSpc>
                <a:spcPct val="100000"/>
              </a:lnSpc>
              <a:spcBef>
                <a:spcPts val="0"/>
              </a:spcBef>
              <a:spcAft>
                <a:spcPts val="0"/>
              </a:spcAft>
              <a:buClr>
                <a:srgbClr val="0070C0"/>
              </a:buClr>
              <a:buSzPts val="2400"/>
              <a:buFont typeface="Arial"/>
              <a:buChar char="•"/>
            </a:pPr>
            <a:r>
              <a:rPr lang="en-US" sz="2400">
                <a:solidFill>
                  <a:srgbClr val="0070C0"/>
                </a:solidFill>
                <a:latin typeface="Calibri"/>
                <a:ea typeface="Calibri"/>
                <a:cs typeface="Calibri"/>
                <a:sym typeface="Calibri"/>
              </a:rPr>
              <a:t>Lexicon</a:t>
            </a:r>
            <a:endParaRPr sz="2400">
              <a:solidFill>
                <a:srgbClr val="0070C0"/>
              </a:solidFill>
              <a:latin typeface="Calibri"/>
              <a:ea typeface="Calibri"/>
              <a:cs typeface="Calibri"/>
              <a:sym typeface="Calibri"/>
            </a:endParaRPr>
          </a:p>
          <a:p>
            <a:pPr marL="212090" marR="0" lvl="0" indent="0" algn="l" rtl="0">
              <a:lnSpc>
                <a:spcPct val="100000"/>
              </a:lnSpc>
              <a:spcBef>
                <a:spcPts val="1240"/>
              </a:spcBef>
              <a:spcAft>
                <a:spcPts val="0"/>
              </a:spcAft>
              <a:buNone/>
            </a:pPr>
            <a:r>
              <a:rPr lang="en-US" sz="2400">
                <a:solidFill>
                  <a:schemeClr val="dk1"/>
                </a:solidFill>
                <a:latin typeface="Calibri"/>
                <a:ea typeface="Calibri"/>
                <a:cs typeface="Calibri"/>
                <a:sym typeface="Calibri"/>
              </a:rPr>
              <a:t>Lexicon is a list of stems and affixes along with basic information (whether a stem is a noun or verb)</a:t>
            </a:r>
            <a:endParaRPr sz="24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2400">
              <a:solidFill>
                <a:schemeClr val="dk1"/>
              </a:solidFill>
              <a:latin typeface="Calibri"/>
              <a:ea typeface="Calibri"/>
              <a:cs typeface="Calibri"/>
              <a:sym typeface="Calibri"/>
            </a:endParaRPr>
          </a:p>
          <a:p>
            <a:pPr marL="201295" marR="0" lvl="0" indent="-189230" algn="l" rtl="0">
              <a:lnSpc>
                <a:spcPct val="100000"/>
              </a:lnSpc>
              <a:spcBef>
                <a:spcPts val="0"/>
              </a:spcBef>
              <a:spcAft>
                <a:spcPts val="0"/>
              </a:spcAft>
              <a:buClr>
                <a:srgbClr val="0070C0"/>
              </a:buClr>
              <a:buSzPts val="2400"/>
              <a:buFont typeface="Arial"/>
              <a:buChar char="•"/>
            </a:pPr>
            <a:r>
              <a:rPr lang="en-US" sz="2400">
                <a:solidFill>
                  <a:srgbClr val="0070C0"/>
                </a:solidFill>
                <a:latin typeface="Calibri"/>
                <a:ea typeface="Calibri"/>
                <a:cs typeface="Calibri"/>
                <a:sym typeface="Calibri"/>
              </a:rPr>
              <a:t>Morphotactics</a:t>
            </a:r>
            <a:endParaRPr sz="2400">
              <a:solidFill>
                <a:srgbClr val="0070C0"/>
              </a:solidFill>
              <a:latin typeface="Calibri"/>
              <a:ea typeface="Calibri"/>
              <a:cs typeface="Calibri"/>
              <a:sym typeface="Calibri"/>
            </a:endParaRPr>
          </a:p>
          <a:p>
            <a:pPr marL="249554" marR="1878329" lvl="0" indent="-37465" algn="l" rtl="0">
              <a:lnSpc>
                <a:spcPct val="140000"/>
              </a:lnSpc>
              <a:spcBef>
                <a:spcPts val="185"/>
              </a:spcBef>
              <a:spcAft>
                <a:spcPts val="0"/>
              </a:spcAft>
              <a:buNone/>
            </a:pPr>
            <a:r>
              <a:rPr lang="en-US" sz="2400">
                <a:solidFill>
                  <a:schemeClr val="dk1"/>
                </a:solidFill>
                <a:latin typeface="Calibri"/>
                <a:ea typeface="Calibri"/>
                <a:cs typeface="Calibri"/>
                <a:sym typeface="Calibri"/>
              </a:rPr>
              <a:t>These are guiding rules for arrangement of morphemes from different classes  eg. Morphemes of which class can follow morphemes of other class</a:t>
            </a:r>
            <a:endParaRPr/>
          </a:p>
          <a:p>
            <a:pPr marL="577850" marR="0" lvl="0" indent="0" algn="l" rtl="0">
              <a:lnSpc>
                <a:spcPct val="100000"/>
              </a:lnSpc>
              <a:spcBef>
                <a:spcPts val="855"/>
              </a:spcBef>
              <a:spcAft>
                <a:spcPts val="0"/>
              </a:spcAft>
              <a:buNone/>
            </a:pPr>
            <a:r>
              <a:rPr lang="en-US" sz="2400">
                <a:solidFill>
                  <a:schemeClr val="dk1"/>
                </a:solidFill>
                <a:latin typeface="Calibri"/>
                <a:ea typeface="Calibri"/>
                <a:cs typeface="Calibri"/>
                <a:sym typeface="Calibri"/>
              </a:rPr>
              <a:t>boy – boyes</a:t>
            </a:r>
            <a:endParaRPr sz="2400">
              <a:solidFill>
                <a:schemeClr val="dk1"/>
              </a:solidFill>
              <a:latin typeface="Calibri"/>
              <a:ea typeface="Calibri"/>
              <a:cs typeface="Calibri"/>
              <a:sym typeface="Calibri"/>
            </a:endParaRPr>
          </a:p>
          <a:p>
            <a:pPr marL="624840" marR="0" lvl="0" indent="0" algn="l" rtl="0">
              <a:lnSpc>
                <a:spcPct val="100000"/>
              </a:lnSpc>
              <a:spcBef>
                <a:spcPts val="605"/>
              </a:spcBef>
              <a:spcAft>
                <a:spcPts val="0"/>
              </a:spcAft>
              <a:buNone/>
            </a:pPr>
            <a:r>
              <a:rPr lang="en-US" sz="2400">
                <a:solidFill>
                  <a:schemeClr val="dk1"/>
                </a:solidFill>
                <a:latin typeface="Calibri"/>
                <a:ea typeface="Calibri"/>
                <a:cs typeface="Calibri"/>
                <a:sym typeface="Calibri"/>
              </a:rPr>
              <a:t>girl – girls	here ‘es’ and ‘s’ follow the nouns, they can not precede the noun</a:t>
            </a:r>
            <a:endParaRPr sz="24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2400">
              <a:solidFill>
                <a:schemeClr val="dk1"/>
              </a:solidFill>
              <a:latin typeface="Calibri"/>
              <a:ea typeface="Calibri"/>
              <a:cs typeface="Calibri"/>
              <a:sym typeface="Calibri"/>
            </a:endParaRPr>
          </a:p>
          <a:p>
            <a:pPr marL="201295" marR="0" lvl="0" indent="-189230" algn="l" rtl="0">
              <a:lnSpc>
                <a:spcPct val="100000"/>
              </a:lnSpc>
              <a:spcBef>
                <a:spcPts val="5"/>
              </a:spcBef>
              <a:spcAft>
                <a:spcPts val="0"/>
              </a:spcAft>
              <a:buClr>
                <a:srgbClr val="0070C0"/>
              </a:buClr>
              <a:buSzPts val="2400"/>
              <a:buFont typeface="Arial"/>
              <a:buChar char="•"/>
            </a:pPr>
            <a:r>
              <a:rPr lang="en-US" sz="2400">
                <a:solidFill>
                  <a:srgbClr val="0070C0"/>
                </a:solidFill>
                <a:latin typeface="Calibri"/>
                <a:ea typeface="Calibri"/>
                <a:cs typeface="Calibri"/>
                <a:sym typeface="Calibri"/>
              </a:rPr>
              <a:t>Orthographic rules</a:t>
            </a:r>
            <a:endParaRPr sz="2400">
              <a:solidFill>
                <a:srgbClr val="0070C0"/>
              </a:solidFill>
              <a:latin typeface="Calibri"/>
              <a:ea typeface="Calibri"/>
              <a:cs typeface="Calibri"/>
              <a:sym typeface="Calibri"/>
            </a:endParaRPr>
          </a:p>
          <a:p>
            <a:pPr marL="767715" marR="15875" lvl="0" indent="-487680" algn="l" rtl="0">
              <a:lnSpc>
                <a:spcPct val="100899"/>
              </a:lnSpc>
              <a:spcBef>
                <a:spcPts val="1280"/>
              </a:spcBef>
              <a:spcAft>
                <a:spcPts val="0"/>
              </a:spcAft>
              <a:buNone/>
            </a:pPr>
            <a:r>
              <a:rPr lang="en-US" sz="2400">
                <a:solidFill>
                  <a:schemeClr val="dk1"/>
                </a:solidFill>
                <a:latin typeface="Calibri"/>
                <a:ea typeface="Calibri"/>
                <a:cs typeface="Calibri"/>
                <a:sym typeface="Calibri"/>
              </a:rPr>
              <a:t>Spelling rules – they guide about the changes occurring in a word stem while combining with other  morphemes	eg. City – cities ……not citys</a:t>
            </a:r>
            <a:endParaRPr sz="2400">
              <a:solidFill>
                <a:schemeClr val="dk1"/>
              </a:solidFill>
              <a:latin typeface="Calibri"/>
              <a:ea typeface="Calibri"/>
              <a:cs typeface="Calibri"/>
              <a:sym typeface="Calibri"/>
            </a:endParaRPr>
          </a:p>
        </p:txBody>
      </p:sp>
      <p:sp>
        <p:nvSpPr>
          <p:cNvPr id="429" name="Google Shape;429;p33"/>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34</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Shape 433"/>
        <p:cNvGrpSpPr/>
        <p:nvPr/>
      </p:nvGrpSpPr>
      <p:grpSpPr>
        <a:xfrm>
          <a:off x="0" y="0"/>
          <a:ext cx="0" cy="0"/>
          <a:chOff x="0" y="0"/>
          <a:chExt cx="0" cy="0"/>
        </a:xfrm>
      </p:grpSpPr>
      <p:sp>
        <p:nvSpPr>
          <p:cNvPr id="434" name="Google Shape;434;p34"/>
          <p:cNvSpPr txBox="1">
            <a:spLocks noGrp="1"/>
          </p:cNvSpPr>
          <p:nvPr>
            <p:ph type="title"/>
          </p:nvPr>
        </p:nvSpPr>
        <p:spPr>
          <a:xfrm>
            <a:off x="754126" y="1423669"/>
            <a:ext cx="1002030" cy="38417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350"/>
              <a:t>Exercise</a:t>
            </a:r>
            <a:endParaRPr sz="2350"/>
          </a:p>
        </p:txBody>
      </p:sp>
      <p:sp>
        <p:nvSpPr>
          <p:cNvPr id="435" name="Google Shape;435;p34"/>
          <p:cNvSpPr txBox="1"/>
          <p:nvPr/>
        </p:nvSpPr>
        <p:spPr>
          <a:xfrm>
            <a:off x="352552" y="2200402"/>
            <a:ext cx="5340350" cy="322580"/>
          </a:xfrm>
          <a:prstGeom prst="rect">
            <a:avLst/>
          </a:prstGeom>
          <a:noFill/>
          <a:ln>
            <a:noFill/>
          </a:ln>
        </p:spPr>
        <p:txBody>
          <a:bodyPr spcFirstLastPara="1" wrap="square" lIns="0" tIns="12700" rIns="0" bIns="0" anchor="t" anchorCtr="0">
            <a:spAutoFit/>
          </a:bodyPr>
          <a:lstStyle/>
          <a:p>
            <a:pPr marL="201295" marR="0" lvl="0" indent="-189230" algn="l" rtl="0">
              <a:lnSpc>
                <a:spcPct val="100000"/>
              </a:lnSpc>
              <a:spcBef>
                <a:spcPts val="0"/>
              </a:spcBef>
              <a:spcAft>
                <a:spcPts val="0"/>
              </a:spcAft>
              <a:buClr>
                <a:schemeClr val="dk1"/>
              </a:buClr>
              <a:buSzPts val="1950"/>
              <a:buFont typeface="Arial"/>
              <a:buChar char="•"/>
            </a:pPr>
            <a:r>
              <a:rPr lang="en-US" sz="1950">
                <a:solidFill>
                  <a:schemeClr val="dk1"/>
                </a:solidFill>
                <a:latin typeface="Calibri"/>
                <a:ea typeface="Calibri"/>
                <a:cs typeface="Calibri"/>
                <a:sym typeface="Calibri"/>
              </a:rPr>
              <a:t>Represent morphological parse of following words.</a:t>
            </a:r>
            <a:endParaRPr sz="1950">
              <a:solidFill>
                <a:schemeClr val="dk1"/>
              </a:solidFill>
              <a:latin typeface="Calibri"/>
              <a:ea typeface="Calibri"/>
              <a:cs typeface="Calibri"/>
              <a:sym typeface="Calibri"/>
            </a:endParaRPr>
          </a:p>
        </p:txBody>
      </p:sp>
      <p:graphicFrame>
        <p:nvGraphicFramePr>
          <p:cNvPr id="436" name="Google Shape;436;p34"/>
          <p:cNvGraphicFramePr/>
          <p:nvPr/>
        </p:nvGraphicFramePr>
        <p:xfrm>
          <a:off x="486663" y="2932683"/>
          <a:ext cx="7304400" cy="3260240"/>
        </p:xfrm>
        <a:graphic>
          <a:graphicData uri="http://schemas.openxmlformats.org/drawingml/2006/table">
            <a:tbl>
              <a:tblPr firstRow="1" bandRow="1">
                <a:noFill/>
                <a:tableStyleId>{E85DE1A1-A1B0-44A0-A59F-CCC16BF1A76C}</a:tableStyleId>
              </a:tblPr>
              <a:tblGrid>
                <a:gridCol w="2435225">
                  <a:extLst>
                    <a:ext uri="{9D8B030D-6E8A-4147-A177-3AD203B41FA5}">
                      <a16:colId xmlns:a16="http://schemas.microsoft.com/office/drawing/2014/main" val="20000"/>
                    </a:ext>
                  </a:extLst>
                </a:gridCol>
                <a:gridCol w="2433950">
                  <a:extLst>
                    <a:ext uri="{9D8B030D-6E8A-4147-A177-3AD203B41FA5}">
                      <a16:colId xmlns:a16="http://schemas.microsoft.com/office/drawing/2014/main" val="20001"/>
                    </a:ext>
                  </a:extLst>
                </a:gridCol>
                <a:gridCol w="2435225">
                  <a:extLst>
                    <a:ext uri="{9D8B030D-6E8A-4147-A177-3AD203B41FA5}">
                      <a16:colId xmlns:a16="http://schemas.microsoft.com/office/drawing/2014/main" val="20002"/>
                    </a:ext>
                  </a:extLst>
                </a:gridCol>
              </a:tblGrid>
              <a:tr h="466350">
                <a:tc>
                  <a:txBody>
                    <a:bodyPr/>
                    <a:lstStyle/>
                    <a:p>
                      <a:pPr marL="74295" marR="0" lvl="0" indent="0" algn="l" rtl="0">
                        <a:lnSpc>
                          <a:spcPct val="100000"/>
                        </a:lnSpc>
                        <a:spcBef>
                          <a:spcPts val="0"/>
                        </a:spcBef>
                        <a:spcAft>
                          <a:spcPts val="0"/>
                        </a:spcAft>
                        <a:buNone/>
                      </a:pPr>
                      <a:r>
                        <a:rPr lang="en-US" sz="2800" b="1" u="none" strike="noStrike" cap="none">
                          <a:solidFill>
                            <a:srgbClr val="FFFFFF"/>
                          </a:solidFill>
                          <a:latin typeface="Calibri"/>
                          <a:ea typeface="Calibri"/>
                          <a:cs typeface="Calibri"/>
                          <a:sym typeface="Calibri"/>
                        </a:rPr>
                        <a:t>Input</a:t>
                      </a:r>
                      <a:endParaRPr sz="2800" u="none" strike="noStrike" cap="none">
                        <a:latin typeface="Calibri"/>
                        <a:ea typeface="Calibri"/>
                        <a:cs typeface="Calibri"/>
                        <a:sym typeface="Calibri"/>
                      </a:endParaRPr>
                    </a:p>
                  </a:txBody>
                  <a:tcPr marL="0" marR="0" marT="171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AD3"/>
                    </a:solidFill>
                  </a:tcPr>
                </a:tc>
                <a:tc>
                  <a:txBody>
                    <a:bodyPr/>
                    <a:lstStyle/>
                    <a:p>
                      <a:pPr marL="74295" marR="0" lvl="0" indent="0" algn="l" rtl="0">
                        <a:lnSpc>
                          <a:spcPct val="100000"/>
                        </a:lnSpc>
                        <a:spcBef>
                          <a:spcPts val="0"/>
                        </a:spcBef>
                        <a:spcAft>
                          <a:spcPts val="0"/>
                        </a:spcAft>
                        <a:buNone/>
                      </a:pPr>
                      <a:r>
                        <a:rPr lang="en-US" sz="2800" b="1" u="none" strike="noStrike" cap="none">
                          <a:solidFill>
                            <a:srgbClr val="FFFFFF"/>
                          </a:solidFill>
                          <a:latin typeface="Calibri"/>
                          <a:ea typeface="Calibri"/>
                          <a:cs typeface="Calibri"/>
                          <a:sym typeface="Calibri"/>
                        </a:rPr>
                        <a:t>Morphological Parse</a:t>
                      </a:r>
                      <a:endParaRPr sz="2800" u="none" strike="noStrike" cap="none">
                        <a:latin typeface="Calibri"/>
                        <a:ea typeface="Calibri"/>
                        <a:cs typeface="Calibri"/>
                        <a:sym typeface="Calibri"/>
                      </a:endParaRPr>
                    </a:p>
                  </a:txBody>
                  <a:tcPr marL="0" marR="0" marT="171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AD3"/>
                    </a:solidFill>
                  </a:tcPr>
                </a:tc>
                <a:tc>
                  <a:txBody>
                    <a:bodyPr/>
                    <a:lstStyle/>
                    <a:p>
                      <a:pPr marL="0" marR="0" lvl="0" indent="0" algn="l" rtl="0">
                        <a:lnSpc>
                          <a:spcPct val="100000"/>
                        </a:lnSpc>
                        <a:spcBef>
                          <a:spcPts val="0"/>
                        </a:spcBef>
                        <a:spcAft>
                          <a:spcPts val="0"/>
                        </a:spcAft>
                        <a:buNone/>
                      </a:pPr>
                      <a:endParaRPr sz="28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AD3"/>
                    </a:solidFill>
                  </a:tcPr>
                </a:tc>
                <a:extLst>
                  <a:ext uri="{0D108BD9-81ED-4DB2-BD59-A6C34878D82A}">
                    <a16:rowId xmlns:a16="http://schemas.microsoft.com/office/drawing/2014/main" val="10000"/>
                  </a:ext>
                </a:extLst>
              </a:tr>
              <a:tr h="521200">
                <a:tc>
                  <a:txBody>
                    <a:bodyPr/>
                    <a:lstStyle/>
                    <a:p>
                      <a:pPr marL="74295" marR="0" lvl="0" indent="0" algn="l" rtl="0">
                        <a:lnSpc>
                          <a:spcPct val="100000"/>
                        </a:lnSpc>
                        <a:spcBef>
                          <a:spcPts val="0"/>
                        </a:spcBef>
                        <a:spcAft>
                          <a:spcPts val="0"/>
                        </a:spcAft>
                        <a:buNone/>
                      </a:pPr>
                      <a:r>
                        <a:rPr lang="en-US" sz="2800" u="none" strike="noStrike" cap="none">
                          <a:latin typeface="Calibri"/>
                          <a:ea typeface="Calibri"/>
                          <a:cs typeface="Calibri"/>
                          <a:sym typeface="Calibri"/>
                        </a:rPr>
                        <a:t>patents</a:t>
                      </a:r>
                      <a:endParaRPr sz="2800" u="none" strike="noStrike" cap="none">
                        <a:latin typeface="Calibri"/>
                        <a:ea typeface="Calibri"/>
                        <a:cs typeface="Calibri"/>
                        <a:sym typeface="Calibri"/>
                      </a:endParaRPr>
                    </a:p>
                  </a:txBody>
                  <a:tcPr marL="0" marR="0" marT="184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0" marR="0" lvl="0" indent="0" algn="l" rtl="0">
                        <a:lnSpc>
                          <a:spcPct val="100000"/>
                        </a:lnSpc>
                        <a:spcBef>
                          <a:spcPts val="0"/>
                        </a:spcBef>
                        <a:spcAft>
                          <a:spcPts val="0"/>
                        </a:spcAft>
                        <a:buNone/>
                      </a:pPr>
                      <a:endParaRPr sz="28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0" marR="0" lvl="0" indent="0" algn="l" rtl="0">
                        <a:lnSpc>
                          <a:spcPct val="100000"/>
                        </a:lnSpc>
                        <a:spcBef>
                          <a:spcPts val="0"/>
                        </a:spcBef>
                        <a:spcAft>
                          <a:spcPts val="0"/>
                        </a:spcAft>
                        <a:buNone/>
                      </a:pPr>
                      <a:endParaRPr sz="28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extLst>
                  <a:ext uri="{0D108BD9-81ED-4DB2-BD59-A6C34878D82A}">
                    <a16:rowId xmlns:a16="http://schemas.microsoft.com/office/drawing/2014/main" val="10001"/>
                  </a:ext>
                </a:extLst>
              </a:tr>
              <a:tr h="467875">
                <a:tc>
                  <a:txBody>
                    <a:bodyPr/>
                    <a:lstStyle/>
                    <a:p>
                      <a:pPr marL="74295" marR="0" lvl="0" indent="0" algn="l" rtl="0">
                        <a:lnSpc>
                          <a:spcPct val="100000"/>
                        </a:lnSpc>
                        <a:spcBef>
                          <a:spcPts val="0"/>
                        </a:spcBef>
                        <a:spcAft>
                          <a:spcPts val="0"/>
                        </a:spcAft>
                        <a:buNone/>
                      </a:pPr>
                      <a:r>
                        <a:rPr lang="en-US" sz="2800" u="none" strike="noStrike" cap="none">
                          <a:latin typeface="Calibri"/>
                          <a:ea typeface="Calibri"/>
                          <a:cs typeface="Calibri"/>
                          <a:sym typeface="Calibri"/>
                        </a:rPr>
                        <a:t>balloons</a:t>
                      </a:r>
                      <a:endParaRPr sz="2800" u="none" strike="noStrike" cap="none">
                        <a:latin typeface="Calibri"/>
                        <a:ea typeface="Calibri"/>
                        <a:cs typeface="Calibri"/>
                        <a:sym typeface="Calibri"/>
                      </a:endParaRPr>
                    </a:p>
                  </a:txBody>
                  <a:tcPr marL="0" marR="0" marT="190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tc>
                  <a:txBody>
                    <a:bodyPr/>
                    <a:lstStyle/>
                    <a:p>
                      <a:pPr marL="0" marR="0" lvl="0" indent="0" algn="l" rtl="0">
                        <a:lnSpc>
                          <a:spcPct val="100000"/>
                        </a:lnSpc>
                        <a:spcBef>
                          <a:spcPts val="0"/>
                        </a:spcBef>
                        <a:spcAft>
                          <a:spcPts val="0"/>
                        </a:spcAft>
                        <a:buNone/>
                      </a:pPr>
                      <a:endParaRPr sz="28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tc>
                  <a:txBody>
                    <a:bodyPr/>
                    <a:lstStyle/>
                    <a:p>
                      <a:pPr marL="0" marR="0" lvl="0" indent="0" algn="l" rtl="0">
                        <a:lnSpc>
                          <a:spcPct val="100000"/>
                        </a:lnSpc>
                        <a:spcBef>
                          <a:spcPts val="0"/>
                        </a:spcBef>
                        <a:spcAft>
                          <a:spcPts val="0"/>
                        </a:spcAft>
                        <a:buNone/>
                      </a:pPr>
                      <a:endParaRPr sz="28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extLst>
                  <a:ext uri="{0D108BD9-81ED-4DB2-BD59-A6C34878D82A}">
                    <a16:rowId xmlns:a16="http://schemas.microsoft.com/office/drawing/2014/main" val="10002"/>
                  </a:ext>
                </a:extLst>
              </a:tr>
              <a:tr h="466350">
                <a:tc>
                  <a:txBody>
                    <a:bodyPr/>
                    <a:lstStyle/>
                    <a:p>
                      <a:pPr marL="74295" marR="0" lvl="0" indent="0" algn="l" rtl="0">
                        <a:lnSpc>
                          <a:spcPct val="100000"/>
                        </a:lnSpc>
                        <a:spcBef>
                          <a:spcPts val="0"/>
                        </a:spcBef>
                        <a:spcAft>
                          <a:spcPts val="0"/>
                        </a:spcAft>
                        <a:buNone/>
                      </a:pPr>
                      <a:r>
                        <a:rPr lang="en-US" sz="2800" u="none" strike="noStrike" cap="none">
                          <a:latin typeface="Calibri"/>
                          <a:ea typeface="Calibri"/>
                          <a:cs typeface="Calibri"/>
                          <a:sym typeface="Calibri"/>
                        </a:rPr>
                        <a:t>watched</a:t>
                      </a:r>
                      <a:endParaRPr sz="2800" u="none" strike="noStrike" cap="none">
                        <a:latin typeface="Calibri"/>
                        <a:ea typeface="Calibri"/>
                        <a:cs typeface="Calibri"/>
                        <a:sym typeface="Calibri"/>
                      </a:endParaRPr>
                    </a:p>
                  </a:txBody>
                  <a:tcPr marL="0" marR="0" marT="17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0" marR="0" lvl="0" indent="0" algn="l" rtl="0">
                        <a:lnSpc>
                          <a:spcPct val="100000"/>
                        </a:lnSpc>
                        <a:spcBef>
                          <a:spcPts val="0"/>
                        </a:spcBef>
                        <a:spcAft>
                          <a:spcPts val="0"/>
                        </a:spcAft>
                        <a:buNone/>
                      </a:pPr>
                      <a:endParaRPr sz="28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0" marR="0" lvl="0" indent="0" algn="l" rtl="0">
                        <a:lnSpc>
                          <a:spcPct val="100000"/>
                        </a:lnSpc>
                        <a:spcBef>
                          <a:spcPts val="0"/>
                        </a:spcBef>
                        <a:spcAft>
                          <a:spcPts val="0"/>
                        </a:spcAft>
                        <a:buNone/>
                      </a:pPr>
                      <a:endParaRPr sz="28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extLst>
                  <a:ext uri="{0D108BD9-81ED-4DB2-BD59-A6C34878D82A}">
                    <a16:rowId xmlns:a16="http://schemas.microsoft.com/office/drawing/2014/main" val="10003"/>
                  </a:ext>
                </a:extLst>
              </a:tr>
              <a:tr h="466350">
                <a:tc>
                  <a:txBody>
                    <a:bodyPr/>
                    <a:lstStyle/>
                    <a:p>
                      <a:pPr marL="74295" marR="0" lvl="0" indent="0" algn="l" rtl="0">
                        <a:lnSpc>
                          <a:spcPct val="100000"/>
                        </a:lnSpc>
                        <a:spcBef>
                          <a:spcPts val="0"/>
                        </a:spcBef>
                        <a:spcAft>
                          <a:spcPts val="0"/>
                        </a:spcAft>
                        <a:buNone/>
                      </a:pPr>
                      <a:r>
                        <a:rPr lang="en-US" sz="2800" u="none" strike="noStrike" cap="none">
                          <a:latin typeface="Calibri"/>
                          <a:ea typeface="Calibri"/>
                          <a:cs typeface="Calibri"/>
                          <a:sym typeface="Calibri"/>
                        </a:rPr>
                        <a:t>animal</a:t>
                      </a:r>
                      <a:endParaRPr sz="2800" u="none" strike="noStrike" cap="none">
                        <a:latin typeface="Calibri"/>
                        <a:ea typeface="Calibri"/>
                        <a:cs typeface="Calibri"/>
                        <a:sym typeface="Calibri"/>
                      </a:endParaRPr>
                    </a:p>
                  </a:txBody>
                  <a:tcPr marL="0" marR="0" marT="17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tc>
                  <a:txBody>
                    <a:bodyPr/>
                    <a:lstStyle/>
                    <a:p>
                      <a:pPr marL="0" marR="0" lvl="0" indent="0" algn="l" rtl="0">
                        <a:lnSpc>
                          <a:spcPct val="100000"/>
                        </a:lnSpc>
                        <a:spcBef>
                          <a:spcPts val="0"/>
                        </a:spcBef>
                        <a:spcAft>
                          <a:spcPts val="0"/>
                        </a:spcAft>
                        <a:buNone/>
                      </a:pPr>
                      <a:endParaRPr sz="28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tc>
                  <a:txBody>
                    <a:bodyPr/>
                    <a:lstStyle/>
                    <a:p>
                      <a:pPr marL="0" marR="0" lvl="0" indent="0" algn="l" rtl="0">
                        <a:lnSpc>
                          <a:spcPct val="100000"/>
                        </a:lnSpc>
                        <a:spcBef>
                          <a:spcPts val="0"/>
                        </a:spcBef>
                        <a:spcAft>
                          <a:spcPts val="0"/>
                        </a:spcAft>
                        <a:buNone/>
                      </a:pPr>
                      <a:endParaRPr sz="28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extLst>
                  <a:ext uri="{0D108BD9-81ED-4DB2-BD59-A6C34878D82A}">
                    <a16:rowId xmlns:a16="http://schemas.microsoft.com/office/drawing/2014/main" val="10004"/>
                  </a:ext>
                </a:extLst>
              </a:tr>
              <a:tr h="467875">
                <a:tc>
                  <a:txBody>
                    <a:bodyPr/>
                    <a:lstStyle/>
                    <a:p>
                      <a:pPr marL="74295" marR="0" lvl="0" indent="0" algn="l" rtl="0">
                        <a:lnSpc>
                          <a:spcPct val="100000"/>
                        </a:lnSpc>
                        <a:spcBef>
                          <a:spcPts val="0"/>
                        </a:spcBef>
                        <a:spcAft>
                          <a:spcPts val="0"/>
                        </a:spcAft>
                        <a:buNone/>
                      </a:pPr>
                      <a:r>
                        <a:rPr lang="en-US" sz="2800" u="none" strike="noStrike" cap="none">
                          <a:latin typeface="Calibri"/>
                          <a:ea typeface="Calibri"/>
                          <a:cs typeface="Calibri"/>
                          <a:sym typeface="Calibri"/>
                        </a:rPr>
                        <a:t>going</a:t>
                      </a:r>
                      <a:endParaRPr sz="2800" u="none" strike="noStrike" cap="none">
                        <a:latin typeface="Calibri"/>
                        <a:ea typeface="Calibri"/>
                        <a:cs typeface="Calibri"/>
                        <a:sym typeface="Calibri"/>
                      </a:endParaRPr>
                    </a:p>
                  </a:txBody>
                  <a:tcPr marL="0" marR="0" marT="190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0" marR="0" lvl="0" indent="0" algn="l" rtl="0">
                        <a:lnSpc>
                          <a:spcPct val="100000"/>
                        </a:lnSpc>
                        <a:spcBef>
                          <a:spcPts val="0"/>
                        </a:spcBef>
                        <a:spcAft>
                          <a:spcPts val="0"/>
                        </a:spcAft>
                        <a:buNone/>
                      </a:pPr>
                      <a:endParaRPr sz="28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0" marR="0" lvl="0" indent="0" algn="l" rtl="0">
                        <a:lnSpc>
                          <a:spcPct val="100000"/>
                        </a:lnSpc>
                        <a:spcBef>
                          <a:spcPts val="0"/>
                        </a:spcBef>
                        <a:spcAft>
                          <a:spcPts val="0"/>
                        </a:spcAft>
                        <a:buNone/>
                      </a:pPr>
                      <a:endParaRPr sz="28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extLst>
                  <a:ext uri="{0D108BD9-81ED-4DB2-BD59-A6C34878D82A}">
                    <a16:rowId xmlns:a16="http://schemas.microsoft.com/office/drawing/2014/main" val="10005"/>
                  </a:ext>
                </a:extLst>
              </a:tr>
            </a:tbl>
          </a:graphicData>
        </a:graphic>
      </p:graphicFrame>
      <p:sp>
        <p:nvSpPr>
          <p:cNvPr id="437" name="Google Shape;437;p34"/>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35</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Shape 441"/>
        <p:cNvGrpSpPr/>
        <p:nvPr/>
      </p:nvGrpSpPr>
      <p:grpSpPr>
        <a:xfrm>
          <a:off x="0" y="0"/>
          <a:ext cx="0" cy="0"/>
          <a:chOff x="0" y="0"/>
          <a:chExt cx="0" cy="0"/>
        </a:xfrm>
      </p:grpSpPr>
      <p:sp>
        <p:nvSpPr>
          <p:cNvPr id="442" name="Google Shape;442;p35"/>
          <p:cNvSpPr txBox="1"/>
          <p:nvPr/>
        </p:nvSpPr>
        <p:spPr>
          <a:xfrm>
            <a:off x="581151" y="1795017"/>
            <a:ext cx="2637790" cy="375920"/>
          </a:xfrm>
          <a:prstGeom prst="rect">
            <a:avLst/>
          </a:prstGeom>
          <a:noFill/>
          <a:ln>
            <a:noFill/>
          </a:ln>
        </p:spPr>
        <p:txBody>
          <a:bodyPr spcFirstLastPara="1" wrap="square" lIns="0" tIns="12700" rIns="0" bIns="0" anchor="t" anchorCtr="0">
            <a:spAutoFit/>
          </a:bodyPr>
          <a:lstStyle/>
          <a:p>
            <a:pPr marL="201295" marR="0" lvl="0" indent="-189230" algn="l" rtl="0">
              <a:lnSpc>
                <a:spcPct val="100000"/>
              </a:lnSpc>
              <a:spcBef>
                <a:spcPts val="0"/>
              </a:spcBef>
              <a:spcAft>
                <a:spcPts val="0"/>
              </a:spcAft>
              <a:buClr>
                <a:schemeClr val="dk1"/>
              </a:buClr>
              <a:buSzPts val="2300"/>
              <a:buFont typeface="Arial"/>
              <a:buChar char="•"/>
            </a:pPr>
            <a:r>
              <a:rPr lang="en-US" sz="2300">
                <a:solidFill>
                  <a:schemeClr val="dk1"/>
                </a:solidFill>
                <a:latin typeface="Calibri"/>
                <a:ea typeface="Calibri"/>
                <a:cs typeface="Calibri"/>
                <a:sym typeface="Calibri"/>
              </a:rPr>
              <a:t>Morphological parse</a:t>
            </a:r>
            <a:endParaRPr sz="2300">
              <a:solidFill>
                <a:schemeClr val="dk1"/>
              </a:solidFill>
              <a:latin typeface="Calibri"/>
              <a:ea typeface="Calibri"/>
              <a:cs typeface="Calibri"/>
              <a:sym typeface="Calibri"/>
            </a:endParaRPr>
          </a:p>
        </p:txBody>
      </p:sp>
      <p:graphicFrame>
        <p:nvGraphicFramePr>
          <p:cNvPr id="443" name="Google Shape;443;p35"/>
          <p:cNvGraphicFramePr/>
          <p:nvPr/>
        </p:nvGraphicFramePr>
        <p:xfrm>
          <a:off x="648208" y="2480055"/>
          <a:ext cx="7476500" cy="3228195"/>
        </p:xfrm>
        <a:graphic>
          <a:graphicData uri="http://schemas.openxmlformats.org/drawingml/2006/table">
            <a:tbl>
              <a:tblPr firstRow="1" bandRow="1">
                <a:noFill/>
                <a:tableStyleId>{E85DE1A1-A1B0-44A0-A59F-CCC16BF1A76C}</a:tableStyleId>
              </a:tblPr>
              <a:tblGrid>
                <a:gridCol w="2491750">
                  <a:extLst>
                    <a:ext uri="{9D8B030D-6E8A-4147-A177-3AD203B41FA5}">
                      <a16:colId xmlns:a16="http://schemas.microsoft.com/office/drawing/2014/main" val="20000"/>
                    </a:ext>
                  </a:extLst>
                </a:gridCol>
                <a:gridCol w="2493000">
                  <a:extLst>
                    <a:ext uri="{9D8B030D-6E8A-4147-A177-3AD203B41FA5}">
                      <a16:colId xmlns:a16="http://schemas.microsoft.com/office/drawing/2014/main" val="20001"/>
                    </a:ext>
                  </a:extLst>
                </a:gridCol>
                <a:gridCol w="2491750">
                  <a:extLst>
                    <a:ext uri="{9D8B030D-6E8A-4147-A177-3AD203B41FA5}">
                      <a16:colId xmlns:a16="http://schemas.microsoft.com/office/drawing/2014/main" val="20002"/>
                    </a:ext>
                  </a:extLst>
                </a:gridCol>
              </a:tblGrid>
              <a:tr h="484625">
                <a:tc>
                  <a:txBody>
                    <a:bodyPr/>
                    <a:lstStyle/>
                    <a:p>
                      <a:pPr marL="74295" marR="0" lvl="0" indent="0" algn="l" rtl="0">
                        <a:lnSpc>
                          <a:spcPct val="100000"/>
                        </a:lnSpc>
                        <a:spcBef>
                          <a:spcPts val="0"/>
                        </a:spcBef>
                        <a:spcAft>
                          <a:spcPts val="0"/>
                        </a:spcAft>
                        <a:buNone/>
                      </a:pPr>
                      <a:r>
                        <a:rPr lang="en-US" sz="2400" b="1" u="none" strike="noStrike" cap="none">
                          <a:solidFill>
                            <a:srgbClr val="FFFFFF"/>
                          </a:solidFill>
                          <a:latin typeface="Calibri"/>
                          <a:ea typeface="Calibri"/>
                          <a:cs typeface="Calibri"/>
                          <a:sym typeface="Calibri"/>
                        </a:rPr>
                        <a:t>Input</a:t>
                      </a:r>
                      <a:endParaRPr sz="2400" u="none" strike="noStrike" cap="none">
                        <a:latin typeface="Calibri"/>
                        <a:ea typeface="Calibri"/>
                        <a:cs typeface="Calibri"/>
                        <a:sym typeface="Calibri"/>
                      </a:endParaRPr>
                    </a:p>
                  </a:txBody>
                  <a:tcPr marL="0" marR="0" marT="171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AD3"/>
                    </a:solidFill>
                  </a:tcPr>
                </a:tc>
                <a:tc>
                  <a:txBody>
                    <a:bodyPr/>
                    <a:lstStyle/>
                    <a:p>
                      <a:pPr marL="74295" marR="0" lvl="0" indent="0" algn="l" rtl="0">
                        <a:lnSpc>
                          <a:spcPct val="100000"/>
                        </a:lnSpc>
                        <a:spcBef>
                          <a:spcPts val="0"/>
                        </a:spcBef>
                        <a:spcAft>
                          <a:spcPts val="0"/>
                        </a:spcAft>
                        <a:buNone/>
                      </a:pPr>
                      <a:r>
                        <a:rPr lang="en-US" sz="2400" b="1" u="none" strike="noStrike" cap="none">
                          <a:solidFill>
                            <a:srgbClr val="FFFFFF"/>
                          </a:solidFill>
                          <a:latin typeface="Calibri"/>
                          <a:ea typeface="Calibri"/>
                          <a:cs typeface="Calibri"/>
                          <a:sym typeface="Calibri"/>
                        </a:rPr>
                        <a:t>Morphological Parse</a:t>
                      </a:r>
                      <a:endParaRPr sz="2400" u="none" strike="noStrike" cap="none">
                        <a:latin typeface="Calibri"/>
                        <a:ea typeface="Calibri"/>
                        <a:cs typeface="Calibri"/>
                        <a:sym typeface="Calibri"/>
                      </a:endParaRPr>
                    </a:p>
                  </a:txBody>
                  <a:tcPr marL="0" marR="0" marT="171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AD3"/>
                    </a:solidFill>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AD3"/>
                    </a:solidFill>
                  </a:tcPr>
                </a:tc>
                <a:extLst>
                  <a:ext uri="{0D108BD9-81ED-4DB2-BD59-A6C34878D82A}">
                    <a16:rowId xmlns:a16="http://schemas.microsoft.com/office/drawing/2014/main" val="10000"/>
                  </a:ext>
                </a:extLst>
              </a:tr>
              <a:tr h="541025">
                <a:tc>
                  <a:txBody>
                    <a:bodyPr/>
                    <a:lstStyle/>
                    <a:p>
                      <a:pPr marL="74295" marR="0" lvl="0" indent="0" algn="l" rtl="0">
                        <a:lnSpc>
                          <a:spcPct val="100000"/>
                        </a:lnSpc>
                        <a:spcBef>
                          <a:spcPts val="0"/>
                        </a:spcBef>
                        <a:spcAft>
                          <a:spcPts val="0"/>
                        </a:spcAft>
                        <a:buNone/>
                      </a:pPr>
                      <a:r>
                        <a:rPr lang="en-US" sz="2400" u="none" strike="noStrike" cap="none">
                          <a:latin typeface="Calibri"/>
                          <a:ea typeface="Calibri"/>
                          <a:cs typeface="Calibri"/>
                          <a:sym typeface="Calibri"/>
                        </a:rPr>
                        <a:t>patents</a:t>
                      </a:r>
                      <a:endParaRPr sz="2400" u="none" strike="noStrike" cap="none">
                        <a:latin typeface="Calibri"/>
                        <a:ea typeface="Calibri"/>
                        <a:cs typeface="Calibri"/>
                        <a:sym typeface="Calibri"/>
                      </a:endParaRPr>
                    </a:p>
                  </a:txBody>
                  <a:tcPr marL="0" marR="0" marT="171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74295" marR="0" lvl="0" indent="0" algn="l" rtl="0">
                        <a:lnSpc>
                          <a:spcPct val="100000"/>
                        </a:lnSpc>
                        <a:spcBef>
                          <a:spcPts val="0"/>
                        </a:spcBef>
                        <a:spcAft>
                          <a:spcPts val="0"/>
                        </a:spcAft>
                        <a:buNone/>
                      </a:pPr>
                      <a:r>
                        <a:rPr lang="en-US" sz="2400" u="none" strike="noStrike" cap="none">
                          <a:latin typeface="Calibri"/>
                          <a:ea typeface="Calibri"/>
                          <a:cs typeface="Calibri"/>
                          <a:sym typeface="Calibri"/>
                        </a:rPr>
                        <a:t>patent + N + Pl</a:t>
                      </a:r>
                      <a:endParaRPr sz="2400" u="none" strike="noStrike" cap="none">
                        <a:latin typeface="Calibri"/>
                        <a:ea typeface="Calibri"/>
                        <a:cs typeface="Calibri"/>
                        <a:sym typeface="Calibri"/>
                      </a:endParaRPr>
                    </a:p>
                  </a:txBody>
                  <a:tcPr marL="0" marR="0" marT="171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extLst>
                  <a:ext uri="{0D108BD9-81ED-4DB2-BD59-A6C34878D82A}">
                    <a16:rowId xmlns:a16="http://schemas.microsoft.com/office/drawing/2014/main" val="10001"/>
                  </a:ext>
                </a:extLst>
              </a:tr>
              <a:tr h="484625">
                <a:tc>
                  <a:txBody>
                    <a:bodyPr/>
                    <a:lstStyle/>
                    <a:p>
                      <a:pPr marL="74295" marR="0" lvl="0" indent="0" algn="l" rtl="0">
                        <a:lnSpc>
                          <a:spcPct val="100000"/>
                        </a:lnSpc>
                        <a:spcBef>
                          <a:spcPts val="0"/>
                        </a:spcBef>
                        <a:spcAft>
                          <a:spcPts val="0"/>
                        </a:spcAft>
                        <a:buNone/>
                      </a:pPr>
                      <a:r>
                        <a:rPr lang="en-US" sz="2400" u="none" strike="noStrike" cap="none">
                          <a:latin typeface="Calibri"/>
                          <a:ea typeface="Calibri"/>
                          <a:cs typeface="Calibri"/>
                          <a:sym typeface="Calibri"/>
                        </a:rPr>
                        <a:t>balloons</a:t>
                      </a:r>
                      <a:endParaRPr sz="2400" u="none" strike="noStrike" cap="none">
                        <a:latin typeface="Calibri"/>
                        <a:ea typeface="Calibri"/>
                        <a:cs typeface="Calibri"/>
                        <a:sym typeface="Calibri"/>
                      </a:endParaRPr>
                    </a:p>
                  </a:txBody>
                  <a:tcPr marL="0" marR="0" marT="171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tc>
                  <a:txBody>
                    <a:bodyPr/>
                    <a:lstStyle/>
                    <a:p>
                      <a:pPr marL="74295" marR="0" lvl="0" indent="0" algn="l" rtl="0">
                        <a:lnSpc>
                          <a:spcPct val="100000"/>
                        </a:lnSpc>
                        <a:spcBef>
                          <a:spcPts val="0"/>
                        </a:spcBef>
                        <a:spcAft>
                          <a:spcPts val="0"/>
                        </a:spcAft>
                        <a:buNone/>
                      </a:pPr>
                      <a:r>
                        <a:rPr lang="en-US" sz="2400" u="none" strike="noStrike" cap="none">
                          <a:latin typeface="Calibri"/>
                          <a:ea typeface="Calibri"/>
                          <a:cs typeface="Calibri"/>
                          <a:sym typeface="Calibri"/>
                        </a:rPr>
                        <a:t>balloon + N + Pl</a:t>
                      </a:r>
                      <a:endParaRPr sz="2400" u="none" strike="noStrike" cap="none">
                        <a:latin typeface="Calibri"/>
                        <a:ea typeface="Calibri"/>
                        <a:cs typeface="Calibri"/>
                        <a:sym typeface="Calibri"/>
                      </a:endParaRPr>
                    </a:p>
                  </a:txBody>
                  <a:tcPr marL="0" marR="0" marT="171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extLst>
                  <a:ext uri="{0D108BD9-81ED-4DB2-BD59-A6C34878D82A}">
                    <a16:rowId xmlns:a16="http://schemas.microsoft.com/office/drawing/2014/main" val="10002"/>
                  </a:ext>
                </a:extLst>
              </a:tr>
              <a:tr h="484625">
                <a:tc>
                  <a:txBody>
                    <a:bodyPr/>
                    <a:lstStyle/>
                    <a:p>
                      <a:pPr marL="74295" marR="0" lvl="0" indent="0" algn="l" rtl="0">
                        <a:lnSpc>
                          <a:spcPct val="100000"/>
                        </a:lnSpc>
                        <a:spcBef>
                          <a:spcPts val="0"/>
                        </a:spcBef>
                        <a:spcAft>
                          <a:spcPts val="0"/>
                        </a:spcAft>
                        <a:buNone/>
                      </a:pPr>
                      <a:r>
                        <a:rPr lang="en-US" sz="2400" u="none" strike="noStrike" cap="none">
                          <a:latin typeface="Calibri"/>
                          <a:ea typeface="Calibri"/>
                          <a:cs typeface="Calibri"/>
                          <a:sym typeface="Calibri"/>
                        </a:rPr>
                        <a:t>watched</a:t>
                      </a:r>
                      <a:endParaRPr sz="2400" u="none" strike="noStrike" cap="none">
                        <a:latin typeface="Calibri"/>
                        <a:ea typeface="Calibri"/>
                        <a:cs typeface="Calibri"/>
                        <a:sym typeface="Calibri"/>
                      </a:endParaRPr>
                    </a:p>
                  </a:txBody>
                  <a:tcPr marL="0" marR="0" marT="17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74295" marR="0" lvl="0" indent="0" algn="l" rtl="0">
                        <a:lnSpc>
                          <a:spcPct val="100000"/>
                        </a:lnSpc>
                        <a:spcBef>
                          <a:spcPts val="0"/>
                        </a:spcBef>
                        <a:spcAft>
                          <a:spcPts val="0"/>
                        </a:spcAft>
                        <a:buNone/>
                      </a:pPr>
                      <a:r>
                        <a:rPr lang="en-US" sz="2400" u="none" strike="noStrike" cap="none">
                          <a:latin typeface="Calibri"/>
                          <a:ea typeface="Calibri"/>
                          <a:cs typeface="Calibri"/>
                          <a:sym typeface="Calibri"/>
                        </a:rPr>
                        <a:t>watch + V + Past</a:t>
                      </a:r>
                      <a:endParaRPr sz="2400" u="none" strike="noStrike" cap="none">
                        <a:latin typeface="Calibri"/>
                        <a:ea typeface="Calibri"/>
                        <a:cs typeface="Calibri"/>
                        <a:sym typeface="Calibri"/>
                      </a:endParaRPr>
                    </a:p>
                  </a:txBody>
                  <a:tcPr marL="0" marR="0" marT="17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extLst>
                  <a:ext uri="{0D108BD9-81ED-4DB2-BD59-A6C34878D82A}">
                    <a16:rowId xmlns:a16="http://schemas.microsoft.com/office/drawing/2014/main" val="10003"/>
                  </a:ext>
                </a:extLst>
              </a:tr>
              <a:tr h="484625">
                <a:tc>
                  <a:txBody>
                    <a:bodyPr/>
                    <a:lstStyle/>
                    <a:p>
                      <a:pPr marL="74295" marR="0" lvl="0" indent="0" algn="l" rtl="0">
                        <a:lnSpc>
                          <a:spcPct val="100000"/>
                        </a:lnSpc>
                        <a:spcBef>
                          <a:spcPts val="0"/>
                        </a:spcBef>
                        <a:spcAft>
                          <a:spcPts val="0"/>
                        </a:spcAft>
                        <a:buNone/>
                      </a:pPr>
                      <a:r>
                        <a:rPr lang="en-US" sz="2400" u="none" strike="noStrike" cap="none">
                          <a:latin typeface="Calibri"/>
                          <a:ea typeface="Calibri"/>
                          <a:cs typeface="Calibri"/>
                          <a:sym typeface="Calibri"/>
                        </a:rPr>
                        <a:t>animal</a:t>
                      </a:r>
                      <a:endParaRPr sz="2400" u="none" strike="noStrike" cap="none">
                        <a:latin typeface="Calibri"/>
                        <a:ea typeface="Calibri"/>
                        <a:cs typeface="Calibri"/>
                        <a:sym typeface="Calibri"/>
                      </a:endParaRPr>
                    </a:p>
                  </a:txBody>
                  <a:tcPr marL="0" marR="0" marT="17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tc>
                  <a:txBody>
                    <a:bodyPr/>
                    <a:lstStyle/>
                    <a:p>
                      <a:pPr marL="74295" marR="0" lvl="0" indent="0" algn="l" rtl="0">
                        <a:lnSpc>
                          <a:spcPct val="100000"/>
                        </a:lnSpc>
                        <a:spcBef>
                          <a:spcPts val="0"/>
                        </a:spcBef>
                        <a:spcAft>
                          <a:spcPts val="0"/>
                        </a:spcAft>
                        <a:buNone/>
                      </a:pPr>
                      <a:r>
                        <a:rPr lang="en-US" sz="2400" u="none" strike="noStrike" cap="none">
                          <a:latin typeface="Calibri"/>
                          <a:ea typeface="Calibri"/>
                          <a:cs typeface="Calibri"/>
                          <a:sym typeface="Calibri"/>
                        </a:rPr>
                        <a:t>animal + N + SG</a:t>
                      </a:r>
                      <a:endParaRPr sz="2400" u="none" strike="noStrike" cap="none">
                        <a:latin typeface="Calibri"/>
                        <a:ea typeface="Calibri"/>
                        <a:cs typeface="Calibri"/>
                        <a:sym typeface="Calibri"/>
                      </a:endParaRPr>
                    </a:p>
                  </a:txBody>
                  <a:tcPr marL="0" marR="0" marT="17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extLst>
                  <a:ext uri="{0D108BD9-81ED-4DB2-BD59-A6C34878D82A}">
                    <a16:rowId xmlns:a16="http://schemas.microsoft.com/office/drawing/2014/main" val="10004"/>
                  </a:ext>
                </a:extLst>
              </a:tr>
              <a:tr h="484625">
                <a:tc>
                  <a:txBody>
                    <a:bodyPr/>
                    <a:lstStyle/>
                    <a:p>
                      <a:pPr marL="74295" marR="0" lvl="0" indent="0" algn="l" rtl="0">
                        <a:lnSpc>
                          <a:spcPct val="100000"/>
                        </a:lnSpc>
                        <a:spcBef>
                          <a:spcPts val="0"/>
                        </a:spcBef>
                        <a:spcAft>
                          <a:spcPts val="0"/>
                        </a:spcAft>
                        <a:buNone/>
                      </a:pPr>
                      <a:r>
                        <a:rPr lang="en-US" sz="2400" u="none" strike="noStrike" cap="none">
                          <a:latin typeface="Calibri"/>
                          <a:ea typeface="Calibri"/>
                          <a:cs typeface="Calibri"/>
                          <a:sym typeface="Calibri"/>
                        </a:rPr>
                        <a:t>going</a:t>
                      </a:r>
                      <a:endParaRPr sz="2400" u="none" strike="noStrike" cap="none">
                        <a:latin typeface="Calibri"/>
                        <a:ea typeface="Calibri"/>
                        <a:cs typeface="Calibri"/>
                        <a:sym typeface="Calibri"/>
                      </a:endParaRPr>
                    </a:p>
                  </a:txBody>
                  <a:tcPr marL="0" marR="0" marT="17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74295" marR="0" lvl="0" indent="0" algn="l" rtl="0">
                        <a:lnSpc>
                          <a:spcPct val="100000"/>
                        </a:lnSpc>
                        <a:spcBef>
                          <a:spcPts val="0"/>
                        </a:spcBef>
                        <a:spcAft>
                          <a:spcPts val="0"/>
                        </a:spcAft>
                        <a:buNone/>
                      </a:pPr>
                      <a:r>
                        <a:rPr lang="en-US" sz="2400" u="none" strike="noStrike" cap="none">
                          <a:latin typeface="Calibri"/>
                          <a:ea typeface="Calibri"/>
                          <a:cs typeface="Calibri"/>
                          <a:sym typeface="Calibri"/>
                        </a:rPr>
                        <a:t>go +V + PresPart</a:t>
                      </a:r>
                      <a:endParaRPr/>
                    </a:p>
                  </a:txBody>
                  <a:tcPr marL="0" marR="0" marT="17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extLst>
                  <a:ext uri="{0D108BD9-81ED-4DB2-BD59-A6C34878D82A}">
                    <a16:rowId xmlns:a16="http://schemas.microsoft.com/office/drawing/2014/main" val="10005"/>
                  </a:ext>
                </a:extLst>
              </a:tr>
            </a:tbl>
          </a:graphicData>
        </a:graphic>
      </p:graphicFrame>
      <p:sp>
        <p:nvSpPr>
          <p:cNvPr id="444" name="Google Shape;444;p35"/>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36</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Shape 448"/>
        <p:cNvGrpSpPr/>
        <p:nvPr/>
      </p:nvGrpSpPr>
      <p:grpSpPr>
        <a:xfrm>
          <a:off x="0" y="0"/>
          <a:ext cx="0" cy="0"/>
          <a:chOff x="0" y="0"/>
          <a:chExt cx="0" cy="0"/>
        </a:xfrm>
      </p:grpSpPr>
      <p:sp>
        <p:nvSpPr>
          <p:cNvPr id="449" name="Google Shape;449;p36"/>
          <p:cNvSpPr txBox="1"/>
          <p:nvPr/>
        </p:nvSpPr>
        <p:spPr>
          <a:xfrm>
            <a:off x="191006" y="2123947"/>
            <a:ext cx="9562593" cy="3473900"/>
          </a:xfrm>
          <a:prstGeom prst="rect">
            <a:avLst/>
          </a:prstGeom>
          <a:noFill/>
          <a:ln>
            <a:noFill/>
          </a:ln>
        </p:spPr>
        <p:txBody>
          <a:bodyPr spcFirstLastPara="1" wrap="square" lIns="0" tIns="88900" rIns="0" bIns="0" anchor="t" anchorCtr="0">
            <a:spAutoFit/>
          </a:bodyPr>
          <a:lstStyle/>
          <a:p>
            <a:pPr marL="201295" marR="0" lvl="0" indent="-189230" algn="just" rtl="0">
              <a:lnSpc>
                <a:spcPct val="100000"/>
              </a:lnSpc>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Simplest possible Lexicon –</a:t>
            </a:r>
            <a:endParaRPr/>
          </a:p>
          <a:p>
            <a:pPr marL="238759" marR="0" lvl="0" indent="0" algn="just" rtl="0">
              <a:lnSpc>
                <a:spcPct val="100000"/>
              </a:lnSpc>
              <a:spcBef>
                <a:spcPts val="600"/>
              </a:spcBef>
              <a:spcAft>
                <a:spcPts val="0"/>
              </a:spcAft>
              <a:buNone/>
            </a:pPr>
            <a:r>
              <a:rPr lang="en-US" sz="2800">
                <a:solidFill>
                  <a:schemeClr val="dk1"/>
                </a:solidFill>
                <a:latin typeface="Calibri"/>
                <a:ea typeface="Calibri"/>
                <a:cs typeface="Calibri"/>
                <a:sym typeface="Calibri"/>
              </a:rPr>
              <a:t>every possible word in a language + proper names</a:t>
            </a:r>
            <a:endParaRPr sz="2800">
              <a:solidFill>
                <a:schemeClr val="dk1"/>
              </a:solidFill>
              <a:latin typeface="Calibri"/>
              <a:ea typeface="Calibri"/>
              <a:cs typeface="Calibri"/>
              <a:sym typeface="Calibri"/>
            </a:endParaRPr>
          </a:p>
          <a:p>
            <a:pPr marL="238125" marR="0" lvl="0" indent="0" algn="just" rtl="0">
              <a:lnSpc>
                <a:spcPct val="100000"/>
              </a:lnSpc>
              <a:spcBef>
                <a:spcPts val="390"/>
              </a:spcBef>
              <a:spcAft>
                <a:spcPts val="0"/>
              </a:spcAft>
              <a:buNone/>
            </a:pPr>
            <a:r>
              <a:rPr lang="en-US" sz="2800">
                <a:solidFill>
                  <a:schemeClr val="dk1"/>
                </a:solidFill>
                <a:latin typeface="Calibri"/>
                <a:ea typeface="Calibri"/>
                <a:cs typeface="Calibri"/>
                <a:sym typeface="Calibri"/>
              </a:rPr>
              <a:t>{apple, boxes, cat, ……, go, run, stop, running, gone…..Ameya, Bharati, ……….. }</a:t>
            </a:r>
            <a:endParaRPr/>
          </a:p>
          <a:p>
            <a:pPr marL="294640" marR="0" lvl="0" indent="0" algn="just" rtl="0">
              <a:lnSpc>
                <a:spcPct val="100000"/>
              </a:lnSpc>
              <a:spcBef>
                <a:spcPts val="605"/>
              </a:spcBef>
              <a:spcAft>
                <a:spcPts val="0"/>
              </a:spcAft>
              <a:buNone/>
            </a:pPr>
            <a:r>
              <a:rPr lang="en-US" sz="2800">
                <a:solidFill>
                  <a:schemeClr val="dk1"/>
                </a:solidFill>
                <a:latin typeface="Calibri"/>
                <a:ea typeface="Calibri"/>
                <a:cs typeface="Calibri"/>
                <a:sym typeface="Calibri"/>
              </a:rPr>
              <a:t>Impossible task</a:t>
            </a:r>
            <a:endParaRPr sz="2800">
              <a:solidFill>
                <a:schemeClr val="dk1"/>
              </a:solidFill>
              <a:latin typeface="Calibri"/>
              <a:ea typeface="Calibri"/>
              <a:cs typeface="Calibri"/>
              <a:sym typeface="Calibri"/>
            </a:endParaRPr>
          </a:p>
          <a:p>
            <a:pPr marL="13334" marR="5080" lvl="0" indent="0" algn="just" rtl="0">
              <a:lnSpc>
                <a:spcPct val="78571"/>
              </a:lnSpc>
              <a:spcBef>
                <a:spcPts val="1175"/>
              </a:spcBef>
              <a:spcAft>
                <a:spcPts val="0"/>
              </a:spcAft>
              <a:buNone/>
            </a:pPr>
            <a:r>
              <a:rPr lang="en-US" sz="2800">
                <a:solidFill>
                  <a:schemeClr val="dk1"/>
                </a:solidFill>
                <a:latin typeface="Calibri"/>
                <a:ea typeface="Calibri"/>
                <a:cs typeface="Calibri"/>
                <a:sym typeface="Calibri"/>
              </a:rPr>
              <a:t>Hence, Lexicons are built with the list of each of the stems and affixes of the language  together with the representation of morphotactics</a:t>
            </a:r>
            <a:endParaRPr/>
          </a:p>
        </p:txBody>
      </p:sp>
      <p:sp>
        <p:nvSpPr>
          <p:cNvPr id="450" name="Google Shape;450;p36"/>
          <p:cNvSpPr txBox="1">
            <a:spLocks noGrp="1"/>
          </p:cNvSpPr>
          <p:nvPr>
            <p:ph type="title"/>
          </p:nvPr>
        </p:nvSpPr>
        <p:spPr>
          <a:xfrm>
            <a:off x="609600" y="990600"/>
            <a:ext cx="7315200" cy="420628"/>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b="1"/>
              <a:t>Construction of a Finite-State lexicon</a:t>
            </a:r>
            <a:endParaRPr/>
          </a:p>
        </p:txBody>
      </p:sp>
      <p:sp>
        <p:nvSpPr>
          <p:cNvPr id="451" name="Google Shape;451;p36"/>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Shape 455"/>
        <p:cNvGrpSpPr/>
        <p:nvPr/>
      </p:nvGrpSpPr>
      <p:grpSpPr>
        <a:xfrm>
          <a:off x="0" y="0"/>
          <a:ext cx="0" cy="0"/>
          <a:chOff x="0" y="0"/>
          <a:chExt cx="0" cy="0"/>
        </a:xfrm>
      </p:grpSpPr>
      <p:pic>
        <p:nvPicPr>
          <p:cNvPr id="456" name="Google Shape;456;p37"/>
          <p:cNvPicPr preferRelativeResize="0"/>
          <p:nvPr/>
        </p:nvPicPr>
        <p:blipFill rotWithShape="1">
          <a:blip r:embed="rId3">
            <a:alphaModFix/>
          </a:blip>
          <a:srcRect/>
          <a:stretch/>
        </p:blipFill>
        <p:spPr>
          <a:xfrm>
            <a:off x="1078991" y="1271016"/>
            <a:ext cx="5873496" cy="2488691"/>
          </a:xfrm>
          <a:prstGeom prst="rect">
            <a:avLst/>
          </a:prstGeom>
          <a:noFill/>
          <a:ln>
            <a:noFill/>
          </a:ln>
        </p:spPr>
      </p:pic>
      <p:sp>
        <p:nvSpPr>
          <p:cNvPr id="457" name="Google Shape;457;p37"/>
          <p:cNvSpPr txBox="1"/>
          <p:nvPr/>
        </p:nvSpPr>
        <p:spPr>
          <a:xfrm>
            <a:off x="7316978" y="1669287"/>
            <a:ext cx="2024380" cy="927100"/>
          </a:xfrm>
          <a:prstGeom prst="rect">
            <a:avLst/>
          </a:prstGeom>
          <a:noFill/>
          <a:ln>
            <a:noFill/>
          </a:ln>
        </p:spPr>
        <p:txBody>
          <a:bodyPr spcFirstLastPara="1" wrap="square" lIns="0" tIns="8250" rIns="0" bIns="0" anchor="t" anchorCtr="0">
            <a:spAutoFit/>
          </a:bodyPr>
          <a:lstStyle/>
          <a:p>
            <a:pPr marL="12700" marR="5080" lvl="0" indent="0" algn="just" rtl="0">
              <a:lnSpc>
                <a:spcPct val="102099"/>
              </a:lnSpc>
              <a:spcBef>
                <a:spcPts val="0"/>
              </a:spcBef>
              <a:spcAft>
                <a:spcPts val="0"/>
              </a:spcAft>
              <a:buNone/>
            </a:pPr>
            <a:r>
              <a:rPr lang="en-US" sz="1450">
                <a:solidFill>
                  <a:schemeClr val="dk1"/>
                </a:solidFill>
                <a:latin typeface="Calibri"/>
                <a:ea typeface="Calibri"/>
                <a:cs typeface="Calibri"/>
                <a:sym typeface="Calibri"/>
              </a:rPr>
              <a:t>Eg. Cat, dog, ….majority of  nouns fall under reg-noun  category.</a:t>
            </a:r>
            <a:endParaRPr sz="1450">
              <a:solidFill>
                <a:schemeClr val="dk1"/>
              </a:solidFill>
              <a:latin typeface="Calibri"/>
              <a:ea typeface="Calibri"/>
              <a:cs typeface="Calibri"/>
              <a:sym typeface="Calibri"/>
            </a:endParaRPr>
          </a:p>
          <a:p>
            <a:pPr marL="12700" marR="0" lvl="0" indent="0" algn="just" rtl="0">
              <a:lnSpc>
                <a:spcPct val="100000"/>
              </a:lnSpc>
              <a:spcBef>
                <a:spcPts val="60"/>
              </a:spcBef>
              <a:spcAft>
                <a:spcPts val="0"/>
              </a:spcAft>
              <a:buNone/>
            </a:pPr>
            <a:r>
              <a:rPr lang="en-US" sz="1450">
                <a:solidFill>
                  <a:schemeClr val="dk1"/>
                </a:solidFill>
                <a:latin typeface="Calibri"/>
                <a:ea typeface="Calibri"/>
                <a:cs typeface="Calibri"/>
                <a:sym typeface="Calibri"/>
              </a:rPr>
              <a:t>Ignore plurals with -es</a:t>
            </a:r>
            <a:endParaRPr sz="1450">
              <a:solidFill>
                <a:schemeClr val="dk1"/>
              </a:solidFill>
              <a:latin typeface="Calibri"/>
              <a:ea typeface="Calibri"/>
              <a:cs typeface="Calibri"/>
              <a:sym typeface="Calibri"/>
            </a:endParaRPr>
          </a:p>
        </p:txBody>
      </p:sp>
      <p:pic>
        <p:nvPicPr>
          <p:cNvPr id="458" name="Google Shape;458;p37"/>
          <p:cNvPicPr preferRelativeResize="0"/>
          <p:nvPr/>
        </p:nvPicPr>
        <p:blipFill rotWithShape="1">
          <a:blip r:embed="rId4">
            <a:alphaModFix/>
          </a:blip>
          <a:srcRect/>
          <a:stretch/>
        </p:blipFill>
        <p:spPr>
          <a:xfrm>
            <a:off x="815339" y="4658867"/>
            <a:ext cx="6705600" cy="1223772"/>
          </a:xfrm>
          <a:prstGeom prst="rect">
            <a:avLst/>
          </a:prstGeom>
          <a:noFill/>
          <a:ln>
            <a:noFill/>
          </a:ln>
        </p:spPr>
      </p:pic>
      <p:graphicFrame>
        <p:nvGraphicFramePr>
          <p:cNvPr id="459" name="Google Shape;459;p37"/>
          <p:cNvGraphicFramePr/>
          <p:nvPr/>
        </p:nvGraphicFramePr>
        <p:xfrm>
          <a:off x="810005" y="4653534"/>
          <a:ext cx="6705600" cy="1239900"/>
        </p:xfrm>
        <a:graphic>
          <a:graphicData uri="http://schemas.openxmlformats.org/drawingml/2006/table">
            <a:tbl>
              <a:tblPr firstRow="1" bandRow="1">
                <a:noFill/>
                <a:tableStyleId>{E85DE1A1-A1B0-44A0-A59F-CCC16BF1A76C}</a:tableStyleId>
              </a:tblPr>
              <a:tblGrid>
                <a:gridCol w="1676400">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gridCol w="1676400">
                  <a:extLst>
                    <a:ext uri="{9D8B030D-6E8A-4147-A177-3AD203B41FA5}">
                      <a16:colId xmlns:a16="http://schemas.microsoft.com/office/drawing/2014/main" val="20002"/>
                    </a:ext>
                  </a:extLst>
                </a:gridCol>
                <a:gridCol w="1676400">
                  <a:extLst>
                    <a:ext uri="{9D8B030D-6E8A-4147-A177-3AD203B41FA5}">
                      <a16:colId xmlns:a16="http://schemas.microsoft.com/office/drawing/2014/main" val="20003"/>
                    </a:ext>
                  </a:extLst>
                </a:gridCol>
              </a:tblGrid>
              <a:tr h="306325">
                <a:tc>
                  <a:txBody>
                    <a:bodyPr/>
                    <a:lstStyle/>
                    <a:p>
                      <a:pPr marL="74295" marR="0" lvl="0" indent="0" algn="l" rtl="0">
                        <a:lnSpc>
                          <a:spcPct val="100000"/>
                        </a:lnSpc>
                        <a:spcBef>
                          <a:spcPts val="0"/>
                        </a:spcBef>
                        <a:spcAft>
                          <a:spcPts val="0"/>
                        </a:spcAft>
                        <a:buNone/>
                      </a:pPr>
                      <a:r>
                        <a:rPr lang="en-US" sz="2000" b="1" u="none" strike="noStrike" cap="none">
                          <a:solidFill>
                            <a:srgbClr val="FFFFFF"/>
                          </a:solidFill>
                          <a:latin typeface="Calibri"/>
                          <a:ea typeface="Calibri"/>
                          <a:cs typeface="Calibri"/>
                          <a:sym typeface="Calibri"/>
                        </a:rPr>
                        <a:t>Reg-noun</a:t>
                      </a:r>
                      <a:endParaRPr sz="2000" u="none" strike="noStrike" cap="none">
                        <a:latin typeface="Calibri"/>
                        <a:ea typeface="Calibri"/>
                        <a:cs typeface="Calibri"/>
                        <a:sym typeface="Calibri"/>
                      </a:endParaRPr>
                    </a:p>
                  </a:txBody>
                  <a:tcPr marL="0" marR="0" marT="17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c>
                  <a:txBody>
                    <a:bodyPr/>
                    <a:lstStyle/>
                    <a:p>
                      <a:pPr marL="74930" marR="0" lvl="0" indent="0" algn="l" rtl="0">
                        <a:lnSpc>
                          <a:spcPct val="100000"/>
                        </a:lnSpc>
                        <a:spcBef>
                          <a:spcPts val="0"/>
                        </a:spcBef>
                        <a:spcAft>
                          <a:spcPts val="0"/>
                        </a:spcAft>
                        <a:buNone/>
                      </a:pPr>
                      <a:r>
                        <a:rPr lang="en-US" sz="2000" b="1" u="none" strike="noStrike" cap="none">
                          <a:solidFill>
                            <a:srgbClr val="FFFFFF"/>
                          </a:solidFill>
                          <a:latin typeface="Calibri"/>
                          <a:ea typeface="Calibri"/>
                          <a:cs typeface="Calibri"/>
                          <a:sym typeface="Calibri"/>
                        </a:rPr>
                        <a:t>Irreg-Pl-noun</a:t>
                      </a:r>
                      <a:endParaRPr sz="2000" u="none" strike="noStrike" cap="none">
                        <a:latin typeface="Calibri"/>
                        <a:ea typeface="Calibri"/>
                        <a:cs typeface="Calibri"/>
                        <a:sym typeface="Calibri"/>
                      </a:endParaRPr>
                    </a:p>
                  </a:txBody>
                  <a:tcPr marL="0" marR="0" marT="17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c>
                  <a:txBody>
                    <a:bodyPr/>
                    <a:lstStyle/>
                    <a:p>
                      <a:pPr marL="74930" marR="0" lvl="0" indent="0" algn="l" rtl="0">
                        <a:lnSpc>
                          <a:spcPct val="100000"/>
                        </a:lnSpc>
                        <a:spcBef>
                          <a:spcPts val="0"/>
                        </a:spcBef>
                        <a:spcAft>
                          <a:spcPts val="0"/>
                        </a:spcAft>
                        <a:buNone/>
                      </a:pPr>
                      <a:r>
                        <a:rPr lang="en-US" sz="2000" b="1" u="none" strike="noStrike" cap="none">
                          <a:solidFill>
                            <a:srgbClr val="FFFFFF"/>
                          </a:solidFill>
                          <a:latin typeface="Calibri"/>
                          <a:ea typeface="Calibri"/>
                          <a:cs typeface="Calibri"/>
                          <a:sym typeface="Calibri"/>
                        </a:rPr>
                        <a:t>Irreg-SG-noun</a:t>
                      </a:r>
                      <a:endParaRPr sz="2000" u="none" strike="noStrike" cap="none">
                        <a:latin typeface="Calibri"/>
                        <a:ea typeface="Calibri"/>
                        <a:cs typeface="Calibri"/>
                        <a:sym typeface="Calibri"/>
                      </a:endParaRPr>
                    </a:p>
                  </a:txBody>
                  <a:tcPr marL="0" marR="0" marT="17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c>
                  <a:txBody>
                    <a:bodyPr/>
                    <a:lstStyle/>
                    <a:p>
                      <a:pPr marL="74295" marR="0" lvl="0" indent="0" algn="l" rtl="0">
                        <a:lnSpc>
                          <a:spcPct val="100000"/>
                        </a:lnSpc>
                        <a:spcBef>
                          <a:spcPts val="0"/>
                        </a:spcBef>
                        <a:spcAft>
                          <a:spcPts val="0"/>
                        </a:spcAft>
                        <a:buNone/>
                      </a:pPr>
                      <a:r>
                        <a:rPr lang="en-US" sz="2000" b="1" u="none" strike="noStrike" cap="none">
                          <a:solidFill>
                            <a:srgbClr val="FFFFFF"/>
                          </a:solidFill>
                          <a:latin typeface="Calibri"/>
                          <a:ea typeface="Calibri"/>
                          <a:cs typeface="Calibri"/>
                          <a:sym typeface="Calibri"/>
                        </a:rPr>
                        <a:t>Plural -s</a:t>
                      </a:r>
                      <a:endParaRPr sz="2000" u="none" strike="noStrike" cap="none">
                        <a:latin typeface="Calibri"/>
                        <a:ea typeface="Calibri"/>
                        <a:cs typeface="Calibri"/>
                        <a:sym typeface="Calibri"/>
                      </a:endParaRPr>
                    </a:p>
                  </a:txBody>
                  <a:tcPr marL="0" marR="0" marT="171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extLst>
                  <a:ext uri="{0D108BD9-81ED-4DB2-BD59-A6C34878D82A}">
                    <a16:rowId xmlns:a16="http://schemas.microsoft.com/office/drawing/2014/main" val="10000"/>
                  </a:ext>
                </a:extLst>
              </a:tr>
              <a:tr h="304675">
                <a:tc>
                  <a:txBody>
                    <a:bodyPr/>
                    <a:lstStyle/>
                    <a:p>
                      <a:pPr marL="74295" marR="0" lvl="0" indent="0" algn="l" rtl="0">
                        <a:lnSpc>
                          <a:spcPct val="83200"/>
                        </a:lnSpc>
                        <a:spcBef>
                          <a:spcPts val="0"/>
                        </a:spcBef>
                        <a:spcAft>
                          <a:spcPts val="0"/>
                        </a:spcAft>
                        <a:buNone/>
                      </a:pPr>
                      <a:r>
                        <a:rPr lang="en-US" sz="2000" u="none" strike="noStrike" cap="none">
                          <a:latin typeface="Calibri"/>
                          <a:ea typeface="Calibri"/>
                          <a:cs typeface="Calibri"/>
                          <a:sym typeface="Calibri"/>
                        </a:rPr>
                        <a:t>Cat</a:t>
                      </a:r>
                      <a:endParaRPr sz="2000" u="none" strike="noStrike" cap="none">
                        <a:latin typeface="Calibri"/>
                        <a:ea typeface="Calibri"/>
                        <a:cs typeface="Calibri"/>
                        <a:sym typeface="Calibri"/>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74930" marR="0" lvl="0" indent="0" algn="l" rtl="0">
                        <a:lnSpc>
                          <a:spcPct val="83200"/>
                        </a:lnSpc>
                        <a:spcBef>
                          <a:spcPts val="0"/>
                        </a:spcBef>
                        <a:spcAft>
                          <a:spcPts val="0"/>
                        </a:spcAft>
                        <a:buNone/>
                      </a:pPr>
                      <a:r>
                        <a:rPr lang="en-US" sz="2000" u="none" strike="noStrike" cap="none">
                          <a:latin typeface="Calibri"/>
                          <a:ea typeface="Calibri"/>
                          <a:cs typeface="Calibri"/>
                          <a:sym typeface="Calibri"/>
                        </a:rPr>
                        <a:t>Geese</a:t>
                      </a:r>
                      <a:endParaRPr sz="2000" u="none" strike="noStrike" cap="none">
                        <a:latin typeface="Calibri"/>
                        <a:ea typeface="Calibri"/>
                        <a:cs typeface="Calibri"/>
                        <a:sym typeface="Calibri"/>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74930" marR="0" lvl="0" indent="0" algn="l" rtl="0">
                        <a:lnSpc>
                          <a:spcPct val="83200"/>
                        </a:lnSpc>
                        <a:spcBef>
                          <a:spcPts val="0"/>
                        </a:spcBef>
                        <a:spcAft>
                          <a:spcPts val="0"/>
                        </a:spcAft>
                        <a:buNone/>
                      </a:pPr>
                      <a:r>
                        <a:rPr lang="en-US" sz="2000" u="none" strike="noStrike" cap="none">
                          <a:latin typeface="Calibri"/>
                          <a:ea typeface="Calibri"/>
                          <a:cs typeface="Calibri"/>
                          <a:sym typeface="Calibri"/>
                        </a:rPr>
                        <a:t>Goose</a:t>
                      </a:r>
                      <a:endParaRPr sz="2000" u="none" strike="noStrike" cap="none">
                        <a:latin typeface="Calibri"/>
                        <a:ea typeface="Calibri"/>
                        <a:cs typeface="Calibri"/>
                        <a:sym typeface="Calibri"/>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0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extLst>
                  <a:ext uri="{0D108BD9-81ED-4DB2-BD59-A6C34878D82A}">
                    <a16:rowId xmlns:a16="http://schemas.microsoft.com/office/drawing/2014/main" val="10001"/>
                  </a:ext>
                </a:extLst>
              </a:tr>
              <a:tr h="306200">
                <a:tc>
                  <a:txBody>
                    <a:bodyPr/>
                    <a:lstStyle/>
                    <a:p>
                      <a:pPr marL="74295" marR="0" lvl="0" indent="0" algn="l" rtl="0">
                        <a:lnSpc>
                          <a:spcPct val="84250"/>
                        </a:lnSpc>
                        <a:spcBef>
                          <a:spcPts val="0"/>
                        </a:spcBef>
                        <a:spcAft>
                          <a:spcPts val="0"/>
                        </a:spcAft>
                        <a:buNone/>
                      </a:pPr>
                      <a:r>
                        <a:rPr lang="en-US" sz="2000" u="none" strike="noStrike" cap="none">
                          <a:latin typeface="Calibri"/>
                          <a:ea typeface="Calibri"/>
                          <a:cs typeface="Calibri"/>
                          <a:sym typeface="Calibri"/>
                        </a:rPr>
                        <a:t>Dog</a:t>
                      </a:r>
                      <a:endParaRPr sz="2000" u="none" strike="noStrike" cap="none">
                        <a:latin typeface="Calibri"/>
                        <a:ea typeface="Calibri"/>
                        <a:cs typeface="Calibri"/>
                        <a:sym typeface="Calibri"/>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74930" marR="0" lvl="0" indent="0" algn="l" rtl="0">
                        <a:lnSpc>
                          <a:spcPct val="84250"/>
                        </a:lnSpc>
                        <a:spcBef>
                          <a:spcPts val="0"/>
                        </a:spcBef>
                        <a:spcAft>
                          <a:spcPts val="0"/>
                        </a:spcAft>
                        <a:buNone/>
                      </a:pPr>
                      <a:r>
                        <a:rPr lang="en-US" sz="2000" u="none" strike="noStrike" cap="none">
                          <a:latin typeface="Calibri"/>
                          <a:ea typeface="Calibri"/>
                          <a:cs typeface="Calibri"/>
                          <a:sym typeface="Calibri"/>
                        </a:rPr>
                        <a:t>Sheep</a:t>
                      </a:r>
                      <a:endParaRPr sz="2000" u="none" strike="noStrike" cap="none">
                        <a:latin typeface="Calibri"/>
                        <a:ea typeface="Calibri"/>
                        <a:cs typeface="Calibri"/>
                        <a:sym typeface="Calibri"/>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74930" marR="0" lvl="0" indent="0" algn="l" rtl="0">
                        <a:lnSpc>
                          <a:spcPct val="84250"/>
                        </a:lnSpc>
                        <a:spcBef>
                          <a:spcPts val="0"/>
                        </a:spcBef>
                        <a:spcAft>
                          <a:spcPts val="0"/>
                        </a:spcAft>
                        <a:buNone/>
                      </a:pPr>
                      <a:r>
                        <a:rPr lang="en-US" sz="2000" u="none" strike="noStrike" cap="none">
                          <a:latin typeface="Calibri"/>
                          <a:ea typeface="Calibri"/>
                          <a:cs typeface="Calibri"/>
                          <a:sym typeface="Calibri"/>
                        </a:rPr>
                        <a:t>Sheep</a:t>
                      </a:r>
                      <a:endParaRPr sz="2000" u="none" strike="noStrike" cap="none">
                        <a:latin typeface="Calibri"/>
                        <a:ea typeface="Calibri"/>
                        <a:cs typeface="Calibri"/>
                        <a:sym typeface="Calibri"/>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0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extLst>
                  <a:ext uri="{0D108BD9-81ED-4DB2-BD59-A6C34878D82A}">
                    <a16:rowId xmlns:a16="http://schemas.microsoft.com/office/drawing/2014/main" val="10002"/>
                  </a:ext>
                </a:extLst>
              </a:tr>
              <a:tr h="306325">
                <a:tc>
                  <a:txBody>
                    <a:bodyPr/>
                    <a:lstStyle/>
                    <a:p>
                      <a:pPr marL="74295" marR="0" lvl="0" indent="0" algn="l" rtl="0">
                        <a:lnSpc>
                          <a:spcPct val="84750"/>
                        </a:lnSpc>
                        <a:spcBef>
                          <a:spcPts val="0"/>
                        </a:spcBef>
                        <a:spcAft>
                          <a:spcPts val="0"/>
                        </a:spcAft>
                        <a:buNone/>
                      </a:pPr>
                      <a:r>
                        <a:rPr lang="en-US" sz="2000" u="none" strike="noStrike" cap="none">
                          <a:latin typeface="Calibri"/>
                          <a:ea typeface="Calibri"/>
                          <a:cs typeface="Calibri"/>
                          <a:sym typeface="Calibri"/>
                        </a:rPr>
                        <a:t>Girl</a:t>
                      </a:r>
                      <a:endParaRPr sz="2000" u="none" strike="noStrike" cap="none">
                        <a:latin typeface="Calibri"/>
                        <a:ea typeface="Calibri"/>
                        <a:cs typeface="Calibri"/>
                        <a:sym typeface="Calibri"/>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74930" marR="0" lvl="0" indent="0" algn="l" rtl="0">
                        <a:lnSpc>
                          <a:spcPct val="84750"/>
                        </a:lnSpc>
                        <a:spcBef>
                          <a:spcPts val="0"/>
                        </a:spcBef>
                        <a:spcAft>
                          <a:spcPts val="0"/>
                        </a:spcAft>
                        <a:buNone/>
                      </a:pPr>
                      <a:r>
                        <a:rPr lang="en-US" sz="2000" u="none" strike="noStrike" cap="none">
                          <a:latin typeface="Calibri"/>
                          <a:ea typeface="Calibri"/>
                          <a:cs typeface="Calibri"/>
                          <a:sym typeface="Calibri"/>
                        </a:rPr>
                        <a:t>Mice</a:t>
                      </a:r>
                      <a:endParaRPr sz="2000" u="none" strike="noStrike" cap="none">
                        <a:latin typeface="Calibri"/>
                        <a:ea typeface="Calibri"/>
                        <a:cs typeface="Calibri"/>
                        <a:sym typeface="Calibri"/>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74930" marR="0" lvl="0" indent="0" algn="l" rtl="0">
                        <a:lnSpc>
                          <a:spcPct val="84750"/>
                        </a:lnSpc>
                        <a:spcBef>
                          <a:spcPts val="0"/>
                        </a:spcBef>
                        <a:spcAft>
                          <a:spcPts val="0"/>
                        </a:spcAft>
                        <a:buNone/>
                      </a:pPr>
                      <a:r>
                        <a:rPr lang="en-US" sz="2000" u="none" strike="noStrike" cap="none">
                          <a:latin typeface="Calibri"/>
                          <a:ea typeface="Calibri"/>
                          <a:cs typeface="Calibri"/>
                          <a:sym typeface="Calibri"/>
                        </a:rPr>
                        <a:t>mouse</a:t>
                      </a:r>
                      <a:endParaRPr sz="2000" u="none" strike="noStrike" cap="none">
                        <a:latin typeface="Calibri"/>
                        <a:ea typeface="Calibri"/>
                        <a:cs typeface="Calibri"/>
                        <a:sym typeface="Calibri"/>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0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460" name="Google Shape;460;p37"/>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38</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Shape 464"/>
        <p:cNvGrpSpPr/>
        <p:nvPr/>
      </p:nvGrpSpPr>
      <p:grpSpPr>
        <a:xfrm>
          <a:off x="0" y="0"/>
          <a:ext cx="0" cy="0"/>
          <a:chOff x="0" y="0"/>
          <a:chExt cx="0" cy="0"/>
        </a:xfrm>
      </p:grpSpPr>
      <p:sp>
        <p:nvSpPr>
          <p:cNvPr id="465" name="Google Shape;465;p38"/>
          <p:cNvSpPr txBox="1">
            <a:spLocks noGrp="1"/>
          </p:cNvSpPr>
          <p:nvPr>
            <p:ph type="title"/>
          </p:nvPr>
        </p:nvSpPr>
        <p:spPr>
          <a:xfrm>
            <a:off x="754126" y="1344930"/>
            <a:ext cx="3223260" cy="4298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a:t>English verbal Inflection</a:t>
            </a:r>
            <a:endParaRPr/>
          </a:p>
        </p:txBody>
      </p:sp>
      <p:pic>
        <p:nvPicPr>
          <p:cNvPr id="466" name="Google Shape;466;p38"/>
          <p:cNvPicPr preferRelativeResize="0"/>
          <p:nvPr/>
        </p:nvPicPr>
        <p:blipFill rotWithShape="1">
          <a:blip r:embed="rId3">
            <a:alphaModFix/>
          </a:blip>
          <a:srcRect/>
          <a:stretch/>
        </p:blipFill>
        <p:spPr>
          <a:xfrm>
            <a:off x="195071" y="2156460"/>
            <a:ext cx="5711952" cy="2516124"/>
          </a:xfrm>
          <a:prstGeom prst="rect">
            <a:avLst/>
          </a:prstGeom>
          <a:noFill/>
          <a:ln>
            <a:noFill/>
          </a:ln>
        </p:spPr>
      </p:pic>
      <p:sp>
        <p:nvSpPr>
          <p:cNvPr id="467" name="Google Shape;467;p38"/>
          <p:cNvSpPr txBox="1"/>
          <p:nvPr/>
        </p:nvSpPr>
        <p:spPr>
          <a:xfrm>
            <a:off x="6278499" y="609587"/>
            <a:ext cx="3396870" cy="4110421"/>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2400">
                <a:solidFill>
                  <a:schemeClr val="dk1"/>
                </a:solidFill>
                <a:latin typeface="Calibri"/>
                <a:ea typeface="Calibri"/>
                <a:cs typeface="Calibri"/>
                <a:sym typeface="Calibri"/>
              </a:rPr>
              <a:t>3 forms of verb stem class –</a:t>
            </a:r>
            <a:endParaRPr/>
          </a:p>
          <a:p>
            <a:pPr marL="12700" marR="305435" lvl="0" indent="0" algn="l" rtl="0">
              <a:lnSpc>
                <a:spcPct val="101899"/>
              </a:lnSpc>
              <a:spcBef>
                <a:spcPts val="5"/>
              </a:spcBef>
              <a:spcAft>
                <a:spcPts val="0"/>
              </a:spcAft>
              <a:buNone/>
            </a:pPr>
            <a:r>
              <a:rPr lang="en-US" sz="2400">
                <a:solidFill>
                  <a:schemeClr val="dk1"/>
                </a:solidFill>
                <a:latin typeface="Calibri"/>
                <a:ea typeface="Calibri"/>
                <a:cs typeface="Calibri"/>
                <a:sym typeface="Calibri"/>
              </a:rPr>
              <a:t>Regular verb stem  Irregular verb stem  Irregular past verb form</a:t>
            </a:r>
            <a:endParaRPr sz="2400">
              <a:solidFill>
                <a:schemeClr val="dk1"/>
              </a:solidFill>
              <a:latin typeface="Calibri"/>
              <a:ea typeface="Calibri"/>
              <a:cs typeface="Calibri"/>
              <a:sym typeface="Calibri"/>
            </a:endParaRPr>
          </a:p>
          <a:p>
            <a:pPr marL="0" marR="0" lvl="0" indent="0" algn="l" rtl="0">
              <a:lnSpc>
                <a:spcPct val="100000"/>
              </a:lnSpc>
              <a:spcBef>
                <a:spcPts val="5"/>
              </a:spcBef>
              <a:spcAft>
                <a:spcPts val="0"/>
              </a:spcAft>
              <a:buNone/>
            </a:pPr>
            <a:endParaRPr sz="2400">
              <a:solidFill>
                <a:schemeClr val="dk1"/>
              </a:solidFill>
              <a:latin typeface="Calibri"/>
              <a:ea typeface="Calibri"/>
              <a:cs typeface="Calibri"/>
              <a:sym typeface="Calibri"/>
            </a:endParaRPr>
          </a:p>
          <a:p>
            <a:pPr marL="12700" marR="0" lvl="0" indent="0" algn="l" rtl="0">
              <a:lnSpc>
                <a:spcPct val="100000"/>
              </a:lnSpc>
              <a:spcBef>
                <a:spcPts val="5"/>
              </a:spcBef>
              <a:spcAft>
                <a:spcPts val="0"/>
              </a:spcAft>
              <a:buNone/>
            </a:pPr>
            <a:r>
              <a:rPr lang="en-US" sz="2400">
                <a:solidFill>
                  <a:schemeClr val="dk1"/>
                </a:solidFill>
                <a:latin typeface="Calibri"/>
                <a:ea typeface="Calibri"/>
                <a:cs typeface="Calibri"/>
                <a:sym typeface="Calibri"/>
              </a:rPr>
              <a:t>Affix class –</a:t>
            </a:r>
            <a:endParaRPr/>
          </a:p>
          <a:p>
            <a:pPr marL="12700" marR="0" lvl="0" indent="0" algn="l" rtl="0">
              <a:lnSpc>
                <a:spcPct val="100000"/>
              </a:lnSpc>
              <a:spcBef>
                <a:spcPts val="100"/>
              </a:spcBef>
              <a:spcAft>
                <a:spcPts val="0"/>
              </a:spcAft>
              <a:buNone/>
            </a:pPr>
            <a:r>
              <a:rPr lang="en-US" sz="2400">
                <a:solidFill>
                  <a:schemeClr val="dk1"/>
                </a:solidFill>
                <a:latin typeface="Calibri"/>
                <a:ea typeface="Calibri"/>
                <a:cs typeface="Calibri"/>
                <a:sym typeface="Calibri"/>
              </a:rPr>
              <a:t>-ed past</a:t>
            </a:r>
            <a:endParaRPr sz="2400">
              <a:solidFill>
                <a:schemeClr val="dk1"/>
              </a:solidFill>
              <a:latin typeface="Calibri"/>
              <a:ea typeface="Calibri"/>
              <a:cs typeface="Calibri"/>
              <a:sym typeface="Calibri"/>
            </a:endParaRPr>
          </a:p>
          <a:p>
            <a:pPr marL="12700" marR="0" lvl="0" indent="0" algn="l" rtl="0">
              <a:lnSpc>
                <a:spcPct val="100000"/>
              </a:lnSpc>
              <a:spcBef>
                <a:spcPts val="0"/>
              </a:spcBef>
              <a:spcAft>
                <a:spcPts val="0"/>
              </a:spcAft>
              <a:buNone/>
            </a:pPr>
            <a:r>
              <a:rPr lang="en-US" sz="2400">
                <a:solidFill>
                  <a:schemeClr val="dk1"/>
                </a:solidFill>
                <a:latin typeface="Calibri"/>
                <a:ea typeface="Calibri"/>
                <a:cs typeface="Calibri"/>
                <a:sym typeface="Calibri"/>
              </a:rPr>
              <a:t>-ed participle</a:t>
            </a:r>
            <a:endParaRPr/>
          </a:p>
          <a:p>
            <a:pPr marL="12700" marR="0" lvl="0" indent="0" algn="l" rtl="0">
              <a:lnSpc>
                <a:spcPct val="100000"/>
              </a:lnSpc>
              <a:spcBef>
                <a:spcPts val="0"/>
              </a:spcBef>
              <a:spcAft>
                <a:spcPts val="0"/>
              </a:spcAft>
              <a:buNone/>
            </a:pPr>
            <a:r>
              <a:rPr lang="en-US" sz="2400">
                <a:solidFill>
                  <a:schemeClr val="dk1"/>
                </a:solidFill>
                <a:latin typeface="Calibri"/>
                <a:ea typeface="Calibri"/>
                <a:cs typeface="Calibri"/>
                <a:sym typeface="Calibri"/>
              </a:rPr>
              <a:t>-ing participle</a:t>
            </a:r>
            <a:endParaRPr/>
          </a:p>
          <a:p>
            <a:pPr marL="12700" marR="0" lvl="0" indent="0" algn="l" rtl="0">
              <a:lnSpc>
                <a:spcPct val="100000"/>
              </a:lnSpc>
              <a:spcBef>
                <a:spcPts val="0"/>
              </a:spcBef>
              <a:spcAft>
                <a:spcPts val="0"/>
              </a:spcAft>
              <a:buNone/>
            </a:pPr>
            <a:r>
              <a:rPr lang="en-US" sz="2400">
                <a:solidFill>
                  <a:schemeClr val="dk1"/>
                </a:solidFill>
                <a:latin typeface="Calibri"/>
                <a:ea typeface="Calibri"/>
                <a:cs typeface="Calibri"/>
                <a:sym typeface="Calibri"/>
              </a:rPr>
              <a:t>-s Third singulars</a:t>
            </a:r>
            <a:endParaRPr/>
          </a:p>
        </p:txBody>
      </p:sp>
      <p:graphicFrame>
        <p:nvGraphicFramePr>
          <p:cNvPr id="468" name="Google Shape;468;p38"/>
          <p:cNvGraphicFramePr/>
          <p:nvPr/>
        </p:nvGraphicFramePr>
        <p:xfrm>
          <a:off x="762000" y="5101643"/>
          <a:ext cx="7051050" cy="1906763"/>
        </p:xfrm>
        <a:graphic>
          <a:graphicData uri="http://schemas.openxmlformats.org/drawingml/2006/table">
            <a:tbl>
              <a:tblPr firstRow="1" bandRow="1">
                <a:noFill/>
                <a:tableStyleId>{E85DE1A1-A1B0-44A0-A59F-CCC16BF1A76C}</a:tableStyleId>
              </a:tblPr>
              <a:tblGrid>
                <a:gridCol w="876300">
                  <a:extLst>
                    <a:ext uri="{9D8B030D-6E8A-4147-A177-3AD203B41FA5}">
                      <a16:colId xmlns:a16="http://schemas.microsoft.com/office/drawing/2014/main" val="20000"/>
                    </a:ext>
                  </a:extLst>
                </a:gridCol>
                <a:gridCol w="1028700">
                  <a:extLst>
                    <a:ext uri="{9D8B030D-6E8A-4147-A177-3AD203B41FA5}">
                      <a16:colId xmlns:a16="http://schemas.microsoft.com/office/drawing/2014/main" val="20001"/>
                    </a:ext>
                  </a:extLst>
                </a:gridCol>
                <a:gridCol w="1029975">
                  <a:extLst>
                    <a:ext uri="{9D8B030D-6E8A-4147-A177-3AD203B41FA5}">
                      <a16:colId xmlns:a16="http://schemas.microsoft.com/office/drawing/2014/main" val="20002"/>
                    </a:ext>
                  </a:extLst>
                </a:gridCol>
                <a:gridCol w="1028700">
                  <a:extLst>
                    <a:ext uri="{9D8B030D-6E8A-4147-A177-3AD203B41FA5}">
                      <a16:colId xmlns:a16="http://schemas.microsoft.com/office/drawing/2014/main" val="20003"/>
                    </a:ext>
                  </a:extLst>
                </a:gridCol>
                <a:gridCol w="1028700">
                  <a:extLst>
                    <a:ext uri="{9D8B030D-6E8A-4147-A177-3AD203B41FA5}">
                      <a16:colId xmlns:a16="http://schemas.microsoft.com/office/drawing/2014/main" val="20004"/>
                    </a:ext>
                  </a:extLst>
                </a:gridCol>
                <a:gridCol w="1029975">
                  <a:extLst>
                    <a:ext uri="{9D8B030D-6E8A-4147-A177-3AD203B41FA5}">
                      <a16:colId xmlns:a16="http://schemas.microsoft.com/office/drawing/2014/main" val="20005"/>
                    </a:ext>
                  </a:extLst>
                </a:gridCol>
                <a:gridCol w="1028700">
                  <a:extLst>
                    <a:ext uri="{9D8B030D-6E8A-4147-A177-3AD203B41FA5}">
                      <a16:colId xmlns:a16="http://schemas.microsoft.com/office/drawing/2014/main" val="20006"/>
                    </a:ext>
                  </a:extLst>
                </a:gridCol>
              </a:tblGrid>
              <a:tr h="537975">
                <a:tc>
                  <a:txBody>
                    <a:bodyPr/>
                    <a:lstStyle/>
                    <a:p>
                      <a:pPr marL="74295" marR="211454" lvl="0" indent="0" algn="l" rtl="0">
                        <a:lnSpc>
                          <a:spcPct val="102099"/>
                        </a:lnSpc>
                        <a:spcBef>
                          <a:spcPts val="0"/>
                        </a:spcBef>
                        <a:spcAft>
                          <a:spcPts val="0"/>
                        </a:spcAft>
                        <a:buNone/>
                      </a:pPr>
                      <a:r>
                        <a:rPr lang="en-US" sz="2000" b="1" u="none" strike="noStrike" cap="none">
                          <a:solidFill>
                            <a:srgbClr val="FFFFFF"/>
                          </a:solidFill>
                          <a:latin typeface="Calibri"/>
                          <a:ea typeface="Calibri"/>
                          <a:cs typeface="Calibri"/>
                          <a:sym typeface="Calibri"/>
                        </a:rPr>
                        <a:t>Reg-verb-  stem</a:t>
                      </a:r>
                      <a:endParaRPr sz="2000" u="none" strike="noStrike" cap="none">
                        <a:latin typeface="Calibri"/>
                        <a:ea typeface="Calibri"/>
                        <a:cs typeface="Calibri"/>
                        <a:sym typeface="Calibri"/>
                      </a:endParaRPr>
                    </a:p>
                  </a:txBody>
                  <a:tcPr marL="0" marR="0" marT="50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AD3"/>
                    </a:solidFill>
                  </a:tcPr>
                </a:tc>
                <a:tc>
                  <a:txBody>
                    <a:bodyPr/>
                    <a:lstStyle/>
                    <a:p>
                      <a:pPr marL="74295" marR="136525" lvl="0" indent="0" algn="l" rtl="0">
                        <a:lnSpc>
                          <a:spcPct val="102099"/>
                        </a:lnSpc>
                        <a:spcBef>
                          <a:spcPts val="0"/>
                        </a:spcBef>
                        <a:spcAft>
                          <a:spcPts val="0"/>
                        </a:spcAft>
                        <a:buNone/>
                      </a:pPr>
                      <a:r>
                        <a:rPr lang="en-US" sz="2000" b="1" u="none" strike="noStrike" cap="none">
                          <a:solidFill>
                            <a:srgbClr val="FFFFFF"/>
                          </a:solidFill>
                          <a:latin typeface="Calibri"/>
                          <a:ea typeface="Calibri"/>
                          <a:cs typeface="Calibri"/>
                          <a:sym typeface="Calibri"/>
                        </a:rPr>
                        <a:t>Irreg-verb-  stem</a:t>
                      </a:r>
                      <a:endParaRPr sz="2000" u="none" strike="noStrike" cap="none">
                        <a:latin typeface="Calibri"/>
                        <a:ea typeface="Calibri"/>
                        <a:cs typeface="Calibri"/>
                        <a:sym typeface="Calibri"/>
                      </a:endParaRPr>
                    </a:p>
                  </a:txBody>
                  <a:tcPr marL="0" marR="0" marT="50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AD3"/>
                    </a:solidFill>
                  </a:tcPr>
                </a:tc>
                <a:tc>
                  <a:txBody>
                    <a:bodyPr/>
                    <a:lstStyle/>
                    <a:p>
                      <a:pPr marL="75565" marR="152400" lvl="0" indent="0" algn="l" rtl="0">
                        <a:lnSpc>
                          <a:spcPct val="102099"/>
                        </a:lnSpc>
                        <a:spcBef>
                          <a:spcPts val="0"/>
                        </a:spcBef>
                        <a:spcAft>
                          <a:spcPts val="0"/>
                        </a:spcAft>
                        <a:buNone/>
                      </a:pPr>
                      <a:r>
                        <a:rPr lang="en-US" sz="2000" b="1" u="none" strike="noStrike" cap="none">
                          <a:solidFill>
                            <a:srgbClr val="FFFFFF"/>
                          </a:solidFill>
                          <a:latin typeface="Calibri"/>
                          <a:ea typeface="Calibri"/>
                          <a:cs typeface="Calibri"/>
                          <a:sym typeface="Calibri"/>
                        </a:rPr>
                        <a:t>Irreg-past-  stem</a:t>
                      </a:r>
                      <a:endParaRPr sz="2000" u="none" strike="noStrike" cap="none">
                        <a:latin typeface="Calibri"/>
                        <a:ea typeface="Calibri"/>
                        <a:cs typeface="Calibri"/>
                        <a:sym typeface="Calibri"/>
                      </a:endParaRPr>
                    </a:p>
                  </a:txBody>
                  <a:tcPr marL="0" marR="0" marT="50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AD3"/>
                    </a:solidFill>
                  </a:tcPr>
                </a:tc>
                <a:tc>
                  <a:txBody>
                    <a:bodyPr/>
                    <a:lstStyle/>
                    <a:p>
                      <a:pPr marL="74930" marR="0" lvl="0" indent="0" algn="l" rtl="0">
                        <a:lnSpc>
                          <a:spcPct val="100000"/>
                        </a:lnSpc>
                        <a:spcBef>
                          <a:spcPts val="0"/>
                        </a:spcBef>
                        <a:spcAft>
                          <a:spcPts val="0"/>
                        </a:spcAft>
                        <a:buNone/>
                      </a:pPr>
                      <a:r>
                        <a:rPr lang="en-US" sz="2000" b="1" u="none" strike="noStrike" cap="none">
                          <a:solidFill>
                            <a:srgbClr val="FFFFFF"/>
                          </a:solidFill>
                          <a:latin typeface="Calibri"/>
                          <a:ea typeface="Calibri"/>
                          <a:cs typeface="Calibri"/>
                          <a:sym typeface="Calibri"/>
                        </a:rPr>
                        <a:t>Past –ed</a:t>
                      </a:r>
                      <a:endParaRPr sz="2000" u="none" strike="noStrike" cap="none">
                        <a:latin typeface="Calibri"/>
                        <a:ea typeface="Calibri"/>
                        <a:cs typeface="Calibri"/>
                        <a:sym typeface="Calibri"/>
                      </a:endParaRPr>
                    </a:p>
                  </a:txBody>
                  <a:tcPr marL="0" marR="0" marT="17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AD3"/>
                    </a:solidFill>
                  </a:tcPr>
                </a:tc>
                <a:tc>
                  <a:txBody>
                    <a:bodyPr/>
                    <a:lstStyle/>
                    <a:p>
                      <a:pPr marL="73660" marR="0" lvl="0" indent="0" algn="l" rtl="0">
                        <a:lnSpc>
                          <a:spcPct val="100000"/>
                        </a:lnSpc>
                        <a:spcBef>
                          <a:spcPts val="0"/>
                        </a:spcBef>
                        <a:spcAft>
                          <a:spcPts val="0"/>
                        </a:spcAft>
                        <a:buNone/>
                      </a:pPr>
                      <a:r>
                        <a:rPr lang="en-US" sz="2000" b="1" u="none" strike="noStrike" cap="none">
                          <a:solidFill>
                            <a:srgbClr val="FFFFFF"/>
                          </a:solidFill>
                          <a:latin typeface="Calibri"/>
                          <a:ea typeface="Calibri"/>
                          <a:cs typeface="Calibri"/>
                          <a:sym typeface="Calibri"/>
                        </a:rPr>
                        <a:t>PastPart –</a:t>
                      </a:r>
                      <a:endParaRPr sz="2000" u="none" strike="noStrike" cap="none">
                        <a:latin typeface="Calibri"/>
                        <a:ea typeface="Calibri"/>
                        <a:cs typeface="Calibri"/>
                        <a:sym typeface="Calibri"/>
                      </a:endParaRPr>
                    </a:p>
                    <a:p>
                      <a:pPr marL="74930" marR="0" lvl="0" indent="0" algn="l" rtl="0">
                        <a:lnSpc>
                          <a:spcPct val="100000"/>
                        </a:lnSpc>
                        <a:spcBef>
                          <a:spcPts val="35"/>
                        </a:spcBef>
                        <a:spcAft>
                          <a:spcPts val="0"/>
                        </a:spcAft>
                        <a:buNone/>
                      </a:pPr>
                      <a:r>
                        <a:rPr lang="en-US" sz="2000" b="1" u="none" strike="noStrike" cap="none">
                          <a:solidFill>
                            <a:srgbClr val="FFFFFF"/>
                          </a:solidFill>
                          <a:latin typeface="Calibri"/>
                          <a:ea typeface="Calibri"/>
                          <a:cs typeface="Calibri"/>
                          <a:sym typeface="Calibri"/>
                        </a:rPr>
                        <a:t>ed</a:t>
                      </a:r>
                      <a:endParaRPr sz="2000" u="none" strike="noStrike" cap="none">
                        <a:latin typeface="Calibri"/>
                        <a:ea typeface="Calibri"/>
                        <a:cs typeface="Calibri"/>
                        <a:sym typeface="Calibri"/>
                      </a:endParaRPr>
                    </a:p>
                  </a:txBody>
                  <a:tcPr marL="0" marR="0" marT="95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AD3"/>
                    </a:solidFill>
                  </a:tcPr>
                </a:tc>
                <a:tc>
                  <a:txBody>
                    <a:bodyPr/>
                    <a:lstStyle/>
                    <a:p>
                      <a:pPr marL="74930" marR="0" lvl="0" indent="0" algn="l" rtl="0">
                        <a:lnSpc>
                          <a:spcPct val="100000"/>
                        </a:lnSpc>
                        <a:spcBef>
                          <a:spcPts val="0"/>
                        </a:spcBef>
                        <a:spcAft>
                          <a:spcPts val="0"/>
                        </a:spcAft>
                        <a:buNone/>
                      </a:pPr>
                      <a:r>
                        <a:rPr lang="en-US" sz="2000" b="1" u="none" strike="noStrike" cap="none">
                          <a:solidFill>
                            <a:srgbClr val="FFFFFF"/>
                          </a:solidFill>
                          <a:latin typeface="Calibri"/>
                          <a:ea typeface="Calibri"/>
                          <a:cs typeface="Calibri"/>
                          <a:sym typeface="Calibri"/>
                        </a:rPr>
                        <a:t>Pres Part –</a:t>
                      </a:r>
                      <a:endParaRPr sz="2000" u="none" strike="noStrike" cap="none">
                        <a:latin typeface="Calibri"/>
                        <a:ea typeface="Calibri"/>
                        <a:cs typeface="Calibri"/>
                        <a:sym typeface="Calibri"/>
                      </a:endParaRPr>
                    </a:p>
                    <a:p>
                      <a:pPr marL="74930" marR="0" lvl="0" indent="0" algn="l" rtl="0">
                        <a:lnSpc>
                          <a:spcPct val="100000"/>
                        </a:lnSpc>
                        <a:spcBef>
                          <a:spcPts val="35"/>
                        </a:spcBef>
                        <a:spcAft>
                          <a:spcPts val="0"/>
                        </a:spcAft>
                        <a:buNone/>
                      </a:pPr>
                      <a:r>
                        <a:rPr lang="en-US" sz="2000" b="1" u="none" strike="noStrike" cap="none">
                          <a:solidFill>
                            <a:srgbClr val="FFFFFF"/>
                          </a:solidFill>
                          <a:latin typeface="Calibri"/>
                          <a:ea typeface="Calibri"/>
                          <a:cs typeface="Calibri"/>
                          <a:sym typeface="Calibri"/>
                        </a:rPr>
                        <a:t>ing</a:t>
                      </a:r>
                      <a:endParaRPr sz="2000" u="none" strike="noStrike" cap="none">
                        <a:latin typeface="Calibri"/>
                        <a:ea typeface="Calibri"/>
                        <a:cs typeface="Calibri"/>
                        <a:sym typeface="Calibri"/>
                      </a:endParaRPr>
                    </a:p>
                  </a:txBody>
                  <a:tcPr marL="0" marR="0" marT="95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AD3"/>
                    </a:solidFill>
                  </a:tcPr>
                </a:tc>
                <a:tc>
                  <a:txBody>
                    <a:bodyPr/>
                    <a:lstStyle/>
                    <a:p>
                      <a:pPr marL="74930" marR="177165" lvl="0" indent="0" algn="l" rtl="0">
                        <a:lnSpc>
                          <a:spcPct val="102099"/>
                        </a:lnSpc>
                        <a:spcBef>
                          <a:spcPts val="0"/>
                        </a:spcBef>
                        <a:spcAft>
                          <a:spcPts val="0"/>
                        </a:spcAft>
                        <a:buNone/>
                      </a:pPr>
                      <a:r>
                        <a:rPr lang="en-US" sz="2000" b="1" u="none" strike="noStrike" cap="none">
                          <a:solidFill>
                            <a:srgbClr val="FFFFFF"/>
                          </a:solidFill>
                          <a:latin typeface="Calibri"/>
                          <a:ea typeface="Calibri"/>
                          <a:cs typeface="Calibri"/>
                          <a:sym typeface="Calibri"/>
                        </a:rPr>
                        <a:t>Third  singular -s</a:t>
                      </a:r>
                      <a:endParaRPr sz="2000" u="none" strike="noStrike" cap="none">
                        <a:latin typeface="Calibri"/>
                        <a:ea typeface="Calibri"/>
                        <a:cs typeface="Calibri"/>
                        <a:sym typeface="Calibri"/>
                      </a:endParaRPr>
                    </a:p>
                  </a:txBody>
                  <a:tcPr marL="0" marR="0" marT="50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AD3"/>
                    </a:solidFill>
                  </a:tcPr>
                </a:tc>
                <a:extLst>
                  <a:ext uri="{0D108BD9-81ED-4DB2-BD59-A6C34878D82A}">
                    <a16:rowId xmlns:a16="http://schemas.microsoft.com/office/drawing/2014/main" val="10000"/>
                  </a:ext>
                </a:extLst>
              </a:tr>
              <a:tr h="312425">
                <a:tc>
                  <a:txBody>
                    <a:bodyPr/>
                    <a:lstStyle/>
                    <a:p>
                      <a:pPr marL="74295" marR="0" lvl="0" indent="0" algn="l" rtl="0">
                        <a:lnSpc>
                          <a:spcPct val="100000"/>
                        </a:lnSpc>
                        <a:spcBef>
                          <a:spcPts val="0"/>
                        </a:spcBef>
                        <a:spcAft>
                          <a:spcPts val="0"/>
                        </a:spcAft>
                        <a:buNone/>
                      </a:pPr>
                      <a:r>
                        <a:rPr lang="en-US" sz="2000" u="none" strike="noStrike" cap="none">
                          <a:latin typeface="Calibri"/>
                          <a:ea typeface="Calibri"/>
                          <a:cs typeface="Calibri"/>
                          <a:sym typeface="Calibri"/>
                        </a:rPr>
                        <a:t>walk</a:t>
                      </a:r>
                      <a:endParaRPr sz="2000" u="none" strike="noStrike" cap="none">
                        <a:latin typeface="Calibri"/>
                        <a:ea typeface="Calibri"/>
                        <a:cs typeface="Calibri"/>
                        <a:sym typeface="Calibri"/>
                      </a:endParaRPr>
                    </a:p>
                  </a:txBody>
                  <a:tcPr marL="0" marR="0" marT="190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73660" marR="0" lvl="0" indent="0" algn="l" rtl="0">
                        <a:lnSpc>
                          <a:spcPct val="100000"/>
                        </a:lnSpc>
                        <a:spcBef>
                          <a:spcPts val="0"/>
                        </a:spcBef>
                        <a:spcAft>
                          <a:spcPts val="0"/>
                        </a:spcAft>
                        <a:buNone/>
                      </a:pPr>
                      <a:r>
                        <a:rPr lang="en-US" sz="2000" u="none" strike="noStrike" cap="none">
                          <a:latin typeface="Calibri"/>
                          <a:ea typeface="Calibri"/>
                          <a:cs typeface="Calibri"/>
                          <a:sym typeface="Calibri"/>
                        </a:rPr>
                        <a:t>cut</a:t>
                      </a:r>
                      <a:endParaRPr sz="2000" u="none" strike="noStrike" cap="none">
                        <a:latin typeface="Calibri"/>
                        <a:ea typeface="Calibri"/>
                        <a:cs typeface="Calibri"/>
                        <a:sym typeface="Calibri"/>
                      </a:endParaRPr>
                    </a:p>
                  </a:txBody>
                  <a:tcPr marL="0" marR="0" marT="190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76835" marR="0" lvl="0" indent="0" algn="l" rtl="0">
                        <a:lnSpc>
                          <a:spcPct val="100000"/>
                        </a:lnSpc>
                        <a:spcBef>
                          <a:spcPts val="0"/>
                        </a:spcBef>
                        <a:spcAft>
                          <a:spcPts val="0"/>
                        </a:spcAft>
                        <a:buNone/>
                      </a:pPr>
                      <a:r>
                        <a:rPr lang="en-US" sz="2000" u="none" strike="noStrike" cap="none">
                          <a:latin typeface="Calibri"/>
                          <a:ea typeface="Calibri"/>
                          <a:cs typeface="Calibri"/>
                          <a:sym typeface="Calibri"/>
                        </a:rPr>
                        <a:t>caught</a:t>
                      </a:r>
                      <a:endParaRPr sz="2000" u="none" strike="noStrike" cap="none">
                        <a:latin typeface="Calibri"/>
                        <a:ea typeface="Calibri"/>
                        <a:cs typeface="Calibri"/>
                        <a:sym typeface="Calibri"/>
                      </a:endParaRPr>
                    </a:p>
                  </a:txBody>
                  <a:tcPr marL="0" marR="0" marT="190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0" marR="0" lvl="0" indent="0" algn="l" rtl="0">
                        <a:lnSpc>
                          <a:spcPct val="100000"/>
                        </a:lnSpc>
                        <a:spcBef>
                          <a:spcPts val="0"/>
                        </a:spcBef>
                        <a:spcAft>
                          <a:spcPts val="0"/>
                        </a:spcAft>
                        <a:buNone/>
                      </a:pPr>
                      <a:endParaRPr sz="20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0" marR="0" lvl="0" indent="0" algn="l" rtl="0">
                        <a:lnSpc>
                          <a:spcPct val="100000"/>
                        </a:lnSpc>
                        <a:spcBef>
                          <a:spcPts val="0"/>
                        </a:spcBef>
                        <a:spcAft>
                          <a:spcPts val="0"/>
                        </a:spcAft>
                        <a:buNone/>
                      </a:pPr>
                      <a:endParaRPr sz="20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0" marR="0" lvl="0" indent="0" algn="l" rtl="0">
                        <a:lnSpc>
                          <a:spcPct val="100000"/>
                        </a:lnSpc>
                        <a:spcBef>
                          <a:spcPts val="0"/>
                        </a:spcBef>
                        <a:spcAft>
                          <a:spcPts val="0"/>
                        </a:spcAft>
                        <a:buNone/>
                      </a:pPr>
                      <a:endParaRPr sz="20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0" marR="0" lvl="0" indent="0" algn="l" rtl="0">
                        <a:lnSpc>
                          <a:spcPct val="100000"/>
                        </a:lnSpc>
                        <a:spcBef>
                          <a:spcPts val="0"/>
                        </a:spcBef>
                        <a:spcAft>
                          <a:spcPts val="0"/>
                        </a:spcAft>
                        <a:buNone/>
                      </a:pPr>
                      <a:endParaRPr sz="20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extLst>
                  <a:ext uri="{0D108BD9-81ED-4DB2-BD59-A6C34878D82A}">
                    <a16:rowId xmlns:a16="http://schemas.microsoft.com/office/drawing/2014/main" val="10001"/>
                  </a:ext>
                </a:extLst>
              </a:tr>
              <a:tr h="312425">
                <a:tc>
                  <a:txBody>
                    <a:bodyPr/>
                    <a:lstStyle/>
                    <a:p>
                      <a:pPr marL="74295" marR="0" lvl="0" indent="0" algn="l" rtl="0">
                        <a:lnSpc>
                          <a:spcPct val="100000"/>
                        </a:lnSpc>
                        <a:spcBef>
                          <a:spcPts val="0"/>
                        </a:spcBef>
                        <a:spcAft>
                          <a:spcPts val="0"/>
                        </a:spcAft>
                        <a:buNone/>
                      </a:pPr>
                      <a:r>
                        <a:rPr lang="en-US" sz="2000" u="none" strike="noStrike" cap="none">
                          <a:latin typeface="Calibri"/>
                          <a:ea typeface="Calibri"/>
                          <a:cs typeface="Calibri"/>
                          <a:sym typeface="Calibri"/>
                        </a:rPr>
                        <a:t>fly</a:t>
                      </a:r>
                      <a:endParaRPr sz="2000" u="none" strike="noStrike" cap="none">
                        <a:latin typeface="Calibri"/>
                        <a:ea typeface="Calibri"/>
                        <a:cs typeface="Calibri"/>
                        <a:sym typeface="Calibri"/>
                      </a:endParaRPr>
                    </a:p>
                  </a:txBody>
                  <a:tcPr marL="0" marR="0" marT="17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tc>
                  <a:txBody>
                    <a:bodyPr/>
                    <a:lstStyle/>
                    <a:p>
                      <a:pPr marL="73660" marR="0" lvl="0" indent="0" algn="l" rtl="0">
                        <a:lnSpc>
                          <a:spcPct val="100000"/>
                        </a:lnSpc>
                        <a:spcBef>
                          <a:spcPts val="0"/>
                        </a:spcBef>
                        <a:spcAft>
                          <a:spcPts val="0"/>
                        </a:spcAft>
                        <a:buNone/>
                      </a:pPr>
                      <a:r>
                        <a:rPr lang="en-US" sz="2000" u="none" strike="noStrike" cap="none">
                          <a:latin typeface="Calibri"/>
                          <a:ea typeface="Calibri"/>
                          <a:cs typeface="Calibri"/>
                          <a:sym typeface="Calibri"/>
                        </a:rPr>
                        <a:t>speak</a:t>
                      </a:r>
                      <a:endParaRPr sz="2000" u="none" strike="noStrike" cap="none">
                        <a:latin typeface="Calibri"/>
                        <a:ea typeface="Calibri"/>
                        <a:cs typeface="Calibri"/>
                        <a:sym typeface="Calibri"/>
                      </a:endParaRPr>
                    </a:p>
                  </a:txBody>
                  <a:tcPr marL="0" marR="0" marT="17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tc>
                  <a:txBody>
                    <a:bodyPr/>
                    <a:lstStyle/>
                    <a:p>
                      <a:pPr marL="76835" marR="0" lvl="0" indent="0" algn="l" rtl="0">
                        <a:lnSpc>
                          <a:spcPct val="100000"/>
                        </a:lnSpc>
                        <a:spcBef>
                          <a:spcPts val="0"/>
                        </a:spcBef>
                        <a:spcAft>
                          <a:spcPts val="0"/>
                        </a:spcAft>
                        <a:buNone/>
                      </a:pPr>
                      <a:r>
                        <a:rPr lang="en-US" sz="2000" u="none" strike="noStrike" cap="none">
                          <a:latin typeface="Calibri"/>
                          <a:ea typeface="Calibri"/>
                          <a:cs typeface="Calibri"/>
                          <a:sym typeface="Calibri"/>
                        </a:rPr>
                        <a:t>ate</a:t>
                      </a:r>
                      <a:endParaRPr sz="2000" u="none" strike="noStrike" cap="none">
                        <a:latin typeface="Calibri"/>
                        <a:ea typeface="Calibri"/>
                        <a:cs typeface="Calibri"/>
                        <a:sym typeface="Calibri"/>
                      </a:endParaRPr>
                    </a:p>
                  </a:txBody>
                  <a:tcPr marL="0" marR="0" marT="17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tc>
                  <a:txBody>
                    <a:bodyPr/>
                    <a:lstStyle/>
                    <a:p>
                      <a:pPr marL="0" marR="0" lvl="0" indent="0" algn="l" rtl="0">
                        <a:lnSpc>
                          <a:spcPct val="100000"/>
                        </a:lnSpc>
                        <a:spcBef>
                          <a:spcPts val="0"/>
                        </a:spcBef>
                        <a:spcAft>
                          <a:spcPts val="0"/>
                        </a:spcAft>
                        <a:buNone/>
                      </a:pPr>
                      <a:endParaRPr sz="20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tc>
                  <a:txBody>
                    <a:bodyPr/>
                    <a:lstStyle/>
                    <a:p>
                      <a:pPr marL="0" marR="0" lvl="0" indent="0" algn="l" rtl="0">
                        <a:lnSpc>
                          <a:spcPct val="100000"/>
                        </a:lnSpc>
                        <a:spcBef>
                          <a:spcPts val="0"/>
                        </a:spcBef>
                        <a:spcAft>
                          <a:spcPts val="0"/>
                        </a:spcAft>
                        <a:buNone/>
                      </a:pPr>
                      <a:endParaRPr sz="20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tc>
                  <a:txBody>
                    <a:bodyPr/>
                    <a:lstStyle/>
                    <a:p>
                      <a:pPr marL="0" marR="0" lvl="0" indent="0" algn="l" rtl="0">
                        <a:lnSpc>
                          <a:spcPct val="100000"/>
                        </a:lnSpc>
                        <a:spcBef>
                          <a:spcPts val="0"/>
                        </a:spcBef>
                        <a:spcAft>
                          <a:spcPts val="0"/>
                        </a:spcAft>
                        <a:buNone/>
                      </a:pPr>
                      <a:endParaRPr sz="20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tc>
                  <a:txBody>
                    <a:bodyPr/>
                    <a:lstStyle/>
                    <a:p>
                      <a:pPr marL="0" marR="0" lvl="0" indent="0" algn="l" rtl="0">
                        <a:lnSpc>
                          <a:spcPct val="100000"/>
                        </a:lnSpc>
                        <a:spcBef>
                          <a:spcPts val="0"/>
                        </a:spcBef>
                        <a:spcAft>
                          <a:spcPts val="0"/>
                        </a:spcAft>
                        <a:buNone/>
                      </a:pPr>
                      <a:endParaRPr sz="20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EF6"/>
                    </a:solidFill>
                  </a:tcPr>
                </a:tc>
                <a:extLst>
                  <a:ext uri="{0D108BD9-81ED-4DB2-BD59-A6C34878D82A}">
                    <a16:rowId xmlns:a16="http://schemas.microsoft.com/office/drawing/2014/main" val="10002"/>
                  </a:ext>
                </a:extLst>
              </a:tr>
              <a:tr h="310900">
                <a:tc>
                  <a:txBody>
                    <a:bodyPr/>
                    <a:lstStyle/>
                    <a:p>
                      <a:pPr marL="74295" marR="0" lvl="0" indent="0" algn="l" rtl="0">
                        <a:lnSpc>
                          <a:spcPct val="100000"/>
                        </a:lnSpc>
                        <a:spcBef>
                          <a:spcPts val="0"/>
                        </a:spcBef>
                        <a:spcAft>
                          <a:spcPts val="0"/>
                        </a:spcAft>
                        <a:buNone/>
                      </a:pPr>
                      <a:r>
                        <a:rPr lang="en-US" sz="2000" u="none" strike="noStrike" cap="none">
                          <a:latin typeface="Calibri"/>
                          <a:ea typeface="Calibri"/>
                          <a:cs typeface="Calibri"/>
                          <a:sym typeface="Calibri"/>
                        </a:rPr>
                        <a:t>talk</a:t>
                      </a:r>
                      <a:endParaRPr sz="2000" u="none" strike="noStrike" cap="none">
                        <a:latin typeface="Calibri"/>
                        <a:ea typeface="Calibri"/>
                        <a:cs typeface="Calibri"/>
                        <a:sym typeface="Calibri"/>
                      </a:endParaRPr>
                    </a:p>
                  </a:txBody>
                  <a:tcPr marL="0" marR="0" marT="17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73660" marR="0" lvl="0" indent="0" algn="l" rtl="0">
                        <a:lnSpc>
                          <a:spcPct val="100000"/>
                        </a:lnSpc>
                        <a:spcBef>
                          <a:spcPts val="0"/>
                        </a:spcBef>
                        <a:spcAft>
                          <a:spcPts val="0"/>
                        </a:spcAft>
                        <a:buNone/>
                      </a:pPr>
                      <a:r>
                        <a:rPr lang="en-US" sz="2000" u="none" strike="noStrike" cap="none">
                          <a:latin typeface="Calibri"/>
                          <a:ea typeface="Calibri"/>
                          <a:cs typeface="Calibri"/>
                          <a:sym typeface="Calibri"/>
                        </a:rPr>
                        <a:t>sing</a:t>
                      </a:r>
                      <a:endParaRPr sz="2000" u="none" strike="noStrike" cap="none">
                        <a:latin typeface="Calibri"/>
                        <a:ea typeface="Calibri"/>
                        <a:cs typeface="Calibri"/>
                        <a:sym typeface="Calibri"/>
                      </a:endParaRPr>
                    </a:p>
                  </a:txBody>
                  <a:tcPr marL="0" marR="0" marT="17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76835" marR="0" lvl="0" indent="0" algn="l" rtl="0">
                        <a:lnSpc>
                          <a:spcPct val="100000"/>
                        </a:lnSpc>
                        <a:spcBef>
                          <a:spcPts val="0"/>
                        </a:spcBef>
                        <a:spcAft>
                          <a:spcPts val="0"/>
                        </a:spcAft>
                        <a:buNone/>
                      </a:pPr>
                      <a:r>
                        <a:rPr lang="en-US" sz="2000" u="none" strike="noStrike" cap="none">
                          <a:latin typeface="Calibri"/>
                          <a:ea typeface="Calibri"/>
                          <a:cs typeface="Calibri"/>
                          <a:sym typeface="Calibri"/>
                        </a:rPr>
                        <a:t>sang</a:t>
                      </a:r>
                      <a:endParaRPr sz="2000" u="none" strike="noStrike" cap="none">
                        <a:latin typeface="Calibri"/>
                        <a:ea typeface="Calibri"/>
                        <a:cs typeface="Calibri"/>
                        <a:sym typeface="Calibri"/>
                      </a:endParaRPr>
                    </a:p>
                  </a:txBody>
                  <a:tcPr marL="0" marR="0" marT="177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0" marR="0" lvl="0" indent="0" algn="l" rtl="0">
                        <a:lnSpc>
                          <a:spcPct val="100000"/>
                        </a:lnSpc>
                        <a:spcBef>
                          <a:spcPts val="0"/>
                        </a:spcBef>
                        <a:spcAft>
                          <a:spcPts val="0"/>
                        </a:spcAft>
                        <a:buNone/>
                      </a:pPr>
                      <a:endParaRPr sz="20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0" marR="0" lvl="0" indent="0" algn="l" rtl="0">
                        <a:lnSpc>
                          <a:spcPct val="100000"/>
                        </a:lnSpc>
                        <a:spcBef>
                          <a:spcPts val="0"/>
                        </a:spcBef>
                        <a:spcAft>
                          <a:spcPts val="0"/>
                        </a:spcAft>
                        <a:buNone/>
                      </a:pPr>
                      <a:endParaRPr sz="20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0" marR="0" lvl="0" indent="0" algn="l" rtl="0">
                        <a:lnSpc>
                          <a:spcPct val="100000"/>
                        </a:lnSpc>
                        <a:spcBef>
                          <a:spcPts val="0"/>
                        </a:spcBef>
                        <a:spcAft>
                          <a:spcPts val="0"/>
                        </a:spcAft>
                        <a:buNone/>
                      </a:pPr>
                      <a:endParaRPr sz="20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tc>
                  <a:txBody>
                    <a:bodyPr/>
                    <a:lstStyle/>
                    <a:p>
                      <a:pPr marL="0" marR="0" lvl="0" indent="0" algn="l" rtl="0">
                        <a:lnSpc>
                          <a:spcPct val="100000"/>
                        </a:lnSpc>
                        <a:spcBef>
                          <a:spcPts val="0"/>
                        </a:spcBef>
                        <a:spcAft>
                          <a:spcPts val="0"/>
                        </a:spcAft>
                        <a:buNone/>
                      </a:pPr>
                      <a:endParaRPr sz="20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1DDEE"/>
                    </a:solidFill>
                  </a:tcPr>
                </a:tc>
                <a:extLst>
                  <a:ext uri="{0D108BD9-81ED-4DB2-BD59-A6C34878D82A}">
                    <a16:rowId xmlns:a16="http://schemas.microsoft.com/office/drawing/2014/main" val="10003"/>
                  </a:ext>
                </a:extLst>
              </a:tr>
            </a:tbl>
          </a:graphicData>
        </a:graphic>
      </p:graphicFrame>
      <p:sp>
        <p:nvSpPr>
          <p:cNvPr id="469" name="Google Shape;469;p38"/>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39</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Shape 473"/>
        <p:cNvGrpSpPr/>
        <p:nvPr/>
      </p:nvGrpSpPr>
      <p:grpSpPr>
        <a:xfrm>
          <a:off x="0" y="0"/>
          <a:ext cx="0" cy="0"/>
          <a:chOff x="0" y="0"/>
          <a:chExt cx="0" cy="0"/>
        </a:xfrm>
      </p:grpSpPr>
      <p:sp>
        <p:nvSpPr>
          <p:cNvPr id="474" name="Google Shape;474;p39"/>
          <p:cNvSpPr txBox="1">
            <a:spLocks noGrp="1"/>
          </p:cNvSpPr>
          <p:nvPr>
            <p:ph type="title"/>
          </p:nvPr>
        </p:nvSpPr>
        <p:spPr>
          <a:xfrm>
            <a:off x="1143000" y="542733"/>
            <a:ext cx="3365500" cy="82843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b="1"/>
              <a:t>Derivational Morphology</a:t>
            </a:r>
            <a:endParaRPr/>
          </a:p>
        </p:txBody>
      </p:sp>
      <p:pic>
        <p:nvPicPr>
          <p:cNvPr id="475" name="Google Shape;475;p39"/>
          <p:cNvPicPr preferRelativeResize="0"/>
          <p:nvPr/>
        </p:nvPicPr>
        <p:blipFill rotWithShape="1">
          <a:blip r:embed="rId3">
            <a:alphaModFix/>
          </a:blip>
          <a:srcRect/>
          <a:stretch/>
        </p:blipFill>
        <p:spPr>
          <a:xfrm>
            <a:off x="551686" y="3639310"/>
            <a:ext cx="8744713" cy="3294889"/>
          </a:xfrm>
          <a:prstGeom prst="rect">
            <a:avLst/>
          </a:prstGeom>
          <a:noFill/>
          <a:ln>
            <a:noFill/>
          </a:ln>
        </p:spPr>
      </p:pic>
      <p:sp>
        <p:nvSpPr>
          <p:cNvPr id="476" name="Google Shape;476;p39"/>
          <p:cNvSpPr txBox="1"/>
          <p:nvPr/>
        </p:nvSpPr>
        <p:spPr>
          <a:xfrm>
            <a:off x="838200" y="1808105"/>
            <a:ext cx="8458200" cy="1490152"/>
          </a:xfrm>
          <a:prstGeom prst="rect">
            <a:avLst/>
          </a:prstGeom>
          <a:noFill/>
          <a:ln>
            <a:noFill/>
          </a:ln>
        </p:spPr>
        <p:txBody>
          <a:bodyPr spcFirstLastPara="1" wrap="square" lIns="0" tIns="12700" rIns="0" bIns="0" anchor="t" anchorCtr="0">
            <a:spAutoFit/>
          </a:bodyPr>
          <a:lstStyle/>
          <a:p>
            <a:pPr marL="12700" marR="513080" lvl="0" indent="0" algn="l" rtl="0">
              <a:lnSpc>
                <a:spcPct val="100000"/>
              </a:lnSpc>
              <a:spcBef>
                <a:spcPts val="0"/>
              </a:spcBef>
              <a:spcAft>
                <a:spcPts val="0"/>
              </a:spcAft>
              <a:buNone/>
            </a:pPr>
            <a:r>
              <a:rPr lang="en-US" sz="2400">
                <a:solidFill>
                  <a:schemeClr val="dk1"/>
                </a:solidFill>
                <a:latin typeface="Calibri"/>
                <a:ea typeface="Calibri"/>
                <a:cs typeface="Calibri"/>
                <a:sym typeface="Calibri"/>
              </a:rPr>
              <a:t>Simple ex for morphotactics of English adjectives  Big – bigger, biggest</a:t>
            </a:r>
            <a:endParaRPr/>
          </a:p>
          <a:p>
            <a:pPr marL="12700" marR="0" lvl="0" indent="0" algn="l" rtl="0">
              <a:lnSpc>
                <a:spcPct val="100000"/>
              </a:lnSpc>
              <a:spcBef>
                <a:spcPts val="0"/>
              </a:spcBef>
              <a:spcAft>
                <a:spcPts val="0"/>
              </a:spcAft>
              <a:buNone/>
            </a:pPr>
            <a:r>
              <a:rPr lang="en-US" sz="2400">
                <a:solidFill>
                  <a:schemeClr val="dk1"/>
                </a:solidFill>
                <a:latin typeface="Calibri"/>
                <a:ea typeface="Calibri"/>
                <a:cs typeface="Calibri"/>
                <a:sym typeface="Calibri"/>
              </a:rPr>
              <a:t>Happy – </a:t>
            </a:r>
            <a:r>
              <a:rPr lang="en-US" sz="2400">
                <a:solidFill>
                  <a:srgbClr val="0070C0"/>
                </a:solidFill>
                <a:latin typeface="Calibri"/>
                <a:ea typeface="Calibri"/>
                <a:cs typeface="Calibri"/>
                <a:sym typeface="Calibri"/>
              </a:rPr>
              <a:t>happier, happiest, happily, unhappy, unhappily</a:t>
            </a:r>
            <a:endParaRPr sz="2400">
              <a:solidFill>
                <a:srgbClr val="0070C0"/>
              </a:solidFill>
              <a:latin typeface="Calibri"/>
              <a:ea typeface="Calibri"/>
              <a:cs typeface="Calibri"/>
              <a:sym typeface="Calibri"/>
            </a:endParaRPr>
          </a:p>
          <a:p>
            <a:pPr marL="12700" marR="0" lvl="0" indent="0" algn="l" rtl="0">
              <a:lnSpc>
                <a:spcPct val="100000"/>
              </a:lnSpc>
              <a:spcBef>
                <a:spcPts val="0"/>
              </a:spcBef>
              <a:spcAft>
                <a:spcPts val="0"/>
              </a:spcAft>
              <a:buNone/>
            </a:pPr>
            <a:r>
              <a:rPr lang="en-US" sz="2400">
                <a:solidFill>
                  <a:schemeClr val="dk1"/>
                </a:solidFill>
                <a:latin typeface="Calibri"/>
                <a:ea typeface="Calibri"/>
                <a:cs typeface="Calibri"/>
                <a:sym typeface="Calibri"/>
              </a:rPr>
              <a:t>Cool – </a:t>
            </a:r>
            <a:r>
              <a:rPr lang="en-US" sz="2400">
                <a:solidFill>
                  <a:srgbClr val="0070C0"/>
                </a:solidFill>
                <a:latin typeface="Calibri"/>
                <a:ea typeface="Calibri"/>
                <a:cs typeface="Calibri"/>
                <a:sym typeface="Calibri"/>
              </a:rPr>
              <a:t>cooler, coolest, coolly</a:t>
            </a:r>
            <a:endParaRPr sz="2400">
              <a:solidFill>
                <a:srgbClr val="0070C0"/>
              </a:solidFill>
              <a:latin typeface="Calibri"/>
              <a:ea typeface="Calibri"/>
              <a:cs typeface="Calibri"/>
              <a:sym typeface="Calibri"/>
            </a:endParaRPr>
          </a:p>
        </p:txBody>
      </p:sp>
      <p:sp>
        <p:nvSpPr>
          <p:cNvPr id="477" name="Google Shape;477;p39"/>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40</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Shape 481"/>
        <p:cNvGrpSpPr/>
        <p:nvPr/>
      </p:nvGrpSpPr>
      <p:grpSpPr>
        <a:xfrm>
          <a:off x="0" y="0"/>
          <a:ext cx="0" cy="0"/>
          <a:chOff x="0" y="0"/>
          <a:chExt cx="0" cy="0"/>
        </a:xfrm>
      </p:grpSpPr>
      <p:sp>
        <p:nvSpPr>
          <p:cNvPr id="482" name="Google Shape;482;p40"/>
          <p:cNvSpPr txBox="1">
            <a:spLocks noGrp="1"/>
          </p:cNvSpPr>
          <p:nvPr>
            <p:ph type="title"/>
          </p:nvPr>
        </p:nvSpPr>
        <p:spPr>
          <a:xfrm>
            <a:off x="754126" y="1285240"/>
            <a:ext cx="1379220" cy="5283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300"/>
              <a:t>Exercise</a:t>
            </a:r>
            <a:endParaRPr sz="3300"/>
          </a:p>
        </p:txBody>
      </p:sp>
      <p:pic>
        <p:nvPicPr>
          <p:cNvPr id="483" name="Google Shape;483;p40"/>
          <p:cNvPicPr preferRelativeResize="0"/>
          <p:nvPr/>
        </p:nvPicPr>
        <p:blipFill rotWithShape="1">
          <a:blip r:embed="rId3">
            <a:alphaModFix/>
          </a:blip>
          <a:srcRect/>
          <a:stretch/>
        </p:blipFill>
        <p:spPr>
          <a:xfrm>
            <a:off x="816863" y="2211323"/>
            <a:ext cx="7438644" cy="4245864"/>
          </a:xfrm>
          <a:prstGeom prst="rect">
            <a:avLst/>
          </a:prstGeom>
          <a:noFill/>
          <a:ln>
            <a:noFill/>
          </a:ln>
        </p:spPr>
      </p:pic>
      <p:sp>
        <p:nvSpPr>
          <p:cNvPr id="484" name="Google Shape;484;p40"/>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41</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Shape 488"/>
        <p:cNvGrpSpPr/>
        <p:nvPr/>
      </p:nvGrpSpPr>
      <p:grpSpPr>
        <a:xfrm>
          <a:off x="0" y="0"/>
          <a:ext cx="0" cy="0"/>
          <a:chOff x="0" y="0"/>
          <a:chExt cx="0" cy="0"/>
        </a:xfrm>
      </p:grpSpPr>
      <p:sp>
        <p:nvSpPr>
          <p:cNvPr id="489" name="Google Shape;489;p41"/>
          <p:cNvSpPr txBox="1"/>
          <p:nvPr/>
        </p:nvSpPr>
        <p:spPr>
          <a:xfrm>
            <a:off x="342645" y="1379728"/>
            <a:ext cx="5377815" cy="589280"/>
          </a:xfrm>
          <a:prstGeom prst="rect">
            <a:avLst/>
          </a:prstGeom>
          <a:noFill/>
          <a:ln>
            <a:noFill/>
          </a:ln>
        </p:spPr>
        <p:txBody>
          <a:bodyPr spcFirstLastPara="1" wrap="square" lIns="0" tIns="46975" rIns="0" bIns="0" anchor="t" anchorCtr="0">
            <a:spAutoFit/>
          </a:bodyPr>
          <a:lstStyle/>
          <a:p>
            <a:pPr marL="12700" marR="5080" lvl="0" indent="0" algn="l" rtl="0">
              <a:lnSpc>
                <a:spcPct val="107692"/>
              </a:lnSpc>
              <a:spcBef>
                <a:spcPts val="0"/>
              </a:spcBef>
              <a:spcAft>
                <a:spcPts val="0"/>
              </a:spcAft>
              <a:buNone/>
            </a:pPr>
            <a:r>
              <a:rPr lang="en-US" sz="1950">
                <a:solidFill>
                  <a:schemeClr val="dk1"/>
                </a:solidFill>
                <a:latin typeface="Calibri"/>
                <a:ea typeface="Calibri"/>
                <a:cs typeface="Calibri"/>
                <a:sym typeface="Calibri"/>
              </a:rPr>
              <a:t>Morphological recognition – plug sub-lexicon into FSA  ie. Expand each arc like reg-noun, irreg-pl-noun etc.</a:t>
            </a:r>
            <a:endParaRPr sz="1950">
              <a:solidFill>
                <a:schemeClr val="dk1"/>
              </a:solidFill>
              <a:latin typeface="Calibri"/>
              <a:ea typeface="Calibri"/>
              <a:cs typeface="Calibri"/>
              <a:sym typeface="Calibri"/>
            </a:endParaRPr>
          </a:p>
        </p:txBody>
      </p:sp>
      <p:pic>
        <p:nvPicPr>
          <p:cNvPr id="490" name="Google Shape;490;p41"/>
          <p:cNvPicPr preferRelativeResize="0"/>
          <p:nvPr/>
        </p:nvPicPr>
        <p:blipFill rotWithShape="1">
          <a:blip r:embed="rId3">
            <a:alphaModFix/>
          </a:blip>
          <a:srcRect/>
          <a:stretch/>
        </p:blipFill>
        <p:spPr>
          <a:xfrm>
            <a:off x="4117847" y="2476500"/>
            <a:ext cx="5807963" cy="4082796"/>
          </a:xfrm>
          <a:prstGeom prst="rect">
            <a:avLst/>
          </a:prstGeom>
          <a:noFill/>
          <a:ln>
            <a:noFill/>
          </a:ln>
        </p:spPr>
      </p:pic>
      <p:pic>
        <p:nvPicPr>
          <p:cNvPr id="491" name="Google Shape;491;p41"/>
          <p:cNvPicPr preferRelativeResize="0"/>
          <p:nvPr/>
        </p:nvPicPr>
        <p:blipFill rotWithShape="1">
          <a:blip r:embed="rId4">
            <a:alphaModFix/>
          </a:blip>
          <a:srcRect/>
          <a:stretch/>
        </p:blipFill>
        <p:spPr>
          <a:xfrm>
            <a:off x="184404" y="2476500"/>
            <a:ext cx="3750564" cy="3115056"/>
          </a:xfrm>
          <a:prstGeom prst="rect">
            <a:avLst/>
          </a:prstGeom>
          <a:noFill/>
          <a:ln>
            <a:noFill/>
          </a:ln>
        </p:spPr>
      </p:pic>
      <p:sp>
        <p:nvSpPr>
          <p:cNvPr id="492" name="Google Shape;492;p41"/>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42</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Shape 496"/>
        <p:cNvGrpSpPr/>
        <p:nvPr/>
      </p:nvGrpSpPr>
      <p:grpSpPr>
        <a:xfrm>
          <a:off x="0" y="0"/>
          <a:ext cx="0" cy="0"/>
          <a:chOff x="0" y="0"/>
          <a:chExt cx="0" cy="0"/>
        </a:xfrm>
      </p:grpSpPr>
      <p:sp>
        <p:nvSpPr>
          <p:cNvPr id="497" name="Google Shape;497;p42"/>
          <p:cNvSpPr txBox="1">
            <a:spLocks noGrp="1"/>
          </p:cNvSpPr>
          <p:nvPr>
            <p:ph type="title"/>
          </p:nvPr>
        </p:nvSpPr>
        <p:spPr>
          <a:xfrm>
            <a:off x="1000056" y="368320"/>
            <a:ext cx="5653800" cy="4206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dirty="0"/>
              <a:t>Finite State Transducer (FST)</a:t>
            </a:r>
            <a:endParaRPr dirty="0"/>
          </a:p>
        </p:txBody>
      </p:sp>
      <p:sp>
        <p:nvSpPr>
          <p:cNvPr id="498" name="Google Shape;498;p42"/>
          <p:cNvSpPr txBox="1"/>
          <p:nvPr/>
        </p:nvSpPr>
        <p:spPr>
          <a:xfrm>
            <a:off x="407480" y="984539"/>
            <a:ext cx="9197087" cy="1751762"/>
          </a:xfrm>
          <a:prstGeom prst="rect">
            <a:avLst/>
          </a:prstGeom>
          <a:noFill/>
          <a:ln>
            <a:noFill/>
          </a:ln>
        </p:spPr>
        <p:txBody>
          <a:bodyPr spcFirstLastPara="1" wrap="square" lIns="0" tIns="88900" rIns="0" bIns="0" anchor="t" anchorCtr="0">
            <a:spAutoFit/>
          </a:bodyPr>
          <a:lstStyle/>
          <a:p>
            <a:pPr marL="297815" lvl="0" indent="-285750">
              <a:buClr>
                <a:schemeClr val="dk1"/>
              </a:buClr>
              <a:buSzPts val="1950"/>
              <a:buFont typeface="Arial" panose="020B0604020202020204" pitchFamily="34" charset="0"/>
              <a:buChar char="•"/>
            </a:pPr>
            <a:r>
              <a:rPr lang="en-US" sz="1800" dirty="0" smtClean="0"/>
              <a:t>A </a:t>
            </a:r>
            <a:r>
              <a:rPr lang="en-US" sz="1800" dirty="0"/>
              <a:t>sophisticated tool that is used for understanding and transforming language</a:t>
            </a:r>
            <a:r>
              <a:rPr lang="en-US" dirty="0" smtClean="0"/>
              <a:t>. </a:t>
            </a:r>
          </a:p>
          <a:p>
            <a:pPr marL="297815" indent="-285750">
              <a:buClr>
                <a:schemeClr val="dk1"/>
              </a:buClr>
              <a:buSzPts val="1950"/>
              <a:buFont typeface="Arial" panose="020B0604020202020204" pitchFamily="34" charset="0"/>
              <a:buChar char="•"/>
            </a:pPr>
            <a:r>
              <a:rPr lang="en-US" sz="1800" dirty="0" smtClean="0"/>
              <a:t>Digital </a:t>
            </a:r>
            <a:r>
              <a:rPr lang="en-US" sz="1800" dirty="0"/>
              <a:t>language magician; it takes in words, sentences, or even entire paragraphs and performs all sorts of clever </a:t>
            </a:r>
            <a:r>
              <a:rPr lang="en-US" sz="1800" dirty="0"/>
              <a:t>tricks with them</a:t>
            </a:r>
            <a:r>
              <a:rPr lang="en-US" sz="1800" dirty="0" smtClean="0"/>
              <a:t>.</a:t>
            </a:r>
          </a:p>
          <a:p>
            <a:pPr marL="297815" indent="-285750">
              <a:buClr>
                <a:schemeClr val="dk1"/>
              </a:buClr>
              <a:buSzPts val="1950"/>
              <a:buFont typeface="Arial" panose="020B0604020202020204" pitchFamily="34" charset="0"/>
              <a:buChar char="•"/>
            </a:pPr>
            <a:r>
              <a:rPr lang="en-US" sz="1800" dirty="0"/>
              <a:t>FSTs are like the secret sauce behind many NLP applications, from auto-correcting your typos to helping virtual assistants understand what you're asking them to do.</a:t>
            </a:r>
            <a:endParaRPr lang="en-US" sz="1800" dirty="0"/>
          </a:p>
          <a:p>
            <a:pPr marL="297815" lvl="0" indent="-285750">
              <a:buClr>
                <a:schemeClr val="dk1"/>
              </a:buClr>
              <a:buSzPts val="1950"/>
              <a:buFont typeface="Arial" panose="020B0604020202020204" pitchFamily="34" charset="0"/>
              <a:buChar char="•"/>
            </a:pPr>
            <a:endParaRPr sz="1800" dirty="0">
              <a:sym typeface="Calibri"/>
            </a:endParaRPr>
          </a:p>
        </p:txBody>
      </p:sp>
      <p:pic>
        <p:nvPicPr>
          <p:cNvPr id="499" name="Google Shape;499;p42"/>
          <p:cNvPicPr preferRelativeResize="0"/>
          <p:nvPr/>
        </p:nvPicPr>
        <p:blipFill rotWithShape="1">
          <a:blip r:embed="rId3">
            <a:alphaModFix/>
          </a:blip>
          <a:srcRect/>
          <a:stretch/>
        </p:blipFill>
        <p:spPr>
          <a:xfrm>
            <a:off x="1641286" y="4567442"/>
            <a:ext cx="4038600" cy="1277111"/>
          </a:xfrm>
          <a:prstGeom prst="rect">
            <a:avLst/>
          </a:prstGeom>
          <a:noFill/>
          <a:ln>
            <a:noFill/>
          </a:ln>
        </p:spPr>
      </p:pic>
      <p:sp>
        <p:nvSpPr>
          <p:cNvPr id="500" name="Google Shape;500;p42"/>
          <p:cNvSpPr txBox="1"/>
          <p:nvPr/>
        </p:nvSpPr>
        <p:spPr>
          <a:xfrm>
            <a:off x="1948626" y="3389962"/>
            <a:ext cx="217170"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rgbClr val="FFFFFF"/>
                </a:solidFill>
                <a:latin typeface="Calibri"/>
                <a:ea typeface="Calibri"/>
                <a:cs typeface="Calibri"/>
                <a:sym typeface="Calibri"/>
              </a:rPr>
              <a:t>q0</a:t>
            </a:r>
            <a:endParaRPr sz="1450">
              <a:solidFill>
                <a:schemeClr val="dk1"/>
              </a:solidFill>
              <a:latin typeface="Calibri"/>
              <a:ea typeface="Calibri"/>
              <a:cs typeface="Calibri"/>
              <a:sym typeface="Calibri"/>
            </a:endParaRPr>
          </a:p>
        </p:txBody>
      </p:sp>
      <p:sp>
        <p:nvSpPr>
          <p:cNvPr id="501" name="Google Shape;501;p42"/>
          <p:cNvSpPr txBox="1"/>
          <p:nvPr/>
        </p:nvSpPr>
        <p:spPr>
          <a:xfrm>
            <a:off x="5006024" y="3389962"/>
            <a:ext cx="217804"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rgbClr val="FFFFFF"/>
                </a:solidFill>
                <a:latin typeface="Calibri"/>
                <a:ea typeface="Calibri"/>
                <a:cs typeface="Calibri"/>
                <a:sym typeface="Calibri"/>
              </a:rPr>
              <a:t>q1</a:t>
            </a:r>
            <a:endParaRPr sz="1450">
              <a:solidFill>
                <a:schemeClr val="dk1"/>
              </a:solidFill>
              <a:latin typeface="Calibri"/>
              <a:ea typeface="Calibri"/>
              <a:cs typeface="Calibri"/>
              <a:sym typeface="Calibri"/>
            </a:endParaRPr>
          </a:p>
        </p:txBody>
      </p:sp>
      <p:sp>
        <p:nvSpPr>
          <p:cNvPr id="502" name="Google Shape;502;p42"/>
          <p:cNvSpPr/>
          <p:nvPr/>
        </p:nvSpPr>
        <p:spPr>
          <a:xfrm>
            <a:off x="1386463" y="4563826"/>
            <a:ext cx="3249295" cy="676910"/>
          </a:xfrm>
          <a:custGeom>
            <a:avLst/>
            <a:gdLst/>
            <a:ahLst/>
            <a:cxnLst/>
            <a:rect l="l" t="t" r="r" b="b"/>
            <a:pathLst>
              <a:path w="3249295" h="676910" extrusionOk="0">
                <a:moveTo>
                  <a:pt x="684276" y="121920"/>
                </a:moveTo>
                <a:lnTo>
                  <a:pt x="657606" y="131699"/>
                </a:lnTo>
                <a:lnTo>
                  <a:pt x="656844" y="129540"/>
                </a:lnTo>
                <a:lnTo>
                  <a:pt x="643128" y="112776"/>
                </a:lnTo>
                <a:lnTo>
                  <a:pt x="633984" y="105156"/>
                </a:lnTo>
                <a:lnTo>
                  <a:pt x="624840" y="96012"/>
                </a:lnTo>
                <a:lnTo>
                  <a:pt x="606552" y="80772"/>
                </a:lnTo>
                <a:lnTo>
                  <a:pt x="595884" y="74676"/>
                </a:lnTo>
                <a:lnTo>
                  <a:pt x="573024" y="59436"/>
                </a:lnTo>
                <a:lnTo>
                  <a:pt x="521208" y="35052"/>
                </a:lnTo>
                <a:lnTo>
                  <a:pt x="464820" y="16764"/>
                </a:lnTo>
                <a:lnTo>
                  <a:pt x="402336" y="4572"/>
                </a:lnTo>
                <a:lnTo>
                  <a:pt x="339852" y="0"/>
                </a:lnTo>
                <a:lnTo>
                  <a:pt x="292608" y="4572"/>
                </a:lnTo>
                <a:lnTo>
                  <a:pt x="245364" y="16764"/>
                </a:lnTo>
                <a:lnTo>
                  <a:pt x="199644" y="35052"/>
                </a:lnTo>
                <a:lnTo>
                  <a:pt x="144780" y="70104"/>
                </a:lnTo>
                <a:lnTo>
                  <a:pt x="106680" y="102108"/>
                </a:lnTo>
                <a:lnTo>
                  <a:pt x="73152" y="137160"/>
                </a:lnTo>
                <a:lnTo>
                  <a:pt x="45720" y="176657"/>
                </a:lnTo>
                <a:lnTo>
                  <a:pt x="16764" y="234569"/>
                </a:lnTo>
                <a:lnTo>
                  <a:pt x="4572" y="278765"/>
                </a:lnTo>
                <a:lnTo>
                  <a:pt x="0" y="324485"/>
                </a:lnTo>
                <a:lnTo>
                  <a:pt x="1524" y="353441"/>
                </a:lnTo>
                <a:lnTo>
                  <a:pt x="9144" y="412877"/>
                </a:lnTo>
                <a:lnTo>
                  <a:pt x="25908" y="470789"/>
                </a:lnTo>
                <a:lnTo>
                  <a:pt x="47244" y="522478"/>
                </a:lnTo>
                <a:lnTo>
                  <a:pt x="73152" y="566674"/>
                </a:lnTo>
                <a:lnTo>
                  <a:pt x="103632" y="604774"/>
                </a:lnTo>
                <a:lnTo>
                  <a:pt x="129540" y="624586"/>
                </a:lnTo>
                <a:lnTo>
                  <a:pt x="137160" y="630682"/>
                </a:lnTo>
                <a:lnTo>
                  <a:pt x="155448" y="639826"/>
                </a:lnTo>
                <a:lnTo>
                  <a:pt x="164592" y="642874"/>
                </a:lnTo>
                <a:lnTo>
                  <a:pt x="192024" y="647446"/>
                </a:lnTo>
                <a:lnTo>
                  <a:pt x="192024" y="641350"/>
                </a:lnTo>
                <a:lnTo>
                  <a:pt x="182880" y="641350"/>
                </a:lnTo>
                <a:lnTo>
                  <a:pt x="173736" y="639826"/>
                </a:lnTo>
                <a:lnTo>
                  <a:pt x="175260" y="639826"/>
                </a:lnTo>
                <a:lnTo>
                  <a:pt x="166116" y="638302"/>
                </a:lnTo>
                <a:lnTo>
                  <a:pt x="156972" y="635254"/>
                </a:lnTo>
                <a:lnTo>
                  <a:pt x="149352" y="630682"/>
                </a:lnTo>
                <a:lnTo>
                  <a:pt x="140208" y="626110"/>
                </a:lnTo>
                <a:lnTo>
                  <a:pt x="132588" y="621538"/>
                </a:lnTo>
                <a:lnTo>
                  <a:pt x="100584" y="592582"/>
                </a:lnTo>
                <a:lnTo>
                  <a:pt x="64008" y="542290"/>
                </a:lnTo>
                <a:lnTo>
                  <a:pt x="39624" y="495173"/>
                </a:lnTo>
                <a:lnTo>
                  <a:pt x="30480" y="467741"/>
                </a:lnTo>
                <a:lnTo>
                  <a:pt x="30480" y="469265"/>
                </a:lnTo>
                <a:lnTo>
                  <a:pt x="21336" y="440309"/>
                </a:lnTo>
                <a:lnTo>
                  <a:pt x="15240" y="412877"/>
                </a:lnTo>
                <a:lnTo>
                  <a:pt x="9144" y="383921"/>
                </a:lnTo>
                <a:lnTo>
                  <a:pt x="6096" y="353441"/>
                </a:lnTo>
                <a:lnTo>
                  <a:pt x="6096" y="309245"/>
                </a:lnTo>
                <a:lnTo>
                  <a:pt x="7620" y="294005"/>
                </a:lnTo>
                <a:lnTo>
                  <a:pt x="10668" y="278765"/>
                </a:lnTo>
                <a:lnTo>
                  <a:pt x="9144" y="278765"/>
                </a:lnTo>
                <a:lnTo>
                  <a:pt x="13716" y="265049"/>
                </a:lnTo>
                <a:lnTo>
                  <a:pt x="16764" y="249809"/>
                </a:lnTo>
                <a:lnTo>
                  <a:pt x="22860" y="236093"/>
                </a:lnTo>
                <a:lnTo>
                  <a:pt x="27432" y="220853"/>
                </a:lnTo>
                <a:lnTo>
                  <a:pt x="35052" y="207137"/>
                </a:lnTo>
                <a:lnTo>
                  <a:pt x="41148" y="193421"/>
                </a:lnTo>
                <a:lnTo>
                  <a:pt x="48768" y="179705"/>
                </a:lnTo>
                <a:lnTo>
                  <a:pt x="57912" y="166116"/>
                </a:lnTo>
                <a:lnTo>
                  <a:pt x="67056" y="153924"/>
                </a:lnTo>
                <a:lnTo>
                  <a:pt x="77724" y="141732"/>
                </a:lnTo>
                <a:lnTo>
                  <a:pt x="88392" y="128016"/>
                </a:lnTo>
                <a:lnTo>
                  <a:pt x="86868" y="129540"/>
                </a:lnTo>
                <a:lnTo>
                  <a:pt x="109728" y="105156"/>
                </a:lnTo>
                <a:lnTo>
                  <a:pt x="134112" y="83820"/>
                </a:lnTo>
                <a:lnTo>
                  <a:pt x="147828" y="74676"/>
                </a:lnTo>
                <a:lnTo>
                  <a:pt x="161544" y="64008"/>
                </a:lnTo>
                <a:lnTo>
                  <a:pt x="160020" y="64008"/>
                </a:lnTo>
                <a:lnTo>
                  <a:pt x="173736" y="56388"/>
                </a:lnTo>
                <a:lnTo>
                  <a:pt x="188976" y="47244"/>
                </a:lnTo>
                <a:lnTo>
                  <a:pt x="202692" y="39624"/>
                </a:lnTo>
                <a:lnTo>
                  <a:pt x="217932" y="33528"/>
                </a:lnTo>
                <a:lnTo>
                  <a:pt x="231648" y="27432"/>
                </a:lnTo>
                <a:lnTo>
                  <a:pt x="246888" y="21336"/>
                </a:lnTo>
                <a:lnTo>
                  <a:pt x="262128" y="16764"/>
                </a:lnTo>
                <a:lnTo>
                  <a:pt x="292608" y="10668"/>
                </a:lnTo>
                <a:lnTo>
                  <a:pt x="309372" y="7620"/>
                </a:lnTo>
                <a:lnTo>
                  <a:pt x="307848" y="7620"/>
                </a:lnTo>
                <a:lnTo>
                  <a:pt x="324612" y="6096"/>
                </a:lnTo>
                <a:lnTo>
                  <a:pt x="339852" y="6096"/>
                </a:lnTo>
                <a:lnTo>
                  <a:pt x="371856" y="7620"/>
                </a:lnTo>
                <a:lnTo>
                  <a:pt x="402336" y="10668"/>
                </a:lnTo>
                <a:lnTo>
                  <a:pt x="432816" y="15240"/>
                </a:lnTo>
                <a:lnTo>
                  <a:pt x="463296" y="22860"/>
                </a:lnTo>
                <a:lnTo>
                  <a:pt x="463296" y="21336"/>
                </a:lnTo>
                <a:lnTo>
                  <a:pt x="519684" y="41148"/>
                </a:lnTo>
                <a:lnTo>
                  <a:pt x="569976" y="64008"/>
                </a:lnTo>
                <a:lnTo>
                  <a:pt x="603504" y="85344"/>
                </a:lnTo>
                <a:lnTo>
                  <a:pt x="638556" y="115824"/>
                </a:lnTo>
                <a:lnTo>
                  <a:pt x="652653" y="133477"/>
                </a:lnTo>
                <a:lnTo>
                  <a:pt x="626364" y="143256"/>
                </a:lnTo>
                <a:lnTo>
                  <a:pt x="676656" y="191897"/>
                </a:lnTo>
                <a:lnTo>
                  <a:pt x="684276" y="121920"/>
                </a:lnTo>
                <a:close/>
              </a:path>
              <a:path w="3249295" h="676910" extrusionOk="0">
                <a:moveTo>
                  <a:pt x="3249041" y="644398"/>
                </a:moveTo>
                <a:lnTo>
                  <a:pt x="3185033" y="612394"/>
                </a:lnTo>
                <a:lnTo>
                  <a:pt x="3185033" y="641350"/>
                </a:lnTo>
                <a:lnTo>
                  <a:pt x="1161288" y="641350"/>
                </a:lnTo>
                <a:lnTo>
                  <a:pt x="1161288" y="647446"/>
                </a:lnTo>
                <a:lnTo>
                  <a:pt x="3185033" y="647446"/>
                </a:lnTo>
                <a:lnTo>
                  <a:pt x="3185033" y="676402"/>
                </a:lnTo>
                <a:lnTo>
                  <a:pt x="3249041" y="644398"/>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3" name="Google Shape;503;p42"/>
          <p:cNvSpPr txBox="1"/>
          <p:nvPr/>
        </p:nvSpPr>
        <p:spPr>
          <a:xfrm>
            <a:off x="3486596" y="4252544"/>
            <a:ext cx="340360"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dirty="0">
                <a:solidFill>
                  <a:schemeClr val="dk1"/>
                </a:solidFill>
                <a:latin typeface="Calibri"/>
                <a:ea typeface="Calibri"/>
                <a:cs typeface="Calibri"/>
                <a:sym typeface="Calibri"/>
              </a:rPr>
              <a:t>b : a</a:t>
            </a:r>
            <a:endParaRPr sz="1450" dirty="0">
              <a:solidFill>
                <a:schemeClr val="dk1"/>
              </a:solidFill>
              <a:latin typeface="Calibri"/>
              <a:ea typeface="Calibri"/>
              <a:cs typeface="Calibri"/>
              <a:sym typeface="Calibri"/>
            </a:endParaRPr>
          </a:p>
        </p:txBody>
      </p:sp>
      <p:sp>
        <p:nvSpPr>
          <p:cNvPr id="504" name="Google Shape;504;p42"/>
          <p:cNvSpPr txBox="1"/>
          <p:nvPr/>
        </p:nvSpPr>
        <p:spPr>
          <a:xfrm>
            <a:off x="3312606" y="4936310"/>
            <a:ext cx="347980"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dirty="0">
                <a:solidFill>
                  <a:schemeClr val="dk1"/>
                </a:solidFill>
                <a:latin typeface="Calibri"/>
                <a:ea typeface="Calibri"/>
                <a:cs typeface="Calibri"/>
                <a:sym typeface="Calibri"/>
              </a:rPr>
              <a:t>b : b</a:t>
            </a:r>
            <a:endParaRPr sz="1450" dirty="0">
              <a:solidFill>
                <a:schemeClr val="dk1"/>
              </a:solidFill>
              <a:latin typeface="Calibri"/>
              <a:ea typeface="Calibri"/>
              <a:cs typeface="Calibri"/>
              <a:sym typeface="Calibri"/>
            </a:endParaRPr>
          </a:p>
        </p:txBody>
      </p:sp>
      <p:sp>
        <p:nvSpPr>
          <p:cNvPr id="505" name="Google Shape;505;p42"/>
          <p:cNvSpPr txBox="1"/>
          <p:nvPr/>
        </p:nvSpPr>
        <p:spPr>
          <a:xfrm>
            <a:off x="606408" y="5848169"/>
            <a:ext cx="6619875" cy="743793"/>
          </a:xfrm>
          <a:prstGeom prst="rect">
            <a:avLst/>
          </a:prstGeom>
          <a:noFill/>
          <a:ln>
            <a:noFill/>
          </a:ln>
        </p:spPr>
        <p:txBody>
          <a:bodyPr spcFirstLastPara="1" wrap="square" lIns="0" tIns="12700" rIns="0" bIns="0" anchor="t" anchorCtr="0">
            <a:spAutoFit/>
          </a:bodyPr>
          <a:lstStyle/>
          <a:p>
            <a:pPr marL="0" marR="830580" lvl="0" indent="0" algn="ctr" rtl="0">
              <a:lnSpc>
                <a:spcPct val="100000"/>
              </a:lnSpc>
              <a:spcBef>
                <a:spcPts val="0"/>
              </a:spcBef>
              <a:spcAft>
                <a:spcPts val="0"/>
              </a:spcAft>
              <a:buNone/>
            </a:pPr>
            <a:r>
              <a:rPr lang="en-US" sz="1450" dirty="0">
                <a:solidFill>
                  <a:schemeClr val="dk1"/>
                </a:solidFill>
                <a:latin typeface="Calibri"/>
                <a:ea typeface="Calibri"/>
                <a:cs typeface="Calibri"/>
                <a:sym typeface="Calibri"/>
              </a:rPr>
              <a:t>b : </a:t>
            </a:r>
            <a:r>
              <a:rPr lang="en-US" sz="1450" dirty="0" err="1">
                <a:solidFill>
                  <a:schemeClr val="dk1"/>
                </a:solidFill>
                <a:latin typeface="Calibri"/>
                <a:ea typeface="Calibri"/>
                <a:cs typeface="Calibri"/>
                <a:sym typeface="Calibri"/>
              </a:rPr>
              <a:t>ba</a:t>
            </a:r>
            <a:endParaRPr sz="1450" dirty="0">
              <a:solidFill>
                <a:schemeClr val="dk1"/>
              </a:solidFill>
              <a:latin typeface="Calibri"/>
              <a:ea typeface="Calibri"/>
              <a:cs typeface="Calibri"/>
              <a:sym typeface="Calibri"/>
            </a:endParaRPr>
          </a:p>
          <a:p>
            <a:pPr marL="12700" marR="5080" lvl="0" indent="0" algn="ctr" rtl="0">
              <a:lnSpc>
                <a:spcPct val="100000"/>
              </a:lnSpc>
              <a:spcBef>
                <a:spcPts val="0"/>
              </a:spcBef>
              <a:spcAft>
                <a:spcPts val="0"/>
              </a:spcAft>
              <a:buNone/>
            </a:pPr>
            <a:r>
              <a:rPr lang="en-US" sz="1650" dirty="0" smtClean="0">
                <a:solidFill>
                  <a:schemeClr val="dk1"/>
                </a:solidFill>
                <a:latin typeface="Calibri"/>
                <a:ea typeface="Calibri"/>
                <a:cs typeface="Calibri"/>
                <a:sym typeface="Calibri"/>
              </a:rPr>
              <a:t>FST </a:t>
            </a:r>
            <a:r>
              <a:rPr lang="en-US" sz="1650" dirty="0">
                <a:solidFill>
                  <a:schemeClr val="dk1"/>
                </a:solidFill>
                <a:latin typeface="Calibri"/>
                <a:ea typeface="Calibri"/>
                <a:cs typeface="Calibri"/>
                <a:sym typeface="Calibri"/>
              </a:rPr>
              <a:t>as a morphological parser will take as input a string of letters and generate  as output a string of morphemes</a:t>
            </a:r>
            <a:endParaRPr sz="1650" dirty="0">
              <a:solidFill>
                <a:schemeClr val="dk1"/>
              </a:solidFill>
              <a:latin typeface="Calibri"/>
              <a:ea typeface="Calibri"/>
              <a:cs typeface="Calibri"/>
              <a:sym typeface="Calibri"/>
            </a:endParaRPr>
          </a:p>
        </p:txBody>
      </p:sp>
      <p:pic>
        <p:nvPicPr>
          <p:cNvPr id="506" name="Google Shape;506;p42"/>
          <p:cNvPicPr preferRelativeResize="0"/>
          <p:nvPr/>
        </p:nvPicPr>
        <p:blipFill rotWithShape="1">
          <a:blip r:embed="rId4">
            <a:alphaModFix/>
          </a:blip>
          <a:srcRect/>
          <a:stretch/>
        </p:blipFill>
        <p:spPr>
          <a:xfrm>
            <a:off x="4632772" y="4658500"/>
            <a:ext cx="1228343" cy="982218"/>
          </a:xfrm>
          <a:prstGeom prst="rect">
            <a:avLst/>
          </a:prstGeom>
          <a:noFill/>
          <a:ln>
            <a:noFill/>
          </a:ln>
        </p:spPr>
      </p:pic>
      <p:sp>
        <p:nvSpPr>
          <p:cNvPr id="507" name="Google Shape;507;p42"/>
          <p:cNvSpPr txBox="1"/>
          <p:nvPr/>
        </p:nvSpPr>
        <p:spPr>
          <a:xfrm>
            <a:off x="1735266" y="4211363"/>
            <a:ext cx="430530"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dirty="0">
                <a:solidFill>
                  <a:schemeClr val="dk1"/>
                </a:solidFill>
                <a:latin typeface="Calibri"/>
                <a:ea typeface="Calibri"/>
                <a:cs typeface="Calibri"/>
                <a:sym typeface="Calibri"/>
              </a:rPr>
              <a:t>aa : b</a:t>
            </a:r>
            <a:endParaRPr sz="1450" dirty="0">
              <a:solidFill>
                <a:schemeClr val="dk1"/>
              </a:solidFill>
              <a:latin typeface="Calibri"/>
              <a:ea typeface="Calibri"/>
              <a:cs typeface="Calibri"/>
              <a:sym typeface="Calibri"/>
            </a:endParaRPr>
          </a:p>
        </p:txBody>
      </p:sp>
      <p:sp>
        <p:nvSpPr>
          <p:cNvPr id="508" name="Google Shape;508;p42"/>
          <p:cNvSpPr txBox="1"/>
          <p:nvPr/>
        </p:nvSpPr>
        <p:spPr>
          <a:xfrm>
            <a:off x="5278736" y="4286170"/>
            <a:ext cx="335915"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dirty="0">
                <a:solidFill>
                  <a:schemeClr val="dk1"/>
                </a:solidFill>
                <a:latin typeface="Calibri"/>
                <a:ea typeface="Calibri"/>
                <a:cs typeface="Calibri"/>
                <a:sym typeface="Calibri"/>
              </a:rPr>
              <a:t>b : ε</a:t>
            </a:r>
            <a:endParaRPr sz="1450" dirty="0">
              <a:solidFill>
                <a:schemeClr val="dk1"/>
              </a:solidFill>
              <a:latin typeface="Calibri"/>
              <a:ea typeface="Calibri"/>
              <a:cs typeface="Calibri"/>
              <a:sym typeface="Calibri"/>
            </a:endParaRPr>
          </a:p>
        </p:txBody>
      </p:sp>
      <p:sp>
        <p:nvSpPr>
          <p:cNvPr id="510" name="Google Shape;510;p42"/>
          <p:cNvSpPr txBox="1"/>
          <p:nvPr/>
        </p:nvSpPr>
        <p:spPr>
          <a:xfrm>
            <a:off x="7990906" y="5188826"/>
            <a:ext cx="1737995" cy="1031240"/>
          </a:xfrm>
          <a:prstGeom prst="rect">
            <a:avLst/>
          </a:prstGeom>
          <a:noFill/>
          <a:ln>
            <a:noFill/>
          </a:ln>
        </p:spPr>
        <p:txBody>
          <a:bodyPr spcFirstLastPara="1" wrap="square" lIns="0" tIns="12700" rIns="0" bIns="0" anchor="t" anchorCtr="0">
            <a:spAutoFit/>
          </a:bodyPr>
          <a:lstStyle/>
          <a:p>
            <a:pPr marL="296545" marR="0" lvl="0" indent="-284480" algn="l" rtl="0">
              <a:lnSpc>
                <a:spcPct val="100000"/>
              </a:lnSpc>
              <a:spcBef>
                <a:spcPts val="0"/>
              </a:spcBef>
              <a:spcAft>
                <a:spcPts val="0"/>
              </a:spcAft>
              <a:buClr>
                <a:schemeClr val="dk1"/>
              </a:buClr>
              <a:buSzPts val="1650"/>
              <a:buFont typeface="Calibri"/>
              <a:buAutoNum type="arabicPeriod"/>
            </a:pPr>
            <a:r>
              <a:rPr lang="en-US" sz="1650" dirty="0">
                <a:solidFill>
                  <a:schemeClr val="dk1"/>
                </a:solidFill>
                <a:latin typeface="Calibri"/>
                <a:ea typeface="Calibri"/>
                <a:cs typeface="Calibri"/>
                <a:sym typeface="Calibri"/>
              </a:rPr>
              <a:t>FST as recognizer</a:t>
            </a:r>
            <a:endParaRPr sz="1650" dirty="0">
              <a:solidFill>
                <a:schemeClr val="dk1"/>
              </a:solidFill>
              <a:latin typeface="Calibri"/>
              <a:ea typeface="Calibri"/>
              <a:cs typeface="Calibri"/>
              <a:sym typeface="Calibri"/>
            </a:endParaRPr>
          </a:p>
          <a:p>
            <a:pPr marL="296545" marR="0" lvl="0" indent="-284480" algn="l" rtl="0">
              <a:lnSpc>
                <a:spcPct val="100000"/>
              </a:lnSpc>
              <a:spcBef>
                <a:spcPts val="0"/>
              </a:spcBef>
              <a:spcAft>
                <a:spcPts val="0"/>
              </a:spcAft>
              <a:buClr>
                <a:schemeClr val="dk1"/>
              </a:buClr>
              <a:buSzPts val="1650"/>
              <a:buFont typeface="Calibri"/>
              <a:buAutoNum type="arabicPeriod"/>
            </a:pPr>
            <a:r>
              <a:rPr lang="en-US" sz="1650" dirty="0">
                <a:solidFill>
                  <a:schemeClr val="dk1"/>
                </a:solidFill>
                <a:latin typeface="Calibri"/>
                <a:ea typeface="Calibri"/>
                <a:cs typeface="Calibri"/>
                <a:sym typeface="Calibri"/>
              </a:rPr>
              <a:t>FST as generator</a:t>
            </a:r>
            <a:endParaRPr sz="1650" dirty="0">
              <a:solidFill>
                <a:schemeClr val="dk1"/>
              </a:solidFill>
              <a:latin typeface="Calibri"/>
              <a:ea typeface="Calibri"/>
              <a:cs typeface="Calibri"/>
              <a:sym typeface="Calibri"/>
            </a:endParaRPr>
          </a:p>
          <a:p>
            <a:pPr marL="296545" marR="0" lvl="0" indent="-284480" algn="l" rtl="0">
              <a:lnSpc>
                <a:spcPct val="100000"/>
              </a:lnSpc>
              <a:spcBef>
                <a:spcPts val="0"/>
              </a:spcBef>
              <a:spcAft>
                <a:spcPts val="0"/>
              </a:spcAft>
              <a:buClr>
                <a:schemeClr val="dk1"/>
              </a:buClr>
              <a:buSzPts val="1650"/>
              <a:buFont typeface="Calibri"/>
              <a:buAutoNum type="arabicPeriod"/>
            </a:pPr>
            <a:r>
              <a:rPr lang="en-US" sz="1650" dirty="0">
                <a:solidFill>
                  <a:schemeClr val="dk1"/>
                </a:solidFill>
                <a:latin typeface="Calibri"/>
                <a:ea typeface="Calibri"/>
                <a:cs typeface="Calibri"/>
                <a:sym typeface="Calibri"/>
              </a:rPr>
              <a:t>FST as translator</a:t>
            </a:r>
            <a:endParaRPr sz="1650" dirty="0">
              <a:solidFill>
                <a:schemeClr val="dk1"/>
              </a:solidFill>
              <a:latin typeface="Calibri"/>
              <a:ea typeface="Calibri"/>
              <a:cs typeface="Calibri"/>
              <a:sym typeface="Calibri"/>
            </a:endParaRPr>
          </a:p>
          <a:p>
            <a:pPr marL="296545" marR="0" lvl="0" indent="-284480" algn="l" rtl="0">
              <a:lnSpc>
                <a:spcPct val="100000"/>
              </a:lnSpc>
              <a:spcBef>
                <a:spcPts val="0"/>
              </a:spcBef>
              <a:spcAft>
                <a:spcPts val="0"/>
              </a:spcAft>
              <a:buClr>
                <a:schemeClr val="dk1"/>
              </a:buClr>
              <a:buSzPts val="1650"/>
              <a:buFont typeface="Calibri"/>
              <a:buAutoNum type="arabicPeriod"/>
            </a:pPr>
            <a:r>
              <a:rPr lang="en-US" sz="1650" dirty="0">
                <a:solidFill>
                  <a:schemeClr val="dk1"/>
                </a:solidFill>
                <a:latin typeface="Calibri"/>
                <a:ea typeface="Calibri"/>
                <a:cs typeface="Calibri"/>
                <a:sym typeface="Calibri"/>
              </a:rPr>
              <a:t>FST as set relator</a:t>
            </a:r>
            <a:endParaRPr sz="1650" dirty="0">
              <a:solidFill>
                <a:schemeClr val="dk1"/>
              </a:solidFill>
              <a:latin typeface="Calibri"/>
              <a:ea typeface="Calibri"/>
              <a:cs typeface="Calibri"/>
              <a:sym typeface="Calibri"/>
            </a:endParaRPr>
          </a:p>
        </p:txBody>
      </p:sp>
      <p:sp>
        <p:nvSpPr>
          <p:cNvPr id="511" name="Google Shape;511;p42"/>
          <p:cNvSpPr txBox="1">
            <a:spLocks noGrp="1"/>
          </p:cNvSpPr>
          <p:nvPr>
            <p:ph type="sldNum" idx="12"/>
          </p:nvPr>
        </p:nvSpPr>
        <p:spPr>
          <a:xfrm>
            <a:off x="7415469" y="7139271"/>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43</a:t>
            </a:fld>
            <a:endParaRPr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Shape 515"/>
        <p:cNvGrpSpPr/>
        <p:nvPr/>
      </p:nvGrpSpPr>
      <p:grpSpPr>
        <a:xfrm>
          <a:off x="0" y="0"/>
          <a:ext cx="0" cy="0"/>
          <a:chOff x="0" y="0"/>
          <a:chExt cx="0" cy="0"/>
        </a:xfrm>
      </p:grpSpPr>
      <p:sp>
        <p:nvSpPr>
          <p:cNvPr id="516" name="Google Shape;516;p43"/>
          <p:cNvSpPr txBox="1">
            <a:spLocks noGrp="1"/>
          </p:cNvSpPr>
          <p:nvPr>
            <p:ph type="title"/>
          </p:nvPr>
        </p:nvSpPr>
        <p:spPr>
          <a:xfrm>
            <a:off x="754126" y="1383030"/>
            <a:ext cx="2539365" cy="4298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a:t>FST representation</a:t>
            </a:r>
            <a:endParaRPr/>
          </a:p>
        </p:txBody>
      </p:sp>
      <p:pic>
        <p:nvPicPr>
          <p:cNvPr id="517" name="Google Shape;517;p43"/>
          <p:cNvPicPr preferRelativeResize="0"/>
          <p:nvPr/>
        </p:nvPicPr>
        <p:blipFill rotWithShape="1">
          <a:blip r:embed="rId3">
            <a:alphaModFix/>
          </a:blip>
          <a:srcRect/>
          <a:stretch/>
        </p:blipFill>
        <p:spPr>
          <a:xfrm>
            <a:off x="637031" y="1962911"/>
            <a:ext cx="8730996" cy="4581144"/>
          </a:xfrm>
          <a:prstGeom prst="rect">
            <a:avLst/>
          </a:prstGeom>
          <a:noFill/>
          <a:ln>
            <a:noFill/>
          </a:ln>
        </p:spPr>
      </p:pic>
      <p:sp>
        <p:nvSpPr>
          <p:cNvPr id="518" name="Google Shape;518;p43"/>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44</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Shape 522"/>
        <p:cNvGrpSpPr/>
        <p:nvPr/>
      </p:nvGrpSpPr>
      <p:grpSpPr>
        <a:xfrm>
          <a:off x="0" y="0"/>
          <a:ext cx="0" cy="0"/>
          <a:chOff x="0" y="0"/>
          <a:chExt cx="0" cy="0"/>
        </a:xfrm>
      </p:grpSpPr>
      <p:sp>
        <p:nvSpPr>
          <p:cNvPr id="523" name="Google Shape;523;p44"/>
          <p:cNvSpPr txBox="1">
            <a:spLocks noGrp="1"/>
          </p:cNvSpPr>
          <p:nvPr>
            <p:ph type="title"/>
          </p:nvPr>
        </p:nvSpPr>
        <p:spPr>
          <a:xfrm>
            <a:off x="754126" y="1409953"/>
            <a:ext cx="5189474" cy="429895"/>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None/>
            </a:pPr>
            <a:r>
              <a:rPr lang="en-US" dirty="0"/>
              <a:t>FST - for morphological parsing</a:t>
            </a:r>
            <a:endParaRPr dirty="0"/>
          </a:p>
        </p:txBody>
      </p:sp>
      <p:sp>
        <p:nvSpPr>
          <p:cNvPr id="524" name="Google Shape;524;p44"/>
          <p:cNvSpPr txBox="1"/>
          <p:nvPr/>
        </p:nvSpPr>
        <p:spPr>
          <a:xfrm>
            <a:off x="288543" y="2018538"/>
            <a:ext cx="8947785" cy="1054735"/>
          </a:xfrm>
          <a:prstGeom prst="rect">
            <a:avLst/>
          </a:prstGeom>
          <a:noFill/>
          <a:ln>
            <a:noFill/>
          </a:ln>
        </p:spPr>
        <p:txBody>
          <a:bodyPr spcFirstLastPara="1" wrap="square" lIns="0" tIns="96500" rIns="0" bIns="0" anchor="t" anchorCtr="0">
            <a:spAutoFit/>
          </a:bodyPr>
          <a:lstStyle/>
          <a:p>
            <a:pPr marL="201295" marR="0" lvl="0" indent="-189230" algn="l" rtl="0">
              <a:lnSpc>
                <a:spcPct val="100000"/>
              </a:lnSpc>
              <a:spcBef>
                <a:spcPts val="0"/>
              </a:spcBef>
              <a:spcAft>
                <a:spcPts val="0"/>
              </a:spcAft>
              <a:buClr>
                <a:schemeClr val="dk1"/>
              </a:buClr>
              <a:buSzPts val="1950"/>
              <a:buFont typeface="Arial"/>
              <a:buChar char="•"/>
            </a:pPr>
            <a:r>
              <a:rPr lang="en-US" sz="1950">
                <a:solidFill>
                  <a:schemeClr val="dk1"/>
                </a:solidFill>
                <a:latin typeface="Calibri"/>
                <a:ea typeface="Calibri"/>
                <a:cs typeface="Calibri"/>
                <a:sym typeface="Calibri"/>
              </a:rPr>
              <a:t>For given input cats – cat + N +Pl</a:t>
            </a:r>
            <a:endParaRPr sz="1950">
              <a:solidFill>
                <a:schemeClr val="dk1"/>
              </a:solidFill>
              <a:latin typeface="Calibri"/>
              <a:ea typeface="Calibri"/>
              <a:cs typeface="Calibri"/>
              <a:sym typeface="Calibri"/>
            </a:endParaRPr>
          </a:p>
          <a:p>
            <a:pPr marL="201295" marR="0" lvl="0" indent="-189230" algn="l" rtl="0">
              <a:lnSpc>
                <a:spcPct val="113846"/>
              </a:lnSpc>
              <a:spcBef>
                <a:spcPts val="660"/>
              </a:spcBef>
              <a:spcAft>
                <a:spcPts val="0"/>
              </a:spcAft>
              <a:buClr>
                <a:schemeClr val="dk1"/>
              </a:buClr>
              <a:buSzPts val="1950"/>
              <a:buFont typeface="Arial"/>
              <a:buChar char="•"/>
            </a:pPr>
            <a:r>
              <a:rPr lang="en-US" sz="1950">
                <a:solidFill>
                  <a:schemeClr val="dk1"/>
                </a:solidFill>
                <a:latin typeface="Calibri"/>
                <a:ea typeface="Calibri"/>
                <a:cs typeface="Calibri"/>
                <a:sym typeface="Calibri"/>
              </a:rPr>
              <a:t>Here a word is represented as a correspondence between two levels – lexical level and</a:t>
            </a:r>
            <a:endParaRPr sz="1950">
              <a:solidFill>
                <a:schemeClr val="dk1"/>
              </a:solidFill>
              <a:latin typeface="Calibri"/>
              <a:ea typeface="Calibri"/>
              <a:cs typeface="Calibri"/>
              <a:sym typeface="Calibri"/>
            </a:endParaRPr>
          </a:p>
          <a:p>
            <a:pPr marL="201295" marR="0" lvl="0" indent="0" algn="l" rtl="0">
              <a:lnSpc>
                <a:spcPct val="113846"/>
              </a:lnSpc>
              <a:spcBef>
                <a:spcPts val="0"/>
              </a:spcBef>
              <a:spcAft>
                <a:spcPts val="0"/>
              </a:spcAft>
              <a:buNone/>
            </a:pPr>
            <a:r>
              <a:rPr lang="en-US" sz="1950">
                <a:solidFill>
                  <a:schemeClr val="dk1"/>
                </a:solidFill>
                <a:latin typeface="Calibri"/>
                <a:ea typeface="Calibri"/>
                <a:cs typeface="Calibri"/>
                <a:sym typeface="Calibri"/>
              </a:rPr>
              <a:t>surface level</a:t>
            </a:r>
            <a:endParaRPr sz="1950">
              <a:solidFill>
                <a:schemeClr val="dk1"/>
              </a:solidFill>
              <a:latin typeface="Calibri"/>
              <a:ea typeface="Calibri"/>
              <a:cs typeface="Calibri"/>
              <a:sym typeface="Calibri"/>
            </a:endParaRPr>
          </a:p>
        </p:txBody>
      </p:sp>
      <p:graphicFrame>
        <p:nvGraphicFramePr>
          <p:cNvPr id="525" name="Google Shape;525;p44"/>
          <p:cNvGraphicFramePr/>
          <p:nvPr/>
        </p:nvGraphicFramePr>
        <p:xfrm>
          <a:off x="1460500" y="3720591"/>
          <a:ext cx="6705500" cy="408425"/>
        </p:xfrm>
        <a:graphic>
          <a:graphicData uri="http://schemas.openxmlformats.org/drawingml/2006/table">
            <a:tbl>
              <a:tblPr firstRow="1" bandRow="1">
                <a:noFill/>
                <a:tableStyleId>{E85DE1A1-A1B0-44A0-A59F-CCC16BF1A76C}</a:tableStyleId>
              </a:tblPr>
              <a:tblGrid>
                <a:gridCol w="670550">
                  <a:extLst>
                    <a:ext uri="{9D8B030D-6E8A-4147-A177-3AD203B41FA5}">
                      <a16:colId xmlns:a16="http://schemas.microsoft.com/office/drawing/2014/main" val="20000"/>
                    </a:ext>
                  </a:extLst>
                </a:gridCol>
                <a:gridCol w="670550">
                  <a:extLst>
                    <a:ext uri="{9D8B030D-6E8A-4147-A177-3AD203B41FA5}">
                      <a16:colId xmlns:a16="http://schemas.microsoft.com/office/drawing/2014/main" val="20001"/>
                    </a:ext>
                  </a:extLst>
                </a:gridCol>
                <a:gridCol w="670550">
                  <a:extLst>
                    <a:ext uri="{9D8B030D-6E8A-4147-A177-3AD203B41FA5}">
                      <a16:colId xmlns:a16="http://schemas.microsoft.com/office/drawing/2014/main" val="20002"/>
                    </a:ext>
                  </a:extLst>
                </a:gridCol>
                <a:gridCol w="670550">
                  <a:extLst>
                    <a:ext uri="{9D8B030D-6E8A-4147-A177-3AD203B41FA5}">
                      <a16:colId xmlns:a16="http://schemas.microsoft.com/office/drawing/2014/main" val="20003"/>
                    </a:ext>
                  </a:extLst>
                </a:gridCol>
                <a:gridCol w="670550">
                  <a:extLst>
                    <a:ext uri="{9D8B030D-6E8A-4147-A177-3AD203B41FA5}">
                      <a16:colId xmlns:a16="http://schemas.microsoft.com/office/drawing/2014/main" val="20004"/>
                    </a:ext>
                  </a:extLst>
                </a:gridCol>
                <a:gridCol w="670550">
                  <a:extLst>
                    <a:ext uri="{9D8B030D-6E8A-4147-A177-3AD203B41FA5}">
                      <a16:colId xmlns:a16="http://schemas.microsoft.com/office/drawing/2014/main" val="20005"/>
                    </a:ext>
                  </a:extLst>
                </a:gridCol>
                <a:gridCol w="670550">
                  <a:extLst>
                    <a:ext uri="{9D8B030D-6E8A-4147-A177-3AD203B41FA5}">
                      <a16:colId xmlns:a16="http://schemas.microsoft.com/office/drawing/2014/main" val="20006"/>
                    </a:ext>
                  </a:extLst>
                </a:gridCol>
                <a:gridCol w="670550">
                  <a:extLst>
                    <a:ext uri="{9D8B030D-6E8A-4147-A177-3AD203B41FA5}">
                      <a16:colId xmlns:a16="http://schemas.microsoft.com/office/drawing/2014/main" val="20007"/>
                    </a:ext>
                  </a:extLst>
                </a:gridCol>
                <a:gridCol w="670550">
                  <a:extLst>
                    <a:ext uri="{9D8B030D-6E8A-4147-A177-3AD203B41FA5}">
                      <a16:colId xmlns:a16="http://schemas.microsoft.com/office/drawing/2014/main" val="20008"/>
                    </a:ext>
                  </a:extLst>
                </a:gridCol>
                <a:gridCol w="670550">
                  <a:extLst>
                    <a:ext uri="{9D8B030D-6E8A-4147-A177-3AD203B41FA5}">
                      <a16:colId xmlns:a16="http://schemas.microsoft.com/office/drawing/2014/main" val="20009"/>
                    </a:ext>
                  </a:extLst>
                </a:gridCol>
              </a:tblGrid>
              <a:tr h="408425">
                <a:tc>
                  <a:txBody>
                    <a:bodyPr/>
                    <a:lstStyle/>
                    <a:p>
                      <a:pPr marL="0" marR="0" lvl="0" indent="0" algn="l" rtl="0">
                        <a:lnSpc>
                          <a:spcPct val="100000"/>
                        </a:lnSpc>
                        <a:spcBef>
                          <a:spcPts val="0"/>
                        </a:spcBef>
                        <a:spcAft>
                          <a:spcPts val="0"/>
                        </a:spcAft>
                        <a:buNone/>
                      </a:pPr>
                      <a:endParaRPr sz="19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AD3"/>
                    </a:solidFill>
                  </a:tcPr>
                </a:tc>
                <a:tc>
                  <a:txBody>
                    <a:bodyPr/>
                    <a:lstStyle/>
                    <a:p>
                      <a:pPr marL="0" marR="0" lvl="0" indent="0" algn="l" rtl="0">
                        <a:lnSpc>
                          <a:spcPct val="100000"/>
                        </a:lnSpc>
                        <a:spcBef>
                          <a:spcPts val="0"/>
                        </a:spcBef>
                        <a:spcAft>
                          <a:spcPts val="0"/>
                        </a:spcAft>
                        <a:buNone/>
                      </a:pPr>
                      <a:endParaRPr sz="19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AD3"/>
                    </a:solidFill>
                  </a:tcPr>
                </a:tc>
                <a:tc>
                  <a:txBody>
                    <a:bodyPr/>
                    <a:lstStyle/>
                    <a:p>
                      <a:pPr marL="74930" marR="0" lvl="0" indent="0" algn="l" rtl="0">
                        <a:lnSpc>
                          <a:spcPct val="100000"/>
                        </a:lnSpc>
                        <a:spcBef>
                          <a:spcPts val="0"/>
                        </a:spcBef>
                        <a:spcAft>
                          <a:spcPts val="0"/>
                        </a:spcAft>
                        <a:buNone/>
                      </a:pPr>
                      <a:r>
                        <a:rPr lang="en-US" sz="1950" b="1" u="none" strike="noStrike" cap="none">
                          <a:solidFill>
                            <a:srgbClr val="FFFFFF"/>
                          </a:solidFill>
                          <a:latin typeface="Calibri"/>
                          <a:ea typeface="Calibri"/>
                          <a:cs typeface="Calibri"/>
                          <a:sym typeface="Calibri"/>
                        </a:rPr>
                        <a:t>c</a:t>
                      </a:r>
                      <a:endParaRPr sz="1950" u="none" strike="noStrike" cap="none">
                        <a:latin typeface="Calibri"/>
                        <a:ea typeface="Calibri"/>
                        <a:cs typeface="Calibri"/>
                        <a:sym typeface="Calibri"/>
                      </a:endParaRPr>
                    </a:p>
                  </a:txBody>
                  <a:tcPr marL="0" marR="0" marT="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AD3"/>
                    </a:solidFill>
                  </a:tcPr>
                </a:tc>
                <a:tc>
                  <a:txBody>
                    <a:bodyPr/>
                    <a:lstStyle/>
                    <a:p>
                      <a:pPr marL="74930" marR="0" lvl="0" indent="0" algn="l" rtl="0">
                        <a:lnSpc>
                          <a:spcPct val="100000"/>
                        </a:lnSpc>
                        <a:spcBef>
                          <a:spcPts val="0"/>
                        </a:spcBef>
                        <a:spcAft>
                          <a:spcPts val="0"/>
                        </a:spcAft>
                        <a:buNone/>
                      </a:pPr>
                      <a:r>
                        <a:rPr lang="en-US" sz="1950" b="1" u="none" strike="noStrike" cap="none">
                          <a:solidFill>
                            <a:srgbClr val="FFFFFF"/>
                          </a:solidFill>
                          <a:latin typeface="Calibri"/>
                          <a:ea typeface="Calibri"/>
                          <a:cs typeface="Calibri"/>
                          <a:sym typeface="Calibri"/>
                        </a:rPr>
                        <a:t>a</a:t>
                      </a:r>
                      <a:endParaRPr sz="1950" u="none" strike="noStrike" cap="none">
                        <a:latin typeface="Calibri"/>
                        <a:ea typeface="Calibri"/>
                        <a:cs typeface="Calibri"/>
                        <a:sym typeface="Calibri"/>
                      </a:endParaRPr>
                    </a:p>
                  </a:txBody>
                  <a:tcPr marL="0" marR="0" marT="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AD3"/>
                    </a:solidFill>
                  </a:tcPr>
                </a:tc>
                <a:tc>
                  <a:txBody>
                    <a:bodyPr/>
                    <a:lstStyle/>
                    <a:p>
                      <a:pPr marL="73660" marR="0" lvl="0" indent="0" algn="l" rtl="0">
                        <a:lnSpc>
                          <a:spcPct val="100000"/>
                        </a:lnSpc>
                        <a:spcBef>
                          <a:spcPts val="0"/>
                        </a:spcBef>
                        <a:spcAft>
                          <a:spcPts val="0"/>
                        </a:spcAft>
                        <a:buNone/>
                      </a:pPr>
                      <a:r>
                        <a:rPr lang="en-US" sz="1950" b="1" u="none" strike="noStrike" cap="none">
                          <a:solidFill>
                            <a:srgbClr val="FFFFFF"/>
                          </a:solidFill>
                          <a:latin typeface="Calibri"/>
                          <a:ea typeface="Calibri"/>
                          <a:cs typeface="Calibri"/>
                          <a:sym typeface="Calibri"/>
                        </a:rPr>
                        <a:t>t</a:t>
                      </a:r>
                      <a:endParaRPr sz="1950" u="none" strike="noStrike" cap="none">
                        <a:latin typeface="Calibri"/>
                        <a:ea typeface="Calibri"/>
                        <a:cs typeface="Calibri"/>
                        <a:sym typeface="Calibri"/>
                      </a:endParaRPr>
                    </a:p>
                  </a:txBody>
                  <a:tcPr marL="0" marR="0" marT="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AD3"/>
                    </a:solidFill>
                  </a:tcPr>
                </a:tc>
                <a:tc>
                  <a:txBody>
                    <a:bodyPr/>
                    <a:lstStyle/>
                    <a:p>
                      <a:pPr marL="74295" marR="0" lvl="0" indent="0" algn="l" rtl="0">
                        <a:lnSpc>
                          <a:spcPct val="100000"/>
                        </a:lnSpc>
                        <a:spcBef>
                          <a:spcPts val="0"/>
                        </a:spcBef>
                        <a:spcAft>
                          <a:spcPts val="0"/>
                        </a:spcAft>
                        <a:buNone/>
                      </a:pPr>
                      <a:r>
                        <a:rPr lang="en-US" sz="1950" b="1" u="none" strike="noStrike" cap="none">
                          <a:solidFill>
                            <a:srgbClr val="FFFFFF"/>
                          </a:solidFill>
                          <a:latin typeface="Calibri"/>
                          <a:ea typeface="Calibri"/>
                          <a:cs typeface="Calibri"/>
                          <a:sym typeface="Calibri"/>
                        </a:rPr>
                        <a:t>+N</a:t>
                      </a:r>
                      <a:endParaRPr sz="1950" u="none" strike="noStrike" cap="none">
                        <a:latin typeface="Calibri"/>
                        <a:ea typeface="Calibri"/>
                        <a:cs typeface="Calibri"/>
                        <a:sym typeface="Calibri"/>
                      </a:endParaRPr>
                    </a:p>
                  </a:txBody>
                  <a:tcPr marL="0" marR="0" marT="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AD3"/>
                    </a:solidFill>
                  </a:tcPr>
                </a:tc>
                <a:tc>
                  <a:txBody>
                    <a:bodyPr/>
                    <a:lstStyle/>
                    <a:p>
                      <a:pPr marL="74930" marR="0" lvl="0" indent="0" algn="l" rtl="0">
                        <a:lnSpc>
                          <a:spcPct val="100000"/>
                        </a:lnSpc>
                        <a:spcBef>
                          <a:spcPts val="0"/>
                        </a:spcBef>
                        <a:spcAft>
                          <a:spcPts val="0"/>
                        </a:spcAft>
                        <a:buNone/>
                      </a:pPr>
                      <a:r>
                        <a:rPr lang="en-US" sz="1950" b="1" u="none" strike="noStrike" cap="none">
                          <a:solidFill>
                            <a:srgbClr val="FFFFFF"/>
                          </a:solidFill>
                          <a:latin typeface="Calibri"/>
                          <a:ea typeface="Calibri"/>
                          <a:cs typeface="Calibri"/>
                          <a:sym typeface="Calibri"/>
                        </a:rPr>
                        <a:t>+Pl</a:t>
                      </a:r>
                      <a:endParaRPr sz="1950" u="none" strike="noStrike" cap="none">
                        <a:latin typeface="Calibri"/>
                        <a:ea typeface="Calibri"/>
                        <a:cs typeface="Calibri"/>
                        <a:sym typeface="Calibri"/>
                      </a:endParaRPr>
                    </a:p>
                  </a:txBody>
                  <a:tcPr marL="0" marR="0" marT="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AD3"/>
                    </a:solidFill>
                  </a:tcPr>
                </a:tc>
                <a:tc>
                  <a:txBody>
                    <a:bodyPr/>
                    <a:lstStyle/>
                    <a:p>
                      <a:pPr marL="0" marR="0" lvl="0" indent="0" algn="l" rtl="0">
                        <a:lnSpc>
                          <a:spcPct val="100000"/>
                        </a:lnSpc>
                        <a:spcBef>
                          <a:spcPts val="0"/>
                        </a:spcBef>
                        <a:spcAft>
                          <a:spcPts val="0"/>
                        </a:spcAft>
                        <a:buNone/>
                      </a:pPr>
                      <a:endParaRPr sz="19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AD3"/>
                    </a:solidFill>
                  </a:tcPr>
                </a:tc>
                <a:tc>
                  <a:txBody>
                    <a:bodyPr/>
                    <a:lstStyle/>
                    <a:p>
                      <a:pPr marL="0" marR="0" lvl="0" indent="0" algn="l" rtl="0">
                        <a:lnSpc>
                          <a:spcPct val="100000"/>
                        </a:lnSpc>
                        <a:spcBef>
                          <a:spcPts val="0"/>
                        </a:spcBef>
                        <a:spcAft>
                          <a:spcPts val="0"/>
                        </a:spcAft>
                        <a:buNone/>
                      </a:pPr>
                      <a:endParaRPr sz="19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AD3"/>
                    </a:solidFill>
                  </a:tcPr>
                </a:tc>
                <a:tc>
                  <a:txBody>
                    <a:bodyPr/>
                    <a:lstStyle/>
                    <a:p>
                      <a:pPr marL="0" marR="0" lvl="0" indent="0" algn="l" rtl="0">
                        <a:lnSpc>
                          <a:spcPct val="100000"/>
                        </a:lnSpc>
                        <a:spcBef>
                          <a:spcPts val="0"/>
                        </a:spcBef>
                        <a:spcAft>
                          <a:spcPts val="0"/>
                        </a:spcAft>
                        <a:buNone/>
                      </a:pPr>
                      <a:endParaRPr sz="19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AD3"/>
                    </a:solidFill>
                  </a:tcPr>
                </a:tc>
                <a:extLst>
                  <a:ext uri="{0D108BD9-81ED-4DB2-BD59-A6C34878D82A}">
                    <a16:rowId xmlns:a16="http://schemas.microsoft.com/office/drawing/2014/main" val="10000"/>
                  </a:ext>
                </a:extLst>
              </a:tr>
            </a:tbl>
          </a:graphicData>
        </a:graphic>
      </p:graphicFrame>
      <p:graphicFrame>
        <p:nvGraphicFramePr>
          <p:cNvPr id="526" name="Google Shape;526;p44"/>
          <p:cNvGraphicFramePr/>
          <p:nvPr/>
        </p:nvGraphicFramePr>
        <p:xfrm>
          <a:off x="1460500" y="4324096"/>
          <a:ext cx="6705500" cy="376425"/>
        </p:xfrm>
        <a:graphic>
          <a:graphicData uri="http://schemas.openxmlformats.org/drawingml/2006/table">
            <a:tbl>
              <a:tblPr firstRow="1" bandRow="1">
                <a:noFill/>
                <a:tableStyleId>{E85DE1A1-A1B0-44A0-A59F-CCC16BF1A76C}</a:tableStyleId>
              </a:tblPr>
              <a:tblGrid>
                <a:gridCol w="670550">
                  <a:extLst>
                    <a:ext uri="{9D8B030D-6E8A-4147-A177-3AD203B41FA5}">
                      <a16:colId xmlns:a16="http://schemas.microsoft.com/office/drawing/2014/main" val="20000"/>
                    </a:ext>
                  </a:extLst>
                </a:gridCol>
                <a:gridCol w="670550">
                  <a:extLst>
                    <a:ext uri="{9D8B030D-6E8A-4147-A177-3AD203B41FA5}">
                      <a16:colId xmlns:a16="http://schemas.microsoft.com/office/drawing/2014/main" val="20001"/>
                    </a:ext>
                  </a:extLst>
                </a:gridCol>
                <a:gridCol w="670550">
                  <a:extLst>
                    <a:ext uri="{9D8B030D-6E8A-4147-A177-3AD203B41FA5}">
                      <a16:colId xmlns:a16="http://schemas.microsoft.com/office/drawing/2014/main" val="20002"/>
                    </a:ext>
                  </a:extLst>
                </a:gridCol>
                <a:gridCol w="670550">
                  <a:extLst>
                    <a:ext uri="{9D8B030D-6E8A-4147-A177-3AD203B41FA5}">
                      <a16:colId xmlns:a16="http://schemas.microsoft.com/office/drawing/2014/main" val="20003"/>
                    </a:ext>
                  </a:extLst>
                </a:gridCol>
                <a:gridCol w="670550">
                  <a:extLst>
                    <a:ext uri="{9D8B030D-6E8A-4147-A177-3AD203B41FA5}">
                      <a16:colId xmlns:a16="http://schemas.microsoft.com/office/drawing/2014/main" val="20004"/>
                    </a:ext>
                  </a:extLst>
                </a:gridCol>
                <a:gridCol w="670550">
                  <a:extLst>
                    <a:ext uri="{9D8B030D-6E8A-4147-A177-3AD203B41FA5}">
                      <a16:colId xmlns:a16="http://schemas.microsoft.com/office/drawing/2014/main" val="20005"/>
                    </a:ext>
                  </a:extLst>
                </a:gridCol>
                <a:gridCol w="670550">
                  <a:extLst>
                    <a:ext uri="{9D8B030D-6E8A-4147-A177-3AD203B41FA5}">
                      <a16:colId xmlns:a16="http://schemas.microsoft.com/office/drawing/2014/main" val="20006"/>
                    </a:ext>
                  </a:extLst>
                </a:gridCol>
                <a:gridCol w="670550">
                  <a:extLst>
                    <a:ext uri="{9D8B030D-6E8A-4147-A177-3AD203B41FA5}">
                      <a16:colId xmlns:a16="http://schemas.microsoft.com/office/drawing/2014/main" val="20007"/>
                    </a:ext>
                  </a:extLst>
                </a:gridCol>
                <a:gridCol w="670550">
                  <a:extLst>
                    <a:ext uri="{9D8B030D-6E8A-4147-A177-3AD203B41FA5}">
                      <a16:colId xmlns:a16="http://schemas.microsoft.com/office/drawing/2014/main" val="20008"/>
                    </a:ext>
                  </a:extLst>
                </a:gridCol>
                <a:gridCol w="670550">
                  <a:extLst>
                    <a:ext uri="{9D8B030D-6E8A-4147-A177-3AD203B41FA5}">
                      <a16:colId xmlns:a16="http://schemas.microsoft.com/office/drawing/2014/main" val="20009"/>
                    </a:ext>
                  </a:extLst>
                </a:gridCol>
              </a:tblGrid>
              <a:tr h="376425">
                <a:tc>
                  <a:txBody>
                    <a:bodyPr/>
                    <a:lstStyle/>
                    <a:p>
                      <a:pPr marL="0" marR="0" lvl="0" indent="0" algn="l" rtl="0">
                        <a:lnSpc>
                          <a:spcPct val="100000"/>
                        </a:lnSpc>
                        <a:spcBef>
                          <a:spcPts val="0"/>
                        </a:spcBef>
                        <a:spcAft>
                          <a:spcPts val="0"/>
                        </a:spcAft>
                        <a:buNone/>
                      </a:pPr>
                      <a:endParaRPr sz="19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AD3"/>
                    </a:solidFill>
                  </a:tcPr>
                </a:tc>
                <a:tc>
                  <a:txBody>
                    <a:bodyPr/>
                    <a:lstStyle/>
                    <a:p>
                      <a:pPr marL="0" marR="0" lvl="0" indent="0" algn="l" rtl="0">
                        <a:lnSpc>
                          <a:spcPct val="100000"/>
                        </a:lnSpc>
                        <a:spcBef>
                          <a:spcPts val="0"/>
                        </a:spcBef>
                        <a:spcAft>
                          <a:spcPts val="0"/>
                        </a:spcAft>
                        <a:buNone/>
                      </a:pPr>
                      <a:endParaRPr sz="19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AD3"/>
                    </a:solidFill>
                  </a:tcPr>
                </a:tc>
                <a:tc>
                  <a:txBody>
                    <a:bodyPr/>
                    <a:lstStyle/>
                    <a:p>
                      <a:pPr marL="74930" marR="0" lvl="0" indent="0" algn="l" rtl="0">
                        <a:lnSpc>
                          <a:spcPct val="100000"/>
                        </a:lnSpc>
                        <a:spcBef>
                          <a:spcPts val="0"/>
                        </a:spcBef>
                        <a:spcAft>
                          <a:spcPts val="0"/>
                        </a:spcAft>
                        <a:buNone/>
                      </a:pPr>
                      <a:r>
                        <a:rPr lang="en-US" sz="1950" b="1" u="none" strike="noStrike" cap="none">
                          <a:solidFill>
                            <a:srgbClr val="FFFFFF"/>
                          </a:solidFill>
                          <a:latin typeface="Calibri"/>
                          <a:ea typeface="Calibri"/>
                          <a:cs typeface="Calibri"/>
                          <a:sym typeface="Calibri"/>
                        </a:rPr>
                        <a:t>c</a:t>
                      </a:r>
                      <a:endParaRPr sz="1950" u="none" strike="noStrike" cap="none">
                        <a:latin typeface="Calibri"/>
                        <a:ea typeface="Calibri"/>
                        <a:cs typeface="Calibri"/>
                        <a:sym typeface="Calibri"/>
                      </a:endParaRPr>
                    </a:p>
                  </a:txBody>
                  <a:tcPr marL="0" marR="0" marT="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AD3"/>
                    </a:solidFill>
                  </a:tcPr>
                </a:tc>
                <a:tc>
                  <a:txBody>
                    <a:bodyPr/>
                    <a:lstStyle/>
                    <a:p>
                      <a:pPr marL="74930" marR="0" lvl="0" indent="0" algn="l" rtl="0">
                        <a:lnSpc>
                          <a:spcPct val="100000"/>
                        </a:lnSpc>
                        <a:spcBef>
                          <a:spcPts val="0"/>
                        </a:spcBef>
                        <a:spcAft>
                          <a:spcPts val="0"/>
                        </a:spcAft>
                        <a:buNone/>
                      </a:pPr>
                      <a:r>
                        <a:rPr lang="en-US" sz="1950" b="1" u="none" strike="noStrike" cap="none">
                          <a:solidFill>
                            <a:srgbClr val="FFFFFF"/>
                          </a:solidFill>
                          <a:latin typeface="Calibri"/>
                          <a:ea typeface="Calibri"/>
                          <a:cs typeface="Calibri"/>
                          <a:sym typeface="Calibri"/>
                        </a:rPr>
                        <a:t>a</a:t>
                      </a:r>
                      <a:endParaRPr sz="1950" u="none" strike="noStrike" cap="none">
                        <a:latin typeface="Calibri"/>
                        <a:ea typeface="Calibri"/>
                        <a:cs typeface="Calibri"/>
                        <a:sym typeface="Calibri"/>
                      </a:endParaRPr>
                    </a:p>
                  </a:txBody>
                  <a:tcPr marL="0" marR="0" marT="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AD3"/>
                    </a:solidFill>
                  </a:tcPr>
                </a:tc>
                <a:tc>
                  <a:txBody>
                    <a:bodyPr/>
                    <a:lstStyle/>
                    <a:p>
                      <a:pPr marL="73660" marR="0" lvl="0" indent="0" algn="l" rtl="0">
                        <a:lnSpc>
                          <a:spcPct val="100000"/>
                        </a:lnSpc>
                        <a:spcBef>
                          <a:spcPts val="0"/>
                        </a:spcBef>
                        <a:spcAft>
                          <a:spcPts val="0"/>
                        </a:spcAft>
                        <a:buNone/>
                      </a:pPr>
                      <a:r>
                        <a:rPr lang="en-US" sz="1950" b="1" u="none" strike="noStrike" cap="none">
                          <a:solidFill>
                            <a:srgbClr val="FFFFFF"/>
                          </a:solidFill>
                          <a:latin typeface="Calibri"/>
                          <a:ea typeface="Calibri"/>
                          <a:cs typeface="Calibri"/>
                          <a:sym typeface="Calibri"/>
                        </a:rPr>
                        <a:t>t</a:t>
                      </a:r>
                      <a:endParaRPr sz="1950" u="none" strike="noStrike" cap="none">
                        <a:latin typeface="Calibri"/>
                        <a:ea typeface="Calibri"/>
                        <a:cs typeface="Calibri"/>
                        <a:sym typeface="Calibri"/>
                      </a:endParaRPr>
                    </a:p>
                  </a:txBody>
                  <a:tcPr marL="0" marR="0" marT="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AD3"/>
                    </a:solidFill>
                  </a:tcPr>
                </a:tc>
                <a:tc>
                  <a:txBody>
                    <a:bodyPr/>
                    <a:lstStyle/>
                    <a:p>
                      <a:pPr marL="74295" marR="0" lvl="0" indent="0" algn="l" rtl="0">
                        <a:lnSpc>
                          <a:spcPct val="100000"/>
                        </a:lnSpc>
                        <a:spcBef>
                          <a:spcPts val="0"/>
                        </a:spcBef>
                        <a:spcAft>
                          <a:spcPts val="0"/>
                        </a:spcAft>
                        <a:buNone/>
                      </a:pPr>
                      <a:r>
                        <a:rPr lang="en-US" sz="1950" b="1" u="none" strike="noStrike" cap="none">
                          <a:solidFill>
                            <a:srgbClr val="FFFFFF"/>
                          </a:solidFill>
                          <a:latin typeface="Calibri"/>
                          <a:ea typeface="Calibri"/>
                          <a:cs typeface="Calibri"/>
                          <a:sym typeface="Calibri"/>
                        </a:rPr>
                        <a:t>s</a:t>
                      </a:r>
                      <a:endParaRPr sz="1950" u="none" strike="noStrike" cap="none">
                        <a:latin typeface="Calibri"/>
                        <a:ea typeface="Calibri"/>
                        <a:cs typeface="Calibri"/>
                        <a:sym typeface="Calibri"/>
                      </a:endParaRPr>
                    </a:p>
                  </a:txBody>
                  <a:tcPr marL="0" marR="0" marT="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AD3"/>
                    </a:solidFill>
                  </a:tcPr>
                </a:tc>
                <a:tc>
                  <a:txBody>
                    <a:bodyPr/>
                    <a:lstStyle/>
                    <a:p>
                      <a:pPr marL="0" marR="0" lvl="0" indent="0" algn="l" rtl="0">
                        <a:lnSpc>
                          <a:spcPct val="100000"/>
                        </a:lnSpc>
                        <a:spcBef>
                          <a:spcPts val="0"/>
                        </a:spcBef>
                        <a:spcAft>
                          <a:spcPts val="0"/>
                        </a:spcAft>
                        <a:buNone/>
                      </a:pPr>
                      <a:endParaRPr sz="19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AD3"/>
                    </a:solidFill>
                  </a:tcPr>
                </a:tc>
                <a:tc>
                  <a:txBody>
                    <a:bodyPr/>
                    <a:lstStyle/>
                    <a:p>
                      <a:pPr marL="0" marR="0" lvl="0" indent="0" algn="l" rtl="0">
                        <a:lnSpc>
                          <a:spcPct val="100000"/>
                        </a:lnSpc>
                        <a:spcBef>
                          <a:spcPts val="0"/>
                        </a:spcBef>
                        <a:spcAft>
                          <a:spcPts val="0"/>
                        </a:spcAft>
                        <a:buNone/>
                      </a:pPr>
                      <a:endParaRPr sz="19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AD3"/>
                    </a:solidFill>
                  </a:tcPr>
                </a:tc>
                <a:tc>
                  <a:txBody>
                    <a:bodyPr/>
                    <a:lstStyle/>
                    <a:p>
                      <a:pPr marL="0" marR="0" lvl="0" indent="0" algn="l" rtl="0">
                        <a:lnSpc>
                          <a:spcPct val="100000"/>
                        </a:lnSpc>
                        <a:spcBef>
                          <a:spcPts val="0"/>
                        </a:spcBef>
                        <a:spcAft>
                          <a:spcPts val="0"/>
                        </a:spcAft>
                        <a:buNone/>
                      </a:pPr>
                      <a:endParaRPr sz="19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AD3"/>
                    </a:solidFill>
                  </a:tcPr>
                </a:tc>
                <a:tc>
                  <a:txBody>
                    <a:bodyPr/>
                    <a:lstStyle/>
                    <a:p>
                      <a:pPr marL="0" marR="0" lvl="0" indent="0" algn="l" rtl="0">
                        <a:lnSpc>
                          <a:spcPct val="100000"/>
                        </a:lnSpc>
                        <a:spcBef>
                          <a:spcPts val="0"/>
                        </a:spcBef>
                        <a:spcAft>
                          <a:spcPts val="0"/>
                        </a:spcAft>
                        <a:buNone/>
                      </a:pPr>
                      <a:endParaRPr sz="19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AD3"/>
                    </a:solidFill>
                  </a:tcPr>
                </a:tc>
                <a:extLst>
                  <a:ext uri="{0D108BD9-81ED-4DB2-BD59-A6C34878D82A}">
                    <a16:rowId xmlns:a16="http://schemas.microsoft.com/office/drawing/2014/main" val="10000"/>
                  </a:ext>
                </a:extLst>
              </a:tr>
            </a:tbl>
          </a:graphicData>
        </a:graphic>
      </p:graphicFrame>
      <p:sp>
        <p:nvSpPr>
          <p:cNvPr id="527" name="Google Shape;527;p44"/>
          <p:cNvSpPr txBox="1"/>
          <p:nvPr/>
        </p:nvSpPr>
        <p:spPr>
          <a:xfrm>
            <a:off x="516381" y="3840226"/>
            <a:ext cx="523875"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chemeClr val="dk1"/>
                </a:solidFill>
                <a:latin typeface="Calibri"/>
                <a:ea typeface="Calibri"/>
                <a:cs typeface="Calibri"/>
                <a:sym typeface="Calibri"/>
              </a:rPr>
              <a:t>Lexical</a:t>
            </a:r>
            <a:endParaRPr sz="1450">
              <a:solidFill>
                <a:schemeClr val="dk1"/>
              </a:solidFill>
              <a:latin typeface="Calibri"/>
              <a:ea typeface="Calibri"/>
              <a:cs typeface="Calibri"/>
              <a:sym typeface="Calibri"/>
            </a:endParaRPr>
          </a:p>
        </p:txBody>
      </p:sp>
      <p:sp>
        <p:nvSpPr>
          <p:cNvPr id="528" name="Google Shape;528;p44"/>
          <p:cNvSpPr txBox="1"/>
          <p:nvPr/>
        </p:nvSpPr>
        <p:spPr>
          <a:xfrm>
            <a:off x="516381" y="4340097"/>
            <a:ext cx="588645"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chemeClr val="dk1"/>
                </a:solidFill>
                <a:latin typeface="Calibri"/>
                <a:ea typeface="Calibri"/>
                <a:cs typeface="Calibri"/>
                <a:sym typeface="Calibri"/>
              </a:rPr>
              <a:t>Surface</a:t>
            </a:r>
            <a:endParaRPr sz="1450">
              <a:solidFill>
                <a:schemeClr val="dk1"/>
              </a:solidFill>
              <a:latin typeface="Calibri"/>
              <a:ea typeface="Calibri"/>
              <a:cs typeface="Calibri"/>
              <a:sym typeface="Calibri"/>
            </a:endParaRPr>
          </a:p>
        </p:txBody>
      </p:sp>
      <p:sp>
        <p:nvSpPr>
          <p:cNvPr id="529" name="Google Shape;529;p44"/>
          <p:cNvSpPr txBox="1"/>
          <p:nvPr/>
        </p:nvSpPr>
        <p:spPr>
          <a:xfrm>
            <a:off x="8706866" y="4329176"/>
            <a:ext cx="165735" cy="3232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950">
                <a:solidFill>
                  <a:schemeClr val="dk1"/>
                </a:solidFill>
                <a:latin typeface="Calibri"/>
                <a:ea typeface="Calibri"/>
                <a:cs typeface="Calibri"/>
                <a:sym typeface="Calibri"/>
              </a:rPr>
              <a:t>Δ</a:t>
            </a:r>
            <a:endParaRPr sz="1950">
              <a:solidFill>
                <a:schemeClr val="dk1"/>
              </a:solidFill>
              <a:latin typeface="Calibri"/>
              <a:ea typeface="Calibri"/>
              <a:cs typeface="Calibri"/>
              <a:sym typeface="Calibri"/>
            </a:endParaRPr>
          </a:p>
        </p:txBody>
      </p:sp>
      <p:sp>
        <p:nvSpPr>
          <p:cNvPr id="530" name="Google Shape;530;p44"/>
          <p:cNvSpPr txBox="1"/>
          <p:nvPr/>
        </p:nvSpPr>
        <p:spPr>
          <a:xfrm>
            <a:off x="8697721" y="3720084"/>
            <a:ext cx="139065" cy="3225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950">
                <a:solidFill>
                  <a:schemeClr val="dk1"/>
                </a:solidFill>
                <a:latin typeface="Calibri"/>
                <a:ea typeface="Calibri"/>
                <a:cs typeface="Calibri"/>
                <a:sym typeface="Calibri"/>
              </a:rPr>
              <a:t>Σ</a:t>
            </a:r>
            <a:endParaRPr sz="1950">
              <a:solidFill>
                <a:schemeClr val="dk1"/>
              </a:solidFill>
              <a:latin typeface="Calibri"/>
              <a:ea typeface="Calibri"/>
              <a:cs typeface="Calibri"/>
              <a:sym typeface="Calibri"/>
            </a:endParaRPr>
          </a:p>
        </p:txBody>
      </p:sp>
      <p:sp>
        <p:nvSpPr>
          <p:cNvPr id="531" name="Google Shape;531;p44"/>
          <p:cNvSpPr txBox="1"/>
          <p:nvPr/>
        </p:nvSpPr>
        <p:spPr>
          <a:xfrm>
            <a:off x="7670545" y="5059679"/>
            <a:ext cx="1306830" cy="3225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chemeClr val="dk1"/>
                </a:solidFill>
                <a:latin typeface="Calibri"/>
                <a:ea typeface="Calibri"/>
                <a:cs typeface="Calibri"/>
                <a:sym typeface="Calibri"/>
              </a:rPr>
              <a:t>New alphabet </a:t>
            </a:r>
            <a:r>
              <a:rPr lang="en-US" sz="1950">
                <a:solidFill>
                  <a:schemeClr val="dk1"/>
                </a:solidFill>
                <a:latin typeface="Calibri"/>
                <a:ea typeface="Calibri"/>
                <a:cs typeface="Calibri"/>
                <a:sym typeface="Calibri"/>
              </a:rPr>
              <a:t>Σ’</a:t>
            </a:r>
            <a:endParaRPr sz="1950">
              <a:solidFill>
                <a:schemeClr val="dk1"/>
              </a:solidFill>
              <a:latin typeface="Calibri"/>
              <a:ea typeface="Calibri"/>
              <a:cs typeface="Calibri"/>
              <a:sym typeface="Calibri"/>
            </a:endParaRPr>
          </a:p>
        </p:txBody>
      </p:sp>
      <p:sp>
        <p:nvSpPr>
          <p:cNvPr id="532" name="Google Shape;532;p44"/>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45</a:t>
            </a:fld>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Shape 536"/>
        <p:cNvGrpSpPr/>
        <p:nvPr/>
      </p:nvGrpSpPr>
      <p:grpSpPr>
        <a:xfrm>
          <a:off x="0" y="0"/>
          <a:ext cx="0" cy="0"/>
          <a:chOff x="0" y="0"/>
          <a:chExt cx="0" cy="0"/>
        </a:xfrm>
      </p:grpSpPr>
      <p:sp>
        <p:nvSpPr>
          <p:cNvPr id="537" name="Google Shape;537;p45"/>
          <p:cNvSpPr txBox="1">
            <a:spLocks noGrp="1"/>
          </p:cNvSpPr>
          <p:nvPr>
            <p:ph type="title"/>
          </p:nvPr>
        </p:nvSpPr>
        <p:spPr>
          <a:xfrm>
            <a:off x="581913" y="1479550"/>
            <a:ext cx="2997835" cy="794385"/>
          </a:xfrm>
          <a:prstGeom prst="rect">
            <a:avLst/>
          </a:prstGeom>
          <a:noFill/>
          <a:ln>
            <a:noFill/>
          </a:ln>
        </p:spPr>
        <p:txBody>
          <a:bodyPr spcFirstLastPara="1" wrap="square" lIns="0" tIns="12700" rIns="0" bIns="0" anchor="t" anchorCtr="0">
            <a:spAutoFit/>
          </a:bodyPr>
          <a:lstStyle/>
          <a:p>
            <a:pPr marL="12700" lvl="0" indent="0" algn="l" rtl="0">
              <a:lnSpc>
                <a:spcPct val="118205"/>
              </a:lnSpc>
              <a:spcBef>
                <a:spcPts val="0"/>
              </a:spcBef>
              <a:spcAft>
                <a:spcPts val="0"/>
              </a:spcAft>
              <a:buNone/>
            </a:pPr>
            <a:r>
              <a:rPr lang="en-US" sz="1950"/>
              <a:t>Morphological noun parser</a:t>
            </a:r>
            <a:endParaRPr sz="1950"/>
          </a:p>
          <a:p>
            <a:pPr marL="12700" marR="5080" lvl="0" indent="0" algn="l" rtl="0">
              <a:lnSpc>
                <a:spcPct val="109090"/>
              </a:lnSpc>
              <a:spcBef>
                <a:spcPts val="175"/>
              </a:spcBef>
              <a:spcAft>
                <a:spcPts val="0"/>
              </a:spcAft>
              <a:buNone/>
            </a:pPr>
            <a:r>
              <a:rPr lang="en-US" sz="1650"/>
              <a:t>^ - indicates a morpheme boundary  # - indicates a word boundary</a:t>
            </a:r>
            <a:endParaRPr sz="1650"/>
          </a:p>
        </p:txBody>
      </p:sp>
      <p:pic>
        <p:nvPicPr>
          <p:cNvPr id="538" name="Google Shape;538;p45"/>
          <p:cNvPicPr preferRelativeResize="0"/>
          <p:nvPr/>
        </p:nvPicPr>
        <p:blipFill rotWithShape="1">
          <a:blip r:embed="rId3">
            <a:alphaModFix/>
          </a:blip>
          <a:srcRect/>
          <a:stretch/>
        </p:blipFill>
        <p:spPr>
          <a:xfrm>
            <a:off x="1251203" y="2691383"/>
            <a:ext cx="6379464" cy="3567684"/>
          </a:xfrm>
          <a:prstGeom prst="rect">
            <a:avLst/>
          </a:prstGeom>
          <a:noFill/>
          <a:ln>
            <a:noFill/>
          </a:ln>
        </p:spPr>
      </p:pic>
      <p:sp>
        <p:nvSpPr>
          <p:cNvPr id="539" name="Google Shape;539;p45"/>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46</a:t>
            </a:fld>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Shape 543"/>
        <p:cNvGrpSpPr/>
        <p:nvPr/>
      </p:nvGrpSpPr>
      <p:grpSpPr>
        <a:xfrm>
          <a:off x="0" y="0"/>
          <a:ext cx="0" cy="0"/>
          <a:chOff x="0" y="0"/>
          <a:chExt cx="0" cy="0"/>
        </a:xfrm>
      </p:grpSpPr>
      <p:pic>
        <p:nvPicPr>
          <p:cNvPr id="544" name="Google Shape;544;p46"/>
          <p:cNvPicPr preferRelativeResize="0"/>
          <p:nvPr/>
        </p:nvPicPr>
        <p:blipFill rotWithShape="1">
          <a:blip r:embed="rId3">
            <a:alphaModFix/>
          </a:blip>
          <a:srcRect/>
          <a:stretch/>
        </p:blipFill>
        <p:spPr>
          <a:xfrm>
            <a:off x="1316736" y="2642616"/>
            <a:ext cx="6432804" cy="3471672"/>
          </a:xfrm>
          <a:prstGeom prst="rect">
            <a:avLst/>
          </a:prstGeom>
          <a:noFill/>
          <a:ln>
            <a:noFill/>
          </a:ln>
        </p:spPr>
      </p:pic>
      <p:sp>
        <p:nvSpPr>
          <p:cNvPr id="545" name="Google Shape;545;p46"/>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47</a:t>
            </a:fld>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Shape 549"/>
        <p:cNvGrpSpPr/>
        <p:nvPr/>
      </p:nvGrpSpPr>
      <p:grpSpPr>
        <a:xfrm>
          <a:off x="0" y="0"/>
          <a:ext cx="0" cy="0"/>
          <a:chOff x="0" y="0"/>
          <a:chExt cx="0" cy="0"/>
        </a:xfrm>
      </p:grpSpPr>
      <p:sp>
        <p:nvSpPr>
          <p:cNvPr id="550" name="Google Shape;550;p47"/>
          <p:cNvSpPr txBox="1">
            <a:spLocks noGrp="1"/>
          </p:cNvSpPr>
          <p:nvPr>
            <p:ph type="title"/>
          </p:nvPr>
        </p:nvSpPr>
        <p:spPr>
          <a:xfrm>
            <a:off x="953896" y="798760"/>
            <a:ext cx="6262369" cy="4298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dirty="0"/>
              <a:t>Transducers and Orthographic rules</a:t>
            </a:r>
            <a:endParaRPr dirty="0"/>
          </a:p>
        </p:txBody>
      </p:sp>
      <p:pic>
        <p:nvPicPr>
          <p:cNvPr id="551" name="Google Shape;551;p47"/>
          <p:cNvPicPr preferRelativeResize="0"/>
          <p:nvPr/>
        </p:nvPicPr>
        <p:blipFill rotWithShape="1">
          <a:blip r:embed="rId3">
            <a:alphaModFix/>
          </a:blip>
          <a:srcRect/>
          <a:stretch/>
        </p:blipFill>
        <p:spPr>
          <a:xfrm>
            <a:off x="953895" y="1707796"/>
            <a:ext cx="7512187" cy="2485831"/>
          </a:xfrm>
          <a:prstGeom prst="rect">
            <a:avLst/>
          </a:prstGeom>
          <a:noFill/>
          <a:ln>
            <a:noFill/>
          </a:ln>
        </p:spPr>
      </p:pic>
      <p:pic>
        <p:nvPicPr>
          <p:cNvPr id="552" name="Google Shape;552;p47"/>
          <p:cNvPicPr preferRelativeResize="0"/>
          <p:nvPr/>
        </p:nvPicPr>
        <p:blipFill rotWithShape="1">
          <a:blip r:embed="rId4">
            <a:alphaModFix/>
          </a:blip>
          <a:srcRect/>
          <a:stretch/>
        </p:blipFill>
        <p:spPr>
          <a:xfrm>
            <a:off x="905128" y="4436205"/>
            <a:ext cx="7734375" cy="2910526"/>
          </a:xfrm>
          <a:prstGeom prst="rect">
            <a:avLst/>
          </a:prstGeom>
          <a:noFill/>
          <a:ln>
            <a:noFill/>
          </a:ln>
        </p:spPr>
      </p:pic>
      <p:sp>
        <p:nvSpPr>
          <p:cNvPr id="553" name="Google Shape;553;p47"/>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48</a:t>
            </a:fld>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Shape 557"/>
        <p:cNvGrpSpPr/>
        <p:nvPr/>
      </p:nvGrpSpPr>
      <p:grpSpPr>
        <a:xfrm>
          <a:off x="0" y="0"/>
          <a:ext cx="0" cy="0"/>
          <a:chOff x="0" y="0"/>
          <a:chExt cx="0" cy="0"/>
        </a:xfrm>
      </p:grpSpPr>
      <p:sp>
        <p:nvSpPr>
          <p:cNvPr id="558" name="Google Shape;558;p48"/>
          <p:cNvSpPr txBox="1">
            <a:spLocks noGrp="1"/>
          </p:cNvSpPr>
          <p:nvPr>
            <p:ph type="title"/>
          </p:nvPr>
        </p:nvSpPr>
        <p:spPr>
          <a:xfrm>
            <a:off x="533400" y="676841"/>
            <a:ext cx="6056630" cy="466794"/>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950" b="1">
                <a:solidFill>
                  <a:schemeClr val="dk2"/>
                </a:solidFill>
              </a:rPr>
              <a:t>Part of Speech Tagging</a:t>
            </a:r>
            <a:endParaRPr sz="2950" b="1">
              <a:solidFill>
                <a:schemeClr val="dk2"/>
              </a:solidFill>
            </a:endParaRPr>
          </a:p>
        </p:txBody>
      </p:sp>
      <p:sp>
        <p:nvSpPr>
          <p:cNvPr id="559" name="Google Shape;559;p48"/>
          <p:cNvSpPr txBox="1"/>
          <p:nvPr/>
        </p:nvSpPr>
        <p:spPr>
          <a:xfrm>
            <a:off x="267208" y="1922271"/>
            <a:ext cx="9251315" cy="834390"/>
          </a:xfrm>
          <a:prstGeom prst="rect">
            <a:avLst/>
          </a:prstGeom>
          <a:noFill/>
          <a:ln>
            <a:noFill/>
          </a:ln>
        </p:spPr>
        <p:txBody>
          <a:bodyPr spcFirstLastPara="1" wrap="square" lIns="0" tIns="71100" rIns="0" bIns="0" anchor="t" anchorCtr="0">
            <a:spAutoFit/>
          </a:bodyPr>
          <a:lstStyle/>
          <a:p>
            <a:pPr marL="201295" marR="5080" lvl="0" indent="-189230" algn="l" rtl="0">
              <a:lnSpc>
                <a:spcPct val="78600"/>
              </a:lnSpc>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Part of Speech tagging is a process of assigning a PoS or other syntactic class marker to each word  in a corpus.</a:t>
            </a:r>
            <a:endParaRPr sz="1800">
              <a:solidFill>
                <a:schemeClr val="dk1"/>
              </a:solidFill>
              <a:latin typeface="Calibri"/>
              <a:ea typeface="Calibri"/>
              <a:cs typeface="Calibri"/>
              <a:sym typeface="Calibri"/>
            </a:endParaRPr>
          </a:p>
          <a:p>
            <a:pPr marL="170180" marR="0" lvl="0" indent="0" algn="l" rtl="0">
              <a:lnSpc>
                <a:spcPct val="100000"/>
              </a:lnSpc>
              <a:spcBef>
                <a:spcPts val="350"/>
              </a:spcBef>
              <a:spcAft>
                <a:spcPts val="0"/>
              </a:spcAft>
              <a:buNone/>
            </a:pPr>
            <a:r>
              <a:rPr lang="en-US" sz="1800">
                <a:solidFill>
                  <a:srgbClr val="445369"/>
                </a:solidFill>
                <a:latin typeface="Calibri"/>
                <a:ea typeface="Calibri"/>
                <a:cs typeface="Calibri"/>
                <a:sym typeface="Calibri"/>
              </a:rPr>
              <a:t>(A corpus is a computer readable collection of text or speech)</a:t>
            </a:r>
            <a:endParaRPr sz="1800">
              <a:solidFill>
                <a:schemeClr val="dk1"/>
              </a:solidFill>
              <a:latin typeface="Calibri"/>
              <a:ea typeface="Calibri"/>
              <a:cs typeface="Calibri"/>
              <a:sym typeface="Calibri"/>
            </a:endParaRPr>
          </a:p>
        </p:txBody>
      </p:sp>
      <p:sp>
        <p:nvSpPr>
          <p:cNvPr id="560" name="Google Shape;560;p48"/>
          <p:cNvSpPr txBox="1"/>
          <p:nvPr/>
        </p:nvSpPr>
        <p:spPr>
          <a:xfrm>
            <a:off x="255015" y="3047492"/>
            <a:ext cx="2773680" cy="679450"/>
          </a:xfrm>
          <a:prstGeom prst="rect">
            <a:avLst/>
          </a:prstGeom>
          <a:noFill/>
          <a:ln>
            <a:noFill/>
          </a:ln>
        </p:spPr>
        <p:txBody>
          <a:bodyPr spcFirstLastPara="1" wrap="square" lIns="0" tIns="12700" rIns="0" bIns="0" anchor="t" anchorCtr="0">
            <a:spAutoFit/>
          </a:bodyPr>
          <a:lstStyle/>
          <a:p>
            <a:pPr marL="214629" marR="5080" lvl="0" indent="-201930" algn="l" rtl="0">
              <a:lnSpc>
                <a:spcPct val="119200"/>
              </a:lnSpc>
              <a:spcBef>
                <a:spcPts val="0"/>
              </a:spcBef>
              <a:spcAft>
                <a:spcPts val="0"/>
              </a:spcAft>
              <a:buClr>
                <a:srgbClr val="BE0000"/>
              </a:buClr>
              <a:buSzPts val="1800"/>
              <a:buFont typeface="Arial"/>
              <a:buChar char="•"/>
            </a:pPr>
            <a:r>
              <a:rPr lang="en-US" sz="1800">
                <a:solidFill>
                  <a:srgbClr val="BE0000"/>
                </a:solidFill>
                <a:latin typeface="Calibri"/>
                <a:ea typeface="Calibri"/>
                <a:cs typeface="Calibri"/>
                <a:sym typeface="Calibri"/>
              </a:rPr>
              <a:t>Eg Book that flight.  </a:t>
            </a:r>
            <a:r>
              <a:rPr lang="en-US" sz="1800">
                <a:solidFill>
                  <a:schemeClr val="dk1"/>
                </a:solidFill>
                <a:latin typeface="Calibri"/>
                <a:ea typeface="Calibri"/>
                <a:cs typeface="Calibri"/>
                <a:sym typeface="Calibri"/>
              </a:rPr>
              <a:t>Book</a:t>
            </a:r>
            <a:r>
              <a:rPr lang="en-US" sz="1800">
                <a:solidFill>
                  <a:srgbClr val="445369"/>
                </a:solidFill>
                <a:latin typeface="Calibri"/>
                <a:ea typeface="Calibri"/>
                <a:cs typeface="Calibri"/>
                <a:sym typeface="Calibri"/>
              </a:rPr>
              <a:t>/VB </a:t>
            </a:r>
            <a:r>
              <a:rPr lang="en-US" sz="1800">
                <a:solidFill>
                  <a:schemeClr val="dk1"/>
                </a:solidFill>
                <a:latin typeface="Calibri"/>
                <a:ea typeface="Calibri"/>
                <a:cs typeface="Calibri"/>
                <a:sym typeface="Calibri"/>
              </a:rPr>
              <a:t>that</a:t>
            </a:r>
            <a:r>
              <a:rPr lang="en-US" sz="1800">
                <a:solidFill>
                  <a:srgbClr val="445369"/>
                </a:solidFill>
                <a:latin typeface="Calibri"/>
                <a:ea typeface="Calibri"/>
                <a:cs typeface="Calibri"/>
                <a:sym typeface="Calibri"/>
              </a:rPr>
              <a:t>/DT </a:t>
            </a:r>
            <a:r>
              <a:rPr lang="en-US" sz="1800">
                <a:solidFill>
                  <a:schemeClr val="dk1"/>
                </a:solidFill>
                <a:latin typeface="Calibri"/>
                <a:ea typeface="Calibri"/>
                <a:cs typeface="Calibri"/>
                <a:sym typeface="Calibri"/>
              </a:rPr>
              <a:t>flight</a:t>
            </a:r>
            <a:r>
              <a:rPr lang="en-US" sz="1800">
                <a:solidFill>
                  <a:srgbClr val="445369"/>
                </a:solidFill>
                <a:latin typeface="Calibri"/>
                <a:ea typeface="Calibri"/>
                <a:cs typeface="Calibri"/>
                <a:sym typeface="Calibri"/>
              </a:rPr>
              <a:t>/NN</a:t>
            </a:r>
            <a:r>
              <a:rPr lang="en-US" sz="1800">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
        <p:nvSpPr>
          <p:cNvPr id="561" name="Google Shape;561;p48"/>
          <p:cNvSpPr txBox="1"/>
          <p:nvPr/>
        </p:nvSpPr>
        <p:spPr>
          <a:xfrm>
            <a:off x="255015" y="4026154"/>
            <a:ext cx="7446645" cy="1993900"/>
          </a:xfrm>
          <a:prstGeom prst="rect">
            <a:avLst/>
          </a:prstGeom>
          <a:noFill/>
          <a:ln>
            <a:noFill/>
          </a:ln>
        </p:spPr>
        <p:txBody>
          <a:bodyPr spcFirstLastPara="1" wrap="square" lIns="0" tIns="12700" rIns="0" bIns="0" anchor="t" anchorCtr="0">
            <a:spAutoFit/>
          </a:bodyPr>
          <a:lstStyle/>
          <a:p>
            <a:pPr marL="214629" marR="4358640" lvl="0" indent="-201930" algn="l" rtl="0">
              <a:lnSpc>
                <a:spcPct val="119200"/>
              </a:lnSpc>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Here, (Penn Treebank PoS tags)  </a:t>
            </a:r>
            <a:r>
              <a:rPr lang="en-US" sz="1800">
                <a:solidFill>
                  <a:srgbClr val="445369"/>
                </a:solidFill>
                <a:latin typeface="Calibri"/>
                <a:ea typeface="Calibri"/>
                <a:cs typeface="Calibri"/>
                <a:sym typeface="Calibri"/>
              </a:rPr>
              <a:t>VB – verb, base form</a:t>
            </a:r>
            <a:endParaRPr sz="1800">
              <a:solidFill>
                <a:schemeClr val="dk1"/>
              </a:solidFill>
              <a:latin typeface="Calibri"/>
              <a:ea typeface="Calibri"/>
              <a:cs typeface="Calibri"/>
              <a:sym typeface="Calibri"/>
            </a:endParaRPr>
          </a:p>
          <a:p>
            <a:pPr marL="779145" marR="4822825" lvl="0" indent="0" algn="l" rtl="0">
              <a:lnSpc>
                <a:spcPct val="142777"/>
              </a:lnSpc>
              <a:spcBef>
                <a:spcPts val="150"/>
              </a:spcBef>
              <a:spcAft>
                <a:spcPts val="0"/>
              </a:spcAft>
              <a:buNone/>
            </a:pPr>
            <a:r>
              <a:rPr lang="en-US" sz="1800">
                <a:solidFill>
                  <a:srgbClr val="445369"/>
                </a:solidFill>
                <a:latin typeface="Calibri"/>
                <a:ea typeface="Calibri"/>
                <a:cs typeface="Calibri"/>
                <a:sym typeface="Calibri"/>
              </a:rPr>
              <a:t>DT – determiner  NN – noun, singular</a:t>
            </a:r>
            <a:endParaRPr sz="1800">
              <a:solidFill>
                <a:schemeClr val="dk1"/>
              </a:solidFill>
              <a:latin typeface="Calibri"/>
              <a:ea typeface="Calibri"/>
              <a:cs typeface="Calibri"/>
              <a:sym typeface="Calibri"/>
            </a:endParaRPr>
          </a:p>
          <a:p>
            <a:pPr marL="0" marR="0" lvl="0" indent="0" algn="l" rtl="0">
              <a:lnSpc>
                <a:spcPct val="100000"/>
              </a:lnSpc>
              <a:spcBef>
                <a:spcPts val="30"/>
              </a:spcBef>
              <a:spcAft>
                <a:spcPts val="0"/>
              </a:spcAft>
              <a:buNone/>
            </a:pPr>
            <a:endParaRPr sz="2350">
              <a:solidFill>
                <a:schemeClr val="dk1"/>
              </a:solidFill>
              <a:latin typeface="Calibri"/>
              <a:ea typeface="Calibri"/>
              <a:cs typeface="Calibri"/>
              <a:sym typeface="Calibri"/>
            </a:endParaRPr>
          </a:p>
          <a:p>
            <a:pPr marL="213359" marR="0" lvl="0" indent="-189230" algn="l" rtl="0">
              <a:lnSpc>
                <a:spcPct val="100000"/>
              </a:lnSpc>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POS is useful for subsequent syntactic parsing and word sense disambiguation</a:t>
            </a:r>
            <a:endParaRPr sz="1800">
              <a:solidFill>
                <a:schemeClr val="dk1"/>
              </a:solidFill>
              <a:latin typeface="Calibri"/>
              <a:ea typeface="Calibri"/>
              <a:cs typeface="Calibri"/>
              <a:sym typeface="Calibri"/>
            </a:endParaRPr>
          </a:p>
        </p:txBody>
      </p:sp>
      <p:sp>
        <p:nvSpPr>
          <p:cNvPr id="562" name="Google Shape;562;p48"/>
          <p:cNvSpPr/>
          <p:nvPr/>
        </p:nvSpPr>
        <p:spPr>
          <a:xfrm>
            <a:off x="5093208" y="3284219"/>
            <a:ext cx="4279900" cy="1000125"/>
          </a:xfrm>
          <a:custGeom>
            <a:avLst/>
            <a:gdLst/>
            <a:ahLst/>
            <a:cxnLst/>
            <a:rect l="l" t="t" r="r" b="b"/>
            <a:pathLst>
              <a:path w="4279900" h="1000125" extrusionOk="0">
                <a:moveTo>
                  <a:pt x="4279646" y="0"/>
                </a:moveTo>
                <a:lnTo>
                  <a:pt x="4268978" y="0"/>
                </a:lnTo>
                <a:lnTo>
                  <a:pt x="4268978" y="10668"/>
                </a:lnTo>
                <a:lnTo>
                  <a:pt x="4268978" y="990981"/>
                </a:lnTo>
                <a:lnTo>
                  <a:pt x="10668" y="990981"/>
                </a:lnTo>
                <a:lnTo>
                  <a:pt x="10668" y="10668"/>
                </a:lnTo>
                <a:lnTo>
                  <a:pt x="4268978" y="10668"/>
                </a:lnTo>
                <a:lnTo>
                  <a:pt x="4268978" y="0"/>
                </a:lnTo>
                <a:lnTo>
                  <a:pt x="0" y="0"/>
                </a:lnTo>
                <a:lnTo>
                  <a:pt x="0" y="1000125"/>
                </a:lnTo>
                <a:lnTo>
                  <a:pt x="4279646" y="1000125"/>
                </a:lnTo>
                <a:lnTo>
                  <a:pt x="4279646" y="995553"/>
                </a:lnTo>
                <a:lnTo>
                  <a:pt x="4279646" y="990981"/>
                </a:lnTo>
                <a:lnTo>
                  <a:pt x="4279646" y="10668"/>
                </a:lnTo>
                <a:lnTo>
                  <a:pt x="4279646" y="4572"/>
                </a:lnTo>
                <a:lnTo>
                  <a:pt x="4279646"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63" name="Google Shape;563;p48"/>
          <p:cNvSpPr txBox="1"/>
          <p:nvPr/>
        </p:nvSpPr>
        <p:spPr>
          <a:xfrm>
            <a:off x="5159755" y="3287267"/>
            <a:ext cx="4007485" cy="714375"/>
          </a:xfrm>
          <a:prstGeom prst="rect">
            <a:avLst/>
          </a:prstGeom>
          <a:noFill/>
          <a:ln>
            <a:noFill/>
          </a:ln>
        </p:spPr>
        <p:txBody>
          <a:bodyPr spcFirstLastPara="1" wrap="square" lIns="0" tIns="8250" rIns="0" bIns="0" anchor="t" anchorCtr="0">
            <a:spAutoFit/>
          </a:bodyPr>
          <a:lstStyle/>
          <a:p>
            <a:pPr marL="55880" marR="5080" lvl="0" indent="-43815" algn="l" rtl="0">
              <a:lnSpc>
                <a:spcPct val="102099"/>
              </a:lnSpc>
              <a:spcBef>
                <a:spcPts val="0"/>
              </a:spcBef>
              <a:spcAft>
                <a:spcPts val="0"/>
              </a:spcAft>
              <a:buNone/>
            </a:pPr>
            <a:r>
              <a:rPr lang="en-US" sz="1450">
                <a:solidFill>
                  <a:schemeClr val="dk1"/>
                </a:solidFill>
                <a:latin typeface="Calibri"/>
                <a:ea typeface="Calibri"/>
                <a:cs typeface="Calibri"/>
                <a:sym typeface="Calibri"/>
              </a:rPr>
              <a:t>Popular corpora (English): Brown Corpus (1M words)  British National Corpus – BNC (100M words)</a:t>
            </a:r>
            <a:endParaRPr sz="1450">
              <a:solidFill>
                <a:schemeClr val="dk1"/>
              </a:solidFill>
              <a:latin typeface="Calibri"/>
              <a:ea typeface="Calibri"/>
              <a:cs typeface="Calibri"/>
              <a:sym typeface="Calibri"/>
            </a:endParaRPr>
          </a:p>
          <a:p>
            <a:pPr marL="13334" marR="0" lvl="0" indent="0" algn="l" rtl="0">
              <a:lnSpc>
                <a:spcPct val="100000"/>
              </a:lnSpc>
              <a:spcBef>
                <a:spcPts val="160"/>
              </a:spcBef>
              <a:spcAft>
                <a:spcPts val="0"/>
              </a:spcAft>
              <a:buNone/>
            </a:pPr>
            <a:r>
              <a:rPr lang="en-US" sz="1450">
                <a:solidFill>
                  <a:schemeClr val="dk1"/>
                </a:solidFill>
                <a:latin typeface="Calibri"/>
                <a:ea typeface="Calibri"/>
                <a:cs typeface="Calibri"/>
                <a:sym typeface="Calibri"/>
              </a:rPr>
              <a:t>Wall Street Journal Corpus (30M words)</a:t>
            </a:r>
            <a:endParaRPr sz="1450">
              <a:solidFill>
                <a:schemeClr val="dk1"/>
              </a:solidFill>
              <a:latin typeface="Calibri"/>
              <a:ea typeface="Calibri"/>
              <a:cs typeface="Calibri"/>
              <a:sym typeface="Calibri"/>
            </a:endParaRPr>
          </a:p>
        </p:txBody>
      </p:sp>
      <p:sp>
        <p:nvSpPr>
          <p:cNvPr id="564" name="Google Shape;564;p48"/>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49</a:t>
            </a:fld>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Shape 568"/>
        <p:cNvGrpSpPr/>
        <p:nvPr/>
      </p:nvGrpSpPr>
      <p:grpSpPr>
        <a:xfrm>
          <a:off x="0" y="0"/>
          <a:ext cx="0" cy="0"/>
          <a:chOff x="0" y="0"/>
          <a:chExt cx="0" cy="0"/>
        </a:xfrm>
      </p:grpSpPr>
      <p:sp>
        <p:nvSpPr>
          <p:cNvPr id="569" name="Google Shape;569;p49"/>
          <p:cNvSpPr txBox="1"/>
          <p:nvPr/>
        </p:nvSpPr>
        <p:spPr>
          <a:xfrm>
            <a:off x="869950" y="831212"/>
            <a:ext cx="8685530" cy="4200765"/>
          </a:xfrm>
          <a:prstGeom prst="rect">
            <a:avLst/>
          </a:prstGeom>
          <a:noFill/>
          <a:ln>
            <a:noFill/>
          </a:ln>
        </p:spPr>
        <p:txBody>
          <a:bodyPr spcFirstLastPara="1" wrap="square" lIns="0" tIns="88900" rIns="0" bIns="0" anchor="t" anchorCtr="0">
            <a:spAutoFit/>
          </a:bodyPr>
          <a:lstStyle/>
          <a:p>
            <a:pPr marL="201295" marR="0" lvl="0" indent="-189230" algn="l" rtl="0">
              <a:lnSpc>
                <a:spcPct val="100000"/>
              </a:lnSpc>
              <a:spcBef>
                <a:spcPts val="0"/>
              </a:spcBef>
              <a:spcAft>
                <a:spcPts val="0"/>
              </a:spcAft>
              <a:buClr>
                <a:schemeClr val="dk1"/>
              </a:buClr>
              <a:buSzPts val="2300"/>
              <a:buFont typeface="Arial"/>
              <a:buChar char="•"/>
            </a:pPr>
            <a:r>
              <a:rPr lang="en-US" sz="2300" dirty="0">
                <a:solidFill>
                  <a:schemeClr val="dk1"/>
                </a:solidFill>
                <a:latin typeface="Calibri"/>
                <a:ea typeface="Calibri"/>
                <a:cs typeface="Calibri"/>
                <a:sym typeface="Calibri"/>
              </a:rPr>
              <a:t>Basic 8 parts-of-speech</a:t>
            </a:r>
            <a:endParaRPr sz="2300" dirty="0">
              <a:solidFill>
                <a:schemeClr val="dk1"/>
              </a:solidFill>
              <a:latin typeface="Calibri"/>
              <a:ea typeface="Calibri"/>
              <a:cs typeface="Calibri"/>
              <a:sym typeface="Calibri"/>
            </a:endParaRPr>
          </a:p>
          <a:p>
            <a:pPr marL="79375" marR="0" lvl="0" indent="0" algn="l" rtl="0">
              <a:lnSpc>
                <a:spcPct val="100000"/>
              </a:lnSpc>
              <a:spcBef>
                <a:spcPts val="600"/>
              </a:spcBef>
              <a:spcAft>
                <a:spcPts val="0"/>
              </a:spcAft>
              <a:buNone/>
            </a:pPr>
            <a:r>
              <a:rPr lang="en-US" sz="2300" dirty="0">
                <a:solidFill>
                  <a:schemeClr val="dk1"/>
                </a:solidFill>
                <a:latin typeface="Calibri"/>
                <a:ea typeface="Calibri"/>
                <a:cs typeface="Calibri"/>
                <a:sym typeface="Calibri"/>
              </a:rPr>
              <a:t>noun, verb, pronoun, proposition, adverb, conjunction, participle, article</a:t>
            </a:r>
            <a:endParaRPr sz="2300" dirty="0">
              <a:solidFill>
                <a:schemeClr val="dk1"/>
              </a:solidFill>
              <a:latin typeface="Calibri"/>
              <a:ea typeface="Calibri"/>
              <a:cs typeface="Calibri"/>
              <a:sym typeface="Calibri"/>
            </a:endParaRPr>
          </a:p>
          <a:p>
            <a:pPr marL="0" marR="0" lvl="0" indent="0" algn="l" rtl="0">
              <a:lnSpc>
                <a:spcPct val="100000"/>
              </a:lnSpc>
              <a:spcBef>
                <a:spcPts val="55"/>
              </a:spcBef>
              <a:spcAft>
                <a:spcPts val="0"/>
              </a:spcAft>
              <a:buNone/>
            </a:pPr>
            <a:endParaRPr sz="3050" dirty="0">
              <a:solidFill>
                <a:schemeClr val="dk1"/>
              </a:solidFill>
              <a:latin typeface="Calibri"/>
              <a:ea typeface="Calibri"/>
              <a:cs typeface="Calibri"/>
              <a:sym typeface="Calibri"/>
            </a:endParaRPr>
          </a:p>
          <a:p>
            <a:pPr marL="201295" marR="0" lvl="0" indent="-189230" algn="l" rtl="0">
              <a:lnSpc>
                <a:spcPct val="100000"/>
              </a:lnSpc>
              <a:spcBef>
                <a:spcPts val="0"/>
              </a:spcBef>
              <a:spcAft>
                <a:spcPts val="0"/>
              </a:spcAft>
              <a:buClr>
                <a:schemeClr val="dk1"/>
              </a:buClr>
              <a:buSzPts val="2300"/>
              <a:buFont typeface="Arial"/>
              <a:buChar char="•"/>
            </a:pPr>
            <a:r>
              <a:rPr lang="en-US" sz="2300" dirty="0">
                <a:solidFill>
                  <a:schemeClr val="dk1"/>
                </a:solidFill>
                <a:latin typeface="Calibri"/>
                <a:ea typeface="Calibri"/>
                <a:cs typeface="Calibri"/>
                <a:sym typeface="Calibri"/>
              </a:rPr>
              <a:t>Penn Treebank (1993) – 45 </a:t>
            </a:r>
            <a:r>
              <a:rPr lang="en-US" sz="2300" dirty="0" err="1">
                <a:solidFill>
                  <a:schemeClr val="dk1"/>
                </a:solidFill>
                <a:latin typeface="Calibri"/>
                <a:ea typeface="Calibri"/>
                <a:cs typeface="Calibri"/>
                <a:sym typeface="Calibri"/>
              </a:rPr>
              <a:t>PoS</a:t>
            </a:r>
            <a:r>
              <a:rPr lang="en-US" sz="2300" dirty="0">
                <a:solidFill>
                  <a:schemeClr val="dk1"/>
                </a:solidFill>
                <a:latin typeface="Calibri"/>
                <a:ea typeface="Calibri"/>
                <a:cs typeface="Calibri"/>
                <a:sym typeface="Calibri"/>
              </a:rPr>
              <a:t> tags</a:t>
            </a:r>
            <a:endParaRPr sz="2300" dirty="0">
              <a:solidFill>
                <a:schemeClr val="dk1"/>
              </a:solidFill>
              <a:latin typeface="Calibri"/>
              <a:ea typeface="Calibri"/>
              <a:cs typeface="Calibri"/>
              <a:sym typeface="Calibri"/>
            </a:endParaRPr>
          </a:p>
          <a:p>
            <a:pPr marL="201295" marR="0" lvl="0" indent="-189230" algn="l" rtl="0">
              <a:lnSpc>
                <a:spcPct val="100000"/>
              </a:lnSpc>
              <a:spcBef>
                <a:spcPts val="605"/>
              </a:spcBef>
              <a:spcAft>
                <a:spcPts val="0"/>
              </a:spcAft>
              <a:buClr>
                <a:schemeClr val="dk1"/>
              </a:buClr>
              <a:buSzPts val="2300"/>
              <a:buFont typeface="Arial"/>
              <a:buChar char="•"/>
            </a:pPr>
            <a:r>
              <a:rPr lang="en-US" sz="2300" dirty="0">
                <a:solidFill>
                  <a:schemeClr val="dk1"/>
                </a:solidFill>
                <a:latin typeface="Calibri"/>
                <a:ea typeface="Calibri"/>
                <a:cs typeface="Calibri"/>
                <a:sym typeface="Calibri"/>
              </a:rPr>
              <a:t>Brown Corpus (1979) – 87 </a:t>
            </a:r>
            <a:r>
              <a:rPr lang="en-US" sz="2300" dirty="0" err="1">
                <a:solidFill>
                  <a:schemeClr val="dk1"/>
                </a:solidFill>
                <a:latin typeface="Calibri"/>
                <a:ea typeface="Calibri"/>
                <a:cs typeface="Calibri"/>
                <a:sym typeface="Calibri"/>
              </a:rPr>
              <a:t>PoS</a:t>
            </a:r>
            <a:r>
              <a:rPr lang="en-US" sz="2300" dirty="0">
                <a:solidFill>
                  <a:schemeClr val="dk1"/>
                </a:solidFill>
                <a:latin typeface="Calibri"/>
                <a:ea typeface="Calibri"/>
                <a:cs typeface="Calibri"/>
                <a:sym typeface="Calibri"/>
              </a:rPr>
              <a:t> tags</a:t>
            </a:r>
            <a:endParaRPr sz="2300" dirty="0">
              <a:solidFill>
                <a:schemeClr val="dk1"/>
              </a:solidFill>
              <a:latin typeface="Calibri"/>
              <a:ea typeface="Calibri"/>
              <a:cs typeface="Calibri"/>
              <a:sym typeface="Calibri"/>
            </a:endParaRPr>
          </a:p>
          <a:p>
            <a:pPr marL="0" marR="0" lvl="0" indent="0" algn="l" rtl="0">
              <a:lnSpc>
                <a:spcPct val="100000"/>
              </a:lnSpc>
              <a:spcBef>
                <a:spcPts val="30"/>
              </a:spcBef>
              <a:spcAft>
                <a:spcPts val="0"/>
              </a:spcAft>
              <a:buClr>
                <a:schemeClr val="dk1"/>
              </a:buClr>
              <a:buSzPts val="3350"/>
              <a:buFont typeface="Arial"/>
              <a:buNone/>
            </a:pPr>
            <a:endParaRPr sz="3350" dirty="0">
              <a:solidFill>
                <a:schemeClr val="dk1"/>
              </a:solidFill>
              <a:latin typeface="Calibri"/>
              <a:ea typeface="Calibri"/>
              <a:cs typeface="Calibri"/>
              <a:sym typeface="Calibri"/>
            </a:endParaRPr>
          </a:p>
          <a:p>
            <a:pPr marL="201295" marR="123825" lvl="0" indent="-189230" algn="l" rtl="0">
              <a:lnSpc>
                <a:spcPct val="108695"/>
              </a:lnSpc>
              <a:spcBef>
                <a:spcPts val="0"/>
              </a:spcBef>
              <a:spcAft>
                <a:spcPts val="0"/>
              </a:spcAft>
              <a:buClr>
                <a:schemeClr val="dk1"/>
              </a:buClr>
              <a:buSzPts val="2300"/>
              <a:buFont typeface="Arial"/>
              <a:buChar char="•"/>
            </a:pPr>
            <a:r>
              <a:rPr lang="en-US" sz="2300" dirty="0">
                <a:solidFill>
                  <a:schemeClr val="dk1"/>
                </a:solidFill>
                <a:latin typeface="Calibri"/>
                <a:ea typeface="Calibri"/>
                <a:cs typeface="Calibri"/>
                <a:sym typeface="Calibri"/>
              </a:rPr>
              <a:t>Parts of speech are also known as word classes, morphological classes,  lexical tags</a:t>
            </a:r>
            <a:endParaRPr sz="2300" dirty="0">
              <a:solidFill>
                <a:schemeClr val="dk1"/>
              </a:solidFill>
              <a:latin typeface="Calibri"/>
              <a:ea typeface="Calibri"/>
              <a:cs typeface="Calibri"/>
              <a:sym typeface="Calibri"/>
            </a:endParaRPr>
          </a:p>
          <a:p>
            <a:pPr marL="201295" marR="0" lvl="0" indent="-189230" algn="l" rtl="0">
              <a:lnSpc>
                <a:spcPct val="100000"/>
              </a:lnSpc>
              <a:spcBef>
                <a:spcPts val="459"/>
              </a:spcBef>
              <a:spcAft>
                <a:spcPts val="0"/>
              </a:spcAft>
              <a:buClr>
                <a:schemeClr val="dk1"/>
              </a:buClr>
              <a:buSzPts val="2300"/>
              <a:buFont typeface="Arial"/>
              <a:buChar char="•"/>
            </a:pPr>
            <a:r>
              <a:rPr lang="en-US" sz="2300" dirty="0" err="1">
                <a:solidFill>
                  <a:schemeClr val="dk1"/>
                </a:solidFill>
                <a:latin typeface="Calibri"/>
                <a:ea typeface="Calibri"/>
                <a:cs typeface="Calibri"/>
                <a:sym typeface="Calibri"/>
              </a:rPr>
              <a:t>PoS</a:t>
            </a:r>
            <a:r>
              <a:rPr lang="en-US" sz="2300" dirty="0">
                <a:solidFill>
                  <a:schemeClr val="dk1"/>
                </a:solidFill>
                <a:latin typeface="Calibri"/>
                <a:ea typeface="Calibri"/>
                <a:cs typeface="Calibri"/>
                <a:sym typeface="Calibri"/>
              </a:rPr>
              <a:t> tags are very useful in syntactic parsing, WSD, IR ,…</a:t>
            </a:r>
            <a:endParaRPr dirty="0"/>
          </a:p>
        </p:txBody>
      </p:sp>
      <p:sp>
        <p:nvSpPr>
          <p:cNvPr id="570" name="Google Shape;570;p49"/>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50</a:t>
            </a:fld>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Shape 574"/>
        <p:cNvGrpSpPr/>
        <p:nvPr/>
      </p:nvGrpSpPr>
      <p:grpSpPr>
        <a:xfrm>
          <a:off x="0" y="0"/>
          <a:ext cx="0" cy="0"/>
          <a:chOff x="0" y="0"/>
          <a:chExt cx="0" cy="0"/>
        </a:xfrm>
      </p:grpSpPr>
      <p:sp>
        <p:nvSpPr>
          <p:cNvPr id="575" name="Google Shape;575;p50"/>
          <p:cNvSpPr txBox="1"/>
          <p:nvPr/>
        </p:nvSpPr>
        <p:spPr>
          <a:xfrm>
            <a:off x="575435" y="939673"/>
            <a:ext cx="5588882" cy="366111"/>
          </a:xfrm>
          <a:prstGeom prst="rect">
            <a:avLst/>
          </a:prstGeom>
          <a:noFill/>
          <a:ln>
            <a:noFill/>
          </a:ln>
        </p:spPr>
        <p:txBody>
          <a:bodyPr spcFirstLastPara="1" wrap="square" lIns="0" tIns="12050" rIns="0" bIns="0" anchor="t" anchorCtr="0">
            <a:spAutoFit/>
          </a:bodyPr>
          <a:lstStyle/>
          <a:p>
            <a:pPr marL="201295" marR="0" lvl="0" indent="-189230" algn="l" rtl="0">
              <a:lnSpc>
                <a:spcPct val="100000"/>
              </a:lnSpc>
              <a:spcBef>
                <a:spcPts val="0"/>
              </a:spcBef>
              <a:spcAft>
                <a:spcPts val="0"/>
              </a:spcAft>
              <a:buClr>
                <a:schemeClr val="dk1"/>
              </a:buClr>
              <a:buSzPts val="2300"/>
              <a:buFont typeface="Arial"/>
              <a:buChar char="•"/>
            </a:pPr>
            <a:r>
              <a:rPr lang="en-US" sz="2300" dirty="0" err="1">
                <a:solidFill>
                  <a:schemeClr val="dk1"/>
                </a:solidFill>
                <a:latin typeface="Calibri"/>
                <a:ea typeface="Calibri"/>
                <a:cs typeface="Calibri"/>
                <a:sym typeface="Calibri"/>
              </a:rPr>
              <a:t>PoS</a:t>
            </a:r>
            <a:r>
              <a:rPr lang="en-US" sz="2300" dirty="0">
                <a:solidFill>
                  <a:schemeClr val="dk1"/>
                </a:solidFill>
                <a:latin typeface="Calibri"/>
                <a:ea typeface="Calibri"/>
                <a:cs typeface="Calibri"/>
                <a:sym typeface="Calibri"/>
              </a:rPr>
              <a:t> tags	- closed class and open class</a:t>
            </a:r>
            <a:endParaRPr sz="2300" dirty="0">
              <a:solidFill>
                <a:schemeClr val="dk1"/>
              </a:solidFill>
              <a:latin typeface="Calibri"/>
              <a:ea typeface="Calibri"/>
              <a:cs typeface="Calibri"/>
              <a:sym typeface="Calibri"/>
            </a:endParaRPr>
          </a:p>
        </p:txBody>
      </p:sp>
      <p:pic>
        <p:nvPicPr>
          <p:cNvPr id="576" name="Google Shape;576;p50"/>
          <p:cNvPicPr preferRelativeResize="0"/>
          <p:nvPr/>
        </p:nvPicPr>
        <p:blipFill rotWithShape="1">
          <a:blip r:embed="rId3">
            <a:alphaModFix/>
          </a:blip>
          <a:srcRect/>
          <a:stretch/>
        </p:blipFill>
        <p:spPr>
          <a:xfrm>
            <a:off x="2071116" y="2508504"/>
            <a:ext cx="4899659" cy="1868424"/>
          </a:xfrm>
          <a:prstGeom prst="rect">
            <a:avLst/>
          </a:prstGeom>
          <a:noFill/>
          <a:ln>
            <a:noFill/>
          </a:ln>
        </p:spPr>
      </p:pic>
      <p:sp>
        <p:nvSpPr>
          <p:cNvPr id="577" name="Google Shape;577;p50"/>
          <p:cNvSpPr txBox="1"/>
          <p:nvPr/>
        </p:nvSpPr>
        <p:spPr>
          <a:xfrm>
            <a:off x="4183379" y="2749042"/>
            <a:ext cx="643890"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rgbClr val="FFFFFF"/>
                </a:solidFill>
                <a:latin typeface="Calibri"/>
                <a:ea typeface="Calibri"/>
                <a:cs typeface="Calibri"/>
                <a:sym typeface="Calibri"/>
              </a:rPr>
              <a:t>PoS tags</a:t>
            </a:r>
            <a:endParaRPr sz="1450">
              <a:solidFill>
                <a:schemeClr val="dk1"/>
              </a:solidFill>
              <a:latin typeface="Calibri"/>
              <a:ea typeface="Calibri"/>
              <a:cs typeface="Calibri"/>
              <a:sym typeface="Calibri"/>
            </a:endParaRPr>
          </a:p>
        </p:txBody>
      </p:sp>
      <p:sp>
        <p:nvSpPr>
          <p:cNvPr id="578" name="Google Shape;578;p50"/>
          <p:cNvSpPr txBox="1"/>
          <p:nvPr/>
        </p:nvSpPr>
        <p:spPr>
          <a:xfrm>
            <a:off x="2458211" y="3841750"/>
            <a:ext cx="927735"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rgbClr val="FFFFFF"/>
                </a:solidFill>
                <a:latin typeface="Calibri"/>
                <a:ea typeface="Calibri"/>
                <a:cs typeface="Calibri"/>
                <a:sym typeface="Calibri"/>
              </a:rPr>
              <a:t>Closed class</a:t>
            </a:r>
            <a:endParaRPr sz="1450">
              <a:solidFill>
                <a:schemeClr val="dk1"/>
              </a:solidFill>
              <a:latin typeface="Calibri"/>
              <a:ea typeface="Calibri"/>
              <a:cs typeface="Calibri"/>
              <a:sym typeface="Calibri"/>
            </a:endParaRPr>
          </a:p>
        </p:txBody>
      </p:sp>
      <p:sp>
        <p:nvSpPr>
          <p:cNvPr id="579" name="Google Shape;579;p50"/>
          <p:cNvSpPr txBox="1"/>
          <p:nvPr/>
        </p:nvSpPr>
        <p:spPr>
          <a:xfrm>
            <a:off x="5689346" y="3832605"/>
            <a:ext cx="836294"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rgbClr val="FFFFFF"/>
                </a:solidFill>
                <a:latin typeface="Calibri"/>
                <a:ea typeface="Calibri"/>
                <a:cs typeface="Calibri"/>
                <a:sym typeface="Calibri"/>
              </a:rPr>
              <a:t>Open class</a:t>
            </a:r>
            <a:endParaRPr sz="1450">
              <a:solidFill>
                <a:schemeClr val="dk1"/>
              </a:solidFill>
              <a:latin typeface="Calibri"/>
              <a:ea typeface="Calibri"/>
              <a:cs typeface="Calibri"/>
              <a:sym typeface="Calibri"/>
            </a:endParaRPr>
          </a:p>
        </p:txBody>
      </p:sp>
      <p:sp>
        <p:nvSpPr>
          <p:cNvPr id="580" name="Google Shape;580;p50"/>
          <p:cNvSpPr txBox="1"/>
          <p:nvPr/>
        </p:nvSpPr>
        <p:spPr>
          <a:xfrm>
            <a:off x="1292097" y="4547616"/>
            <a:ext cx="2159635" cy="472440"/>
          </a:xfrm>
          <a:prstGeom prst="rect">
            <a:avLst/>
          </a:prstGeom>
          <a:noFill/>
          <a:ln>
            <a:noFill/>
          </a:ln>
        </p:spPr>
        <p:txBody>
          <a:bodyPr spcFirstLastPara="1" wrap="square" lIns="0" tIns="8250" rIns="0" bIns="0" anchor="t" anchorCtr="0">
            <a:spAutoFit/>
          </a:bodyPr>
          <a:lstStyle/>
          <a:p>
            <a:pPr marL="12700" marR="5080" lvl="0" indent="0" algn="l" rtl="0">
              <a:lnSpc>
                <a:spcPct val="102099"/>
              </a:lnSpc>
              <a:spcBef>
                <a:spcPts val="0"/>
              </a:spcBef>
              <a:spcAft>
                <a:spcPts val="0"/>
              </a:spcAft>
              <a:buNone/>
            </a:pPr>
            <a:r>
              <a:rPr lang="en-US" sz="1450">
                <a:solidFill>
                  <a:schemeClr val="dk1"/>
                </a:solidFill>
                <a:latin typeface="Calibri"/>
                <a:ea typeface="Calibri"/>
                <a:cs typeface="Calibri"/>
                <a:sym typeface="Calibri"/>
              </a:rPr>
              <a:t>Relatively fixed membership  Eg. Prepositions</a:t>
            </a:r>
            <a:endParaRPr sz="1450">
              <a:solidFill>
                <a:schemeClr val="dk1"/>
              </a:solidFill>
              <a:latin typeface="Calibri"/>
              <a:ea typeface="Calibri"/>
              <a:cs typeface="Calibri"/>
              <a:sym typeface="Calibri"/>
            </a:endParaRPr>
          </a:p>
        </p:txBody>
      </p:sp>
      <p:sp>
        <p:nvSpPr>
          <p:cNvPr id="581" name="Google Shape;581;p50"/>
          <p:cNvSpPr txBox="1"/>
          <p:nvPr/>
        </p:nvSpPr>
        <p:spPr>
          <a:xfrm>
            <a:off x="5326634" y="4547616"/>
            <a:ext cx="2193925" cy="714375"/>
          </a:xfrm>
          <a:prstGeom prst="rect">
            <a:avLst/>
          </a:prstGeom>
          <a:noFill/>
          <a:ln>
            <a:noFill/>
          </a:ln>
        </p:spPr>
        <p:txBody>
          <a:bodyPr spcFirstLastPara="1" wrap="square" lIns="0" tIns="8250" rIns="0" bIns="0" anchor="t" anchorCtr="0">
            <a:spAutoFit/>
          </a:bodyPr>
          <a:lstStyle/>
          <a:p>
            <a:pPr marL="12700" marR="5080" lvl="0" indent="0" algn="l" rtl="0">
              <a:lnSpc>
                <a:spcPct val="102099"/>
              </a:lnSpc>
              <a:spcBef>
                <a:spcPts val="0"/>
              </a:spcBef>
              <a:spcAft>
                <a:spcPts val="0"/>
              </a:spcAft>
              <a:buNone/>
            </a:pPr>
            <a:r>
              <a:rPr lang="en-US" sz="1450">
                <a:solidFill>
                  <a:schemeClr val="dk1"/>
                </a:solidFill>
                <a:latin typeface="Calibri"/>
                <a:ea typeface="Calibri"/>
                <a:cs typeface="Calibri"/>
                <a:sym typeface="Calibri"/>
              </a:rPr>
              <a:t>New members can be added  Eg. Noun, verb</a:t>
            </a:r>
            <a:endParaRPr sz="1450">
              <a:solidFill>
                <a:schemeClr val="dk1"/>
              </a:solidFill>
              <a:latin typeface="Calibri"/>
              <a:ea typeface="Calibri"/>
              <a:cs typeface="Calibri"/>
              <a:sym typeface="Calibri"/>
            </a:endParaRPr>
          </a:p>
          <a:p>
            <a:pPr marL="12700" marR="0" lvl="0" indent="0" algn="l" rtl="0">
              <a:lnSpc>
                <a:spcPct val="100000"/>
              </a:lnSpc>
              <a:spcBef>
                <a:spcPts val="160"/>
              </a:spcBef>
              <a:spcAft>
                <a:spcPts val="0"/>
              </a:spcAft>
              <a:buNone/>
            </a:pPr>
            <a:r>
              <a:rPr lang="en-US" sz="1450">
                <a:solidFill>
                  <a:schemeClr val="dk1"/>
                </a:solidFill>
                <a:latin typeface="Calibri"/>
                <a:ea typeface="Calibri"/>
                <a:cs typeface="Calibri"/>
                <a:sym typeface="Calibri"/>
              </a:rPr>
              <a:t>fax, mute</a:t>
            </a:r>
            <a:endParaRPr sz="1450">
              <a:solidFill>
                <a:schemeClr val="dk1"/>
              </a:solidFill>
              <a:latin typeface="Calibri"/>
              <a:ea typeface="Calibri"/>
              <a:cs typeface="Calibri"/>
              <a:sym typeface="Calibri"/>
            </a:endParaRPr>
          </a:p>
        </p:txBody>
      </p:sp>
      <p:sp>
        <p:nvSpPr>
          <p:cNvPr id="582" name="Google Shape;582;p50"/>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51</a:t>
            </a:fld>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Shape 586"/>
        <p:cNvGrpSpPr/>
        <p:nvPr/>
      </p:nvGrpSpPr>
      <p:grpSpPr>
        <a:xfrm>
          <a:off x="0" y="0"/>
          <a:ext cx="0" cy="0"/>
          <a:chOff x="0" y="0"/>
          <a:chExt cx="0" cy="0"/>
        </a:xfrm>
      </p:grpSpPr>
      <p:sp>
        <p:nvSpPr>
          <p:cNvPr id="587" name="Google Shape;587;p51"/>
          <p:cNvSpPr txBox="1"/>
          <p:nvPr/>
        </p:nvSpPr>
        <p:spPr>
          <a:xfrm>
            <a:off x="375825" y="739533"/>
            <a:ext cx="9179656" cy="6022269"/>
          </a:xfrm>
          <a:prstGeom prst="rect">
            <a:avLst/>
          </a:prstGeom>
          <a:noFill/>
          <a:ln>
            <a:noFill/>
          </a:ln>
        </p:spPr>
        <p:txBody>
          <a:bodyPr spcFirstLastPara="1" wrap="square" lIns="0" tIns="96500" rIns="0" bIns="0" anchor="t" anchorCtr="0">
            <a:spAutoFit/>
          </a:bodyPr>
          <a:lstStyle/>
          <a:p>
            <a:pPr marL="88900" marR="0" lvl="0" indent="0" algn="l" rtl="0">
              <a:lnSpc>
                <a:spcPct val="100000"/>
              </a:lnSpc>
              <a:spcBef>
                <a:spcPts val="0"/>
              </a:spcBef>
              <a:spcAft>
                <a:spcPts val="0"/>
              </a:spcAft>
              <a:buNone/>
            </a:pPr>
            <a:r>
              <a:rPr lang="en-US" sz="1950" dirty="0">
                <a:solidFill>
                  <a:schemeClr val="dk1"/>
                </a:solidFill>
                <a:latin typeface="Calibri"/>
                <a:ea typeface="Calibri"/>
                <a:cs typeface="Calibri"/>
                <a:sym typeface="Calibri"/>
              </a:rPr>
              <a:t>Part of speech is the grammatical category of a word.</a:t>
            </a:r>
            <a:endParaRPr sz="1950" dirty="0">
              <a:solidFill>
                <a:schemeClr val="dk1"/>
              </a:solidFill>
              <a:latin typeface="Calibri"/>
              <a:ea typeface="Calibri"/>
              <a:cs typeface="Calibri"/>
              <a:sym typeface="Calibri"/>
            </a:endParaRPr>
          </a:p>
          <a:p>
            <a:pPr marL="277495" marR="81280" lvl="0" indent="-189230" algn="l" rtl="0">
              <a:lnSpc>
                <a:spcPct val="107692"/>
              </a:lnSpc>
              <a:spcBef>
                <a:spcPts val="930"/>
              </a:spcBef>
              <a:spcAft>
                <a:spcPts val="0"/>
              </a:spcAft>
              <a:buClr>
                <a:srgbClr val="BE0000"/>
              </a:buClr>
              <a:buSzPts val="1950"/>
              <a:buFont typeface="Arial"/>
              <a:buChar char="•"/>
            </a:pPr>
            <a:r>
              <a:rPr lang="en-US" sz="1950" dirty="0">
                <a:solidFill>
                  <a:srgbClr val="BE0000"/>
                </a:solidFill>
                <a:latin typeface="Calibri"/>
                <a:ea typeface="Calibri"/>
                <a:cs typeface="Calibri"/>
                <a:sym typeface="Calibri"/>
              </a:rPr>
              <a:t>Verb </a:t>
            </a:r>
            <a:r>
              <a:rPr lang="en-US" sz="1950" dirty="0">
                <a:solidFill>
                  <a:schemeClr val="dk1"/>
                </a:solidFill>
                <a:latin typeface="Calibri"/>
                <a:ea typeface="Calibri"/>
                <a:cs typeface="Calibri"/>
                <a:sym typeface="Calibri"/>
              </a:rPr>
              <a:t>asserts something about the subject of the sentence and express actions, events, or  states of being. Ex. Walk, write, stand	</a:t>
            </a:r>
            <a:r>
              <a:rPr lang="en-US" sz="1950" dirty="0">
                <a:solidFill>
                  <a:srgbClr val="445369"/>
                </a:solidFill>
                <a:latin typeface="Calibri"/>
                <a:ea typeface="Calibri"/>
                <a:cs typeface="Calibri"/>
                <a:sym typeface="Calibri"/>
              </a:rPr>
              <a:t>(main form, 3</a:t>
            </a:r>
            <a:r>
              <a:rPr lang="en-US" sz="1950" baseline="30000" dirty="0">
                <a:solidFill>
                  <a:srgbClr val="445369"/>
                </a:solidFill>
                <a:latin typeface="Calibri"/>
                <a:ea typeface="Calibri"/>
                <a:cs typeface="Calibri"/>
                <a:sym typeface="Calibri"/>
              </a:rPr>
              <a:t>rd </a:t>
            </a:r>
            <a:r>
              <a:rPr lang="en-US" sz="1950" dirty="0">
                <a:solidFill>
                  <a:srgbClr val="445369"/>
                </a:solidFill>
                <a:latin typeface="Calibri"/>
                <a:ea typeface="Calibri"/>
                <a:cs typeface="Calibri"/>
                <a:sym typeface="Calibri"/>
              </a:rPr>
              <a:t>person SG, past participle, ….)</a:t>
            </a:r>
            <a:endParaRPr sz="1950" dirty="0">
              <a:solidFill>
                <a:schemeClr val="dk1"/>
              </a:solidFill>
              <a:latin typeface="Calibri"/>
              <a:ea typeface="Calibri"/>
              <a:cs typeface="Calibri"/>
              <a:sym typeface="Calibri"/>
            </a:endParaRPr>
          </a:p>
          <a:p>
            <a:pPr marL="0" marR="0" lvl="0" indent="0" algn="l" rtl="0">
              <a:lnSpc>
                <a:spcPct val="100000"/>
              </a:lnSpc>
              <a:spcBef>
                <a:spcPts val="55"/>
              </a:spcBef>
              <a:spcAft>
                <a:spcPts val="0"/>
              </a:spcAft>
              <a:buClr>
                <a:schemeClr val="dk1"/>
              </a:buClr>
              <a:buSzPts val="2650"/>
              <a:buFont typeface="Calibri"/>
              <a:buNone/>
            </a:pPr>
            <a:endParaRPr sz="2650" dirty="0">
              <a:solidFill>
                <a:schemeClr val="dk1"/>
              </a:solidFill>
              <a:latin typeface="Calibri"/>
              <a:ea typeface="Calibri"/>
              <a:cs typeface="Calibri"/>
              <a:sym typeface="Calibri"/>
            </a:endParaRPr>
          </a:p>
          <a:p>
            <a:pPr marL="257809" marR="0" lvl="0" indent="-169544" algn="l" rtl="0">
              <a:lnSpc>
                <a:spcPct val="100000"/>
              </a:lnSpc>
              <a:spcBef>
                <a:spcPts val="5"/>
              </a:spcBef>
              <a:spcAft>
                <a:spcPts val="0"/>
              </a:spcAft>
              <a:buClr>
                <a:srgbClr val="BE0000"/>
              </a:buClr>
              <a:buSzPts val="1950"/>
              <a:buFont typeface="Arial"/>
              <a:buChar char="•"/>
            </a:pPr>
            <a:r>
              <a:rPr lang="en-US" sz="1950" dirty="0">
                <a:solidFill>
                  <a:srgbClr val="BE0000"/>
                </a:solidFill>
                <a:latin typeface="Calibri"/>
                <a:ea typeface="Calibri"/>
                <a:cs typeface="Calibri"/>
                <a:sym typeface="Calibri"/>
              </a:rPr>
              <a:t>Noun </a:t>
            </a:r>
            <a:r>
              <a:rPr lang="en-US" sz="1950" dirty="0">
                <a:solidFill>
                  <a:schemeClr val="dk1"/>
                </a:solidFill>
                <a:latin typeface="Calibri"/>
                <a:ea typeface="Calibri"/>
                <a:cs typeface="Calibri"/>
                <a:sym typeface="Calibri"/>
              </a:rPr>
              <a:t>is used to name a person, an animal, a place, a thing, or an abstract idea.</a:t>
            </a:r>
            <a:endParaRPr sz="1950" dirty="0">
              <a:solidFill>
                <a:schemeClr val="dk1"/>
              </a:solidFill>
              <a:latin typeface="Calibri"/>
              <a:ea typeface="Calibri"/>
              <a:cs typeface="Calibri"/>
              <a:sym typeface="Calibri"/>
            </a:endParaRPr>
          </a:p>
          <a:p>
            <a:pPr marL="257809" marR="0" lvl="0" indent="0" algn="l" rtl="0">
              <a:lnSpc>
                <a:spcPct val="100000"/>
              </a:lnSpc>
              <a:spcBef>
                <a:spcPts val="635"/>
              </a:spcBef>
              <a:spcAft>
                <a:spcPts val="0"/>
              </a:spcAft>
              <a:buNone/>
            </a:pPr>
            <a:r>
              <a:rPr lang="en-US" sz="1950" dirty="0">
                <a:solidFill>
                  <a:schemeClr val="dk1"/>
                </a:solidFill>
                <a:latin typeface="Calibri"/>
                <a:ea typeface="Calibri"/>
                <a:cs typeface="Calibri"/>
                <a:sym typeface="Calibri"/>
              </a:rPr>
              <a:t>Ex. Rama, book, John	</a:t>
            </a:r>
            <a:r>
              <a:rPr lang="en-US" sz="1950" dirty="0">
                <a:solidFill>
                  <a:srgbClr val="445369"/>
                </a:solidFill>
                <a:latin typeface="Calibri"/>
                <a:ea typeface="Calibri"/>
                <a:cs typeface="Calibri"/>
                <a:sym typeface="Calibri"/>
              </a:rPr>
              <a:t>(common noun, proper noun)</a:t>
            </a:r>
            <a:endParaRPr sz="1950" dirty="0">
              <a:solidFill>
                <a:schemeClr val="dk1"/>
              </a:solidFill>
              <a:latin typeface="Calibri"/>
              <a:ea typeface="Calibri"/>
              <a:cs typeface="Calibri"/>
              <a:sym typeface="Calibri"/>
            </a:endParaRPr>
          </a:p>
          <a:p>
            <a:pPr marL="0" marR="0" lvl="0" indent="0" algn="l" rtl="0">
              <a:lnSpc>
                <a:spcPct val="100000"/>
              </a:lnSpc>
              <a:spcBef>
                <a:spcPts val="15"/>
              </a:spcBef>
              <a:spcAft>
                <a:spcPts val="0"/>
              </a:spcAft>
              <a:buNone/>
            </a:pPr>
            <a:endParaRPr sz="2350" dirty="0">
              <a:solidFill>
                <a:schemeClr val="dk1"/>
              </a:solidFill>
              <a:latin typeface="Calibri"/>
              <a:ea typeface="Calibri"/>
              <a:cs typeface="Calibri"/>
              <a:sym typeface="Calibri"/>
            </a:endParaRPr>
          </a:p>
          <a:p>
            <a:pPr marL="314325" marR="2024379" lvl="0" indent="-226059" algn="l" rtl="0">
              <a:lnSpc>
                <a:spcPct val="125899"/>
              </a:lnSpc>
              <a:spcBef>
                <a:spcPts val="5"/>
              </a:spcBef>
              <a:spcAft>
                <a:spcPts val="0"/>
              </a:spcAft>
              <a:buClr>
                <a:srgbClr val="BE0000"/>
              </a:buClr>
              <a:buSzPts val="1950"/>
              <a:buFont typeface="Arial"/>
              <a:buChar char="•"/>
            </a:pPr>
            <a:r>
              <a:rPr lang="en-US" sz="1950" dirty="0">
                <a:solidFill>
                  <a:srgbClr val="BE0000"/>
                </a:solidFill>
                <a:latin typeface="Calibri"/>
                <a:ea typeface="Calibri"/>
                <a:cs typeface="Calibri"/>
                <a:sym typeface="Calibri"/>
              </a:rPr>
              <a:t>Adjective </a:t>
            </a:r>
            <a:r>
              <a:rPr lang="en-US" sz="1950" dirty="0">
                <a:solidFill>
                  <a:schemeClr val="dk1"/>
                </a:solidFill>
                <a:latin typeface="Calibri"/>
                <a:ea typeface="Calibri"/>
                <a:cs typeface="Calibri"/>
                <a:sym typeface="Calibri"/>
              </a:rPr>
              <a:t>describes nouns and pronouns by some property or quality.  Ex. Beautiful, noisy</a:t>
            </a:r>
            <a:endParaRPr sz="195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900"/>
              <a:buFont typeface="Calibri"/>
              <a:buNone/>
            </a:pPr>
            <a:endParaRPr sz="1900" dirty="0">
              <a:solidFill>
                <a:schemeClr val="dk1"/>
              </a:solidFill>
              <a:latin typeface="Calibri"/>
              <a:ea typeface="Calibri"/>
              <a:cs typeface="Calibri"/>
              <a:sym typeface="Calibri"/>
            </a:endParaRPr>
          </a:p>
          <a:p>
            <a:pPr marL="277495" marR="0" lvl="0" indent="-189230" algn="l" rtl="0">
              <a:lnSpc>
                <a:spcPct val="116410"/>
              </a:lnSpc>
              <a:spcBef>
                <a:spcPts val="1560"/>
              </a:spcBef>
              <a:spcAft>
                <a:spcPts val="0"/>
              </a:spcAft>
              <a:buClr>
                <a:srgbClr val="BE0000"/>
              </a:buClr>
              <a:buSzPts val="1950"/>
              <a:buFont typeface="Arial"/>
              <a:buChar char="•"/>
            </a:pPr>
            <a:r>
              <a:rPr lang="en-US" sz="1950" dirty="0">
                <a:solidFill>
                  <a:srgbClr val="BE0000"/>
                </a:solidFill>
                <a:latin typeface="Calibri"/>
                <a:ea typeface="Calibri"/>
                <a:cs typeface="Calibri"/>
                <a:sym typeface="Calibri"/>
              </a:rPr>
              <a:t>Adverb </a:t>
            </a:r>
            <a:r>
              <a:rPr lang="en-US" sz="1950" dirty="0">
                <a:solidFill>
                  <a:schemeClr val="dk1"/>
                </a:solidFill>
                <a:latin typeface="Calibri"/>
                <a:ea typeface="Calibri"/>
                <a:cs typeface="Calibri"/>
                <a:sym typeface="Calibri"/>
              </a:rPr>
              <a:t>describes a verb, a phrase, or a clause. An adverb indicates manner, time, place,</a:t>
            </a:r>
            <a:endParaRPr sz="1950" dirty="0">
              <a:solidFill>
                <a:schemeClr val="dk1"/>
              </a:solidFill>
              <a:latin typeface="Calibri"/>
              <a:ea typeface="Calibri"/>
              <a:cs typeface="Calibri"/>
              <a:sym typeface="Calibri"/>
            </a:endParaRPr>
          </a:p>
          <a:p>
            <a:pPr marL="277495" marR="0" lvl="0" indent="0" algn="l" rtl="0">
              <a:lnSpc>
                <a:spcPct val="116410"/>
              </a:lnSpc>
              <a:spcBef>
                <a:spcPts val="0"/>
              </a:spcBef>
              <a:spcAft>
                <a:spcPts val="0"/>
              </a:spcAft>
              <a:buNone/>
            </a:pPr>
            <a:r>
              <a:rPr lang="en-US" sz="1950" dirty="0">
                <a:solidFill>
                  <a:schemeClr val="dk1"/>
                </a:solidFill>
                <a:latin typeface="Calibri"/>
                <a:ea typeface="Calibri"/>
                <a:cs typeface="Calibri"/>
                <a:sym typeface="Calibri"/>
              </a:rPr>
              <a:t>cause, ... Ex. Slowly, gently	</a:t>
            </a:r>
            <a:r>
              <a:rPr lang="en-US" sz="1950" dirty="0">
                <a:solidFill>
                  <a:srgbClr val="445369"/>
                </a:solidFill>
                <a:latin typeface="Calibri"/>
                <a:ea typeface="Calibri"/>
                <a:cs typeface="Calibri"/>
                <a:sym typeface="Calibri"/>
              </a:rPr>
              <a:t>(directional, locative, degree, manner, temporal)</a:t>
            </a:r>
            <a:endParaRPr sz="1950" dirty="0">
              <a:solidFill>
                <a:schemeClr val="dk1"/>
              </a:solidFill>
              <a:latin typeface="Calibri"/>
              <a:ea typeface="Calibri"/>
              <a:cs typeface="Calibri"/>
              <a:sym typeface="Calibri"/>
            </a:endParaRPr>
          </a:p>
          <a:p>
            <a:pPr marL="277495" marR="44450" lvl="0" indent="-189230" algn="l" rtl="0">
              <a:lnSpc>
                <a:spcPct val="107692"/>
              </a:lnSpc>
              <a:spcBef>
                <a:spcPts val="830"/>
              </a:spcBef>
              <a:spcAft>
                <a:spcPts val="0"/>
              </a:spcAft>
              <a:buClr>
                <a:srgbClr val="BE0000"/>
              </a:buClr>
              <a:buSzPts val="1950"/>
              <a:buFont typeface="Arial"/>
              <a:buChar char="•"/>
            </a:pPr>
            <a:r>
              <a:rPr lang="en-US" sz="1950" dirty="0">
                <a:solidFill>
                  <a:srgbClr val="BE0000"/>
                </a:solidFill>
                <a:latin typeface="Calibri"/>
                <a:ea typeface="Calibri"/>
                <a:cs typeface="Calibri"/>
                <a:sym typeface="Calibri"/>
              </a:rPr>
              <a:t>Pronoun </a:t>
            </a:r>
            <a:r>
              <a:rPr lang="en-US" sz="1950" dirty="0">
                <a:solidFill>
                  <a:schemeClr val="dk1"/>
                </a:solidFill>
                <a:latin typeface="Calibri"/>
                <a:ea typeface="Calibri"/>
                <a:cs typeface="Calibri"/>
                <a:sym typeface="Calibri"/>
              </a:rPr>
              <a:t>replaces nouns or another pronouns and are essentially used to make sentences  less cumbersome and less repetitive. Ex. He, she, it</a:t>
            </a:r>
            <a:endParaRPr sz="1950" dirty="0">
              <a:solidFill>
                <a:schemeClr val="dk1"/>
              </a:solidFill>
              <a:latin typeface="Calibri"/>
              <a:ea typeface="Calibri"/>
              <a:cs typeface="Calibri"/>
              <a:sym typeface="Calibri"/>
            </a:endParaRPr>
          </a:p>
          <a:p>
            <a:pPr marL="277495" marR="0" lvl="0" indent="-189230" algn="l" rtl="0">
              <a:lnSpc>
                <a:spcPct val="100000"/>
              </a:lnSpc>
              <a:spcBef>
                <a:spcPts val="570"/>
              </a:spcBef>
              <a:spcAft>
                <a:spcPts val="0"/>
              </a:spcAft>
              <a:buClr>
                <a:schemeClr val="dk1"/>
              </a:buClr>
              <a:buSzPts val="1950"/>
              <a:buFont typeface="Arial"/>
              <a:buChar char="•"/>
            </a:pPr>
            <a:r>
              <a:rPr lang="en-US" sz="1950" dirty="0">
                <a:solidFill>
                  <a:schemeClr val="dk1"/>
                </a:solidFill>
                <a:latin typeface="Calibri"/>
                <a:ea typeface="Calibri"/>
                <a:cs typeface="Calibri"/>
                <a:sym typeface="Calibri"/>
              </a:rPr>
              <a:t>Prepositions, Conjunctions, Determiners ...</a:t>
            </a:r>
            <a:endParaRPr sz="1950" dirty="0">
              <a:solidFill>
                <a:schemeClr val="dk1"/>
              </a:solidFill>
              <a:latin typeface="Calibri"/>
              <a:ea typeface="Calibri"/>
              <a:cs typeface="Calibri"/>
              <a:sym typeface="Calibri"/>
            </a:endParaRPr>
          </a:p>
        </p:txBody>
      </p:sp>
      <p:sp>
        <p:nvSpPr>
          <p:cNvPr id="588" name="Google Shape;588;p51"/>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52</a:t>
            </a:fld>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Shape 592"/>
        <p:cNvGrpSpPr/>
        <p:nvPr/>
      </p:nvGrpSpPr>
      <p:grpSpPr>
        <a:xfrm>
          <a:off x="0" y="0"/>
          <a:ext cx="0" cy="0"/>
          <a:chOff x="0" y="0"/>
          <a:chExt cx="0" cy="0"/>
        </a:xfrm>
      </p:grpSpPr>
      <p:sp>
        <p:nvSpPr>
          <p:cNvPr id="593" name="Google Shape;593;p52"/>
          <p:cNvSpPr txBox="1">
            <a:spLocks noGrp="1"/>
          </p:cNvSpPr>
          <p:nvPr>
            <p:ph type="title"/>
          </p:nvPr>
        </p:nvSpPr>
        <p:spPr>
          <a:xfrm>
            <a:off x="627999" y="776897"/>
            <a:ext cx="5689200" cy="4206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dirty="0"/>
              <a:t>Closed classes in English</a:t>
            </a:r>
            <a:endParaRPr dirty="0"/>
          </a:p>
        </p:txBody>
      </p:sp>
      <p:sp>
        <p:nvSpPr>
          <p:cNvPr id="594" name="Google Shape;594;p52"/>
          <p:cNvSpPr txBox="1"/>
          <p:nvPr/>
        </p:nvSpPr>
        <p:spPr>
          <a:xfrm>
            <a:off x="892730" y="1981012"/>
            <a:ext cx="5762100" cy="3136756"/>
          </a:xfrm>
          <a:prstGeom prst="rect">
            <a:avLst/>
          </a:prstGeom>
          <a:noFill/>
          <a:ln>
            <a:noFill/>
          </a:ln>
        </p:spPr>
        <p:txBody>
          <a:bodyPr spcFirstLastPara="1" wrap="square" lIns="0" tIns="88900" rIns="0" bIns="0" anchor="t" anchorCtr="0">
            <a:spAutoFit/>
          </a:bodyPr>
          <a:lstStyle/>
          <a:p>
            <a:pPr marL="201295" marR="0" lvl="0" indent="-189230" algn="l" rtl="0">
              <a:lnSpc>
                <a:spcPct val="100000"/>
              </a:lnSpc>
              <a:spcBef>
                <a:spcPts val="0"/>
              </a:spcBef>
              <a:spcAft>
                <a:spcPts val="0"/>
              </a:spcAft>
              <a:buClr>
                <a:schemeClr val="dk1"/>
              </a:buClr>
              <a:buSzPts val="1950"/>
              <a:buFont typeface="Arial"/>
              <a:buChar char="•"/>
            </a:pPr>
            <a:r>
              <a:rPr lang="en-US" sz="2400" dirty="0">
                <a:solidFill>
                  <a:schemeClr val="dk1"/>
                </a:solidFill>
                <a:latin typeface="Calibri"/>
                <a:ea typeface="Calibri"/>
                <a:cs typeface="Calibri"/>
                <a:sym typeface="Calibri"/>
              </a:rPr>
              <a:t>Prepositions – on, under, over, from, to</a:t>
            </a:r>
            <a:endParaRPr sz="2400" dirty="0">
              <a:solidFill>
                <a:schemeClr val="dk1"/>
              </a:solidFill>
              <a:latin typeface="Calibri"/>
              <a:ea typeface="Calibri"/>
              <a:cs typeface="Calibri"/>
              <a:sym typeface="Calibri"/>
            </a:endParaRPr>
          </a:p>
          <a:p>
            <a:pPr marL="201295" marR="0" lvl="0" indent="-189230" algn="l" rtl="0">
              <a:lnSpc>
                <a:spcPct val="100000"/>
              </a:lnSpc>
              <a:spcBef>
                <a:spcPts val="600"/>
              </a:spcBef>
              <a:spcAft>
                <a:spcPts val="0"/>
              </a:spcAft>
              <a:buClr>
                <a:schemeClr val="dk1"/>
              </a:buClr>
              <a:buSzPts val="1950"/>
              <a:buFont typeface="Arial"/>
              <a:buChar char="•"/>
            </a:pPr>
            <a:r>
              <a:rPr lang="en-US" sz="2400" dirty="0">
                <a:solidFill>
                  <a:schemeClr val="dk1"/>
                </a:solidFill>
                <a:latin typeface="Calibri"/>
                <a:ea typeface="Calibri"/>
                <a:cs typeface="Calibri"/>
                <a:sym typeface="Calibri"/>
              </a:rPr>
              <a:t>Determiners – a, an, the</a:t>
            </a:r>
            <a:endParaRPr sz="2400" dirty="0">
              <a:solidFill>
                <a:schemeClr val="dk1"/>
              </a:solidFill>
              <a:latin typeface="Calibri"/>
              <a:ea typeface="Calibri"/>
              <a:cs typeface="Calibri"/>
              <a:sym typeface="Calibri"/>
            </a:endParaRPr>
          </a:p>
          <a:p>
            <a:pPr marL="201295" marR="0" lvl="0" indent="-189230" algn="l" rtl="0">
              <a:lnSpc>
                <a:spcPct val="100000"/>
              </a:lnSpc>
              <a:spcBef>
                <a:spcPts val="600"/>
              </a:spcBef>
              <a:spcAft>
                <a:spcPts val="0"/>
              </a:spcAft>
              <a:buClr>
                <a:schemeClr val="dk1"/>
              </a:buClr>
              <a:buSzPts val="1950"/>
              <a:buFont typeface="Arial"/>
              <a:buChar char="•"/>
            </a:pPr>
            <a:r>
              <a:rPr lang="en-US" sz="2400" dirty="0">
                <a:solidFill>
                  <a:schemeClr val="dk1"/>
                </a:solidFill>
                <a:latin typeface="Calibri"/>
                <a:ea typeface="Calibri"/>
                <a:cs typeface="Calibri"/>
                <a:sym typeface="Calibri"/>
              </a:rPr>
              <a:t>Pronouns – she, I, who</a:t>
            </a:r>
            <a:endParaRPr sz="2400" dirty="0">
              <a:solidFill>
                <a:schemeClr val="dk1"/>
              </a:solidFill>
              <a:latin typeface="Calibri"/>
              <a:ea typeface="Calibri"/>
              <a:cs typeface="Calibri"/>
              <a:sym typeface="Calibri"/>
            </a:endParaRPr>
          </a:p>
          <a:p>
            <a:pPr marL="201295" marR="0" lvl="0" indent="-189230" algn="l" rtl="0">
              <a:lnSpc>
                <a:spcPct val="100000"/>
              </a:lnSpc>
              <a:spcBef>
                <a:spcPts val="600"/>
              </a:spcBef>
              <a:spcAft>
                <a:spcPts val="0"/>
              </a:spcAft>
              <a:buClr>
                <a:schemeClr val="dk1"/>
              </a:buClr>
              <a:buSzPts val="1950"/>
              <a:buFont typeface="Arial"/>
              <a:buChar char="•"/>
            </a:pPr>
            <a:r>
              <a:rPr lang="en-US" sz="2400" dirty="0">
                <a:solidFill>
                  <a:schemeClr val="dk1"/>
                </a:solidFill>
                <a:latin typeface="Calibri"/>
                <a:ea typeface="Calibri"/>
                <a:cs typeface="Calibri"/>
                <a:sym typeface="Calibri"/>
              </a:rPr>
              <a:t>Conjunctions – and, but, or, if</a:t>
            </a:r>
            <a:endParaRPr sz="2400" dirty="0">
              <a:solidFill>
                <a:schemeClr val="dk1"/>
              </a:solidFill>
              <a:latin typeface="Calibri"/>
              <a:ea typeface="Calibri"/>
              <a:cs typeface="Calibri"/>
              <a:sym typeface="Calibri"/>
            </a:endParaRPr>
          </a:p>
          <a:p>
            <a:pPr marL="201295" marR="0" lvl="0" indent="-189230" algn="l" rtl="0">
              <a:lnSpc>
                <a:spcPct val="100000"/>
              </a:lnSpc>
              <a:spcBef>
                <a:spcPts val="600"/>
              </a:spcBef>
              <a:spcAft>
                <a:spcPts val="0"/>
              </a:spcAft>
              <a:buClr>
                <a:schemeClr val="dk1"/>
              </a:buClr>
              <a:buSzPts val="1950"/>
              <a:buFont typeface="Arial"/>
              <a:buChar char="•"/>
            </a:pPr>
            <a:r>
              <a:rPr lang="en-US" sz="2400" dirty="0">
                <a:solidFill>
                  <a:schemeClr val="dk1"/>
                </a:solidFill>
                <a:latin typeface="Calibri"/>
                <a:ea typeface="Calibri"/>
                <a:cs typeface="Calibri"/>
                <a:sym typeface="Calibri"/>
              </a:rPr>
              <a:t>Auxiliary verbs – can, may, should</a:t>
            </a:r>
            <a:endParaRPr sz="2400" dirty="0">
              <a:solidFill>
                <a:schemeClr val="dk1"/>
              </a:solidFill>
              <a:latin typeface="Calibri"/>
              <a:ea typeface="Calibri"/>
              <a:cs typeface="Calibri"/>
              <a:sym typeface="Calibri"/>
            </a:endParaRPr>
          </a:p>
          <a:p>
            <a:pPr marL="201295" marR="0" lvl="0" indent="-189230" algn="l" rtl="0">
              <a:lnSpc>
                <a:spcPct val="100000"/>
              </a:lnSpc>
              <a:spcBef>
                <a:spcPts val="600"/>
              </a:spcBef>
              <a:spcAft>
                <a:spcPts val="0"/>
              </a:spcAft>
              <a:buClr>
                <a:schemeClr val="dk1"/>
              </a:buClr>
              <a:buSzPts val="1950"/>
              <a:buFont typeface="Arial"/>
              <a:buChar char="•"/>
            </a:pPr>
            <a:r>
              <a:rPr lang="en-US" sz="2400" dirty="0">
                <a:solidFill>
                  <a:schemeClr val="dk1"/>
                </a:solidFill>
                <a:latin typeface="Calibri"/>
                <a:ea typeface="Calibri"/>
                <a:cs typeface="Calibri"/>
                <a:sym typeface="Calibri"/>
              </a:rPr>
              <a:t>Particles – up, down, on, off, in, out, at, by</a:t>
            </a:r>
            <a:endParaRPr sz="2400" dirty="0">
              <a:solidFill>
                <a:schemeClr val="dk1"/>
              </a:solidFill>
              <a:latin typeface="Calibri"/>
              <a:ea typeface="Calibri"/>
              <a:cs typeface="Calibri"/>
              <a:sym typeface="Calibri"/>
            </a:endParaRPr>
          </a:p>
          <a:p>
            <a:pPr marL="201295" marR="0" lvl="0" indent="-189230" algn="l" rtl="0">
              <a:lnSpc>
                <a:spcPct val="100000"/>
              </a:lnSpc>
              <a:spcBef>
                <a:spcPts val="600"/>
              </a:spcBef>
              <a:spcAft>
                <a:spcPts val="0"/>
              </a:spcAft>
              <a:buClr>
                <a:schemeClr val="dk1"/>
              </a:buClr>
              <a:buSzPts val="1950"/>
              <a:buFont typeface="Arial"/>
              <a:buChar char="•"/>
            </a:pPr>
            <a:r>
              <a:rPr lang="en-US" sz="2400" dirty="0">
                <a:solidFill>
                  <a:schemeClr val="dk1"/>
                </a:solidFill>
                <a:latin typeface="Calibri"/>
                <a:ea typeface="Calibri"/>
                <a:cs typeface="Calibri"/>
                <a:sym typeface="Calibri"/>
              </a:rPr>
              <a:t>Numerals – one, two, first, forth</a:t>
            </a:r>
            <a:endParaRPr sz="2400" dirty="0">
              <a:solidFill>
                <a:schemeClr val="dk1"/>
              </a:solidFill>
              <a:latin typeface="Calibri"/>
              <a:ea typeface="Calibri"/>
              <a:cs typeface="Calibri"/>
              <a:sym typeface="Calibri"/>
            </a:endParaRPr>
          </a:p>
        </p:txBody>
      </p:sp>
      <p:sp>
        <p:nvSpPr>
          <p:cNvPr id="595" name="Google Shape;595;p52"/>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53</a:t>
            </a:fld>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641"/>
        <p:cNvGrpSpPr/>
        <p:nvPr/>
      </p:nvGrpSpPr>
      <p:grpSpPr>
        <a:xfrm>
          <a:off x="0" y="0"/>
          <a:ext cx="0" cy="0"/>
          <a:chOff x="0" y="0"/>
          <a:chExt cx="0" cy="0"/>
        </a:xfrm>
      </p:grpSpPr>
      <p:sp>
        <p:nvSpPr>
          <p:cNvPr id="642" name="Google Shape;642;p60"/>
          <p:cNvSpPr txBox="1">
            <a:spLocks noGrp="1"/>
          </p:cNvSpPr>
          <p:nvPr>
            <p:ph type="title"/>
          </p:nvPr>
        </p:nvSpPr>
        <p:spPr>
          <a:xfrm>
            <a:off x="619759" y="423637"/>
            <a:ext cx="8224695" cy="467426"/>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None/>
            </a:pPr>
            <a:r>
              <a:rPr lang="en-US" sz="2950" dirty="0" err="1"/>
              <a:t>Tagsets</a:t>
            </a:r>
            <a:r>
              <a:rPr lang="en-US" sz="2950" dirty="0"/>
              <a:t> for English</a:t>
            </a:r>
            <a:endParaRPr sz="2950" dirty="0"/>
          </a:p>
        </p:txBody>
      </p:sp>
      <p:sp>
        <p:nvSpPr>
          <p:cNvPr id="643" name="Google Shape;643;p60"/>
          <p:cNvSpPr txBox="1"/>
          <p:nvPr/>
        </p:nvSpPr>
        <p:spPr>
          <a:xfrm>
            <a:off x="619759" y="1170144"/>
            <a:ext cx="8935720" cy="2045673"/>
          </a:xfrm>
          <a:prstGeom prst="rect">
            <a:avLst/>
          </a:prstGeom>
          <a:noFill/>
          <a:ln>
            <a:noFill/>
          </a:ln>
        </p:spPr>
        <p:txBody>
          <a:bodyPr spcFirstLastPara="1" wrap="square" lIns="0" tIns="50150" rIns="0" bIns="0" anchor="t" anchorCtr="0">
            <a:spAutoFit/>
          </a:bodyPr>
          <a:lstStyle/>
          <a:p>
            <a:pPr marL="201295" marR="5080" lvl="0" indent="-189230" algn="l" rtl="0">
              <a:lnSpc>
                <a:spcPct val="108695"/>
              </a:lnSpc>
              <a:spcBef>
                <a:spcPts val="0"/>
              </a:spcBef>
              <a:spcAft>
                <a:spcPts val="0"/>
              </a:spcAft>
              <a:buClr>
                <a:schemeClr val="dk1"/>
              </a:buClr>
              <a:buSzPts val="2300"/>
              <a:buFont typeface="Arial"/>
              <a:buChar char="•"/>
            </a:pPr>
            <a:r>
              <a:rPr lang="en-US" sz="2300" dirty="0">
                <a:solidFill>
                  <a:schemeClr val="dk1"/>
                </a:solidFill>
                <a:latin typeface="Calibri"/>
                <a:ea typeface="Calibri"/>
                <a:cs typeface="Calibri"/>
                <a:sym typeface="Calibri"/>
              </a:rPr>
              <a:t>Origin of all </a:t>
            </a:r>
            <a:r>
              <a:rPr lang="en-US" sz="2300" dirty="0" err="1">
                <a:solidFill>
                  <a:schemeClr val="dk1"/>
                </a:solidFill>
                <a:latin typeface="Calibri"/>
                <a:ea typeface="Calibri"/>
                <a:cs typeface="Calibri"/>
                <a:sym typeface="Calibri"/>
              </a:rPr>
              <a:t>Tagsets</a:t>
            </a:r>
            <a:r>
              <a:rPr lang="en-US" sz="2300" dirty="0">
                <a:solidFill>
                  <a:schemeClr val="dk1"/>
                </a:solidFill>
                <a:latin typeface="Calibri"/>
                <a:ea typeface="Calibri"/>
                <a:cs typeface="Calibri"/>
                <a:sym typeface="Calibri"/>
              </a:rPr>
              <a:t> for English language is “87-tag </a:t>
            </a:r>
            <a:r>
              <a:rPr lang="en-US" sz="2300" dirty="0" err="1">
                <a:solidFill>
                  <a:schemeClr val="dk1"/>
                </a:solidFill>
                <a:latin typeface="Calibri"/>
                <a:ea typeface="Calibri"/>
                <a:cs typeface="Calibri"/>
                <a:sym typeface="Calibri"/>
              </a:rPr>
              <a:t>tagset</a:t>
            </a:r>
            <a:r>
              <a:rPr lang="en-US" sz="2300" dirty="0">
                <a:solidFill>
                  <a:schemeClr val="dk1"/>
                </a:solidFill>
                <a:latin typeface="Calibri"/>
                <a:ea typeface="Calibri"/>
                <a:cs typeface="Calibri"/>
                <a:sym typeface="Calibri"/>
              </a:rPr>
              <a:t>” used for Brown  Corpus in 1979 – research at Brown university</a:t>
            </a:r>
            <a:endParaRPr sz="2300" dirty="0">
              <a:solidFill>
                <a:schemeClr val="dk1"/>
              </a:solidFill>
              <a:latin typeface="Calibri"/>
              <a:ea typeface="Calibri"/>
              <a:cs typeface="Calibri"/>
              <a:sym typeface="Calibri"/>
            </a:endParaRPr>
          </a:p>
          <a:p>
            <a:pPr marL="1053465" marR="0" lvl="0" indent="-285750" algn="just" rtl="0">
              <a:lnSpc>
                <a:spcPct val="100000"/>
              </a:lnSpc>
              <a:spcBef>
                <a:spcPts val="935"/>
              </a:spcBef>
              <a:spcAft>
                <a:spcPts val="0"/>
              </a:spcAft>
              <a:buFont typeface="Arial" panose="020B0604020202020204" pitchFamily="34" charset="0"/>
              <a:buChar char="•"/>
            </a:pPr>
            <a:r>
              <a:rPr lang="en-US" sz="2400" dirty="0">
                <a:solidFill>
                  <a:schemeClr val="dk1"/>
                </a:solidFill>
                <a:latin typeface="Calibri"/>
                <a:ea typeface="Calibri"/>
                <a:cs typeface="Calibri"/>
                <a:sym typeface="Calibri"/>
              </a:rPr>
              <a:t>It is a million word collection of samples from 500 written texts from different </a:t>
            </a:r>
            <a:r>
              <a:rPr lang="en-US" sz="2400" dirty="0" smtClean="0">
                <a:solidFill>
                  <a:schemeClr val="dk1"/>
                </a:solidFill>
                <a:latin typeface="Calibri"/>
                <a:ea typeface="Calibri"/>
                <a:cs typeface="Calibri"/>
                <a:sym typeface="Calibri"/>
              </a:rPr>
              <a:t>genres (</a:t>
            </a:r>
            <a:r>
              <a:rPr lang="en-US" sz="2400" dirty="0">
                <a:solidFill>
                  <a:schemeClr val="dk1"/>
                </a:solidFill>
                <a:latin typeface="Calibri"/>
                <a:ea typeface="Calibri"/>
                <a:cs typeface="Calibri"/>
                <a:sym typeface="Calibri"/>
              </a:rPr>
              <a:t>news papers, novels, academics, non-fiction, </a:t>
            </a:r>
            <a:r>
              <a:rPr lang="en-US" sz="2400" dirty="0" err="1">
                <a:solidFill>
                  <a:schemeClr val="dk1"/>
                </a:solidFill>
                <a:latin typeface="Calibri"/>
                <a:ea typeface="Calibri"/>
                <a:cs typeface="Calibri"/>
                <a:sym typeface="Calibri"/>
              </a:rPr>
              <a:t>etc</a:t>
            </a:r>
            <a:r>
              <a:rPr lang="en-US" sz="2400" dirty="0">
                <a:solidFill>
                  <a:schemeClr val="dk1"/>
                </a:solidFill>
                <a:latin typeface="Calibri"/>
                <a:ea typeface="Calibri"/>
                <a:cs typeface="Calibri"/>
                <a:sym typeface="Calibri"/>
              </a:rPr>
              <a:t>)</a:t>
            </a:r>
            <a:endParaRPr sz="2400" dirty="0">
              <a:solidFill>
                <a:schemeClr val="dk1"/>
              </a:solidFill>
              <a:latin typeface="Calibri"/>
              <a:ea typeface="Calibri"/>
              <a:cs typeface="Calibri"/>
              <a:sym typeface="Calibri"/>
            </a:endParaRPr>
          </a:p>
        </p:txBody>
      </p:sp>
      <p:sp>
        <p:nvSpPr>
          <p:cNvPr id="644" name="Google Shape;644;p60"/>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54</a:t>
            </a:fld>
            <a:endParaRPr/>
          </a:p>
        </p:txBody>
      </p:sp>
      <p:sp>
        <p:nvSpPr>
          <p:cNvPr id="5" name="Google Shape;649;p59"/>
          <p:cNvSpPr txBox="1">
            <a:spLocks/>
          </p:cNvSpPr>
          <p:nvPr/>
        </p:nvSpPr>
        <p:spPr>
          <a:xfrm>
            <a:off x="619759" y="4030323"/>
            <a:ext cx="3150389" cy="452755"/>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265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800" dirty="0" err="1" smtClean="0"/>
              <a:t>TagSets</a:t>
            </a:r>
            <a:endParaRPr lang="en-US" sz="2800" dirty="0"/>
          </a:p>
        </p:txBody>
      </p:sp>
      <p:sp>
        <p:nvSpPr>
          <p:cNvPr id="6" name="Google Shape;650;p59"/>
          <p:cNvSpPr txBox="1"/>
          <p:nvPr/>
        </p:nvSpPr>
        <p:spPr>
          <a:xfrm>
            <a:off x="619759" y="5151830"/>
            <a:ext cx="9084945" cy="1854835"/>
          </a:xfrm>
          <a:prstGeom prst="rect">
            <a:avLst/>
          </a:prstGeom>
          <a:noFill/>
          <a:ln>
            <a:noFill/>
          </a:ln>
        </p:spPr>
        <p:txBody>
          <a:bodyPr spcFirstLastPara="1" wrap="square" lIns="0" tIns="12700" rIns="0" bIns="0" anchor="t" anchorCtr="0">
            <a:spAutoFit/>
          </a:bodyPr>
          <a:lstStyle/>
          <a:p>
            <a:pPr marL="12700" marR="5080" lvl="0" indent="0" algn="just" rtl="0">
              <a:lnSpc>
                <a:spcPct val="100000"/>
              </a:lnSpc>
              <a:spcBef>
                <a:spcPts val="0"/>
              </a:spcBef>
              <a:spcAft>
                <a:spcPts val="0"/>
              </a:spcAft>
              <a:buNone/>
            </a:pPr>
            <a:r>
              <a:rPr lang="en-US" sz="2400" dirty="0">
                <a:solidFill>
                  <a:schemeClr val="dk1"/>
                </a:solidFill>
                <a:latin typeface="Calibri"/>
                <a:ea typeface="Calibri"/>
                <a:cs typeface="Calibri"/>
                <a:sym typeface="Calibri"/>
              </a:rPr>
              <a:t>The process of classifying words into their parts of speech and labeling  them accordingly is known as part-of-speech tagging, POS-tagging, or  simply tagging. Parts of speech are also known as word classes or lexical  categories. </a:t>
            </a:r>
            <a:r>
              <a:rPr lang="en-US" sz="2400" b="1" dirty="0">
                <a:solidFill>
                  <a:schemeClr val="dk1"/>
                </a:solidFill>
                <a:latin typeface="Calibri"/>
                <a:ea typeface="Calibri"/>
                <a:cs typeface="Calibri"/>
                <a:sym typeface="Calibri"/>
              </a:rPr>
              <a:t>The collection of tags used for a particular task </a:t>
            </a:r>
            <a:r>
              <a:rPr lang="en-US" sz="2400" dirty="0">
                <a:solidFill>
                  <a:schemeClr val="dk1"/>
                </a:solidFill>
                <a:latin typeface="Calibri"/>
                <a:ea typeface="Calibri"/>
                <a:cs typeface="Calibri"/>
                <a:sym typeface="Calibri"/>
              </a:rPr>
              <a:t>is known as a  </a:t>
            </a:r>
            <a:r>
              <a:rPr lang="en-US" sz="2400" dirty="0" err="1">
                <a:solidFill>
                  <a:schemeClr val="dk1"/>
                </a:solidFill>
                <a:latin typeface="Calibri"/>
                <a:ea typeface="Calibri"/>
                <a:cs typeface="Calibri"/>
                <a:sym typeface="Calibri"/>
              </a:rPr>
              <a:t>tagset</a:t>
            </a:r>
            <a:r>
              <a:rPr lang="en-US" sz="2400" dirty="0">
                <a:solidFill>
                  <a:schemeClr val="dk1"/>
                </a:solidFill>
                <a:latin typeface="Calibri"/>
                <a:ea typeface="Calibri"/>
                <a:cs typeface="Calibri"/>
                <a:sym typeface="Calibri"/>
              </a:rPr>
              <a:t>.</a:t>
            </a:r>
            <a:endParaRPr sz="24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9040765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655"/>
        <p:cNvGrpSpPr/>
        <p:nvPr/>
      </p:nvGrpSpPr>
      <p:grpSpPr>
        <a:xfrm>
          <a:off x="0" y="0"/>
          <a:ext cx="0" cy="0"/>
          <a:chOff x="0" y="0"/>
          <a:chExt cx="0" cy="0"/>
        </a:xfrm>
      </p:grpSpPr>
      <p:sp>
        <p:nvSpPr>
          <p:cNvPr id="656" name="Google Shape;656;p61"/>
          <p:cNvSpPr txBox="1">
            <a:spLocks noGrp="1"/>
          </p:cNvSpPr>
          <p:nvPr>
            <p:ph type="title"/>
          </p:nvPr>
        </p:nvSpPr>
        <p:spPr>
          <a:xfrm>
            <a:off x="754126" y="1318513"/>
            <a:ext cx="4233545" cy="38417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350"/>
              <a:t>Small 45-tag Penn Treebank Tagset</a:t>
            </a:r>
            <a:endParaRPr sz="2350"/>
          </a:p>
        </p:txBody>
      </p:sp>
      <p:pic>
        <p:nvPicPr>
          <p:cNvPr id="657" name="Google Shape;657;p61"/>
          <p:cNvPicPr preferRelativeResize="0"/>
          <p:nvPr/>
        </p:nvPicPr>
        <p:blipFill rotWithShape="1">
          <a:blip r:embed="rId3">
            <a:alphaModFix/>
          </a:blip>
          <a:srcRect/>
          <a:stretch/>
        </p:blipFill>
        <p:spPr>
          <a:xfrm>
            <a:off x="1011936" y="1965960"/>
            <a:ext cx="7383779" cy="4750308"/>
          </a:xfrm>
          <a:prstGeom prst="rect">
            <a:avLst/>
          </a:prstGeom>
          <a:noFill/>
          <a:ln>
            <a:noFill/>
          </a:ln>
        </p:spPr>
      </p:pic>
      <p:sp>
        <p:nvSpPr>
          <p:cNvPr id="658" name="Google Shape;658;p61"/>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55</a:t>
            </a:fld>
            <a:endParaRPr/>
          </a:p>
        </p:txBody>
      </p:sp>
    </p:spTree>
    <p:extLst>
      <p:ext uri="{BB962C8B-B14F-4D97-AF65-F5344CB8AC3E}">
        <p14:creationId xmlns:p14="http://schemas.microsoft.com/office/powerpoint/2010/main" val="131092795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662"/>
        <p:cNvGrpSpPr/>
        <p:nvPr/>
      </p:nvGrpSpPr>
      <p:grpSpPr>
        <a:xfrm>
          <a:off x="0" y="0"/>
          <a:ext cx="0" cy="0"/>
          <a:chOff x="0" y="0"/>
          <a:chExt cx="0" cy="0"/>
        </a:xfrm>
      </p:grpSpPr>
      <p:sp>
        <p:nvSpPr>
          <p:cNvPr id="663" name="Google Shape;663;p62"/>
          <p:cNvSpPr txBox="1">
            <a:spLocks noGrp="1"/>
          </p:cNvSpPr>
          <p:nvPr>
            <p:ph type="title"/>
          </p:nvPr>
        </p:nvSpPr>
        <p:spPr>
          <a:xfrm>
            <a:off x="191770" y="1556003"/>
            <a:ext cx="6412230" cy="3759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2300"/>
              <a:t>Ex. The grand jury commented on a number of topics.</a:t>
            </a:r>
            <a:endParaRPr sz="2300"/>
          </a:p>
        </p:txBody>
      </p:sp>
      <p:sp>
        <p:nvSpPr>
          <p:cNvPr id="664" name="Google Shape;664;p62"/>
          <p:cNvSpPr txBox="1"/>
          <p:nvPr/>
        </p:nvSpPr>
        <p:spPr>
          <a:xfrm>
            <a:off x="191770" y="2274123"/>
            <a:ext cx="6154420" cy="1948180"/>
          </a:xfrm>
          <a:prstGeom prst="rect">
            <a:avLst/>
          </a:prstGeom>
          <a:noFill/>
          <a:ln>
            <a:noFill/>
          </a:ln>
        </p:spPr>
        <p:txBody>
          <a:bodyPr spcFirstLastPara="1" wrap="square" lIns="0" tIns="66675" rIns="0" bIns="0" anchor="t" anchorCtr="0">
            <a:spAutoFit/>
          </a:bodyPr>
          <a:lstStyle/>
          <a:p>
            <a:pPr marL="12700" marR="0" lvl="0" indent="0" algn="l" rtl="0">
              <a:lnSpc>
                <a:spcPct val="100000"/>
              </a:lnSpc>
              <a:spcBef>
                <a:spcPts val="0"/>
              </a:spcBef>
              <a:spcAft>
                <a:spcPts val="0"/>
              </a:spcAft>
              <a:buNone/>
            </a:pPr>
            <a:r>
              <a:rPr lang="en-US" sz="2300">
                <a:solidFill>
                  <a:schemeClr val="dk1"/>
                </a:solidFill>
                <a:latin typeface="Calibri"/>
                <a:ea typeface="Calibri"/>
                <a:cs typeface="Calibri"/>
                <a:sym typeface="Calibri"/>
              </a:rPr>
              <a:t>Tagging based on small 45-tag Penn Treebank tagset</a:t>
            </a:r>
            <a:endParaRPr sz="2300">
              <a:solidFill>
                <a:schemeClr val="dk1"/>
              </a:solidFill>
              <a:latin typeface="Calibri"/>
              <a:ea typeface="Calibri"/>
              <a:cs typeface="Calibri"/>
              <a:sym typeface="Calibri"/>
            </a:endParaRPr>
          </a:p>
          <a:p>
            <a:pPr marL="12700" marR="0" lvl="0" indent="0" algn="l" rtl="0">
              <a:lnSpc>
                <a:spcPct val="100000"/>
              </a:lnSpc>
              <a:spcBef>
                <a:spcPts val="310"/>
              </a:spcBef>
              <a:spcAft>
                <a:spcPts val="0"/>
              </a:spcAft>
              <a:buNone/>
            </a:pPr>
            <a:r>
              <a:rPr lang="en-US" sz="1650">
                <a:solidFill>
                  <a:schemeClr val="dk1"/>
                </a:solidFill>
                <a:latin typeface="Calibri"/>
                <a:ea typeface="Calibri"/>
                <a:cs typeface="Calibri"/>
                <a:sym typeface="Calibri"/>
              </a:rPr>
              <a:t>The – determiner /DT</a:t>
            </a:r>
            <a:endParaRPr sz="1650">
              <a:solidFill>
                <a:schemeClr val="dk1"/>
              </a:solidFill>
              <a:latin typeface="Calibri"/>
              <a:ea typeface="Calibri"/>
              <a:cs typeface="Calibri"/>
              <a:sym typeface="Calibri"/>
            </a:endParaRPr>
          </a:p>
          <a:p>
            <a:pPr marL="12700" marR="4403090" lvl="0" indent="0" algn="l" rtl="0">
              <a:lnSpc>
                <a:spcPct val="121800"/>
              </a:lnSpc>
              <a:spcBef>
                <a:spcPts val="5"/>
              </a:spcBef>
              <a:spcAft>
                <a:spcPts val="0"/>
              </a:spcAft>
              <a:buNone/>
            </a:pPr>
            <a:r>
              <a:rPr lang="en-US" sz="1650">
                <a:solidFill>
                  <a:schemeClr val="dk1"/>
                </a:solidFill>
                <a:latin typeface="Calibri"/>
                <a:ea typeface="Calibri"/>
                <a:cs typeface="Calibri"/>
                <a:sym typeface="Calibri"/>
              </a:rPr>
              <a:t>Grand – adjective /JJ  Jury – noun SG /NN</a:t>
            </a:r>
            <a:endParaRPr sz="1650">
              <a:solidFill>
                <a:schemeClr val="dk1"/>
              </a:solidFill>
              <a:latin typeface="Calibri"/>
              <a:ea typeface="Calibri"/>
              <a:cs typeface="Calibri"/>
              <a:sym typeface="Calibri"/>
            </a:endParaRPr>
          </a:p>
          <a:p>
            <a:pPr marL="12700" marR="3453129" lvl="0" indent="0" algn="l" rtl="0">
              <a:lnSpc>
                <a:spcPct val="121800"/>
              </a:lnSpc>
              <a:spcBef>
                <a:spcPts val="5"/>
              </a:spcBef>
              <a:spcAft>
                <a:spcPts val="0"/>
              </a:spcAft>
              <a:buNone/>
            </a:pPr>
            <a:r>
              <a:rPr lang="en-US" sz="1650">
                <a:solidFill>
                  <a:schemeClr val="dk1"/>
                </a:solidFill>
                <a:latin typeface="Calibri"/>
                <a:ea typeface="Calibri"/>
                <a:cs typeface="Calibri"/>
                <a:sym typeface="Calibri"/>
              </a:rPr>
              <a:t>Commented  - verb, past	/VBD  On – preposition /IN</a:t>
            </a:r>
            <a:endParaRPr sz="1650">
              <a:solidFill>
                <a:schemeClr val="dk1"/>
              </a:solidFill>
              <a:latin typeface="Calibri"/>
              <a:ea typeface="Calibri"/>
              <a:cs typeface="Calibri"/>
              <a:sym typeface="Calibri"/>
            </a:endParaRPr>
          </a:p>
        </p:txBody>
      </p:sp>
      <p:sp>
        <p:nvSpPr>
          <p:cNvPr id="665" name="Google Shape;665;p62"/>
          <p:cNvSpPr txBox="1"/>
          <p:nvPr/>
        </p:nvSpPr>
        <p:spPr>
          <a:xfrm>
            <a:off x="191770" y="5411215"/>
            <a:ext cx="9189085" cy="656590"/>
          </a:xfrm>
          <a:prstGeom prst="rect">
            <a:avLst/>
          </a:prstGeom>
          <a:noFill/>
          <a:ln>
            <a:noFill/>
          </a:ln>
        </p:spPr>
        <p:txBody>
          <a:bodyPr spcFirstLastPara="1" wrap="square" lIns="0" tIns="80000" rIns="0" bIns="0" anchor="t" anchorCtr="0">
            <a:spAutoFit/>
          </a:bodyPr>
          <a:lstStyle/>
          <a:p>
            <a:pPr marL="12700" marR="5080" lvl="0" indent="0" algn="l" rtl="0">
              <a:lnSpc>
                <a:spcPct val="96086"/>
              </a:lnSpc>
              <a:spcBef>
                <a:spcPts val="0"/>
              </a:spcBef>
              <a:spcAft>
                <a:spcPts val="0"/>
              </a:spcAft>
              <a:buNone/>
            </a:pPr>
            <a:r>
              <a:rPr lang="en-US" sz="2300">
                <a:solidFill>
                  <a:schemeClr val="dk1"/>
                </a:solidFill>
                <a:latin typeface="Calibri"/>
                <a:ea typeface="Calibri"/>
                <a:cs typeface="Calibri"/>
                <a:sym typeface="Calibri"/>
              </a:rPr>
              <a:t>The </a:t>
            </a:r>
            <a:r>
              <a:rPr lang="en-US" sz="2300">
                <a:solidFill>
                  <a:srgbClr val="BE0000"/>
                </a:solidFill>
                <a:latin typeface="Calibri"/>
                <a:ea typeface="Calibri"/>
                <a:cs typeface="Calibri"/>
                <a:sym typeface="Calibri"/>
              </a:rPr>
              <a:t>/DT </a:t>
            </a:r>
            <a:r>
              <a:rPr lang="en-US" sz="2300">
                <a:solidFill>
                  <a:schemeClr val="dk1"/>
                </a:solidFill>
                <a:latin typeface="Calibri"/>
                <a:ea typeface="Calibri"/>
                <a:cs typeface="Calibri"/>
                <a:sym typeface="Calibri"/>
              </a:rPr>
              <a:t>grand </a:t>
            </a:r>
            <a:r>
              <a:rPr lang="en-US" sz="2300">
                <a:solidFill>
                  <a:srgbClr val="BE0000"/>
                </a:solidFill>
                <a:latin typeface="Calibri"/>
                <a:ea typeface="Calibri"/>
                <a:cs typeface="Calibri"/>
                <a:sym typeface="Calibri"/>
              </a:rPr>
              <a:t>/JJ </a:t>
            </a:r>
            <a:r>
              <a:rPr lang="en-US" sz="2300">
                <a:solidFill>
                  <a:schemeClr val="dk1"/>
                </a:solidFill>
                <a:latin typeface="Calibri"/>
                <a:ea typeface="Calibri"/>
                <a:cs typeface="Calibri"/>
                <a:sym typeface="Calibri"/>
              </a:rPr>
              <a:t>jury </a:t>
            </a:r>
            <a:r>
              <a:rPr lang="en-US" sz="2300">
                <a:solidFill>
                  <a:srgbClr val="BE0000"/>
                </a:solidFill>
                <a:latin typeface="Calibri"/>
                <a:ea typeface="Calibri"/>
                <a:cs typeface="Calibri"/>
                <a:sym typeface="Calibri"/>
              </a:rPr>
              <a:t>/NN </a:t>
            </a:r>
            <a:r>
              <a:rPr lang="en-US" sz="2300">
                <a:solidFill>
                  <a:schemeClr val="dk1"/>
                </a:solidFill>
                <a:latin typeface="Calibri"/>
                <a:ea typeface="Calibri"/>
                <a:cs typeface="Calibri"/>
                <a:sym typeface="Calibri"/>
              </a:rPr>
              <a:t>commented </a:t>
            </a:r>
            <a:r>
              <a:rPr lang="en-US" sz="2300">
                <a:solidFill>
                  <a:srgbClr val="BE0000"/>
                </a:solidFill>
                <a:latin typeface="Calibri"/>
                <a:ea typeface="Calibri"/>
                <a:cs typeface="Calibri"/>
                <a:sym typeface="Calibri"/>
              </a:rPr>
              <a:t>/VBD </a:t>
            </a:r>
            <a:r>
              <a:rPr lang="en-US" sz="2300">
                <a:solidFill>
                  <a:schemeClr val="dk1"/>
                </a:solidFill>
                <a:latin typeface="Calibri"/>
                <a:ea typeface="Calibri"/>
                <a:cs typeface="Calibri"/>
                <a:sym typeface="Calibri"/>
              </a:rPr>
              <a:t>on </a:t>
            </a:r>
            <a:r>
              <a:rPr lang="en-US" sz="2300">
                <a:solidFill>
                  <a:srgbClr val="BE0000"/>
                </a:solidFill>
                <a:latin typeface="Calibri"/>
                <a:ea typeface="Calibri"/>
                <a:cs typeface="Calibri"/>
                <a:sym typeface="Calibri"/>
              </a:rPr>
              <a:t>/IN </a:t>
            </a:r>
            <a:r>
              <a:rPr lang="en-US" sz="2300">
                <a:solidFill>
                  <a:schemeClr val="dk1"/>
                </a:solidFill>
                <a:latin typeface="Calibri"/>
                <a:ea typeface="Calibri"/>
                <a:cs typeface="Calibri"/>
                <a:sym typeface="Calibri"/>
              </a:rPr>
              <a:t>a </a:t>
            </a:r>
            <a:r>
              <a:rPr lang="en-US" sz="2300">
                <a:solidFill>
                  <a:srgbClr val="BE0000"/>
                </a:solidFill>
                <a:latin typeface="Calibri"/>
                <a:ea typeface="Calibri"/>
                <a:cs typeface="Calibri"/>
                <a:sym typeface="Calibri"/>
              </a:rPr>
              <a:t>/DT </a:t>
            </a:r>
            <a:r>
              <a:rPr lang="en-US" sz="2300">
                <a:solidFill>
                  <a:schemeClr val="dk1"/>
                </a:solidFill>
                <a:latin typeface="Calibri"/>
                <a:ea typeface="Calibri"/>
                <a:cs typeface="Calibri"/>
                <a:sym typeface="Calibri"/>
              </a:rPr>
              <a:t>number </a:t>
            </a:r>
            <a:r>
              <a:rPr lang="en-US" sz="2300">
                <a:solidFill>
                  <a:srgbClr val="BE0000"/>
                </a:solidFill>
                <a:latin typeface="Calibri"/>
                <a:ea typeface="Calibri"/>
                <a:cs typeface="Calibri"/>
                <a:sym typeface="Calibri"/>
              </a:rPr>
              <a:t>/NN </a:t>
            </a:r>
            <a:r>
              <a:rPr lang="en-US" sz="2300">
                <a:solidFill>
                  <a:schemeClr val="dk1"/>
                </a:solidFill>
                <a:latin typeface="Calibri"/>
                <a:ea typeface="Calibri"/>
                <a:cs typeface="Calibri"/>
                <a:sym typeface="Calibri"/>
              </a:rPr>
              <a:t>of </a:t>
            </a:r>
            <a:r>
              <a:rPr lang="en-US" sz="2300">
                <a:solidFill>
                  <a:srgbClr val="BE0000"/>
                </a:solidFill>
                <a:latin typeface="Calibri"/>
                <a:ea typeface="Calibri"/>
                <a:cs typeface="Calibri"/>
                <a:sym typeface="Calibri"/>
              </a:rPr>
              <a:t>/IN  </a:t>
            </a:r>
            <a:r>
              <a:rPr lang="en-US" sz="2300">
                <a:solidFill>
                  <a:schemeClr val="dk1"/>
                </a:solidFill>
                <a:latin typeface="Calibri"/>
                <a:ea typeface="Calibri"/>
                <a:cs typeface="Calibri"/>
                <a:sym typeface="Calibri"/>
              </a:rPr>
              <a:t>topics </a:t>
            </a:r>
            <a:r>
              <a:rPr lang="en-US" sz="2300">
                <a:solidFill>
                  <a:srgbClr val="BE0000"/>
                </a:solidFill>
                <a:latin typeface="Calibri"/>
                <a:ea typeface="Calibri"/>
                <a:cs typeface="Calibri"/>
                <a:sym typeface="Calibri"/>
              </a:rPr>
              <a:t>/NNS</a:t>
            </a:r>
            <a:r>
              <a:rPr lang="en-US" sz="2300">
                <a:solidFill>
                  <a:schemeClr val="dk1"/>
                </a:solidFill>
                <a:latin typeface="Calibri"/>
                <a:ea typeface="Calibri"/>
                <a:cs typeface="Calibri"/>
                <a:sym typeface="Calibri"/>
              </a:rPr>
              <a:t>. </a:t>
            </a:r>
            <a:r>
              <a:rPr lang="en-US" sz="2300">
                <a:solidFill>
                  <a:srgbClr val="BE0000"/>
                </a:solidFill>
                <a:latin typeface="Calibri"/>
                <a:ea typeface="Calibri"/>
                <a:cs typeface="Calibri"/>
                <a:sym typeface="Calibri"/>
              </a:rPr>
              <a:t>/.</a:t>
            </a:r>
            <a:endParaRPr sz="2300">
              <a:solidFill>
                <a:schemeClr val="dk1"/>
              </a:solidFill>
              <a:latin typeface="Calibri"/>
              <a:ea typeface="Calibri"/>
              <a:cs typeface="Calibri"/>
              <a:sym typeface="Calibri"/>
            </a:endParaRPr>
          </a:p>
        </p:txBody>
      </p:sp>
      <p:sp>
        <p:nvSpPr>
          <p:cNvPr id="666" name="Google Shape;666;p62"/>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56</a:t>
            </a:fld>
            <a:endParaRPr/>
          </a:p>
        </p:txBody>
      </p:sp>
    </p:spTree>
    <p:extLst>
      <p:ext uri="{BB962C8B-B14F-4D97-AF65-F5344CB8AC3E}">
        <p14:creationId xmlns:p14="http://schemas.microsoft.com/office/powerpoint/2010/main" val="418240174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sp>
        <p:nvSpPr>
          <p:cNvPr id="671" name="Google Shape;671;p63"/>
          <p:cNvSpPr txBox="1">
            <a:spLocks noGrp="1"/>
          </p:cNvSpPr>
          <p:nvPr>
            <p:ph type="title"/>
          </p:nvPr>
        </p:nvSpPr>
        <p:spPr>
          <a:xfrm>
            <a:off x="194818" y="1077722"/>
            <a:ext cx="8231505" cy="1016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350"/>
              <a:t>Exercise</a:t>
            </a:r>
            <a:endParaRPr sz="2350"/>
          </a:p>
          <a:p>
            <a:pPr marL="12700" marR="5080" lvl="0" indent="0" algn="l" rtl="0">
              <a:lnSpc>
                <a:spcPct val="80000"/>
              </a:lnSpc>
              <a:spcBef>
                <a:spcPts val="560"/>
              </a:spcBef>
              <a:spcAft>
                <a:spcPts val="0"/>
              </a:spcAft>
              <a:buNone/>
            </a:pPr>
            <a:r>
              <a:rPr lang="en-US" sz="2300"/>
              <a:t>A part-of-speech tagger is a piece of software that reads text in some  language and decides category.</a:t>
            </a:r>
            <a:endParaRPr sz="2300"/>
          </a:p>
        </p:txBody>
      </p:sp>
      <p:pic>
        <p:nvPicPr>
          <p:cNvPr id="672" name="Google Shape;672;p63"/>
          <p:cNvPicPr preferRelativeResize="0"/>
          <p:nvPr/>
        </p:nvPicPr>
        <p:blipFill rotWithShape="1">
          <a:blip r:embed="rId3">
            <a:alphaModFix/>
          </a:blip>
          <a:srcRect/>
          <a:stretch/>
        </p:blipFill>
        <p:spPr>
          <a:xfrm>
            <a:off x="915924" y="2356104"/>
            <a:ext cx="7738872" cy="4360164"/>
          </a:xfrm>
          <a:prstGeom prst="rect">
            <a:avLst/>
          </a:prstGeom>
          <a:noFill/>
          <a:ln>
            <a:noFill/>
          </a:ln>
        </p:spPr>
      </p:pic>
      <p:sp>
        <p:nvSpPr>
          <p:cNvPr id="673" name="Google Shape;673;p63"/>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57</a:t>
            </a:fld>
            <a:endParaRPr/>
          </a:p>
        </p:txBody>
      </p:sp>
    </p:spTree>
    <p:extLst>
      <p:ext uri="{BB962C8B-B14F-4D97-AF65-F5344CB8AC3E}">
        <p14:creationId xmlns:p14="http://schemas.microsoft.com/office/powerpoint/2010/main" val="367894310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p64"/>
          <p:cNvSpPr txBox="1"/>
          <p:nvPr/>
        </p:nvSpPr>
        <p:spPr>
          <a:xfrm>
            <a:off x="353313" y="1416007"/>
            <a:ext cx="1763395" cy="4635500"/>
          </a:xfrm>
          <a:prstGeom prst="rect">
            <a:avLst/>
          </a:prstGeom>
          <a:noFill/>
          <a:ln>
            <a:noFill/>
          </a:ln>
        </p:spPr>
        <p:txBody>
          <a:bodyPr spcFirstLastPara="1" wrap="square" lIns="0" tIns="90150" rIns="0" bIns="0" anchor="t" anchorCtr="0">
            <a:spAutoFit/>
          </a:bodyPr>
          <a:lstStyle/>
          <a:p>
            <a:pPr marL="12700" marR="0" lvl="0" indent="0" algn="l" rtl="0">
              <a:lnSpc>
                <a:spcPct val="100000"/>
              </a:lnSpc>
              <a:spcBef>
                <a:spcPts val="0"/>
              </a:spcBef>
              <a:spcAft>
                <a:spcPts val="0"/>
              </a:spcAft>
              <a:buNone/>
            </a:pPr>
            <a:r>
              <a:rPr lang="en-US" sz="1650">
                <a:solidFill>
                  <a:schemeClr val="dk1"/>
                </a:solidFill>
                <a:latin typeface="Calibri"/>
                <a:ea typeface="Calibri"/>
                <a:cs typeface="Calibri"/>
                <a:sym typeface="Calibri"/>
              </a:rPr>
              <a:t>A /DT</a:t>
            </a:r>
            <a:endParaRPr sz="1650">
              <a:solidFill>
                <a:schemeClr val="dk1"/>
              </a:solidFill>
              <a:latin typeface="Calibri"/>
              <a:ea typeface="Calibri"/>
              <a:cs typeface="Calibri"/>
              <a:sym typeface="Calibri"/>
            </a:endParaRPr>
          </a:p>
          <a:p>
            <a:pPr marL="12700" marR="5080" lvl="0" indent="0" algn="l" rtl="0">
              <a:lnSpc>
                <a:spcPct val="157575"/>
              </a:lnSpc>
              <a:spcBef>
                <a:spcPts val="175"/>
              </a:spcBef>
              <a:spcAft>
                <a:spcPts val="0"/>
              </a:spcAft>
              <a:buNone/>
            </a:pPr>
            <a:r>
              <a:rPr lang="en-US" sz="1650">
                <a:solidFill>
                  <a:schemeClr val="dk1"/>
                </a:solidFill>
                <a:latin typeface="Calibri"/>
                <a:ea typeface="Calibri"/>
                <a:cs typeface="Calibri"/>
                <a:sym typeface="Calibri"/>
              </a:rPr>
              <a:t>Part-Of-Speech/NNP  Tagger/NNP</a:t>
            </a:r>
            <a:endParaRPr sz="1650">
              <a:solidFill>
                <a:schemeClr val="dk1"/>
              </a:solidFill>
              <a:latin typeface="Calibri"/>
              <a:ea typeface="Calibri"/>
              <a:cs typeface="Calibri"/>
              <a:sym typeface="Calibri"/>
            </a:endParaRPr>
          </a:p>
          <a:p>
            <a:pPr marL="12700" marR="1205865" lvl="0" indent="0" algn="l" rtl="0">
              <a:lnSpc>
                <a:spcPct val="120900"/>
              </a:lnSpc>
              <a:spcBef>
                <a:spcPts val="15"/>
              </a:spcBef>
              <a:spcAft>
                <a:spcPts val="0"/>
              </a:spcAft>
              <a:buNone/>
            </a:pPr>
            <a:r>
              <a:rPr lang="en-US" sz="1650">
                <a:solidFill>
                  <a:schemeClr val="dk1"/>
                </a:solidFill>
                <a:latin typeface="Calibri"/>
                <a:ea typeface="Calibri"/>
                <a:cs typeface="Calibri"/>
                <a:sym typeface="Calibri"/>
              </a:rPr>
              <a:t>is/VBZ  a/DT</a:t>
            </a:r>
            <a:endParaRPr sz="1650">
              <a:solidFill>
                <a:schemeClr val="dk1"/>
              </a:solidFill>
              <a:latin typeface="Calibri"/>
              <a:ea typeface="Calibri"/>
              <a:cs typeface="Calibri"/>
              <a:sym typeface="Calibri"/>
            </a:endParaRPr>
          </a:p>
          <a:p>
            <a:pPr marL="12700" marR="625475" lvl="0" indent="0" algn="l" rtl="0">
              <a:lnSpc>
                <a:spcPct val="132000"/>
              </a:lnSpc>
              <a:spcBef>
                <a:spcPts val="0"/>
              </a:spcBef>
              <a:spcAft>
                <a:spcPts val="0"/>
              </a:spcAft>
              <a:buNone/>
            </a:pPr>
            <a:r>
              <a:rPr lang="en-US" sz="1650">
                <a:solidFill>
                  <a:schemeClr val="dk1"/>
                </a:solidFill>
                <a:latin typeface="Calibri"/>
                <a:ea typeface="Calibri"/>
                <a:cs typeface="Calibri"/>
                <a:sym typeface="Calibri"/>
              </a:rPr>
              <a:t>piece/NN  of/IN  software/NN  that/WDT  reads/VBZ  text/NN  in/IN  some/DT  language/NN</a:t>
            </a:r>
            <a:endParaRPr sz="1650">
              <a:solidFill>
                <a:schemeClr val="dk1"/>
              </a:solidFill>
              <a:latin typeface="Calibri"/>
              <a:ea typeface="Calibri"/>
              <a:cs typeface="Calibri"/>
              <a:sym typeface="Calibri"/>
            </a:endParaRPr>
          </a:p>
        </p:txBody>
      </p:sp>
      <p:sp>
        <p:nvSpPr>
          <p:cNvPr id="679" name="Google Shape;679;p64"/>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58</a:t>
            </a:fld>
            <a:endParaRPr/>
          </a:p>
        </p:txBody>
      </p:sp>
    </p:spTree>
    <p:extLst>
      <p:ext uri="{BB962C8B-B14F-4D97-AF65-F5344CB8AC3E}">
        <p14:creationId xmlns:p14="http://schemas.microsoft.com/office/powerpoint/2010/main" val="84329884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683"/>
        <p:cNvGrpSpPr/>
        <p:nvPr/>
      </p:nvGrpSpPr>
      <p:grpSpPr>
        <a:xfrm>
          <a:off x="0" y="0"/>
          <a:ext cx="0" cy="0"/>
          <a:chOff x="0" y="0"/>
          <a:chExt cx="0" cy="0"/>
        </a:xfrm>
      </p:grpSpPr>
      <p:sp>
        <p:nvSpPr>
          <p:cNvPr id="684" name="Google Shape;684;p65"/>
          <p:cNvSpPr txBox="1">
            <a:spLocks noGrp="1"/>
          </p:cNvSpPr>
          <p:nvPr>
            <p:ph type="title"/>
          </p:nvPr>
        </p:nvSpPr>
        <p:spPr>
          <a:xfrm>
            <a:off x="570609" y="653787"/>
            <a:ext cx="5199569" cy="47561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950" dirty="0"/>
              <a:t>Algorithms for POS tagging</a:t>
            </a:r>
            <a:endParaRPr sz="2950" dirty="0"/>
          </a:p>
        </p:txBody>
      </p:sp>
      <p:sp>
        <p:nvSpPr>
          <p:cNvPr id="685" name="Google Shape;685;p65"/>
          <p:cNvSpPr txBox="1"/>
          <p:nvPr/>
        </p:nvSpPr>
        <p:spPr>
          <a:xfrm>
            <a:off x="349630" y="1384101"/>
            <a:ext cx="8695690" cy="2424751"/>
          </a:xfrm>
          <a:prstGeom prst="rect">
            <a:avLst/>
          </a:prstGeom>
          <a:noFill/>
          <a:ln>
            <a:noFill/>
          </a:ln>
        </p:spPr>
        <p:txBody>
          <a:bodyPr spcFirstLastPara="1" wrap="square" lIns="0" tIns="78725" rIns="0" bIns="0" anchor="t" anchorCtr="0">
            <a:spAutoFit/>
          </a:bodyPr>
          <a:lstStyle/>
          <a:p>
            <a:pPr marL="201295" marR="0" lvl="0" indent="-189230" algn="l" rtl="0">
              <a:lnSpc>
                <a:spcPct val="100000"/>
              </a:lnSpc>
              <a:spcBef>
                <a:spcPts val="0"/>
              </a:spcBef>
              <a:spcAft>
                <a:spcPts val="0"/>
              </a:spcAft>
              <a:buClr>
                <a:schemeClr val="dk1"/>
              </a:buClr>
              <a:buSzPts val="1950"/>
              <a:buFont typeface="Arial"/>
              <a:buChar char="•"/>
            </a:pPr>
            <a:r>
              <a:rPr lang="en-US" sz="1950" dirty="0">
                <a:solidFill>
                  <a:schemeClr val="dk1"/>
                </a:solidFill>
                <a:latin typeface="Calibri"/>
                <a:ea typeface="Calibri"/>
                <a:cs typeface="Calibri"/>
                <a:sym typeface="Calibri"/>
              </a:rPr>
              <a:t>Rule based algorithms – work with a database of hand-written disambiguation rules</a:t>
            </a:r>
            <a:endParaRPr sz="1950" dirty="0">
              <a:solidFill>
                <a:schemeClr val="dk1"/>
              </a:solidFill>
              <a:latin typeface="Calibri"/>
              <a:ea typeface="Calibri"/>
              <a:cs typeface="Calibri"/>
              <a:sym typeface="Calibri"/>
            </a:endParaRPr>
          </a:p>
          <a:p>
            <a:pPr marL="1097915" marR="2667635" lvl="0" indent="-897254" algn="l" rtl="0">
              <a:lnSpc>
                <a:spcPct val="158181"/>
              </a:lnSpc>
              <a:spcBef>
                <a:spcPts val="5"/>
              </a:spcBef>
              <a:spcAft>
                <a:spcPts val="0"/>
              </a:spcAft>
              <a:buNone/>
            </a:pPr>
            <a:r>
              <a:rPr lang="en-US" sz="1800" dirty="0">
                <a:solidFill>
                  <a:schemeClr val="dk1"/>
                </a:solidFill>
                <a:latin typeface="Calibri"/>
                <a:ea typeface="Calibri"/>
                <a:cs typeface="Calibri"/>
                <a:sym typeface="Calibri"/>
              </a:rPr>
              <a:t>-Stage 1 – assigns a potential </a:t>
            </a:r>
            <a:r>
              <a:rPr lang="en-US" sz="1800" dirty="0" err="1">
                <a:solidFill>
                  <a:schemeClr val="dk1"/>
                </a:solidFill>
                <a:latin typeface="Calibri"/>
                <a:ea typeface="Calibri"/>
                <a:cs typeface="Calibri"/>
                <a:sym typeface="Calibri"/>
              </a:rPr>
              <a:t>pos</a:t>
            </a:r>
            <a:r>
              <a:rPr lang="en-US" sz="1800" dirty="0">
                <a:solidFill>
                  <a:schemeClr val="dk1"/>
                </a:solidFill>
                <a:latin typeface="Calibri"/>
                <a:ea typeface="Calibri"/>
                <a:cs typeface="Calibri"/>
                <a:sym typeface="Calibri"/>
              </a:rPr>
              <a:t> tag to each word using a dictionary  uses 2-level transducer to return all possible </a:t>
            </a:r>
            <a:r>
              <a:rPr lang="en-US" sz="1800" dirty="0" err="1">
                <a:solidFill>
                  <a:schemeClr val="dk1"/>
                </a:solidFill>
                <a:latin typeface="Calibri"/>
                <a:ea typeface="Calibri"/>
                <a:cs typeface="Calibri"/>
                <a:sym typeface="Calibri"/>
              </a:rPr>
              <a:t>pos</a:t>
            </a:r>
            <a:r>
              <a:rPr lang="en-US" sz="1800" dirty="0">
                <a:solidFill>
                  <a:schemeClr val="dk1"/>
                </a:solidFill>
                <a:latin typeface="Calibri"/>
                <a:ea typeface="Calibri"/>
                <a:cs typeface="Calibri"/>
                <a:sym typeface="Calibri"/>
              </a:rPr>
              <a:t> of a </a:t>
            </a:r>
            <a:r>
              <a:rPr lang="en-US" sz="1800" dirty="0" smtClean="0">
                <a:solidFill>
                  <a:schemeClr val="dk1"/>
                </a:solidFill>
                <a:latin typeface="Calibri"/>
                <a:ea typeface="Calibri"/>
                <a:cs typeface="Calibri"/>
                <a:sym typeface="Calibri"/>
              </a:rPr>
              <a:t>word</a:t>
            </a:r>
          </a:p>
          <a:p>
            <a:pPr marL="1521460" marR="69215" lvl="0" indent="-1320800" algn="l" rtl="0">
              <a:lnSpc>
                <a:spcPct val="109090"/>
              </a:lnSpc>
              <a:spcBef>
                <a:spcPts val="960"/>
              </a:spcBef>
              <a:spcAft>
                <a:spcPts val="0"/>
              </a:spcAft>
              <a:buNone/>
            </a:pPr>
            <a:r>
              <a:rPr lang="en-US" sz="1800" dirty="0" smtClean="0">
                <a:solidFill>
                  <a:schemeClr val="dk1"/>
                </a:solidFill>
                <a:latin typeface="Calibri"/>
                <a:ea typeface="Calibri"/>
                <a:cs typeface="Calibri"/>
                <a:sym typeface="Calibri"/>
              </a:rPr>
              <a:t>-</a:t>
            </a:r>
            <a:r>
              <a:rPr lang="en-US" sz="1800" dirty="0">
                <a:solidFill>
                  <a:schemeClr val="dk1"/>
                </a:solidFill>
                <a:latin typeface="Calibri"/>
                <a:ea typeface="Calibri"/>
                <a:cs typeface="Calibri"/>
                <a:sym typeface="Calibri"/>
              </a:rPr>
              <a:t>Stage 2 – uses a list of hand-written disambiguation rules to narrow down this list to a single </a:t>
            </a:r>
            <a:r>
              <a:rPr lang="en-US" sz="1800" dirty="0" err="1">
                <a:solidFill>
                  <a:schemeClr val="dk1"/>
                </a:solidFill>
                <a:latin typeface="Calibri"/>
                <a:ea typeface="Calibri"/>
                <a:cs typeface="Calibri"/>
                <a:sym typeface="Calibri"/>
              </a:rPr>
              <a:t>pos</a:t>
            </a:r>
            <a:r>
              <a:rPr lang="en-US" sz="1800" dirty="0">
                <a:solidFill>
                  <a:schemeClr val="dk1"/>
                </a:solidFill>
                <a:latin typeface="Calibri"/>
                <a:ea typeface="Calibri"/>
                <a:cs typeface="Calibri"/>
                <a:sym typeface="Calibri"/>
              </a:rPr>
              <a:t> to  each word</a:t>
            </a:r>
            <a:endParaRPr sz="1800" dirty="0">
              <a:solidFill>
                <a:schemeClr val="dk1"/>
              </a:solidFill>
              <a:latin typeface="Calibri"/>
              <a:ea typeface="Calibri"/>
              <a:cs typeface="Calibri"/>
              <a:sym typeface="Calibri"/>
            </a:endParaRPr>
          </a:p>
        </p:txBody>
      </p:sp>
      <p:sp>
        <p:nvSpPr>
          <p:cNvPr id="686" name="Google Shape;686;p65"/>
          <p:cNvSpPr txBox="1"/>
          <p:nvPr/>
        </p:nvSpPr>
        <p:spPr>
          <a:xfrm>
            <a:off x="349630" y="4580854"/>
            <a:ext cx="8839200" cy="2101779"/>
          </a:xfrm>
          <a:prstGeom prst="rect">
            <a:avLst/>
          </a:prstGeom>
          <a:noFill/>
          <a:ln>
            <a:noFill/>
          </a:ln>
        </p:spPr>
        <p:txBody>
          <a:bodyPr spcFirstLastPara="1" wrap="square" lIns="0" tIns="46975" rIns="0" bIns="0" anchor="t" anchorCtr="0">
            <a:spAutoFit/>
          </a:bodyPr>
          <a:lstStyle/>
          <a:p>
            <a:pPr marL="201295" marR="5080" lvl="0" indent="-189230" algn="l" rtl="0">
              <a:lnSpc>
                <a:spcPct val="107692"/>
              </a:lnSpc>
              <a:spcBef>
                <a:spcPts val="0"/>
              </a:spcBef>
              <a:spcAft>
                <a:spcPts val="0"/>
              </a:spcAft>
              <a:buClr>
                <a:schemeClr val="dk1"/>
              </a:buClr>
              <a:buSzPts val="1950"/>
              <a:buFont typeface="Arial"/>
              <a:buChar char="•"/>
            </a:pPr>
            <a:r>
              <a:rPr lang="en-US" sz="1950" dirty="0">
                <a:solidFill>
                  <a:schemeClr val="dk1"/>
                </a:solidFill>
                <a:latin typeface="Calibri"/>
                <a:ea typeface="Calibri"/>
                <a:cs typeface="Calibri"/>
                <a:sym typeface="Calibri"/>
              </a:rPr>
              <a:t>Probabilistic / Stochastic taggers – use a training corpus to compute the probability of  a given word having a given tag in a given context</a:t>
            </a:r>
            <a:endParaRPr sz="1950" dirty="0">
              <a:solidFill>
                <a:schemeClr val="dk1"/>
              </a:solidFill>
              <a:latin typeface="Calibri"/>
              <a:ea typeface="Calibri"/>
              <a:cs typeface="Calibri"/>
              <a:sym typeface="Calibri"/>
            </a:endParaRPr>
          </a:p>
          <a:p>
            <a:pPr marL="201295" marR="0" lvl="0" indent="-189230" algn="l" rtl="0">
              <a:lnSpc>
                <a:spcPct val="118717"/>
              </a:lnSpc>
              <a:spcBef>
                <a:spcPts val="130"/>
              </a:spcBef>
              <a:spcAft>
                <a:spcPts val="0"/>
              </a:spcAft>
              <a:buClr>
                <a:schemeClr val="dk1"/>
              </a:buClr>
              <a:buSzPts val="1950"/>
              <a:buFont typeface="Arial"/>
              <a:buChar char="•"/>
            </a:pPr>
            <a:r>
              <a:rPr lang="en-US" sz="1950" dirty="0">
                <a:solidFill>
                  <a:schemeClr val="dk1"/>
                </a:solidFill>
                <a:latin typeface="Calibri"/>
                <a:ea typeface="Calibri"/>
                <a:cs typeface="Calibri"/>
                <a:sym typeface="Calibri"/>
              </a:rPr>
              <a:t>[</a:t>
            </a:r>
            <a:r>
              <a:rPr lang="en-US" sz="1800" dirty="0">
                <a:solidFill>
                  <a:schemeClr val="dk1"/>
                </a:solidFill>
                <a:latin typeface="Calibri"/>
                <a:ea typeface="Calibri"/>
                <a:cs typeface="Calibri"/>
                <a:sym typeface="Calibri"/>
              </a:rPr>
              <a:t>The simplest stochastic taggers </a:t>
            </a:r>
            <a:r>
              <a:rPr lang="en-US" sz="1800" b="1" dirty="0">
                <a:solidFill>
                  <a:schemeClr val="dk1"/>
                </a:solidFill>
                <a:latin typeface="Calibri"/>
                <a:ea typeface="Calibri"/>
                <a:cs typeface="Calibri"/>
                <a:sym typeface="Calibri"/>
              </a:rPr>
              <a:t>disambiguate words based solely on the probability that a</a:t>
            </a:r>
            <a:endParaRPr sz="1800" dirty="0">
              <a:solidFill>
                <a:schemeClr val="dk1"/>
              </a:solidFill>
              <a:latin typeface="Calibri"/>
              <a:ea typeface="Calibri"/>
              <a:cs typeface="Calibri"/>
              <a:sym typeface="Calibri"/>
            </a:endParaRPr>
          </a:p>
          <a:p>
            <a:pPr marL="201295" marR="0" lvl="0" indent="0" algn="l" rtl="0">
              <a:lnSpc>
                <a:spcPct val="118611"/>
              </a:lnSpc>
              <a:spcBef>
                <a:spcPts val="0"/>
              </a:spcBef>
              <a:spcAft>
                <a:spcPts val="0"/>
              </a:spcAft>
              <a:buNone/>
            </a:pPr>
            <a:r>
              <a:rPr lang="en-US" sz="1800" b="1" dirty="0">
                <a:solidFill>
                  <a:schemeClr val="dk1"/>
                </a:solidFill>
                <a:latin typeface="Calibri"/>
                <a:ea typeface="Calibri"/>
                <a:cs typeface="Calibri"/>
                <a:sym typeface="Calibri"/>
              </a:rPr>
              <a:t>word occurs with a particular tag</a:t>
            </a:r>
            <a:r>
              <a:rPr lang="en-US" sz="1800" dirty="0">
                <a:solidFill>
                  <a:schemeClr val="dk1"/>
                </a:solidFill>
                <a:latin typeface="Calibri"/>
                <a:ea typeface="Calibri"/>
                <a:cs typeface="Calibri"/>
                <a:sym typeface="Calibri"/>
              </a:rPr>
              <a:t>. </a:t>
            </a:r>
            <a:r>
              <a:rPr lang="en-US" sz="1800" dirty="0" smtClean="0">
                <a:solidFill>
                  <a:schemeClr val="dk1"/>
                </a:solidFill>
                <a:latin typeface="Calibri"/>
                <a:ea typeface="Calibri"/>
                <a:cs typeface="Calibri"/>
                <a:sym typeface="Calibri"/>
              </a:rPr>
              <a:t>]</a:t>
            </a:r>
          </a:p>
          <a:p>
            <a:pPr marL="201295" marR="0" lvl="0" indent="0" algn="l" rtl="0">
              <a:lnSpc>
                <a:spcPct val="118611"/>
              </a:lnSpc>
              <a:spcBef>
                <a:spcPts val="0"/>
              </a:spcBef>
              <a:spcAft>
                <a:spcPts val="0"/>
              </a:spcAft>
              <a:buNone/>
            </a:pPr>
            <a:endParaRPr sz="1800" dirty="0">
              <a:solidFill>
                <a:schemeClr val="dk1"/>
              </a:solidFill>
              <a:latin typeface="Calibri"/>
              <a:ea typeface="Calibri"/>
              <a:cs typeface="Calibri"/>
              <a:sym typeface="Calibri"/>
            </a:endParaRPr>
          </a:p>
          <a:p>
            <a:pPr marL="181610" marR="0" lvl="0" indent="0" algn="l" rtl="0">
              <a:lnSpc>
                <a:spcPct val="100000"/>
              </a:lnSpc>
              <a:spcBef>
                <a:spcPts val="590"/>
              </a:spcBef>
              <a:spcAft>
                <a:spcPts val="0"/>
              </a:spcAft>
              <a:buNone/>
            </a:pPr>
            <a:r>
              <a:rPr lang="en-US" sz="1950" dirty="0" err="1">
                <a:solidFill>
                  <a:schemeClr val="dk1"/>
                </a:solidFill>
                <a:latin typeface="Calibri"/>
                <a:ea typeface="Calibri"/>
                <a:cs typeface="Calibri"/>
                <a:sym typeface="Calibri"/>
              </a:rPr>
              <a:t>eg</a:t>
            </a:r>
            <a:r>
              <a:rPr lang="en-US" sz="1950" dirty="0">
                <a:solidFill>
                  <a:schemeClr val="dk1"/>
                </a:solidFill>
                <a:latin typeface="Calibri"/>
                <a:ea typeface="Calibri"/>
                <a:cs typeface="Calibri"/>
                <a:sym typeface="Calibri"/>
              </a:rPr>
              <a:t>. HMM tagger</a:t>
            </a:r>
            <a:endParaRPr sz="1950" dirty="0">
              <a:solidFill>
                <a:schemeClr val="dk1"/>
              </a:solidFill>
              <a:latin typeface="Calibri"/>
              <a:ea typeface="Calibri"/>
              <a:cs typeface="Calibri"/>
              <a:sym typeface="Calibri"/>
            </a:endParaRPr>
          </a:p>
        </p:txBody>
      </p:sp>
      <p:sp>
        <p:nvSpPr>
          <p:cNvPr id="687" name="Google Shape;687;p65"/>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59</a:t>
            </a:fld>
            <a:endParaRPr/>
          </a:p>
        </p:txBody>
      </p:sp>
    </p:spTree>
    <p:extLst>
      <p:ext uri="{BB962C8B-B14F-4D97-AF65-F5344CB8AC3E}">
        <p14:creationId xmlns:p14="http://schemas.microsoft.com/office/powerpoint/2010/main" val="329621363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691"/>
        <p:cNvGrpSpPr/>
        <p:nvPr/>
      </p:nvGrpSpPr>
      <p:grpSpPr>
        <a:xfrm>
          <a:off x="0" y="0"/>
          <a:ext cx="0" cy="0"/>
          <a:chOff x="0" y="0"/>
          <a:chExt cx="0" cy="0"/>
        </a:xfrm>
      </p:grpSpPr>
      <p:sp>
        <p:nvSpPr>
          <p:cNvPr id="692" name="Google Shape;692;p66"/>
          <p:cNvSpPr txBox="1"/>
          <p:nvPr/>
        </p:nvSpPr>
        <p:spPr>
          <a:xfrm>
            <a:off x="624714" y="708519"/>
            <a:ext cx="6617334" cy="628377"/>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2000" dirty="0">
                <a:solidFill>
                  <a:schemeClr val="dk1"/>
                </a:solidFill>
                <a:latin typeface="Calibri"/>
                <a:ea typeface="Calibri"/>
                <a:cs typeface="Calibri"/>
                <a:sym typeface="Calibri"/>
              </a:rPr>
              <a:t>The table below shows the amount of tag ambiguity for word types in the Brown corpus</a:t>
            </a:r>
            <a:endParaRPr sz="2000" dirty="0">
              <a:solidFill>
                <a:schemeClr val="dk1"/>
              </a:solidFill>
              <a:latin typeface="Calibri"/>
              <a:ea typeface="Calibri"/>
              <a:cs typeface="Calibri"/>
              <a:sym typeface="Calibri"/>
            </a:endParaRPr>
          </a:p>
        </p:txBody>
      </p:sp>
      <p:pic>
        <p:nvPicPr>
          <p:cNvPr id="693" name="Google Shape;693;p66"/>
          <p:cNvPicPr preferRelativeResize="0"/>
          <p:nvPr/>
        </p:nvPicPr>
        <p:blipFill rotWithShape="1">
          <a:blip r:embed="rId3">
            <a:alphaModFix/>
          </a:blip>
          <a:srcRect/>
          <a:stretch/>
        </p:blipFill>
        <p:spPr>
          <a:xfrm>
            <a:off x="624714" y="1608083"/>
            <a:ext cx="7809838" cy="4753093"/>
          </a:xfrm>
          <a:prstGeom prst="rect">
            <a:avLst/>
          </a:prstGeom>
          <a:noFill/>
          <a:ln>
            <a:noFill/>
          </a:ln>
        </p:spPr>
      </p:pic>
      <p:sp>
        <p:nvSpPr>
          <p:cNvPr id="694" name="Google Shape;694;p66"/>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60</a:t>
            </a:fld>
            <a:endParaRPr/>
          </a:p>
        </p:txBody>
      </p:sp>
    </p:spTree>
    <p:extLst>
      <p:ext uri="{BB962C8B-B14F-4D97-AF65-F5344CB8AC3E}">
        <p14:creationId xmlns:p14="http://schemas.microsoft.com/office/powerpoint/2010/main" val="347772015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p53"/>
          <p:cNvSpPr txBox="1">
            <a:spLocks noGrp="1"/>
          </p:cNvSpPr>
          <p:nvPr>
            <p:ph type="body" idx="1"/>
          </p:nvPr>
        </p:nvSpPr>
        <p:spPr>
          <a:xfrm>
            <a:off x="381000" y="685800"/>
            <a:ext cx="9031605" cy="6894195"/>
          </a:xfrm>
          <a:prstGeom prst="rect">
            <a:avLst/>
          </a:prstGeom>
          <a:noFill/>
          <a:ln>
            <a:noFill/>
          </a:ln>
        </p:spPr>
        <p:txBody>
          <a:bodyPr spcFirstLastPara="1" wrap="square" lIns="0" tIns="0" rIns="0" bIns="0" anchor="t" anchorCtr="0">
            <a:spAutoFit/>
          </a:bodyPr>
          <a:lstStyle/>
          <a:p>
            <a:pPr marL="0" lvl="0" indent="0" algn="just" rtl="0">
              <a:spcBef>
                <a:spcPts val="0"/>
              </a:spcBef>
              <a:spcAft>
                <a:spcPts val="0"/>
              </a:spcAft>
              <a:buNone/>
            </a:pPr>
            <a:r>
              <a:rPr lang="en-US" sz="3200" b="1" dirty="0">
                <a:latin typeface="Times New Roman"/>
                <a:ea typeface="Times New Roman"/>
                <a:cs typeface="Times New Roman"/>
                <a:sym typeface="Times New Roman"/>
              </a:rPr>
              <a:t>Named-entity recognition</a:t>
            </a:r>
            <a:r>
              <a:rPr lang="en-US" sz="3200" dirty="0">
                <a:latin typeface="Times New Roman"/>
                <a:ea typeface="Times New Roman"/>
                <a:cs typeface="Times New Roman"/>
                <a:sym typeface="Times New Roman"/>
              </a:rPr>
              <a:t> (</a:t>
            </a:r>
            <a:r>
              <a:rPr lang="en-US" sz="3200" b="1" dirty="0">
                <a:latin typeface="Times New Roman"/>
                <a:ea typeface="Times New Roman"/>
                <a:cs typeface="Times New Roman"/>
                <a:sym typeface="Times New Roman"/>
              </a:rPr>
              <a:t>NER</a:t>
            </a:r>
            <a:r>
              <a:rPr lang="en-US" sz="3200" dirty="0">
                <a:latin typeface="Times New Roman"/>
                <a:ea typeface="Times New Roman"/>
                <a:cs typeface="Times New Roman"/>
                <a:sym typeface="Times New Roman"/>
              </a:rPr>
              <a:t>) (also known as </a:t>
            </a:r>
            <a:r>
              <a:rPr lang="en-US" sz="3200" b="1" dirty="0">
                <a:latin typeface="Times New Roman"/>
                <a:ea typeface="Times New Roman"/>
                <a:cs typeface="Times New Roman"/>
                <a:sym typeface="Times New Roman"/>
              </a:rPr>
              <a:t>(named)</a:t>
            </a:r>
            <a:r>
              <a:rPr lang="en-US" sz="3200" dirty="0">
                <a:latin typeface="Times New Roman"/>
                <a:ea typeface="Times New Roman"/>
                <a:cs typeface="Times New Roman"/>
                <a:sym typeface="Times New Roman"/>
              </a:rPr>
              <a:t> </a:t>
            </a:r>
            <a:r>
              <a:rPr lang="en-US" sz="3200" b="1" dirty="0">
                <a:latin typeface="Times New Roman"/>
                <a:ea typeface="Times New Roman"/>
                <a:cs typeface="Times New Roman"/>
                <a:sym typeface="Times New Roman"/>
              </a:rPr>
              <a:t>entity identification</a:t>
            </a:r>
            <a:r>
              <a:rPr lang="en-US" sz="3200" dirty="0">
                <a:latin typeface="Times New Roman"/>
                <a:ea typeface="Times New Roman"/>
                <a:cs typeface="Times New Roman"/>
                <a:sym typeface="Times New Roman"/>
              </a:rPr>
              <a:t>, </a:t>
            </a:r>
            <a:r>
              <a:rPr lang="en-US" sz="3200" b="1" dirty="0">
                <a:latin typeface="Times New Roman"/>
                <a:ea typeface="Times New Roman"/>
                <a:cs typeface="Times New Roman"/>
                <a:sym typeface="Times New Roman"/>
              </a:rPr>
              <a:t>entity chunking</a:t>
            </a:r>
            <a:r>
              <a:rPr lang="en-US" sz="3200" dirty="0">
                <a:latin typeface="Times New Roman"/>
                <a:ea typeface="Times New Roman"/>
                <a:cs typeface="Times New Roman"/>
                <a:sym typeface="Times New Roman"/>
              </a:rPr>
              <a:t>, and </a:t>
            </a:r>
            <a:r>
              <a:rPr lang="en-US" sz="3200" b="1" dirty="0">
                <a:latin typeface="Times New Roman"/>
                <a:ea typeface="Times New Roman"/>
                <a:cs typeface="Times New Roman"/>
                <a:sym typeface="Times New Roman"/>
              </a:rPr>
              <a:t>entity extraction</a:t>
            </a:r>
            <a:r>
              <a:rPr lang="en-US" sz="3200" dirty="0">
                <a:latin typeface="Times New Roman"/>
                <a:ea typeface="Times New Roman"/>
                <a:cs typeface="Times New Roman"/>
                <a:sym typeface="Times New Roman"/>
              </a:rPr>
              <a:t>) is a subtask of </a:t>
            </a:r>
            <a:r>
              <a:rPr lang="en-US" sz="3200" u="sng" dirty="0">
                <a:solidFill>
                  <a:schemeClr val="hlink"/>
                </a:solidFill>
                <a:latin typeface="Times New Roman"/>
                <a:ea typeface="Times New Roman"/>
                <a:cs typeface="Times New Roman"/>
                <a:sym typeface="Times New Roman"/>
                <a:hlinkClick r:id="rId3"/>
              </a:rPr>
              <a:t>information extraction</a:t>
            </a:r>
            <a:r>
              <a:rPr lang="en-US" sz="3200" dirty="0">
                <a:latin typeface="Times New Roman"/>
                <a:ea typeface="Times New Roman"/>
                <a:cs typeface="Times New Roman"/>
                <a:sym typeface="Times New Roman"/>
              </a:rPr>
              <a:t> that seeks to locate and classify </a:t>
            </a:r>
            <a:r>
              <a:rPr lang="en-US" sz="3200" u="sng" dirty="0">
                <a:solidFill>
                  <a:schemeClr val="hlink"/>
                </a:solidFill>
                <a:latin typeface="Times New Roman"/>
                <a:ea typeface="Times New Roman"/>
                <a:cs typeface="Times New Roman"/>
                <a:sym typeface="Times New Roman"/>
                <a:hlinkClick r:id="rId4"/>
              </a:rPr>
              <a:t>named entities</a:t>
            </a:r>
            <a:r>
              <a:rPr lang="en-US" sz="3200" dirty="0">
                <a:latin typeface="Times New Roman"/>
                <a:ea typeface="Times New Roman"/>
                <a:cs typeface="Times New Roman"/>
                <a:sym typeface="Times New Roman"/>
              </a:rPr>
              <a:t> mentioned in </a:t>
            </a:r>
            <a:r>
              <a:rPr lang="en-US" sz="3200" u="sng" dirty="0">
                <a:solidFill>
                  <a:schemeClr val="hlink"/>
                </a:solidFill>
                <a:latin typeface="Times New Roman"/>
                <a:ea typeface="Times New Roman"/>
                <a:cs typeface="Times New Roman"/>
                <a:sym typeface="Times New Roman"/>
                <a:hlinkClick r:id="rId5"/>
              </a:rPr>
              <a:t>unstructured text</a:t>
            </a:r>
            <a:r>
              <a:rPr lang="en-US" sz="3200" dirty="0">
                <a:latin typeface="Times New Roman"/>
                <a:ea typeface="Times New Roman"/>
                <a:cs typeface="Times New Roman"/>
                <a:sym typeface="Times New Roman"/>
              </a:rPr>
              <a:t> into pre-defined categories such as </a:t>
            </a:r>
            <a:endParaRPr dirty="0"/>
          </a:p>
          <a:p>
            <a:pPr marL="0" lvl="0" indent="0" algn="just" rtl="0">
              <a:spcBef>
                <a:spcPts val="0"/>
              </a:spcBef>
              <a:spcAft>
                <a:spcPts val="0"/>
              </a:spcAft>
              <a:buNone/>
            </a:pPr>
            <a:r>
              <a:rPr lang="en-US" sz="3200" dirty="0">
                <a:latin typeface="Times New Roman"/>
                <a:ea typeface="Times New Roman"/>
                <a:cs typeface="Times New Roman"/>
                <a:sym typeface="Times New Roman"/>
              </a:rPr>
              <a:t>person names, </a:t>
            </a:r>
            <a:endParaRPr dirty="0"/>
          </a:p>
          <a:p>
            <a:pPr marL="0" lvl="0" indent="0" algn="just" rtl="0">
              <a:spcBef>
                <a:spcPts val="0"/>
              </a:spcBef>
              <a:spcAft>
                <a:spcPts val="0"/>
              </a:spcAft>
              <a:buNone/>
            </a:pPr>
            <a:r>
              <a:rPr lang="en-US" sz="3200" dirty="0">
                <a:latin typeface="Times New Roman"/>
                <a:ea typeface="Times New Roman"/>
                <a:cs typeface="Times New Roman"/>
                <a:sym typeface="Times New Roman"/>
              </a:rPr>
              <a:t>organizations, </a:t>
            </a:r>
            <a:endParaRPr dirty="0"/>
          </a:p>
          <a:p>
            <a:pPr marL="0" lvl="0" indent="0" algn="just" rtl="0">
              <a:spcBef>
                <a:spcPts val="0"/>
              </a:spcBef>
              <a:spcAft>
                <a:spcPts val="0"/>
              </a:spcAft>
              <a:buNone/>
            </a:pPr>
            <a:r>
              <a:rPr lang="en-US" sz="3200" dirty="0">
                <a:latin typeface="Times New Roman"/>
                <a:ea typeface="Times New Roman"/>
                <a:cs typeface="Times New Roman"/>
                <a:sym typeface="Times New Roman"/>
              </a:rPr>
              <a:t>locations, </a:t>
            </a:r>
            <a:endParaRPr dirty="0"/>
          </a:p>
          <a:p>
            <a:pPr marL="0" lvl="0" indent="0" algn="just" rtl="0">
              <a:spcBef>
                <a:spcPts val="0"/>
              </a:spcBef>
              <a:spcAft>
                <a:spcPts val="0"/>
              </a:spcAft>
              <a:buNone/>
            </a:pPr>
            <a:r>
              <a:rPr lang="en-US" sz="3200" u="sng" dirty="0">
                <a:solidFill>
                  <a:schemeClr val="hlink"/>
                </a:solidFill>
                <a:latin typeface="Times New Roman"/>
                <a:ea typeface="Times New Roman"/>
                <a:cs typeface="Times New Roman"/>
                <a:sym typeface="Times New Roman"/>
                <a:hlinkClick r:id="rId6"/>
              </a:rPr>
              <a:t>medical codes</a:t>
            </a:r>
            <a:r>
              <a:rPr lang="en-US" sz="3200" dirty="0">
                <a:latin typeface="Times New Roman"/>
                <a:ea typeface="Times New Roman"/>
                <a:cs typeface="Times New Roman"/>
                <a:sym typeface="Times New Roman"/>
              </a:rPr>
              <a:t>, </a:t>
            </a:r>
            <a:endParaRPr dirty="0"/>
          </a:p>
          <a:p>
            <a:pPr marL="0" lvl="0" indent="0" algn="just" rtl="0">
              <a:spcBef>
                <a:spcPts val="0"/>
              </a:spcBef>
              <a:spcAft>
                <a:spcPts val="0"/>
              </a:spcAft>
              <a:buNone/>
            </a:pPr>
            <a:r>
              <a:rPr lang="en-US" sz="3200" dirty="0">
                <a:latin typeface="Times New Roman"/>
                <a:ea typeface="Times New Roman"/>
                <a:cs typeface="Times New Roman"/>
                <a:sym typeface="Times New Roman"/>
              </a:rPr>
              <a:t>time expressions, </a:t>
            </a:r>
            <a:endParaRPr dirty="0"/>
          </a:p>
          <a:p>
            <a:pPr marL="0" lvl="0" indent="0" algn="just" rtl="0">
              <a:spcBef>
                <a:spcPts val="0"/>
              </a:spcBef>
              <a:spcAft>
                <a:spcPts val="0"/>
              </a:spcAft>
              <a:buNone/>
            </a:pPr>
            <a:r>
              <a:rPr lang="en-US" sz="3200" dirty="0">
                <a:latin typeface="Times New Roman"/>
                <a:ea typeface="Times New Roman"/>
                <a:cs typeface="Times New Roman"/>
                <a:sym typeface="Times New Roman"/>
              </a:rPr>
              <a:t>quantities, </a:t>
            </a:r>
            <a:endParaRPr dirty="0"/>
          </a:p>
          <a:p>
            <a:pPr marL="0" lvl="0" indent="0" algn="just" rtl="0">
              <a:spcBef>
                <a:spcPts val="0"/>
              </a:spcBef>
              <a:spcAft>
                <a:spcPts val="0"/>
              </a:spcAft>
              <a:buNone/>
            </a:pPr>
            <a:r>
              <a:rPr lang="en-US" sz="3200" dirty="0">
                <a:latin typeface="Times New Roman"/>
                <a:ea typeface="Times New Roman"/>
                <a:cs typeface="Times New Roman"/>
                <a:sym typeface="Times New Roman"/>
              </a:rPr>
              <a:t>monetary values, </a:t>
            </a:r>
            <a:endParaRPr dirty="0"/>
          </a:p>
          <a:p>
            <a:pPr marL="0" lvl="0" indent="0" algn="just" rtl="0">
              <a:spcBef>
                <a:spcPts val="0"/>
              </a:spcBef>
              <a:spcAft>
                <a:spcPts val="0"/>
              </a:spcAft>
              <a:buNone/>
            </a:pPr>
            <a:r>
              <a:rPr lang="en-US" sz="3200" dirty="0">
                <a:latin typeface="Times New Roman"/>
                <a:ea typeface="Times New Roman"/>
                <a:cs typeface="Times New Roman"/>
                <a:sym typeface="Times New Roman"/>
              </a:rPr>
              <a:t>percentages, etc.</a:t>
            </a:r>
            <a:endParaRPr sz="3200" dirty="0">
              <a:latin typeface="Times New Roman"/>
              <a:ea typeface="Times New Roman"/>
              <a:cs typeface="Times New Roman"/>
              <a:sym typeface="Times New Roman"/>
            </a:endParaRPr>
          </a:p>
        </p:txBody>
      </p:sp>
      <p:sp>
        <p:nvSpPr>
          <p:cNvPr id="601" name="Google Shape;601;p53"/>
          <p:cNvSpPr txBox="1"/>
          <p:nvPr/>
        </p:nvSpPr>
        <p:spPr>
          <a:xfrm>
            <a:off x="709294" y="168342"/>
            <a:ext cx="8375015"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200" b="1" i="0">
                <a:solidFill>
                  <a:schemeClr val="dk2"/>
                </a:solidFill>
                <a:latin typeface="Calibri"/>
                <a:ea typeface="Calibri"/>
                <a:cs typeface="Calibri"/>
                <a:sym typeface="Calibri"/>
              </a:rPr>
              <a:t>Named Entities</a:t>
            </a:r>
            <a:endParaRPr/>
          </a:p>
        </p:txBody>
      </p:sp>
      <p:sp>
        <p:nvSpPr>
          <p:cNvPr id="602" name="Google Shape;602;p53"/>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61</a:t>
            </a:fld>
            <a:endParaRPr/>
          </a:p>
        </p:txBody>
      </p:sp>
    </p:spTree>
    <p:extLst>
      <p:ext uri="{BB962C8B-B14F-4D97-AF65-F5344CB8AC3E}">
        <p14:creationId xmlns:p14="http://schemas.microsoft.com/office/powerpoint/2010/main" val="659070542"/>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606"/>
        <p:cNvGrpSpPr/>
        <p:nvPr/>
      </p:nvGrpSpPr>
      <p:grpSpPr>
        <a:xfrm>
          <a:off x="0" y="0"/>
          <a:ext cx="0" cy="0"/>
          <a:chOff x="0" y="0"/>
          <a:chExt cx="0" cy="0"/>
        </a:xfrm>
      </p:grpSpPr>
      <p:sp>
        <p:nvSpPr>
          <p:cNvPr id="607" name="Google Shape;607;p54"/>
          <p:cNvSpPr txBox="1">
            <a:spLocks noGrp="1"/>
          </p:cNvSpPr>
          <p:nvPr>
            <p:ph type="title"/>
          </p:nvPr>
        </p:nvSpPr>
        <p:spPr>
          <a:xfrm>
            <a:off x="314452" y="389856"/>
            <a:ext cx="8375015" cy="492443"/>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sz="3200" b="1"/>
              <a:t>NER </a:t>
            </a:r>
            <a:endParaRPr/>
          </a:p>
        </p:txBody>
      </p:sp>
      <p:sp>
        <p:nvSpPr>
          <p:cNvPr id="608" name="Google Shape;608;p54"/>
          <p:cNvSpPr txBox="1">
            <a:spLocks noGrp="1"/>
          </p:cNvSpPr>
          <p:nvPr>
            <p:ph type="body" idx="1"/>
          </p:nvPr>
        </p:nvSpPr>
        <p:spPr>
          <a:xfrm>
            <a:off x="314452" y="2009140"/>
            <a:ext cx="9031605" cy="2548254"/>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endParaRPr/>
          </a:p>
        </p:txBody>
      </p:sp>
      <p:pic>
        <p:nvPicPr>
          <p:cNvPr id="609" name="Google Shape;609;p54" descr="https://www.mdpi.com/applsci/applsci-10-02303/article_deploy/html/images/applsci-10-02303-g001.png"/>
          <p:cNvPicPr preferRelativeResize="0"/>
          <p:nvPr/>
        </p:nvPicPr>
        <p:blipFill rotWithShape="1">
          <a:blip r:embed="rId3">
            <a:alphaModFix/>
          </a:blip>
          <a:srcRect/>
          <a:stretch/>
        </p:blipFill>
        <p:spPr>
          <a:xfrm>
            <a:off x="0" y="1070102"/>
            <a:ext cx="10058400" cy="6546850"/>
          </a:xfrm>
          <a:prstGeom prst="rect">
            <a:avLst/>
          </a:prstGeom>
          <a:noFill/>
          <a:ln>
            <a:noFill/>
          </a:ln>
        </p:spPr>
      </p:pic>
      <p:sp>
        <p:nvSpPr>
          <p:cNvPr id="610" name="Google Shape;610;p54"/>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62</a:t>
            </a:fld>
            <a:endParaRPr/>
          </a:p>
        </p:txBody>
      </p:sp>
    </p:spTree>
    <p:extLst>
      <p:ext uri="{BB962C8B-B14F-4D97-AF65-F5344CB8AC3E}">
        <p14:creationId xmlns:p14="http://schemas.microsoft.com/office/powerpoint/2010/main" val="733349838"/>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615" name="Google Shape;615;p55"/>
          <p:cNvSpPr txBox="1">
            <a:spLocks noGrp="1"/>
          </p:cNvSpPr>
          <p:nvPr>
            <p:ph type="title"/>
          </p:nvPr>
        </p:nvSpPr>
        <p:spPr>
          <a:xfrm>
            <a:off x="642746" y="265867"/>
            <a:ext cx="8375015" cy="407804"/>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dirty="0"/>
              <a:t>Example of NER</a:t>
            </a:r>
            <a:endParaRPr dirty="0"/>
          </a:p>
        </p:txBody>
      </p:sp>
      <p:sp>
        <p:nvSpPr>
          <p:cNvPr id="616" name="Google Shape;616;p55"/>
          <p:cNvSpPr txBox="1">
            <a:spLocks noGrp="1"/>
          </p:cNvSpPr>
          <p:nvPr>
            <p:ph type="body" idx="1"/>
          </p:nvPr>
        </p:nvSpPr>
        <p:spPr>
          <a:xfrm>
            <a:off x="314452" y="2009140"/>
            <a:ext cx="9031605" cy="2548254"/>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endParaRPr/>
          </a:p>
        </p:txBody>
      </p:sp>
      <p:pic>
        <p:nvPicPr>
          <p:cNvPr id="617" name="Google Shape;617;p55"/>
          <p:cNvPicPr preferRelativeResize="0"/>
          <p:nvPr/>
        </p:nvPicPr>
        <p:blipFill rotWithShape="1">
          <a:blip r:embed="rId3">
            <a:alphaModFix/>
          </a:blip>
          <a:srcRect/>
          <a:stretch/>
        </p:blipFill>
        <p:spPr>
          <a:xfrm>
            <a:off x="304800" y="988504"/>
            <a:ext cx="9753600" cy="6434138"/>
          </a:xfrm>
          <a:prstGeom prst="rect">
            <a:avLst/>
          </a:prstGeom>
          <a:noFill/>
          <a:ln>
            <a:noFill/>
          </a:ln>
        </p:spPr>
      </p:pic>
      <p:sp>
        <p:nvSpPr>
          <p:cNvPr id="618" name="Google Shape;618;p55"/>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63</a:t>
            </a:fld>
            <a:endParaRPr/>
          </a:p>
        </p:txBody>
      </p:sp>
    </p:spTree>
    <p:extLst>
      <p:ext uri="{BB962C8B-B14F-4D97-AF65-F5344CB8AC3E}">
        <p14:creationId xmlns:p14="http://schemas.microsoft.com/office/powerpoint/2010/main" val="200728092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622"/>
        <p:cNvGrpSpPr/>
        <p:nvPr/>
      </p:nvGrpSpPr>
      <p:grpSpPr>
        <a:xfrm>
          <a:off x="0" y="0"/>
          <a:ext cx="0" cy="0"/>
          <a:chOff x="0" y="0"/>
          <a:chExt cx="0" cy="0"/>
        </a:xfrm>
      </p:grpSpPr>
      <p:sp>
        <p:nvSpPr>
          <p:cNvPr id="623" name="Google Shape;623;p56"/>
          <p:cNvSpPr txBox="1">
            <a:spLocks noGrp="1"/>
          </p:cNvSpPr>
          <p:nvPr>
            <p:ph type="title"/>
          </p:nvPr>
        </p:nvSpPr>
        <p:spPr>
          <a:xfrm>
            <a:off x="274614" y="219275"/>
            <a:ext cx="8375100" cy="492443"/>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sz="3200" dirty="0"/>
              <a:t>HMM</a:t>
            </a:r>
            <a:r>
              <a:rPr lang="en-US" dirty="0"/>
              <a:t> </a:t>
            </a:r>
            <a:endParaRPr dirty="0"/>
          </a:p>
        </p:txBody>
      </p:sp>
      <p:sp>
        <p:nvSpPr>
          <p:cNvPr id="624" name="Google Shape;624;p56"/>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64</a:t>
            </a:fld>
            <a:endParaRPr/>
          </a:p>
        </p:txBody>
      </p:sp>
      <p:sp>
        <p:nvSpPr>
          <p:cNvPr id="625" name="Google Shape;625;p56"/>
          <p:cNvSpPr txBox="1"/>
          <p:nvPr/>
        </p:nvSpPr>
        <p:spPr>
          <a:xfrm>
            <a:off x="276180" y="711718"/>
            <a:ext cx="9279300" cy="5706147"/>
          </a:xfrm>
          <a:prstGeom prst="rect">
            <a:avLst/>
          </a:prstGeom>
          <a:noFill/>
          <a:ln>
            <a:noFill/>
          </a:ln>
        </p:spPr>
        <p:txBody>
          <a:bodyPr spcFirstLastPara="1" wrap="square" lIns="91425" tIns="91425" rIns="91425" bIns="91425" anchor="t" anchorCtr="0">
            <a:spAutoFit/>
          </a:bodyPr>
          <a:lstStyle/>
          <a:p>
            <a:pPr marL="342900" lvl="0" indent="-342900" algn="just" rtl="0">
              <a:lnSpc>
                <a:spcPct val="115000"/>
              </a:lnSpc>
              <a:spcBef>
                <a:spcPts val="0"/>
              </a:spcBef>
              <a:spcAft>
                <a:spcPts val="0"/>
              </a:spcAft>
              <a:buFont typeface="Arial" panose="020B0604020202020204" pitchFamily="34" charset="0"/>
              <a:buChar char="•"/>
            </a:pPr>
            <a:r>
              <a:rPr lang="en-US" sz="1950" dirty="0">
                <a:solidFill>
                  <a:srgbClr val="273239"/>
                </a:solidFill>
                <a:highlight>
                  <a:srgbClr val="FFFFFF"/>
                </a:highlight>
                <a:latin typeface="Nunito"/>
                <a:ea typeface="Nunito"/>
                <a:cs typeface="Nunito"/>
                <a:sym typeface="Nunito"/>
              </a:rPr>
              <a:t>A statistical model called a Hidden Markov Model (HMM) is used to describe systems with changing </a:t>
            </a:r>
            <a:r>
              <a:rPr lang="en-US" sz="1950" dirty="0" smtClean="0">
                <a:solidFill>
                  <a:srgbClr val="273239"/>
                </a:solidFill>
                <a:highlight>
                  <a:srgbClr val="FFFFFF"/>
                </a:highlight>
                <a:latin typeface="Nunito"/>
                <a:ea typeface="Nunito"/>
                <a:cs typeface="Nunito"/>
                <a:sym typeface="Nunito"/>
              </a:rPr>
              <a:t>un-observable </a:t>
            </a:r>
            <a:r>
              <a:rPr lang="en-US" sz="1950" dirty="0">
                <a:solidFill>
                  <a:srgbClr val="273239"/>
                </a:solidFill>
                <a:highlight>
                  <a:srgbClr val="FFFFFF"/>
                </a:highlight>
                <a:latin typeface="Nunito"/>
                <a:ea typeface="Nunito"/>
                <a:cs typeface="Nunito"/>
                <a:sym typeface="Nunito"/>
              </a:rPr>
              <a:t>states over time. </a:t>
            </a:r>
            <a:endParaRPr lang="en-US" sz="1950" dirty="0" smtClean="0">
              <a:solidFill>
                <a:srgbClr val="273239"/>
              </a:solidFill>
              <a:highlight>
                <a:srgbClr val="FFFFFF"/>
              </a:highlight>
              <a:latin typeface="Nunito"/>
              <a:ea typeface="Nunito"/>
              <a:cs typeface="Nunito"/>
              <a:sym typeface="Nunito"/>
            </a:endParaRPr>
          </a:p>
          <a:p>
            <a:pPr marL="342900" lvl="0" indent="-342900" algn="just" rtl="0">
              <a:lnSpc>
                <a:spcPct val="115000"/>
              </a:lnSpc>
              <a:spcBef>
                <a:spcPts val="0"/>
              </a:spcBef>
              <a:spcAft>
                <a:spcPts val="0"/>
              </a:spcAft>
              <a:buFont typeface="Arial" panose="020B0604020202020204" pitchFamily="34" charset="0"/>
              <a:buChar char="•"/>
            </a:pPr>
            <a:r>
              <a:rPr lang="en-US" sz="1950" dirty="0" smtClean="0">
                <a:solidFill>
                  <a:srgbClr val="273239"/>
                </a:solidFill>
                <a:highlight>
                  <a:srgbClr val="FFFFFF"/>
                </a:highlight>
                <a:latin typeface="Nunito"/>
                <a:ea typeface="Nunito"/>
                <a:cs typeface="Nunito"/>
                <a:sym typeface="Nunito"/>
              </a:rPr>
              <a:t>It </a:t>
            </a:r>
            <a:r>
              <a:rPr lang="en-US" sz="1950" dirty="0">
                <a:solidFill>
                  <a:srgbClr val="273239"/>
                </a:solidFill>
                <a:highlight>
                  <a:srgbClr val="FFFFFF"/>
                </a:highlight>
                <a:latin typeface="Nunito"/>
                <a:ea typeface="Nunito"/>
                <a:cs typeface="Nunito"/>
                <a:sym typeface="Nunito"/>
              </a:rPr>
              <a:t>is predicated on the idea that there is an underlying process with concealed states, each of which has a known result. </a:t>
            </a:r>
            <a:endParaRPr lang="en-US" sz="1950" dirty="0" smtClean="0">
              <a:solidFill>
                <a:srgbClr val="273239"/>
              </a:solidFill>
              <a:highlight>
                <a:srgbClr val="FFFFFF"/>
              </a:highlight>
              <a:latin typeface="Nunito"/>
              <a:ea typeface="Nunito"/>
              <a:cs typeface="Nunito"/>
              <a:sym typeface="Nunito"/>
            </a:endParaRPr>
          </a:p>
          <a:p>
            <a:pPr marL="342900" lvl="0" indent="-342900" algn="just" rtl="0">
              <a:lnSpc>
                <a:spcPct val="115000"/>
              </a:lnSpc>
              <a:spcBef>
                <a:spcPts val="0"/>
              </a:spcBef>
              <a:spcAft>
                <a:spcPts val="0"/>
              </a:spcAft>
              <a:buFont typeface="Arial" panose="020B0604020202020204" pitchFamily="34" charset="0"/>
              <a:buChar char="•"/>
            </a:pPr>
            <a:r>
              <a:rPr lang="en-US" sz="1950" dirty="0" smtClean="0">
                <a:solidFill>
                  <a:srgbClr val="273239"/>
                </a:solidFill>
                <a:highlight>
                  <a:srgbClr val="FFFFFF"/>
                </a:highlight>
                <a:latin typeface="Nunito"/>
                <a:ea typeface="Nunito"/>
                <a:cs typeface="Nunito"/>
                <a:sym typeface="Nunito"/>
              </a:rPr>
              <a:t>Probabilities </a:t>
            </a:r>
            <a:r>
              <a:rPr lang="en-US" sz="1950" dirty="0">
                <a:solidFill>
                  <a:srgbClr val="273239"/>
                </a:solidFill>
                <a:highlight>
                  <a:srgbClr val="FFFFFF"/>
                </a:highlight>
                <a:latin typeface="Nunito"/>
                <a:ea typeface="Nunito"/>
                <a:cs typeface="Nunito"/>
                <a:sym typeface="Nunito"/>
              </a:rPr>
              <a:t>for switching between concealed states and emitting observable symbols are defined by the model</a:t>
            </a:r>
            <a:r>
              <a:rPr lang="en-US" sz="1950" dirty="0" smtClean="0">
                <a:solidFill>
                  <a:srgbClr val="273239"/>
                </a:solidFill>
                <a:highlight>
                  <a:srgbClr val="FFFFFF"/>
                </a:highlight>
                <a:latin typeface="Nunito"/>
                <a:ea typeface="Nunito"/>
                <a:cs typeface="Nunito"/>
                <a:sym typeface="Nunito"/>
              </a:rPr>
              <a:t>.</a:t>
            </a:r>
          </a:p>
          <a:p>
            <a:pPr marL="342900" indent="-342900" algn="just">
              <a:lnSpc>
                <a:spcPct val="115000"/>
              </a:lnSpc>
              <a:buFont typeface="Arial" panose="020B0604020202020204" pitchFamily="34" charset="0"/>
              <a:buChar char="•"/>
            </a:pPr>
            <a:r>
              <a:rPr lang="en-US" sz="1950" dirty="0">
                <a:solidFill>
                  <a:srgbClr val="273239"/>
                </a:solidFill>
                <a:highlight>
                  <a:srgbClr val="FFFFFF"/>
                </a:highlight>
                <a:latin typeface="Nunito"/>
                <a:ea typeface="Nunito"/>
                <a:cs typeface="Nunito"/>
              </a:rPr>
              <a:t>HMMs are referred to as “hidden” because only the observations themselves are directly visible, not the underlying sequence of states that produced them</a:t>
            </a:r>
            <a:r>
              <a:rPr lang="en-US" sz="1950" dirty="0" smtClean="0">
                <a:solidFill>
                  <a:srgbClr val="273239"/>
                </a:solidFill>
                <a:highlight>
                  <a:srgbClr val="FFFFFF"/>
                </a:highlight>
                <a:latin typeface="Nunito"/>
                <a:ea typeface="Nunito"/>
                <a:cs typeface="Nunito"/>
              </a:rPr>
              <a:t>.</a:t>
            </a:r>
          </a:p>
          <a:p>
            <a:pPr marL="342900" indent="-342900" algn="just">
              <a:lnSpc>
                <a:spcPct val="115000"/>
              </a:lnSpc>
              <a:buFont typeface="Arial" panose="020B0604020202020204" pitchFamily="34" charset="0"/>
              <a:buChar char="•"/>
            </a:pPr>
            <a:r>
              <a:rPr lang="en-US" sz="1950" dirty="0">
                <a:solidFill>
                  <a:srgbClr val="273239"/>
                </a:solidFill>
                <a:highlight>
                  <a:srgbClr val="FFFFFF"/>
                </a:highlight>
                <a:latin typeface="Nunito"/>
                <a:ea typeface="Nunito"/>
                <a:cs typeface="Nunito"/>
              </a:rPr>
              <a:t>A probability distribution over the potential observations is connected to each state. </a:t>
            </a:r>
            <a:r>
              <a:rPr lang="en-US" sz="1950" dirty="0">
                <a:solidFill>
                  <a:srgbClr val="273239"/>
                </a:solidFill>
                <a:highlight>
                  <a:srgbClr val="FFFFFF"/>
                </a:highlight>
                <a:latin typeface="Nunito"/>
                <a:ea typeface="Nunito"/>
                <a:cs typeface="Nunito"/>
              </a:rPr>
              <a:t>The model generates an observation according to the probability distribution for the state it is in at each time step</a:t>
            </a:r>
            <a:r>
              <a:rPr lang="en-US" sz="1950" dirty="0" smtClean="0">
                <a:solidFill>
                  <a:srgbClr val="273239"/>
                </a:solidFill>
                <a:highlight>
                  <a:srgbClr val="FFFFFF"/>
                </a:highlight>
                <a:latin typeface="Nunito"/>
                <a:ea typeface="Nunito"/>
                <a:cs typeface="Nunito"/>
              </a:rPr>
              <a:t>.</a:t>
            </a:r>
          </a:p>
          <a:p>
            <a:pPr marL="342900" indent="-342900" algn="just">
              <a:lnSpc>
                <a:spcPct val="115000"/>
              </a:lnSpc>
              <a:buFont typeface="Arial" panose="020B0604020202020204" pitchFamily="34" charset="0"/>
              <a:buChar char="•"/>
            </a:pPr>
            <a:r>
              <a:rPr lang="en-US" sz="1950" dirty="0">
                <a:solidFill>
                  <a:srgbClr val="273239"/>
                </a:solidFill>
                <a:highlight>
                  <a:srgbClr val="FFFFFF"/>
                </a:highlight>
                <a:latin typeface="Nunito"/>
                <a:ea typeface="Nunito"/>
                <a:cs typeface="Nunito"/>
              </a:rPr>
              <a:t>According to first-order Markov Assumption -The weather condition on the nth day is only dependent on the weather of (n-1)</a:t>
            </a:r>
            <a:r>
              <a:rPr lang="en-US" sz="1950" dirty="0" err="1">
                <a:solidFill>
                  <a:srgbClr val="273239"/>
                </a:solidFill>
                <a:highlight>
                  <a:srgbClr val="FFFFFF"/>
                </a:highlight>
                <a:latin typeface="Nunito"/>
                <a:ea typeface="Nunito"/>
                <a:cs typeface="Nunito"/>
              </a:rPr>
              <a:t>th</a:t>
            </a:r>
            <a:r>
              <a:rPr lang="en-US" sz="1950" dirty="0">
                <a:solidFill>
                  <a:srgbClr val="273239"/>
                </a:solidFill>
                <a:highlight>
                  <a:srgbClr val="FFFFFF"/>
                </a:highlight>
                <a:latin typeface="Nunito"/>
                <a:ea typeface="Nunito"/>
                <a:cs typeface="Nunito"/>
              </a:rPr>
              <a:t> day. i.e. tomorrow’s weather is only dependent on today’s weather conditions only. </a:t>
            </a:r>
            <a:r>
              <a:rPr lang="en-US" sz="1950" dirty="0">
                <a:solidFill>
                  <a:srgbClr val="273239"/>
                </a:solidFill>
                <a:highlight>
                  <a:srgbClr val="FFFFFF"/>
                </a:highlight>
                <a:latin typeface="Nunito"/>
                <a:ea typeface="Nunito"/>
                <a:cs typeface="Nunito"/>
              </a:rPr>
              <a:t>This can be mathematically written as</a:t>
            </a:r>
            <a:r>
              <a:rPr lang="en-US" sz="1950" dirty="0" smtClean="0">
                <a:solidFill>
                  <a:srgbClr val="273239"/>
                </a:solidFill>
                <a:highlight>
                  <a:srgbClr val="FFFFFF"/>
                </a:highlight>
                <a:latin typeface="Nunito"/>
                <a:ea typeface="Nunito"/>
                <a:cs typeface="Nunito"/>
              </a:rPr>
              <a:t>:</a:t>
            </a:r>
          </a:p>
          <a:p>
            <a:pPr marL="342900" indent="-342900" algn="just">
              <a:lnSpc>
                <a:spcPct val="115000"/>
              </a:lnSpc>
              <a:buFont typeface="Arial" panose="020B0604020202020204" pitchFamily="34" charset="0"/>
              <a:buChar char="•"/>
            </a:pPr>
            <a:endParaRPr sz="1950" dirty="0">
              <a:solidFill>
                <a:srgbClr val="273239"/>
              </a:solidFill>
              <a:highlight>
                <a:srgbClr val="FFFFFF"/>
              </a:highlight>
              <a:latin typeface="Nunito"/>
              <a:ea typeface="Nunito"/>
              <a:cs typeface="Nunito"/>
              <a:sym typeface="Nunito"/>
            </a:endParaRPr>
          </a:p>
        </p:txBody>
      </p:sp>
      <p:pic>
        <p:nvPicPr>
          <p:cNvPr id="3" name="Picture 2"/>
          <p:cNvPicPr>
            <a:picLocks noChangeAspect="1"/>
          </p:cNvPicPr>
          <p:nvPr/>
        </p:nvPicPr>
        <p:blipFill>
          <a:blip r:embed="rId3"/>
          <a:stretch>
            <a:fillRect/>
          </a:stretch>
        </p:blipFill>
        <p:spPr>
          <a:xfrm>
            <a:off x="1569326" y="6219318"/>
            <a:ext cx="4838700" cy="428625"/>
          </a:xfrm>
          <a:prstGeom prst="rect">
            <a:avLst/>
          </a:prstGeom>
        </p:spPr>
      </p:pic>
    </p:spTree>
    <p:extLst>
      <p:ext uri="{BB962C8B-B14F-4D97-AF65-F5344CB8AC3E}">
        <p14:creationId xmlns:p14="http://schemas.microsoft.com/office/powerpoint/2010/main" val="1671628824"/>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622"/>
        <p:cNvGrpSpPr/>
        <p:nvPr/>
      </p:nvGrpSpPr>
      <p:grpSpPr>
        <a:xfrm>
          <a:off x="0" y="0"/>
          <a:ext cx="0" cy="0"/>
          <a:chOff x="0" y="0"/>
          <a:chExt cx="0" cy="0"/>
        </a:xfrm>
      </p:grpSpPr>
      <p:sp>
        <p:nvSpPr>
          <p:cNvPr id="623" name="Google Shape;623;p56"/>
          <p:cNvSpPr txBox="1">
            <a:spLocks noGrp="1"/>
          </p:cNvSpPr>
          <p:nvPr>
            <p:ph type="title"/>
          </p:nvPr>
        </p:nvSpPr>
        <p:spPr>
          <a:xfrm>
            <a:off x="274614" y="219275"/>
            <a:ext cx="4928007" cy="492443"/>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sz="3200" dirty="0"/>
              <a:t>HMM</a:t>
            </a:r>
            <a:r>
              <a:rPr lang="en-US" dirty="0"/>
              <a:t> </a:t>
            </a:r>
            <a:endParaRPr dirty="0"/>
          </a:p>
        </p:txBody>
      </p:sp>
      <p:sp>
        <p:nvSpPr>
          <p:cNvPr id="624" name="Google Shape;624;p56"/>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65</a:t>
            </a:fld>
            <a:endParaRPr/>
          </a:p>
        </p:txBody>
      </p:sp>
      <p:sp>
        <p:nvSpPr>
          <p:cNvPr id="625" name="Google Shape;625;p56"/>
          <p:cNvSpPr txBox="1"/>
          <p:nvPr/>
        </p:nvSpPr>
        <p:spPr>
          <a:xfrm>
            <a:off x="274614" y="1225121"/>
            <a:ext cx="9279300" cy="529730"/>
          </a:xfrm>
          <a:prstGeom prst="rect">
            <a:avLst/>
          </a:prstGeom>
          <a:noFill/>
          <a:ln>
            <a:noFill/>
          </a:ln>
        </p:spPr>
        <p:txBody>
          <a:bodyPr spcFirstLastPara="1" wrap="square" lIns="91425" tIns="91425" rIns="91425" bIns="91425" anchor="t" anchorCtr="0">
            <a:spAutoFit/>
          </a:bodyPr>
          <a:lstStyle/>
          <a:p>
            <a:pPr marL="342900" lvl="0" indent="-342900" algn="just" rtl="0">
              <a:lnSpc>
                <a:spcPct val="115000"/>
              </a:lnSpc>
              <a:spcBef>
                <a:spcPts val="0"/>
              </a:spcBef>
              <a:spcAft>
                <a:spcPts val="0"/>
              </a:spcAft>
              <a:buFont typeface="Arial" panose="020B0604020202020204" pitchFamily="34" charset="0"/>
              <a:buChar char="•"/>
            </a:pPr>
            <a:endParaRPr sz="1950" dirty="0">
              <a:solidFill>
                <a:srgbClr val="273239"/>
              </a:solidFill>
              <a:highlight>
                <a:srgbClr val="FFFFFF"/>
              </a:highlight>
              <a:latin typeface="Nunito"/>
              <a:ea typeface="Nunito"/>
              <a:cs typeface="Nunito"/>
              <a:sym typeface="Nunito"/>
            </a:endParaRPr>
          </a:p>
        </p:txBody>
      </p:sp>
      <p:pic>
        <p:nvPicPr>
          <p:cNvPr id="2" name="Picture 1"/>
          <p:cNvPicPr>
            <a:picLocks noChangeAspect="1"/>
          </p:cNvPicPr>
          <p:nvPr/>
        </p:nvPicPr>
        <p:blipFill>
          <a:blip r:embed="rId3"/>
          <a:stretch>
            <a:fillRect/>
          </a:stretch>
        </p:blipFill>
        <p:spPr>
          <a:xfrm>
            <a:off x="7493258" y="59401"/>
            <a:ext cx="2312912" cy="3390900"/>
          </a:xfrm>
          <a:prstGeom prst="rect">
            <a:avLst/>
          </a:prstGeom>
        </p:spPr>
      </p:pic>
      <p:sp>
        <p:nvSpPr>
          <p:cNvPr id="3" name="TextBox 2"/>
          <p:cNvSpPr txBox="1"/>
          <p:nvPr/>
        </p:nvSpPr>
        <p:spPr>
          <a:xfrm>
            <a:off x="22358" y="952997"/>
            <a:ext cx="7470900" cy="6678751"/>
          </a:xfrm>
          <a:prstGeom prst="rect">
            <a:avLst/>
          </a:prstGeom>
          <a:noFill/>
        </p:spPr>
        <p:txBody>
          <a:bodyPr wrap="square" rtlCol="0">
            <a:spAutoFit/>
          </a:bodyPr>
          <a:lstStyle/>
          <a:p>
            <a:r>
              <a:rPr lang="en-IN" sz="1800" b="1" dirty="0"/>
              <a:t>The Baum-Welch </a:t>
            </a:r>
            <a:r>
              <a:rPr lang="en-IN" sz="1800" b="1" dirty="0" smtClean="0"/>
              <a:t>algorithm</a:t>
            </a:r>
          </a:p>
          <a:p>
            <a:endParaRPr lang="en-IN" sz="1800" b="1" dirty="0" smtClean="0"/>
          </a:p>
          <a:p>
            <a:pPr marL="285750" indent="-285750" algn="just">
              <a:buFont typeface="Arial" panose="020B0604020202020204" pitchFamily="34" charset="0"/>
              <a:buChar char="•"/>
            </a:pPr>
            <a:r>
              <a:rPr lang="en-US" sz="1800" dirty="0"/>
              <a:t>Given a set of observations, the Baum-Welch algorithm is an iterative technique for estimating the hidden Markov model’s (HMM) parameters. </a:t>
            </a:r>
            <a:endParaRPr lang="en-US" sz="1800" dirty="0" smtClean="0"/>
          </a:p>
          <a:p>
            <a:pPr marL="285750" indent="-285750" algn="just">
              <a:buFont typeface="Arial" panose="020B0604020202020204" pitchFamily="34" charset="0"/>
              <a:buChar char="•"/>
            </a:pPr>
            <a:r>
              <a:rPr lang="en-US" sz="1800" dirty="0"/>
              <a:t>The algorithm aims to find the set of model parameters that maximize the likelihood of the observations given to the model</a:t>
            </a:r>
            <a:r>
              <a:rPr lang="en-US" sz="1800" dirty="0"/>
              <a:t>.</a:t>
            </a:r>
          </a:p>
          <a:p>
            <a:pPr marL="285750" indent="-285750" algn="just">
              <a:buFont typeface="Arial" panose="020B0604020202020204" pitchFamily="34" charset="0"/>
              <a:buChar char="•"/>
            </a:pPr>
            <a:r>
              <a:rPr lang="en-US" sz="1800" dirty="0"/>
              <a:t>The </a:t>
            </a:r>
            <a:r>
              <a:rPr lang="en-US" sz="1800" dirty="0"/>
              <a:t>probability of each potential hidden state sequence is calculated using the observations and model parameters in the forward step. The backward step determines the likelihood of each observation in light of the hidden state hierarchy and model parameters</a:t>
            </a:r>
            <a:r>
              <a:rPr lang="en-US" sz="1800" dirty="0"/>
              <a:t>.</a:t>
            </a:r>
          </a:p>
          <a:p>
            <a:pPr marL="285750" indent="-285750" algn="just">
              <a:buFont typeface="Arial" panose="020B0604020202020204" pitchFamily="34" charset="0"/>
              <a:buChar char="•"/>
            </a:pPr>
            <a:r>
              <a:rPr lang="en-US" sz="1800" dirty="0"/>
              <a:t>The algorithm aims to find the set of model parameters that maximize the likelihood of the observations given to the model</a:t>
            </a:r>
            <a:r>
              <a:rPr lang="en-US" sz="1800" dirty="0"/>
              <a:t>.</a:t>
            </a:r>
          </a:p>
          <a:p>
            <a:pPr marL="285750" indent="-285750" algn="just">
              <a:buFont typeface="Arial" panose="020B0604020202020204" pitchFamily="34" charset="0"/>
              <a:buChar char="•"/>
            </a:pPr>
            <a:r>
              <a:rPr lang="en-US" sz="1800" dirty="0"/>
              <a:t>The model parameters are then updated using the forward and backward probabilities, which are then used to generate fresh forward and backward probabilities, and so forth. Either a set number of times or until the model’s parameters converge on a stable solution, whichever comes first</a:t>
            </a:r>
            <a:r>
              <a:rPr lang="en-US" sz="1800" dirty="0"/>
              <a:t>.</a:t>
            </a:r>
          </a:p>
          <a:p>
            <a:pPr marL="285750" indent="-285750" algn="just">
              <a:buFont typeface="Arial" panose="020B0604020202020204" pitchFamily="34" charset="0"/>
              <a:buChar char="•"/>
            </a:pPr>
            <a:r>
              <a:rPr lang="en-US" sz="1800" dirty="0"/>
              <a:t>The Baum-Welch algorithm is an example of an expectation-maximization (EM) algorithm, which alternates between maximizing the likelihood of the observations given the estimated values of the hidden variables and calculating the expected value of the hidden variables given the observations.</a:t>
            </a:r>
            <a:endParaRPr lang="en-IN" sz="1800" dirty="0"/>
          </a:p>
          <a:p>
            <a:endParaRPr lang="en-IN" dirty="0"/>
          </a:p>
        </p:txBody>
      </p:sp>
    </p:spTree>
    <p:extLst>
      <p:ext uri="{BB962C8B-B14F-4D97-AF65-F5344CB8AC3E}">
        <p14:creationId xmlns:p14="http://schemas.microsoft.com/office/powerpoint/2010/main" val="3377869340"/>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622"/>
        <p:cNvGrpSpPr/>
        <p:nvPr/>
      </p:nvGrpSpPr>
      <p:grpSpPr>
        <a:xfrm>
          <a:off x="0" y="0"/>
          <a:ext cx="0" cy="0"/>
          <a:chOff x="0" y="0"/>
          <a:chExt cx="0" cy="0"/>
        </a:xfrm>
      </p:grpSpPr>
      <p:sp>
        <p:nvSpPr>
          <p:cNvPr id="623" name="Google Shape;623;p56"/>
          <p:cNvSpPr txBox="1">
            <a:spLocks noGrp="1"/>
          </p:cNvSpPr>
          <p:nvPr>
            <p:ph type="title"/>
          </p:nvPr>
        </p:nvSpPr>
        <p:spPr>
          <a:xfrm>
            <a:off x="274614" y="219275"/>
            <a:ext cx="4928007" cy="492443"/>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sz="3200" dirty="0"/>
              <a:t>HMM</a:t>
            </a:r>
            <a:r>
              <a:rPr lang="en-US" dirty="0"/>
              <a:t> </a:t>
            </a:r>
            <a:endParaRPr dirty="0"/>
          </a:p>
        </p:txBody>
      </p:sp>
      <p:sp>
        <p:nvSpPr>
          <p:cNvPr id="624" name="Google Shape;624;p56"/>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66</a:t>
            </a:fld>
            <a:endParaRPr/>
          </a:p>
        </p:txBody>
      </p:sp>
      <p:sp>
        <p:nvSpPr>
          <p:cNvPr id="625" name="Google Shape;625;p56"/>
          <p:cNvSpPr txBox="1"/>
          <p:nvPr/>
        </p:nvSpPr>
        <p:spPr>
          <a:xfrm>
            <a:off x="274614" y="1225121"/>
            <a:ext cx="9279300" cy="529730"/>
          </a:xfrm>
          <a:prstGeom prst="rect">
            <a:avLst/>
          </a:prstGeom>
          <a:noFill/>
          <a:ln>
            <a:noFill/>
          </a:ln>
        </p:spPr>
        <p:txBody>
          <a:bodyPr spcFirstLastPara="1" wrap="square" lIns="91425" tIns="91425" rIns="91425" bIns="91425" anchor="t" anchorCtr="0">
            <a:spAutoFit/>
          </a:bodyPr>
          <a:lstStyle/>
          <a:p>
            <a:pPr marL="342900" lvl="0" indent="-342900" algn="just" rtl="0">
              <a:lnSpc>
                <a:spcPct val="115000"/>
              </a:lnSpc>
              <a:spcBef>
                <a:spcPts val="0"/>
              </a:spcBef>
              <a:spcAft>
                <a:spcPts val="0"/>
              </a:spcAft>
              <a:buFont typeface="Arial" panose="020B0604020202020204" pitchFamily="34" charset="0"/>
              <a:buChar char="•"/>
            </a:pPr>
            <a:endParaRPr sz="1950" dirty="0">
              <a:solidFill>
                <a:srgbClr val="273239"/>
              </a:solidFill>
              <a:highlight>
                <a:srgbClr val="FFFFFF"/>
              </a:highlight>
              <a:latin typeface="Nunito"/>
              <a:ea typeface="Nunito"/>
              <a:cs typeface="Nunito"/>
              <a:sym typeface="Nunito"/>
            </a:endParaRPr>
          </a:p>
        </p:txBody>
      </p:sp>
      <p:pic>
        <p:nvPicPr>
          <p:cNvPr id="2" name="Picture 1"/>
          <p:cNvPicPr>
            <a:picLocks noChangeAspect="1"/>
          </p:cNvPicPr>
          <p:nvPr/>
        </p:nvPicPr>
        <p:blipFill>
          <a:blip r:embed="rId3"/>
          <a:stretch>
            <a:fillRect/>
          </a:stretch>
        </p:blipFill>
        <p:spPr>
          <a:xfrm>
            <a:off x="7493258" y="59401"/>
            <a:ext cx="2312912" cy="3390900"/>
          </a:xfrm>
          <a:prstGeom prst="rect">
            <a:avLst/>
          </a:prstGeom>
        </p:spPr>
      </p:pic>
      <p:sp>
        <p:nvSpPr>
          <p:cNvPr id="3" name="TextBox 2"/>
          <p:cNvSpPr txBox="1"/>
          <p:nvPr/>
        </p:nvSpPr>
        <p:spPr>
          <a:xfrm>
            <a:off x="273568" y="774613"/>
            <a:ext cx="7219690" cy="6186309"/>
          </a:xfrm>
          <a:prstGeom prst="rect">
            <a:avLst/>
          </a:prstGeom>
          <a:noFill/>
        </p:spPr>
        <p:txBody>
          <a:bodyPr wrap="square" rtlCol="0">
            <a:spAutoFit/>
          </a:bodyPr>
          <a:lstStyle/>
          <a:p>
            <a:pPr fontAlgn="base"/>
            <a:r>
              <a:rPr lang="en-IN" sz="1800" b="1" dirty="0"/>
              <a:t>The Viterbi </a:t>
            </a:r>
            <a:r>
              <a:rPr lang="en-IN" sz="1800" b="1" dirty="0" smtClean="0"/>
              <a:t>algorithm</a:t>
            </a:r>
          </a:p>
          <a:p>
            <a:pPr fontAlgn="base"/>
            <a:endParaRPr lang="en-IN" sz="1800" b="1" dirty="0"/>
          </a:p>
          <a:p>
            <a:pPr marL="285750" indent="-285750" algn="just">
              <a:buFont typeface="Arial" panose="020B0604020202020204" pitchFamily="34" charset="0"/>
              <a:buChar char="•"/>
            </a:pPr>
            <a:r>
              <a:rPr lang="en-US" sz="1800" dirty="0"/>
              <a:t>The Viterbi algorithm is a powerful dynamic programming method for determining the hidden state sequence that is most likely to exist in a hidden Markov model (HMM). The algorithm is frequently used for speech recognition, part-of-speech tagging, and DNA sequence analysis. It is named after its creator, Andrew Viterbi</a:t>
            </a:r>
            <a:r>
              <a:rPr lang="en-US" sz="1800" dirty="0" smtClean="0"/>
              <a:t>.</a:t>
            </a:r>
          </a:p>
          <a:p>
            <a:pPr algn="just"/>
            <a:endParaRPr lang="en-US" sz="1800" dirty="0" smtClean="0"/>
          </a:p>
          <a:p>
            <a:pPr marL="285750" indent="-285750" algn="just">
              <a:buFont typeface="Arial" panose="020B0604020202020204" pitchFamily="34" charset="0"/>
              <a:buChar char="•"/>
            </a:pPr>
            <a:r>
              <a:rPr lang="en-US" sz="1800" dirty="0"/>
              <a:t>Given the model’s observations and parameters, the algorithm calculates the probability of each possible sequence of hidden states in a recursive way</a:t>
            </a:r>
            <a:r>
              <a:rPr lang="en-US" sz="1800" dirty="0" smtClean="0"/>
              <a:t>.</a:t>
            </a:r>
          </a:p>
          <a:p>
            <a:pPr marL="285750" indent="-285750" algn="just">
              <a:buFont typeface="Arial" panose="020B0604020202020204" pitchFamily="34" charset="0"/>
              <a:buChar char="•"/>
            </a:pPr>
            <a:endParaRPr lang="en-US" sz="1800" dirty="0" smtClean="0"/>
          </a:p>
          <a:p>
            <a:pPr marL="285750" indent="-285750" algn="just">
              <a:buFont typeface="Arial" panose="020B0604020202020204" pitchFamily="34" charset="0"/>
              <a:buChar char="•"/>
            </a:pPr>
            <a:r>
              <a:rPr lang="en-US" sz="1800" dirty="0"/>
              <a:t>First, the algorithm computes the chance of each potential state given the previous state and the observation at each time step by considering the previous and current conditions. The current state is then determined to be the one with the highest probability</a:t>
            </a:r>
            <a:r>
              <a:rPr lang="en-US" sz="1800" dirty="0" smtClean="0"/>
              <a:t>.</a:t>
            </a:r>
          </a:p>
          <a:p>
            <a:pPr algn="just"/>
            <a:endParaRPr lang="en-US" sz="1800" dirty="0" smtClean="0"/>
          </a:p>
          <a:p>
            <a:pPr marL="285750" indent="-285750" algn="just">
              <a:buFont typeface="Arial" panose="020B0604020202020204" pitchFamily="34" charset="0"/>
              <a:buChar char="•"/>
            </a:pPr>
            <a:r>
              <a:rPr lang="en-US" sz="1800" dirty="0"/>
              <a:t>The algorithm begins at the first time step and progresses through the observations one at a time, updating the probabilities of the potential sequences along the way. When it gets to the last time step, it picks the hidden state sequence with the highest chance as the most likely one.</a:t>
            </a:r>
            <a:endParaRPr lang="en-IN" sz="1800" dirty="0"/>
          </a:p>
        </p:txBody>
      </p:sp>
    </p:spTree>
    <p:extLst>
      <p:ext uri="{BB962C8B-B14F-4D97-AF65-F5344CB8AC3E}">
        <p14:creationId xmlns:p14="http://schemas.microsoft.com/office/powerpoint/2010/main" val="554632383"/>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622"/>
        <p:cNvGrpSpPr/>
        <p:nvPr/>
      </p:nvGrpSpPr>
      <p:grpSpPr>
        <a:xfrm>
          <a:off x="0" y="0"/>
          <a:ext cx="0" cy="0"/>
          <a:chOff x="0" y="0"/>
          <a:chExt cx="0" cy="0"/>
        </a:xfrm>
      </p:grpSpPr>
      <p:sp>
        <p:nvSpPr>
          <p:cNvPr id="623" name="Google Shape;623;p56"/>
          <p:cNvSpPr txBox="1">
            <a:spLocks noGrp="1"/>
          </p:cNvSpPr>
          <p:nvPr>
            <p:ph type="title"/>
          </p:nvPr>
        </p:nvSpPr>
        <p:spPr>
          <a:xfrm>
            <a:off x="274614" y="219275"/>
            <a:ext cx="4928007" cy="492443"/>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sz="3200" dirty="0"/>
              <a:t>HMM</a:t>
            </a:r>
            <a:r>
              <a:rPr lang="en-US" dirty="0"/>
              <a:t> </a:t>
            </a:r>
            <a:r>
              <a:rPr lang="en-US" b="1" dirty="0" smtClean="0"/>
              <a:t>Example</a:t>
            </a:r>
            <a:endParaRPr b="1" dirty="0"/>
          </a:p>
        </p:txBody>
      </p:sp>
      <p:sp>
        <p:nvSpPr>
          <p:cNvPr id="624" name="Google Shape;624;p56"/>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67</a:t>
            </a:fld>
            <a:endParaRPr/>
          </a:p>
        </p:txBody>
      </p:sp>
      <p:sp>
        <p:nvSpPr>
          <p:cNvPr id="625" name="Google Shape;625;p56"/>
          <p:cNvSpPr txBox="1"/>
          <p:nvPr/>
        </p:nvSpPr>
        <p:spPr>
          <a:xfrm>
            <a:off x="274614" y="1225121"/>
            <a:ext cx="9279300" cy="529730"/>
          </a:xfrm>
          <a:prstGeom prst="rect">
            <a:avLst/>
          </a:prstGeom>
          <a:noFill/>
          <a:ln>
            <a:noFill/>
          </a:ln>
        </p:spPr>
        <p:txBody>
          <a:bodyPr spcFirstLastPara="1" wrap="square" lIns="91425" tIns="91425" rIns="91425" bIns="91425" anchor="t" anchorCtr="0">
            <a:spAutoFit/>
          </a:bodyPr>
          <a:lstStyle/>
          <a:p>
            <a:pPr marL="342900" lvl="0" indent="-342900" algn="just" rtl="0">
              <a:lnSpc>
                <a:spcPct val="115000"/>
              </a:lnSpc>
              <a:spcBef>
                <a:spcPts val="0"/>
              </a:spcBef>
              <a:spcAft>
                <a:spcPts val="0"/>
              </a:spcAft>
              <a:buFont typeface="Arial" panose="020B0604020202020204" pitchFamily="34" charset="0"/>
              <a:buChar char="•"/>
            </a:pPr>
            <a:endParaRPr sz="1950" dirty="0">
              <a:solidFill>
                <a:srgbClr val="273239"/>
              </a:solidFill>
              <a:highlight>
                <a:srgbClr val="FFFFFF"/>
              </a:highlight>
              <a:latin typeface="Nunito"/>
              <a:ea typeface="Nunito"/>
              <a:cs typeface="Nunito"/>
              <a:sym typeface="Nunito"/>
            </a:endParaRPr>
          </a:p>
        </p:txBody>
      </p:sp>
      <p:pic>
        <p:nvPicPr>
          <p:cNvPr id="2" name="Picture 1"/>
          <p:cNvPicPr>
            <a:picLocks noChangeAspect="1"/>
          </p:cNvPicPr>
          <p:nvPr/>
        </p:nvPicPr>
        <p:blipFill>
          <a:blip r:embed="rId3"/>
          <a:stretch>
            <a:fillRect/>
          </a:stretch>
        </p:blipFill>
        <p:spPr>
          <a:xfrm>
            <a:off x="7493258" y="59401"/>
            <a:ext cx="2312912" cy="3390900"/>
          </a:xfrm>
          <a:prstGeom prst="rect">
            <a:avLst/>
          </a:prstGeom>
        </p:spPr>
      </p:pic>
      <p:sp>
        <p:nvSpPr>
          <p:cNvPr id="3" name="TextBox 2"/>
          <p:cNvSpPr txBox="1"/>
          <p:nvPr/>
        </p:nvSpPr>
        <p:spPr>
          <a:xfrm>
            <a:off x="273568" y="774613"/>
            <a:ext cx="6967434" cy="3970318"/>
          </a:xfrm>
          <a:prstGeom prst="rect">
            <a:avLst/>
          </a:prstGeom>
          <a:noFill/>
        </p:spPr>
        <p:txBody>
          <a:bodyPr wrap="square" rtlCol="0">
            <a:spAutoFit/>
          </a:bodyPr>
          <a:lstStyle/>
          <a:p>
            <a:pPr algn="just" fontAlgn="base"/>
            <a:r>
              <a:rPr lang="en-US" sz="1800" dirty="0"/>
              <a:t>Let’s say we want to determine the part of speech tags for each word in the sentence “The cat sat on the mat.” This can be represented as an HMM with observations corresponding to the terms in the sentence and a bunch of states representing the potential parts of speech (POS) tags</a:t>
            </a:r>
            <a:r>
              <a:rPr lang="en-US" sz="1800" dirty="0" smtClean="0"/>
              <a:t>.</a:t>
            </a:r>
          </a:p>
          <a:p>
            <a:pPr algn="just" fontAlgn="base"/>
            <a:endParaRPr lang="en-US" sz="1800" dirty="0"/>
          </a:p>
          <a:p>
            <a:pPr algn="just" fontAlgn="base"/>
            <a:r>
              <a:rPr lang="en-US" sz="1800" dirty="0"/>
              <a:t>Once trained, the most likely POS tags for a new sentence can be predicted using the HMM. The Viterbi algorithm, which uses the observations to determine the most likely order of hidden states</a:t>
            </a:r>
            <a:endParaRPr lang="en-US" sz="1800" dirty="0" smtClean="0"/>
          </a:p>
          <a:p>
            <a:pPr algn="just" fontAlgn="base"/>
            <a:endParaRPr lang="en-US" sz="1800" dirty="0"/>
          </a:p>
          <a:p>
            <a:pPr algn="just" fontAlgn="base"/>
            <a:endParaRPr lang="en-US" sz="1800" dirty="0" smtClean="0"/>
          </a:p>
          <a:p>
            <a:pPr algn="just" fontAlgn="base"/>
            <a:r>
              <a:rPr lang="en-US" sz="1800" dirty="0"/>
              <a:t>For instance, the HMM might predict the POS tags “Determiner Noun Verb Preposition Determiner Noun” given the sentence “The cat sat on the mat.”</a:t>
            </a:r>
            <a:endParaRPr lang="en-IN" sz="1800" dirty="0"/>
          </a:p>
        </p:txBody>
      </p:sp>
    </p:spTree>
    <p:extLst>
      <p:ext uri="{BB962C8B-B14F-4D97-AF65-F5344CB8AC3E}">
        <p14:creationId xmlns:p14="http://schemas.microsoft.com/office/powerpoint/2010/main" val="212797319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629"/>
        <p:cNvGrpSpPr/>
        <p:nvPr/>
      </p:nvGrpSpPr>
      <p:grpSpPr>
        <a:xfrm>
          <a:off x="0" y="0"/>
          <a:ext cx="0" cy="0"/>
          <a:chOff x="0" y="0"/>
          <a:chExt cx="0" cy="0"/>
        </a:xfrm>
      </p:grpSpPr>
      <p:sp>
        <p:nvSpPr>
          <p:cNvPr id="630" name="Google Shape;630;p57"/>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68</a:t>
            </a:fld>
            <a:endParaRPr/>
          </a:p>
        </p:txBody>
      </p:sp>
      <p:sp>
        <p:nvSpPr>
          <p:cNvPr id="631" name="Google Shape;631;p57"/>
          <p:cNvSpPr txBox="1"/>
          <p:nvPr/>
        </p:nvSpPr>
        <p:spPr>
          <a:xfrm>
            <a:off x="154250" y="272925"/>
            <a:ext cx="9659100" cy="7265613"/>
          </a:xfrm>
          <a:prstGeom prst="rect">
            <a:avLst/>
          </a:prstGeom>
          <a:noFill/>
          <a:ln>
            <a:noFill/>
          </a:ln>
        </p:spPr>
        <p:txBody>
          <a:bodyPr spcFirstLastPara="1" wrap="square" lIns="91425" tIns="91425" rIns="91425" bIns="91425" anchor="t" anchorCtr="0">
            <a:spAutoFit/>
          </a:bodyPr>
          <a:lstStyle/>
          <a:p>
            <a:pPr marL="342900" lvl="0" indent="-342900" algn="just" rtl="0">
              <a:lnSpc>
                <a:spcPct val="115000"/>
              </a:lnSpc>
              <a:spcBef>
                <a:spcPts val="0"/>
              </a:spcBef>
              <a:spcAft>
                <a:spcPts val="0"/>
              </a:spcAft>
              <a:buFont typeface="Arial" panose="020B0604020202020204" pitchFamily="34" charset="0"/>
              <a:buChar char="•"/>
            </a:pPr>
            <a:r>
              <a:rPr lang="en-US" sz="1850" b="1" dirty="0">
                <a:solidFill>
                  <a:schemeClr val="tx1"/>
                </a:solidFill>
                <a:highlight>
                  <a:srgbClr val="FFFFFF"/>
                </a:highlight>
                <a:latin typeface="Nunito"/>
                <a:ea typeface="Nunito"/>
                <a:cs typeface="Nunito"/>
                <a:sym typeface="Nunito"/>
              </a:rPr>
              <a:t>The hidden Markov Model</a:t>
            </a:r>
            <a:r>
              <a:rPr lang="en-US" sz="1850" dirty="0">
                <a:solidFill>
                  <a:schemeClr val="tx1"/>
                </a:solidFill>
                <a:highlight>
                  <a:srgbClr val="FFFFFF"/>
                </a:highlight>
                <a:latin typeface="Nunito"/>
                <a:ea typeface="Nunito"/>
                <a:cs typeface="Nunito"/>
                <a:sym typeface="Nunito"/>
              </a:rPr>
              <a:t> (HMM) is a </a:t>
            </a:r>
            <a:r>
              <a:rPr lang="en-US" sz="1850" u="sng" dirty="0">
                <a:solidFill>
                  <a:schemeClr val="tx1"/>
                </a:solidFill>
                <a:highlight>
                  <a:srgbClr val="FFFFFF"/>
                </a:highlight>
                <a:latin typeface="Nunito"/>
                <a:ea typeface="Nunito"/>
                <a:cs typeface="Nunito"/>
                <a:sym typeface="Nunito"/>
                <a:hlinkClick r:id="rId3"/>
              </a:rPr>
              <a:t>statistical model</a:t>
            </a:r>
            <a:r>
              <a:rPr lang="en-US" sz="1850" dirty="0">
                <a:solidFill>
                  <a:schemeClr val="tx1"/>
                </a:solidFill>
                <a:highlight>
                  <a:srgbClr val="FFFFFF"/>
                </a:highlight>
                <a:latin typeface="Nunito"/>
                <a:ea typeface="Nunito"/>
                <a:cs typeface="Nunito"/>
                <a:sym typeface="Nunito"/>
              </a:rPr>
              <a:t> that is used to describe the probabilistic relationship between a sequence of observations and a sequence of hidden states</a:t>
            </a:r>
            <a:r>
              <a:rPr lang="en-US" sz="1850" dirty="0" smtClean="0">
                <a:solidFill>
                  <a:schemeClr val="tx1"/>
                </a:solidFill>
                <a:highlight>
                  <a:srgbClr val="FFFFFF"/>
                </a:highlight>
                <a:latin typeface="Nunito"/>
                <a:ea typeface="Nunito"/>
                <a:cs typeface="Nunito"/>
                <a:sym typeface="Nunito"/>
              </a:rPr>
              <a:t>.</a:t>
            </a:r>
          </a:p>
          <a:p>
            <a:pPr marL="342900" lvl="0" indent="-342900" algn="just" rtl="0">
              <a:lnSpc>
                <a:spcPct val="115000"/>
              </a:lnSpc>
              <a:spcBef>
                <a:spcPts val="0"/>
              </a:spcBef>
              <a:spcAft>
                <a:spcPts val="0"/>
              </a:spcAft>
              <a:buFont typeface="Arial" panose="020B0604020202020204" pitchFamily="34" charset="0"/>
              <a:buChar char="•"/>
            </a:pPr>
            <a:r>
              <a:rPr lang="en-US" sz="1850" dirty="0" smtClean="0">
                <a:solidFill>
                  <a:schemeClr val="tx1"/>
                </a:solidFill>
                <a:highlight>
                  <a:srgbClr val="FFFFFF"/>
                </a:highlight>
                <a:latin typeface="Nunito"/>
                <a:ea typeface="Nunito"/>
                <a:cs typeface="Nunito"/>
                <a:sym typeface="Nunito"/>
              </a:rPr>
              <a:t> </a:t>
            </a:r>
            <a:r>
              <a:rPr lang="en-US" sz="1850" dirty="0">
                <a:solidFill>
                  <a:schemeClr val="tx1"/>
                </a:solidFill>
                <a:highlight>
                  <a:srgbClr val="FFFFFF"/>
                </a:highlight>
                <a:latin typeface="Nunito"/>
                <a:ea typeface="Nunito"/>
                <a:cs typeface="Nunito"/>
                <a:sym typeface="Nunito"/>
              </a:rPr>
              <a:t>It is often used in situations where the underlying system or process that generates the observations is unknown or hidden, hence it has the name “Hidden Markov Model.” </a:t>
            </a:r>
            <a:endParaRPr sz="1850" dirty="0">
              <a:solidFill>
                <a:schemeClr val="tx1"/>
              </a:solidFill>
              <a:highlight>
                <a:srgbClr val="FFFFFF"/>
              </a:highlight>
              <a:latin typeface="Nunito"/>
              <a:ea typeface="Nunito"/>
              <a:cs typeface="Nunito"/>
              <a:sym typeface="Nunito"/>
            </a:endParaRPr>
          </a:p>
          <a:p>
            <a:pPr marL="342900" lvl="0" indent="-342900" algn="just" rtl="0">
              <a:lnSpc>
                <a:spcPct val="115000"/>
              </a:lnSpc>
              <a:spcBef>
                <a:spcPts val="800"/>
              </a:spcBef>
              <a:spcAft>
                <a:spcPts val="0"/>
              </a:spcAft>
              <a:buFont typeface="Arial" panose="020B0604020202020204" pitchFamily="34" charset="0"/>
              <a:buChar char="•"/>
            </a:pPr>
            <a:r>
              <a:rPr lang="en-US" sz="1850" dirty="0">
                <a:solidFill>
                  <a:schemeClr val="tx1"/>
                </a:solidFill>
                <a:highlight>
                  <a:srgbClr val="FFFFFF"/>
                </a:highlight>
                <a:latin typeface="Nunito"/>
                <a:ea typeface="Nunito"/>
                <a:cs typeface="Nunito"/>
                <a:sym typeface="Nunito"/>
              </a:rPr>
              <a:t>It is used to predict future observations or classify sequences, based on the underlying hidden process that generates the data.</a:t>
            </a:r>
            <a:endParaRPr sz="1850" dirty="0">
              <a:solidFill>
                <a:schemeClr val="tx1"/>
              </a:solidFill>
              <a:highlight>
                <a:srgbClr val="FFFFFF"/>
              </a:highlight>
              <a:latin typeface="Nunito"/>
              <a:ea typeface="Nunito"/>
              <a:cs typeface="Nunito"/>
              <a:sym typeface="Nunito"/>
            </a:endParaRPr>
          </a:p>
          <a:p>
            <a:pPr marL="0" lvl="0" indent="0" algn="just" rtl="0">
              <a:lnSpc>
                <a:spcPct val="115000"/>
              </a:lnSpc>
              <a:spcBef>
                <a:spcPts val="800"/>
              </a:spcBef>
              <a:spcAft>
                <a:spcPts val="0"/>
              </a:spcAft>
              <a:buNone/>
            </a:pPr>
            <a:r>
              <a:rPr lang="en-US" sz="1850" dirty="0">
                <a:solidFill>
                  <a:schemeClr val="tx1"/>
                </a:solidFill>
                <a:highlight>
                  <a:srgbClr val="FFFFFF"/>
                </a:highlight>
                <a:latin typeface="Nunito"/>
                <a:ea typeface="Nunito"/>
                <a:cs typeface="Nunito"/>
                <a:sym typeface="Nunito"/>
              </a:rPr>
              <a:t>An HMM consists of two types of variables: hidden states and observations.</a:t>
            </a:r>
            <a:endParaRPr sz="1850" dirty="0">
              <a:solidFill>
                <a:schemeClr val="tx1"/>
              </a:solidFill>
              <a:highlight>
                <a:srgbClr val="FFFFFF"/>
              </a:highlight>
              <a:latin typeface="Nunito"/>
              <a:ea typeface="Nunito"/>
              <a:cs typeface="Nunito"/>
              <a:sym typeface="Nunito"/>
            </a:endParaRPr>
          </a:p>
          <a:p>
            <a:pPr marL="685800" lvl="0" indent="-346075" algn="l" rtl="0">
              <a:spcAft>
                <a:spcPts val="0"/>
              </a:spcAft>
              <a:buClr>
                <a:srgbClr val="273239"/>
              </a:buClr>
              <a:buSzPts val="1850"/>
              <a:buFont typeface="Nunito"/>
              <a:buChar char="●"/>
            </a:pPr>
            <a:r>
              <a:rPr lang="en-US" sz="1850" dirty="0">
                <a:solidFill>
                  <a:schemeClr val="tx1"/>
                </a:solidFill>
                <a:highlight>
                  <a:srgbClr val="FFFFFF"/>
                </a:highlight>
                <a:latin typeface="Nunito"/>
                <a:ea typeface="Nunito"/>
                <a:cs typeface="Nunito"/>
                <a:sym typeface="Nunito"/>
              </a:rPr>
              <a:t>The </a:t>
            </a:r>
            <a:r>
              <a:rPr lang="en-US" sz="1850" b="1" dirty="0">
                <a:solidFill>
                  <a:schemeClr val="tx1"/>
                </a:solidFill>
                <a:highlight>
                  <a:srgbClr val="FFFFFF"/>
                </a:highlight>
                <a:latin typeface="Nunito"/>
                <a:ea typeface="Nunito"/>
                <a:cs typeface="Nunito"/>
                <a:sym typeface="Nunito"/>
              </a:rPr>
              <a:t>hidden states</a:t>
            </a:r>
            <a:r>
              <a:rPr lang="en-US" sz="1850" dirty="0">
                <a:solidFill>
                  <a:schemeClr val="tx1"/>
                </a:solidFill>
                <a:highlight>
                  <a:srgbClr val="FFFFFF"/>
                </a:highlight>
                <a:latin typeface="Nunito"/>
                <a:ea typeface="Nunito"/>
                <a:cs typeface="Nunito"/>
                <a:sym typeface="Nunito"/>
              </a:rPr>
              <a:t> are the underlying variables that generate the observed data, but they are not directly observable.</a:t>
            </a:r>
            <a:endParaRPr sz="1850" dirty="0">
              <a:solidFill>
                <a:schemeClr val="tx1"/>
              </a:solidFill>
              <a:highlight>
                <a:srgbClr val="FFFFFF"/>
              </a:highlight>
              <a:latin typeface="Nunito"/>
              <a:ea typeface="Nunito"/>
              <a:cs typeface="Nunito"/>
              <a:sym typeface="Nunito"/>
            </a:endParaRPr>
          </a:p>
          <a:p>
            <a:pPr marL="685800" lvl="0" indent="-346075" algn="l" rtl="0">
              <a:lnSpc>
                <a:spcPct val="158000"/>
              </a:lnSpc>
              <a:spcBef>
                <a:spcPts val="0"/>
              </a:spcBef>
              <a:spcAft>
                <a:spcPts val="0"/>
              </a:spcAft>
              <a:buClr>
                <a:srgbClr val="273239"/>
              </a:buClr>
              <a:buSzPts val="1850"/>
              <a:buFont typeface="Nunito"/>
              <a:buChar char="●"/>
            </a:pPr>
            <a:r>
              <a:rPr lang="en-US" sz="1850" dirty="0">
                <a:solidFill>
                  <a:schemeClr val="tx1"/>
                </a:solidFill>
                <a:highlight>
                  <a:srgbClr val="FFFFFF"/>
                </a:highlight>
                <a:latin typeface="Nunito"/>
                <a:ea typeface="Nunito"/>
                <a:cs typeface="Nunito"/>
                <a:sym typeface="Nunito"/>
              </a:rPr>
              <a:t>The </a:t>
            </a:r>
            <a:r>
              <a:rPr lang="en-US" sz="1850" b="1" dirty="0">
                <a:solidFill>
                  <a:schemeClr val="tx1"/>
                </a:solidFill>
                <a:highlight>
                  <a:srgbClr val="FFFFFF"/>
                </a:highlight>
                <a:latin typeface="Nunito"/>
                <a:ea typeface="Nunito"/>
                <a:cs typeface="Nunito"/>
                <a:sym typeface="Nunito"/>
              </a:rPr>
              <a:t>observations</a:t>
            </a:r>
            <a:r>
              <a:rPr lang="en-US" sz="1850" dirty="0">
                <a:solidFill>
                  <a:schemeClr val="tx1"/>
                </a:solidFill>
                <a:highlight>
                  <a:srgbClr val="FFFFFF"/>
                </a:highlight>
                <a:latin typeface="Nunito"/>
                <a:ea typeface="Nunito"/>
                <a:cs typeface="Nunito"/>
                <a:sym typeface="Nunito"/>
              </a:rPr>
              <a:t> are the variables that are measured and observed. </a:t>
            </a:r>
            <a:endParaRPr sz="1850" dirty="0">
              <a:solidFill>
                <a:schemeClr val="tx1"/>
              </a:solidFill>
              <a:highlight>
                <a:srgbClr val="FFFFFF"/>
              </a:highlight>
              <a:latin typeface="Nunito"/>
              <a:ea typeface="Nunito"/>
              <a:cs typeface="Nunito"/>
              <a:sym typeface="Nunito"/>
            </a:endParaRPr>
          </a:p>
          <a:p>
            <a:pPr marL="0" lvl="0" indent="0" algn="just" rtl="0">
              <a:lnSpc>
                <a:spcPct val="115000"/>
              </a:lnSpc>
              <a:spcBef>
                <a:spcPts val="1800"/>
              </a:spcBef>
              <a:spcAft>
                <a:spcPts val="0"/>
              </a:spcAft>
              <a:buNone/>
            </a:pPr>
            <a:r>
              <a:rPr lang="en-US" sz="1850" dirty="0">
                <a:solidFill>
                  <a:schemeClr val="tx1"/>
                </a:solidFill>
                <a:highlight>
                  <a:srgbClr val="FFFFFF"/>
                </a:highlight>
                <a:latin typeface="Nunito"/>
                <a:ea typeface="Nunito"/>
                <a:cs typeface="Nunito"/>
                <a:sym typeface="Nunito"/>
              </a:rPr>
              <a:t>The relationship between the hidden states and the observations is modeled using a probability distribution. </a:t>
            </a:r>
            <a:endParaRPr lang="en-US" sz="1850" dirty="0" smtClean="0">
              <a:solidFill>
                <a:schemeClr val="tx1"/>
              </a:solidFill>
              <a:highlight>
                <a:srgbClr val="FFFFFF"/>
              </a:highlight>
              <a:latin typeface="Nunito"/>
              <a:ea typeface="Nunito"/>
              <a:cs typeface="Nunito"/>
              <a:sym typeface="Nunito"/>
            </a:endParaRPr>
          </a:p>
          <a:p>
            <a:pPr marL="0" lvl="0" indent="0" algn="just" rtl="0">
              <a:lnSpc>
                <a:spcPct val="115000"/>
              </a:lnSpc>
              <a:spcBef>
                <a:spcPts val="1800"/>
              </a:spcBef>
              <a:spcAft>
                <a:spcPts val="0"/>
              </a:spcAft>
              <a:buNone/>
            </a:pPr>
            <a:r>
              <a:rPr lang="en-US" sz="1850" dirty="0" smtClean="0">
                <a:solidFill>
                  <a:schemeClr val="tx1"/>
                </a:solidFill>
                <a:highlight>
                  <a:srgbClr val="FFFFFF"/>
                </a:highlight>
                <a:latin typeface="Nunito"/>
                <a:ea typeface="Nunito"/>
                <a:cs typeface="Nunito"/>
                <a:sym typeface="Nunito"/>
              </a:rPr>
              <a:t>The </a:t>
            </a:r>
            <a:r>
              <a:rPr lang="en-US" sz="1850" dirty="0">
                <a:solidFill>
                  <a:schemeClr val="tx1"/>
                </a:solidFill>
                <a:highlight>
                  <a:srgbClr val="FFFFFF"/>
                </a:highlight>
                <a:latin typeface="Nunito"/>
                <a:ea typeface="Nunito"/>
                <a:cs typeface="Nunito"/>
                <a:sym typeface="Nunito"/>
              </a:rPr>
              <a:t>Hidden Markov Model (HMM) is the relationship between the hidden states and the observations using two sets of probabilities: the transition probabilities and the emission probabilities. </a:t>
            </a:r>
            <a:endParaRPr sz="1850" dirty="0">
              <a:solidFill>
                <a:schemeClr val="tx1"/>
              </a:solidFill>
              <a:highlight>
                <a:srgbClr val="FFFFFF"/>
              </a:highlight>
              <a:latin typeface="Nunito"/>
              <a:ea typeface="Nunito"/>
              <a:cs typeface="Nunito"/>
              <a:sym typeface="Nunito"/>
            </a:endParaRPr>
          </a:p>
          <a:p>
            <a:pPr marL="685800" lvl="0" indent="-346075" algn="l" rtl="0">
              <a:spcAft>
                <a:spcPts val="0"/>
              </a:spcAft>
              <a:buClr>
                <a:srgbClr val="273239"/>
              </a:buClr>
              <a:buSzPts val="1850"/>
              <a:buFont typeface="Nunito"/>
              <a:buChar char="●"/>
            </a:pPr>
            <a:r>
              <a:rPr lang="en-US" sz="1850" dirty="0">
                <a:solidFill>
                  <a:schemeClr val="tx1"/>
                </a:solidFill>
                <a:highlight>
                  <a:srgbClr val="FFFFFF"/>
                </a:highlight>
                <a:latin typeface="Nunito"/>
                <a:ea typeface="Nunito"/>
                <a:cs typeface="Nunito"/>
                <a:sym typeface="Nunito"/>
              </a:rPr>
              <a:t>The </a:t>
            </a:r>
            <a:r>
              <a:rPr lang="en-US" sz="1850" b="1" dirty="0">
                <a:solidFill>
                  <a:schemeClr val="tx1"/>
                </a:solidFill>
                <a:highlight>
                  <a:srgbClr val="FFFFFF"/>
                </a:highlight>
                <a:latin typeface="Nunito"/>
                <a:ea typeface="Nunito"/>
                <a:cs typeface="Nunito"/>
                <a:sym typeface="Nunito"/>
              </a:rPr>
              <a:t>transition probabilities </a:t>
            </a:r>
            <a:r>
              <a:rPr lang="en-US" sz="1850" dirty="0">
                <a:solidFill>
                  <a:schemeClr val="tx1"/>
                </a:solidFill>
                <a:highlight>
                  <a:srgbClr val="FFFFFF"/>
                </a:highlight>
                <a:latin typeface="Nunito"/>
                <a:ea typeface="Nunito"/>
                <a:cs typeface="Nunito"/>
                <a:sym typeface="Nunito"/>
              </a:rPr>
              <a:t>describe the probability of transitioning from one hidden state to another.</a:t>
            </a:r>
            <a:endParaRPr sz="1850" dirty="0">
              <a:solidFill>
                <a:schemeClr val="tx1"/>
              </a:solidFill>
              <a:highlight>
                <a:srgbClr val="FFFFFF"/>
              </a:highlight>
              <a:latin typeface="Nunito"/>
              <a:ea typeface="Nunito"/>
              <a:cs typeface="Nunito"/>
              <a:sym typeface="Nunito"/>
            </a:endParaRPr>
          </a:p>
          <a:p>
            <a:pPr marL="685800" lvl="0" indent="-346075" algn="l" rtl="0">
              <a:spcAft>
                <a:spcPts val="0"/>
              </a:spcAft>
              <a:buClr>
                <a:srgbClr val="273239"/>
              </a:buClr>
              <a:buSzPts val="1850"/>
              <a:buFont typeface="Nunito"/>
              <a:buChar char="●"/>
            </a:pPr>
            <a:r>
              <a:rPr lang="en-US" sz="1850" dirty="0">
                <a:solidFill>
                  <a:schemeClr val="tx1"/>
                </a:solidFill>
                <a:highlight>
                  <a:srgbClr val="FFFFFF"/>
                </a:highlight>
                <a:latin typeface="Nunito"/>
                <a:ea typeface="Nunito"/>
                <a:cs typeface="Nunito"/>
                <a:sym typeface="Nunito"/>
              </a:rPr>
              <a:t>The </a:t>
            </a:r>
            <a:r>
              <a:rPr lang="en-US" sz="1850" b="1" dirty="0">
                <a:solidFill>
                  <a:schemeClr val="tx1"/>
                </a:solidFill>
                <a:highlight>
                  <a:srgbClr val="FFFFFF"/>
                </a:highlight>
                <a:latin typeface="Nunito"/>
                <a:ea typeface="Nunito"/>
                <a:cs typeface="Nunito"/>
                <a:sym typeface="Nunito"/>
              </a:rPr>
              <a:t>emission probabilities</a:t>
            </a:r>
            <a:r>
              <a:rPr lang="en-US" sz="1850" dirty="0">
                <a:solidFill>
                  <a:schemeClr val="tx1"/>
                </a:solidFill>
                <a:highlight>
                  <a:srgbClr val="FFFFFF"/>
                </a:highlight>
                <a:latin typeface="Nunito"/>
                <a:ea typeface="Nunito"/>
                <a:cs typeface="Nunito"/>
                <a:sym typeface="Nunito"/>
              </a:rPr>
              <a:t> describe the probability of observing an output given a hidden state.</a:t>
            </a:r>
            <a:endParaRPr sz="1850" dirty="0">
              <a:solidFill>
                <a:schemeClr val="tx1"/>
              </a:solidFill>
              <a:highlight>
                <a:srgbClr val="FFFFFF"/>
              </a:highlight>
              <a:latin typeface="Nunito"/>
              <a:ea typeface="Nunito"/>
              <a:cs typeface="Nunito"/>
              <a:sym typeface="Nunito"/>
            </a:endParaRPr>
          </a:p>
        </p:txBody>
      </p:sp>
    </p:spTree>
    <p:extLst>
      <p:ext uri="{BB962C8B-B14F-4D97-AF65-F5344CB8AC3E}">
        <p14:creationId xmlns:p14="http://schemas.microsoft.com/office/powerpoint/2010/main" val="123247034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635"/>
        <p:cNvGrpSpPr/>
        <p:nvPr/>
      </p:nvGrpSpPr>
      <p:grpSpPr>
        <a:xfrm>
          <a:off x="0" y="0"/>
          <a:ext cx="0" cy="0"/>
          <a:chOff x="0" y="0"/>
          <a:chExt cx="0" cy="0"/>
        </a:xfrm>
      </p:grpSpPr>
      <p:sp>
        <p:nvSpPr>
          <p:cNvPr id="636" name="Google Shape;636;p58"/>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69</a:t>
            </a:fld>
            <a:endParaRPr/>
          </a:p>
        </p:txBody>
      </p:sp>
      <p:sp>
        <p:nvSpPr>
          <p:cNvPr id="637" name="Google Shape;637;p58"/>
          <p:cNvSpPr txBox="1"/>
          <p:nvPr/>
        </p:nvSpPr>
        <p:spPr>
          <a:xfrm>
            <a:off x="394138" y="0"/>
            <a:ext cx="9285890" cy="7645781"/>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800"/>
              </a:spcBef>
              <a:spcAft>
                <a:spcPts val="0"/>
              </a:spcAft>
              <a:buNone/>
            </a:pPr>
            <a:r>
              <a:rPr lang="en-US" sz="2000" b="1" dirty="0">
                <a:solidFill>
                  <a:srgbClr val="273239"/>
                </a:solidFill>
                <a:highlight>
                  <a:srgbClr val="FFFFFF"/>
                </a:highlight>
                <a:latin typeface="Nunito"/>
                <a:ea typeface="Nunito"/>
                <a:cs typeface="Nunito"/>
                <a:sym typeface="Nunito"/>
              </a:rPr>
              <a:t>Hidden Markov Model  Algorithm</a:t>
            </a:r>
            <a:endParaRPr sz="2000" b="1" dirty="0">
              <a:solidFill>
                <a:srgbClr val="273239"/>
              </a:solidFill>
              <a:highlight>
                <a:srgbClr val="FFFFFF"/>
              </a:highlight>
              <a:latin typeface="Nunito"/>
              <a:ea typeface="Nunito"/>
              <a:cs typeface="Nunito"/>
              <a:sym typeface="Nunito"/>
            </a:endParaRPr>
          </a:p>
          <a:p>
            <a:pPr marL="0" lvl="0" indent="0" algn="l" rtl="0">
              <a:lnSpc>
                <a:spcPct val="115000"/>
              </a:lnSpc>
              <a:spcBef>
                <a:spcPts val="1800"/>
              </a:spcBef>
              <a:spcAft>
                <a:spcPts val="0"/>
              </a:spcAft>
              <a:buNone/>
            </a:pPr>
            <a:r>
              <a:rPr lang="en-US" sz="1800" dirty="0">
                <a:solidFill>
                  <a:schemeClr val="tx1"/>
                </a:solidFill>
                <a:highlight>
                  <a:srgbClr val="FFFFFF"/>
                </a:highlight>
                <a:latin typeface="Nunito"/>
                <a:ea typeface="Nunito"/>
                <a:cs typeface="Nunito"/>
                <a:sym typeface="Nunito"/>
              </a:rPr>
              <a:t>The Hidden Markov Model (HMM) algorithm can be implemented using the following steps:</a:t>
            </a:r>
            <a:endParaRPr sz="1800" dirty="0">
              <a:solidFill>
                <a:schemeClr val="tx1"/>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None/>
            </a:pPr>
            <a:r>
              <a:rPr lang="en-US" sz="1800" b="1" u="sng" dirty="0">
                <a:solidFill>
                  <a:schemeClr val="tx1"/>
                </a:solidFill>
                <a:highlight>
                  <a:srgbClr val="FFFFFF"/>
                </a:highlight>
                <a:latin typeface="Nunito"/>
                <a:ea typeface="Nunito"/>
                <a:cs typeface="Nunito"/>
                <a:sym typeface="Nunito"/>
              </a:rPr>
              <a:t>Step 1:</a:t>
            </a:r>
            <a:r>
              <a:rPr lang="en-US" sz="1800" b="1" dirty="0">
                <a:solidFill>
                  <a:schemeClr val="tx1"/>
                </a:solidFill>
                <a:highlight>
                  <a:srgbClr val="FFFFFF"/>
                </a:highlight>
                <a:latin typeface="Nunito"/>
                <a:ea typeface="Nunito"/>
                <a:cs typeface="Nunito"/>
                <a:sym typeface="Nunito"/>
              </a:rPr>
              <a:t> Define the state space and observation space</a:t>
            </a:r>
            <a:endParaRPr sz="1800" b="1" dirty="0">
              <a:solidFill>
                <a:schemeClr val="tx1"/>
              </a:solidFill>
              <a:highlight>
                <a:srgbClr val="FFFFFF"/>
              </a:highlight>
              <a:latin typeface="Nunito"/>
              <a:ea typeface="Nunito"/>
              <a:cs typeface="Nunito"/>
              <a:sym typeface="Nunito"/>
            </a:endParaRPr>
          </a:p>
          <a:p>
            <a:pPr marL="685800" lvl="0" indent="-314325" algn="just" rtl="0">
              <a:lnSpc>
                <a:spcPct val="158000"/>
              </a:lnSpc>
              <a:spcBef>
                <a:spcPts val="0"/>
              </a:spcBef>
              <a:spcAft>
                <a:spcPts val="0"/>
              </a:spcAft>
              <a:buClr>
                <a:srgbClr val="273239"/>
              </a:buClr>
              <a:buSzPts val="1350"/>
              <a:buFont typeface="Nunito"/>
              <a:buChar char="●"/>
            </a:pPr>
            <a:r>
              <a:rPr lang="en-US" sz="1800" dirty="0">
                <a:solidFill>
                  <a:schemeClr val="tx1"/>
                </a:solidFill>
                <a:highlight>
                  <a:srgbClr val="FFFFFF"/>
                </a:highlight>
                <a:latin typeface="Nunito"/>
                <a:ea typeface="Nunito"/>
                <a:cs typeface="Nunito"/>
                <a:sym typeface="Nunito"/>
              </a:rPr>
              <a:t>The state space is the set of all possible hidden states, and the observation space is the set of all possible observations.</a:t>
            </a:r>
            <a:endParaRPr sz="1800" dirty="0">
              <a:solidFill>
                <a:schemeClr val="tx1"/>
              </a:solidFill>
              <a:highlight>
                <a:srgbClr val="FFFFFF"/>
              </a:highlight>
              <a:latin typeface="Nunito"/>
              <a:ea typeface="Nunito"/>
              <a:cs typeface="Nunito"/>
              <a:sym typeface="Nunito"/>
            </a:endParaRPr>
          </a:p>
          <a:p>
            <a:pPr marL="0" lvl="0" indent="0" algn="just" rtl="0">
              <a:lnSpc>
                <a:spcPct val="115000"/>
              </a:lnSpc>
              <a:spcBef>
                <a:spcPts val="1800"/>
              </a:spcBef>
              <a:spcAft>
                <a:spcPts val="0"/>
              </a:spcAft>
              <a:buNone/>
            </a:pPr>
            <a:r>
              <a:rPr lang="en-US" sz="1800" b="1" u="sng" dirty="0">
                <a:solidFill>
                  <a:schemeClr val="tx1"/>
                </a:solidFill>
                <a:highlight>
                  <a:srgbClr val="FFFFFF"/>
                </a:highlight>
                <a:latin typeface="Nunito"/>
                <a:ea typeface="Nunito"/>
                <a:cs typeface="Nunito"/>
                <a:sym typeface="Nunito"/>
              </a:rPr>
              <a:t>Step 2:</a:t>
            </a:r>
            <a:r>
              <a:rPr lang="en-US" sz="1800" b="1" dirty="0">
                <a:solidFill>
                  <a:schemeClr val="tx1"/>
                </a:solidFill>
                <a:highlight>
                  <a:srgbClr val="FFFFFF"/>
                </a:highlight>
                <a:latin typeface="Nunito"/>
                <a:ea typeface="Nunito"/>
                <a:cs typeface="Nunito"/>
                <a:sym typeface="Nunito"/>
              </a:rPr>
              <a:t> Define the initial state distribution</a:t>
            </a:r>
            <a:endParaRPr sz="1800" b="1" dirty="0">
              <a:solidFill>
                <a:schemeClr val="tx1"/>
              </a:solidFill>
              <a:highlight>
                <a:srgbClr val="FFFFFF"/>
              </a:highlight>
              <a:latin typeface="Nunito"/>
              <a:ea typeface="Nunito"/>
              <a:cs typeface="Nunito"/>
              <a:sym typeface="Nunito"/>
            </a:endParaRPr>
          </a:p>
          <a:p>
            <a:pPr marL="685800" lvl="0" indent="-314325" algn="just" rtl="0">
              <a:lnSpc>
                <a:spcPct val="158000"/>
              </a:lnSpc>
              <a:spcBef>
                <a:spcPts val="0"/>
              </a:spcBef>
              <a:spcAft>
                <a:spcPts val="0"/>
              </a:spcAft>
              <a:buClr>
                <a:srgbClr val="273239"/>
              </a:buClr>
              <a:buSzPts val="1350"/>
              <a:buFont typeface="Nunito"/>
              <a:buChar char="●"/>
            </a:pPr>
            <a:r>
              <a:rPr lang="en-US" sz="1800" dirty="0">
                <a:solidFill>
                  <a:schemeClr val="tx1"/>
                </a:solidFill>
                <a:highlight>
                  <a:srgbClr val="FFFFFF"/>
                </a:highlight>
                <a:latin typeface="Nunito"/>
                <a:ea typeface="Nunito"/>
                <a:cs typeface="Nunito"/>
                <a:sym typeface="Nunito"/>
              </a:rPr>
              <a:t>This is the probability distribution over the initial state.</a:t>
            </a:r>
            <a:endParaRPr sz="1800" dirty="0">
              <a:solidFill>
                <a:schemeClr val="tx1"/>
              </a:solidFill>
              <a:highlight>
                <a:srgbClr val="FFFFFF"/>
              </a:highlight>
              <a:latin typeface="Nunito"/>
              <a:ea typeface="Nunito"/>
              <a:cs typeface="Nunito"/>
              <a:sym typeface="Nunito"/>
            </a:endParaRPr>
          </a:p>
          <a:p>
            <a:pPr marL="0" lvl="0" indent="0" algn="just" rtl="0">
              <a:lnSpc>
                <a:spcPct val="115000"/>
              </a:lnSpc>
              <a:spcBef>
                <a:spcPts val="1800"/>
              </a:spcBef>
              <a:spcAft>
                <a:spcPts val="0"/>
              </a:spcAft>
              <a:buNone/>
            </a:pPr>
            <a:r>
              <a:rPr lang="en-US" sz="1800" b="1" u="sng" dirty="0">
                <a:solidFill>
                  <a:schemeClr val="tx1"/>
                </a:solidFill>
                <a:highlight>
                  <a:srgbClr val="FFFFFF"/>
                </a:highlight>
                <a:latin typeface="Nunito"/>
                <a:ea typeface="Nunito"/>
                <a:cs typeface="Nunito"/>
                <a:sym typeface="Nunito"/>
              </a:rPr>
              <a:t>Step 3:</a:t>
            </a:r>
            <a:r>
              <a:rPr lang="en-US" sz="1800" b="1" dirty="0">
                <a:solidFill>
                  <a:schemeClr val="tx1"/>
                </a:solidFill>
                <a:highlight>
                  <a:srgbClr val="FFFFFF"/>
                </a:highlight>
                <a:latin typeface="Nunito"/>
                <a:ea typeface="Nunito"/>
                <a:cs typeface="Nunito"/>
                <a:sym typeface="Nunito"/>
              </a:rPr>
              <a:t> Define the state transition probabilities</a:t>
            </a:r>
            <a:endParaRPr sz="1800" b="1" dirty="0">
              <a:solidFill>
                <a:schemeClr val="tx1"/>
              </a:solidFill>
              <a:highlight>
                <a:srgbClr val="FFFFFF"/>
              </a:highlight>
              <a:latin typeface="Nunito"/>
              <a:ea typeface="Nunito"/>
              <a:cs typeface="Nunito"/>
              <a:sym typeface="Nunito"/>
            </a:endParaRPr>
          </a:p>
          <a:p>
            <a:pPr marL="685800" lvl="0" indent="-314325" algn="just" rtl="0">
              <a:lnSpc>
                <a:spcPct val="158000"/>
              </a:lnSpc>
              <a:spcBef>
                <a:spcPts val="0"/>
              </a:spcBef>
              <a:spcAft>
                <a:spcPts val="0"/>
              </a:spcAft>
              <a:buClr>
                <a:srgbClr val="273239"/>
              </a:buClr>
              <a:buSzPts val="1350"/>
              <a:buFont typeface="Nunito"/>
              <a:buChar char="●"/>
            </a:pPr>
            <a:r>
              <a:rPr lang="en-US" sz="1800" dirty="0">
                <a:solidFill>
                  <a:schemeClr val="tx1"/>
                </a:solidFill>
                <a:highlight>
                  <a:srgbClr val="FFFFFF"/>
                </a:highlight>
                <a:latin typeface="Nunito"/>
                <a:ea typeface="Nunito"/>
                <a:cs typeface="Nunito"/>
                <a:sym typeface="Nunito"/>
              </a:rPr>
              <a:t> These are the probabilities of transitioning from one state to another. This forms the transition matrix, which describes the probability of moving from one state to another.</a:t>
            </a:r>
            <a:endParaRPr sz="1800" dirty="0">
              <a:solidFill>
                <a:schemeClr val="tx1"/>
              </a:solidFill>
              <a:highlight>
                <a:srgbClr val="FFFFFF"/>
              </a:highlight>
              <a:latin typeface="Nunito"/>
              <a:ea typeface="Nunito"/>
              <a:cs typeface="Nunito"/>
              <a:sym typeface="Nunito"/>
            </a:endParaRPr>
          </a:p>
          <a:p>
            <a:pPr marL="0" lvl="0" indent="0" algn="just" rtl="0">
              <a:lnSpc>
                <a:spcPct val="115000"/>
              </a:lnSpc>
              <a:spcBef>
                <a:spcPts val="1800"/>
              </a:spcBef>
              <a:spcAft>
                <a:spcPts val="0"/>
              </a:spcAft>
              <a:buNone/>
            </a:pPr>
            <a:r>
              <a:rPr lang="en-US" sz="1800" b="1" u="sng" dirty="0">
                <a:solidFill>
                  <a:schemeClr val="tx1"/>
                </a:solidFill>
                <a:highlight>
                  <a:srgbClr val="FFFFFF"/>
                </a:highlight>
                <a:latin typeface="Nunito"/>
                <a:ea typeface="Nunito"/>
                <a:cs typeface="Nunito"/>
                <a:sym typeface="Nunito"/>
              </a:rPr>
              <a:t>Step 4:</a:t>
            </a:r>
            <a:r>
              <a:rPr lang="en-US" sz="1800" b="1" dirty="0">
                <a:solidFill>
                  <a:schemeClr val="tx1"/>
                </a:solidFill>
                <a:highlight>
                  <a:srgbClr val="FFFFFF"/>
                </a:highlight>
                <a:latin typeface="Nunito"/>
                <a:ea typeface="Nunito"/>
                <a:cs typeface="Nunito"/>
                <a:sym typeface="Nunito"/>
              </a:rPr>
              <a:t> Define the observation likelihoods: </a:t>
            </a:r>
            <a:endParaRPr sz="1800" b="1" dirty="0">
              <a:solidFill>
                <a:schemeClr val="tx1"/>
              </a:solidFill>
              <a:highlight>
                <a:srgbClr val="FFFFFF"/>
              </a:highlight>
              <a:latin typeface="Nunito"/>
              <a:ea typeface="Nunito"/>
              <a:cs typeface="Nunito"/>
              <a:sym typeface="Nunito"/>
            </a:endParaRPr>
          </a:p>
          <a:p>
            <a:pPr marL="685800" lvl="0" indent="-314325" algn="just" rtl="0">
              <a:lnSpc>
                <a:spcPct val="158000"/>
              </a:lnSpc>
              <a:spcBef>
                <a:spcPts val="0"/>
              </a:spcBef>
              <a:spcAft>
                <a:spcPts val="0"/>
              </a:spcAft>
              <a:buClr>
                <a:srgbClr val="273239"/>
              </a:buClr>
              <a:buSzPts val="1350"/>
              <a:buFont typeface="Nunito"/>
              <a:buChar char="●"/>
            </a:pPr>
            <a:r>
              <a:rPr lang="en-US" sz="1800" dirty="0">
                <a:solidFill>
                  <a:schemeClr val="tx1"/>
                </a:solidFill>
                <a:highlight>
                  <a:srgbClr val="FFFFFF"/>
                </a:highlight>
                <a:latin typeface="Nunito"/>
                <a:ea typeface="Nunito"/>
                <a:cs typeface="Nunito"/>
                <a:sym typeface="Nunito"/>
              </a:rPr>
              <a:t>These are the probabilities of generating each observation from each state. This forms the emission matrix, which describes the probability of generating each observation from each state</a:t>
            </a:r>
            <a:r>
              <a:rPr lang="en-US" sz="1800" dirty="0" smtClean="0">
                <a:solidFill>
                  <a:schemeClr val="tx1"/>
                </a:solidFill>
                <a:highlight>
                  <a:srgbClr val="FFFFFF"/>
                </a:highlight>
                <a:latin typeface="Nunito"/>
                <a:ea typeface="Nunito"/>
                <a:cs typeface="Nunito"/>
                <a:sym typeface="Nunito"/>
              </a:rPr>
              <a:t>.</a:t>
            </a:r>
            <a:endParaRPr sz="1800" dirty="0">
              <a:solidFill>
                <a:schemeClr val="tx1"/>
              </a:solidFill>
              <a:highlight>
                <a:srgbClr val="FFFFFF"/>
              </a:highlight>
              <a:latin typeface="Nunito"/>
              <a:ea typeface="Nunito"/>
              <a:cs typeface="Nunito"/>
              <a:sym typeface="Nunito"/>
            </a:endParaRPr>
          </a:p>
        </p:txBody>
      </p:sp>
    </p:spTree>
    <p:extLst>
      <p:ext uri="{BB962C8B-B14F-4D97-AF65-F5344CB8AC3E}">
        <p14:creationId xmlns:p14="http://schemas.microsoft.com/office/powerpoint/2010/main" val="21598163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635"/>
        <p:cNvGrpSpPr/>
        <p:nvPr/>
      </p:nvGrpSpPr>
      <p:grpSpPr>
        <a:xfrm>
          <a:off x="0" y="0"/>
          <a:ext cx="0" cy="0"/>
          <a:chOff x="0" y="0"/>
          <a:chExt cx="0" cy="0"/>
        </a:xfrm>
      </p:grpSpPr>
      <p:sp>
        <p:nvSpPr>
          <p:cNvPr id="636" name="Google Shape;636;p58"/>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70</a:t>
            </a:fld>
            <a:endParaRPr/>
          </a:p>
        </p:txBody>
      </p:sp>
      <p:sp>
        <p:nvSpPr>
          <p:cNvPr id="637" name="Google Shape;637;p58"/>
          <p:cNvSpPr txBox="1"/>
          <p:nvPr/>
        </p:nvSpPr>
        <p:spPr>
          <a:xfrm>
            <a:off x="378372" y="220717"/>
            <a:ext cx="9380483" cy="6535605"/>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800"/>
              </a:spcBef>
              <a:spcAft>
                <a:spcPts val="0"/>
              </a:spcAft>
              <a:buNone/>
            </a:pPr>
            <a:r>
              <a:rPr lang="en-US" sz="1800" b="1" dirty="0">
                <a:solidFill>
                  <a:srgbClr val="273239"/>
                </a:solidFill>
                <a:highlight>
                  <a:srgbClr val="FFFFFF"/>
                </a:highlight>
                <a:latin typeface="Nunito"/>
                <a:ea typeface="Nunito"/>
                <a:cs typeface="Nunito"/>
                <a:sym typeface="Nunito"/>
              </a:rPr>
              <a:t>Hidden Markov Model  Algorithm</a:t>
            </a:r>
            <a:endParaRPr sz="1800" b="1" dirty="0">
              <a:solidFill>
                <a:srgbClr val="273239"/>
              </a:solidFill>
              <a:highlight>
                <a:srgbClr val="FFFFFF"/>
              </a:highlight>
              <a:latin typeface="Nunito"/>
              <a:ea typeface="Nunito"/>
              <a:cs typeface="Nunito"/>
              <a:sym typeface="Nunito"/>
            </a:endParaRPr>
          </a:p>
          <a:p>
            <a:pPr marL="0" lvl="0" indent="0" algn="l" rtl="0">
              <a:lnSpc>
                <a:spcPct val="115000"/>
              </a:lnSpc>
              <a:spcBef>
                <a:spcPts val="1800"/>
              </a:spcBef>
              <a:spcAft>
                <a:spcPts val="0"/>
              </a:spcAft>
              <a:buNone/>
            </a:pPr>
            <a:r>
              <a:rPr lang="en-US" sz="1800" b="1" u="sng" dirty="0" smtClean="0">
                <a:solidFill>
                  <a:srgbClr val="273239"/>
                </a:solidFill>
                <a:highlight>
                  <a:srgbClr val="FFFFFF"/>
                </a:highlight>
                <a:latin typeface="Nunito"/>
                <a:ea typeface="Nunito"/>
                <a:cs typeface="Nunito"/>
                <a:sym typeface="Nunito"/>
              </a:rPr>
              <a:t>Step </a:t>
            </a:r>
            <a:r>
              <a:rPr lang="en-US" sz="1800" b="1" u="sng" dirty="0">
                <a:solidFill>
                  <a:srgbClr val="273239"/>
                </a:solidFill>
                <a:highlight>
                  <a:srgbClr val="FFFFFF"/>
                </a:highlight>
                <a:latin typeface="Nunito"/>
                <a:ea typeface="Nunito"/>
                <a:cs typeface="Nunito"/>
                <a:sym typeface="Nunito"/>
              </a:rPr>
              <a:t>5:</a:t>
            </a:r>
            <a:r>
              <a:rPr lang="en-US" sz="1800" b="1" dirty="0">
                <a:solidFill>
                  <a:srgbClr val="273239"/>
                </a:solidFill>
                <a:highlight>
                  <a:srgbClr val="FFFFFF"/>
                </a:highlight>
                <a:latin typeface="Nunito"/>
                <a:ea typeface="Nunito"/>
                <a:cs typeface="Nunito"/>
                <a:sym typeface="Nunito"/>
              </a:rPr>
              <a:t> Train the model</a:t>
            </a:r>
            <a:endParaRPr sz="1800" b="1" dirty="0">
              <a:solidFill>
                <a:srgbClr val="273239"/>
              </a:solidFill>
              <a:highlight>
                <a:srgbClr val="FFFFFF"/>
              </a:highlight>
              <a:latin typeface="Nunito"/>
              <a:ea typeface="Nunito"/>
              <a:cs typeface="Nunito"/>
              <a:sym typeface="Nunito"/>
            </a:endParaRPr>
          </a:p>
          <a:p>
            <a:pPr marL="685800" lvl="0" indent="-314325" algn="l" rtl="0">
              <a:lnSpc>
                <a:spcPct val="158000"/>
              </a:lnSpc>
              <a:spcBef>
                <a:spcPts val="0"/>
              </a:spcBef>
              <a:spcAft>
                <a:spcPts val="0"/>
              </a:spcAft>
              <a:buClr>
                <a:srgbClr val="273239"/>
              </a:buClr>
              <a:buSzPts val="1350"/>
              <a:buFont typeface="Nunito"/>
              <a:buChar char="●"/>
            </a:pPr>
            <a:r>
              <a:rPr lang="en-US" sz="1800" dirty="0">
                <a:solidFill>
                  <a:srgbClr val="273239"/>
                </a:solidFill>
                <a:highlight>
                  <a:srgbClr val="FFFFFF"/>
                </a:highlight>
                <a:latin typeface="Nunito"/>
                <a:ea typeface="Nunito"/>
                <a:cs typeface="Nunito"/>
                <a:sym typeface="Nunito"/>
              </a:rPr>
              <a:t>The parameters of the state transition probabilities and the observation likelihoods are estimated using the Baum-Welch algorithm, or the forward-backward algorithm. This is done by iteratively updating the parameters until convergence.</a:t>
            </a:r>
            <a:endParaRPr sz="1800" dirty="0">
              <a:solidFill>
                <a:srgbClr val="273239"/>
              </a:solidFill>
              <a:highlight>
                <a:srgbClr val="FFFFFF"/>
              </a:highlight>
              <a:latin typeface="Nunito"/>
              <a:ea typeface="Nunito"/>
              <a:cs typeface="Nunito"/>
              <a:sym typeface="Nunito"/>
            </a:endParaRPr>
          </a:p>
          <a:p>
            <a:pPr marL="0" lvl="0" indent="0" algn="l" rtl="0">
              <a:lnSpc>
                <a:spcPct val="115000"/>
              </a:lnSpc>
              <a:spcBef>
                <a:spcPts val="1800"/>
              </a:spcBef>
              <a:spcAft>
                <a:spcPts val="0"/>
              </a:spcAft>
              <a:buNone/>
            </a:pPr>
            <a:r>
              <a:rPr lang="en-US" sz="1800" b="1" u="sng" dirty="0">
                <a:solidFill>
                  <a:srgbClr val="273239"/>
                </a:solidFill>
                <a:highlight>
                  <a:srgbClr val="FFFFFF"/>
                </a:highlight>
                <a:latin typeface="Nunito"/>
                <a:ea typeface="Nunito"/>
                <a:cs typeface="Nunito"/>
                <a:sym typeface="Nunito"/>
              </a:rPr>
              <a:t>Step 6:</a:t>
            </a:r>
            <a:r>
              <a:rPr lang="en-US" sz="1800" b="1" dirty="0">
                <a:solidFill>
                  <a:srgbClr val="273239"/>
                </a:solidFill>
                <a:highlight>
                  <a:srgbClr val="FFFFFF"/>
                </a:highlight>
                <a:latin typeface="Nunito"/>
                <a:ea typeface="Nunito"/>
                <a:cs typeface="Nunito"/>
                <a:sym typeface="Nunito"/>
              </a:rPr>
              <a:t> Decode the most likely sequence of hidden states</a:t>
            </a:r>
            <a:endParaRPr sz="1800" b="1" dirty="0">
              <a:solidFill>
                <a:srgbClr val="273239"/>
              </a:solidFill>
              <a:highlight>
                <a:srgbClr val="FFFFFF"/>
              </a:highlight>
              <a:latin typeface="Nunito"/>
              <a:ea typeface="Nunito"/>
              <a:cs typeface="Nunito"/>
              <a:sym typeface="Nunito"/>
            </a:endParaRPr>
          </a:p>
          <a:p>
            <a:pPr marL="685800" lvl="0" indent="-314325" algn="l" rtl="0">
              <a:lnSpc>
                <a:spcPct val="158000"/>
              </a:lnSpc>
              <a:spcBef>
                <a:spcPts val="0"/>
              </a:spcBef>
              <a:spcAft>
                <a:spcPts val="0"/>
              </a:spcAft>
              <a:buClr>
                <a:srgbClr val="273239"/>
              </a:buClr>
              <a:buSzPts val="1350"/>
              <a:buFont typeface="Nunito"/>
              <a:buChar char="●"/>
            </a:pPr>
            <a:r>
              <a:rPr lang="en-US" sz="1800" dirty="0">
                <a:solidFill>
                  <a:srgbClr val="273239"/>
                </a:solidFill>
                <a:highlight>
                  <a:srgbClr val="FFFFFF"/>
                </a:highlight>
                <a:latin typeface="Nunito"/>
                <a:ea typeface="Nunito"/>
                <a:cs typeface="Nunito"/>
                <a:sym typeface="Nunito"/>
              </a:rPr>
              <a:t>Given the observed data, the Viterbi algorithm is used to compute the most likely sequence of hidden states. This can be used to predict future observations, classify sequences, or detect patterns in sequential data.</a:t>
            </a:r>
            <a:endParaRPr sz="1800" dirty="0">
              <a:solidFill>
                <a:srgbClr val="273239"/>
              </a:solidFill>
              <a:highlight>
                <a:srgbClr val="FFFFFF"/>
              </a:highlight>
              <a:latin typeface="Nunito"/>
              <a:ea typeface="Nunito"/>
              <a:cs typeface="Nunito"/>
              <a:sym typeface="Nunito"/>
            </a:endParaRPr>
          </a:p>
          <a:p>
            <a:pPr marL="0" lvl="0" indent="0" algn="l" rtl="0">
              <a:lnSpc>
                <a:spcPct val="115000"/>
              </a:lnSpc>
              <a:spcBef>
                <a:spcPts val="1800"/>
              </a:spcBef>
              <a:spcAft>
                <a:spcPts val="0"/>
              </a:spcAft>
              <a:buNone/>
            </a:pPr>
            <a:r>
              <a:rPr lang="en-US" sz="1800" b="1" u="sng" dirty="0">
                <a:solidFill>
                  <a:srgbClr val="273239"/>
                </a:solidFill>
                <a:highlight>
                  <a:srgbClr val="FFFFFF"/>
                </a:highlight>
                <a:latin typeface="Nunito"/>
                <a:ea typeface="Nunito"/>
                <a:cs typeface="Nunito"/>
                <a:sym typeface="Nunito"/>
              </a:rPr>
              <a:t>Step 7:</a:t>
            </a:r>
            <a:r>
              <a:rPr lang="en-US" sz="1800" b="1" dirty="0">
                <a:solidFill>
                  <a:srgbClr val="273239"/>
                </a:solidFill>
                <a:highlight>
                  <a:srgbClr val="FFFFFF"/>
                </a:highlight>
                <a:latin typeface="Nunito"/>
                <a:ea typeface="Nunito"/>
                <a:cs typeface="Nunito"/>
                <a:sym typeface="Nunito"/>
              </a:rPr>
              <a:t> Evaluate the model</a:t>
            </a:r>
            <a:endParaRPr sz="1800" b="1" dirty="0">
              <a:solidFill>
                <a:srgbClr val="273239"/>
              </a:solidFill>
              <a:highlight>
                <a:srgbClr val="FFFFFF"/>
              </a:highlight>
              <a:latin typeface="Nunito"/>
              <a:ea typeface="Nunito"/>
              <a:cs typeface="Nunito"/>
              <a:sym typeface="Nunito"/>
            </a:endParaRPr>
          </a:p>
          <a:p>
            <a:pPr marL="685800" lvl="0" indent="-314325" algn="l" rtl="0">
              <a:lnSpc>
                <a:spcPct val="158000"/>
              </a:lnSpc>
              <a:spcBef>
                <a:spcPts val="0"/>
              </a:spcBef>
              <a:spcAft>
                <a:spcPts val="0"/>
              </a:spcAft>
              <a:buClr>
                <a:srgbClr val="273239"/>
              </a:buClr>
              <a:buSzPts val="1350"/>
              <a:buFont typeface="Nunito"/>
              <a:buChar char="●"/>
            </a:pPr>
            <a:r>
              <a:rPr lang="en-US" sz="1800" dirty="0">
                <a:solidFill>
                  <a:srgbClr val="273239"/>
                </a:solidFill>
                <a:highlight>
                  <a:srgbClr val="FFFFFF"/>
                </a:highlight>
                <a:latin typeface="Nunito"/>
                <a:ea typeface="Nunito"/>
                <a:cs typeface="Nunito"/>
                <a:sym typeface="Nunito"/>
              </a:rPr>
              <a:t>The performance of the HMM can be evaluated using various metrics, such as accuracy, precision, recall, or F1 score.</a:t>
            </a:r>
            <a:endParaRPr sz="1800" dirty="0">
              <a:solidFill>
                <a:srgbClr val="273239"/>
              </a:solidFill>
              <a:highlight>
                <a:srgbClr val="FFFFFF"/>
              </a:highlight>
              <a:latin typeface="Nunito"/>
              <a:ea typeface="Nunito"/>
              <a:cs typeface="Nunito"/>
              <a:sym typeface="Nunito"/>
            </a:endParaRPr>
          </a:p>
          <a:p>
            <a:pPr marL="0" lvl="0" indent="0" algn="just" rtl="0">
              <a:lnSpc>
                <a:spcPct val="115000"/>
              </a:lnSpc>
              <a:spcBef>
                <a:spcPts val="1800"/>
              </a:spcBef>
              <a:spcAft>
                <a:spcPts val="800"/>
              </a:spcAft>
              <a:buNone/>
            </a:pPr>
            <a:endParaRPr sz="1800" dirty="0">
              <a:solidFill>
                <a:srgbClr val="273239"/>
              </a:solidFill>
              <a:highlight>
                <a:srgbClr val="FFFFFF"/>
              </a:highlight>
              <a:latin typeface="Nunito"/>
              <a:ea typeface="Nunito"/>
              <a:cs typeface="Nunito"/>
              <a:sym typeface="Nunito"/>
            </a:endParaRPr>
          </a:p>
        </p:txBody>
      </p:sp>
    </p:spTree>
    <p:extLst>
      <p:ext uri="{BB962C8B-B14F-4D97-AF65-F5344CB8AC3E}">
        <p14:creationId xmlns:p14="http://schemas.microsoft.com/office/powerpoint/2010/main" val="314270740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749" y="28829"/>
            <a:ext cx="10034651" cy="1223412"/>
          </a:xfrm>
        </p:spPr>
        <p:txBody>
          <a:bodyPr/>
          <a:lstStyle/>
          <a:p>
            <a:pPr algn="ctr"/>
            <a:r>
              <a:rPr lang="en-IN" b="1" dirty="0" smtClean="0"/>
              <a:t/>
            </a:r>
            <a:br>
              <a:rPr lang="en-IN" b="1" dirty="0" smtClean="0"/>
            </a:br>
            <a:r>
              <a:rPr lang="en-IN" b="1" dirty="0" smtClean="0"/>
              <a:t>Hidden </a:t>
            </a:r>
            <a:r>
              <a:rPr lang="en-IN" b="1" dirty="0"/>
              <a:t>Markov Model’s advantages and disadvantages for NLP?</a:t>
            </a:r>
            <a:br>
              <a:rPr lang="en-IN" b="1" dirty="0"/>
            </a:br>
            <a:endParaRPr lang="en-IN" dirty="0"/>
          </a:p>
        </p:txBody>
      </p:sp>
      <p:sp>
        <p:nvSpPr>
          <p:cNvPr id="3" name="Text Placeholder 2"/>
          <p:cNvSpPr>
            <a:spLocks noGrp="1"/>
          </p:cNvSpPr>
          <p:nvPr>
            <p:ph type="body" idx="1"/>
          </p:nvPr>
        </p:nvSpPr>
        <p:spPr>
          <a:xfrm>
            <a:off x="252248" y="1063208"/>
            <a:ext cx="9538138" cy="6601807"/>
          </a:xfrm>
        </p:spPr>
        <p:txBody>
          <a:bodyPr/>
          <a:lstStyle/>
          <a:p>
            <a:pPr fontAlgn="base"/>
            <a:endParaRPr lang="en-US" b="1" dirty="0" smtClean="0"/>
          </a:p>
          <a:p>
            <a:pPr fontAlgn="base"/>
            <a:r>
              <a:rPr lang="en-US" b="1" dirty="0" smtClean="0"/>
              <a:t>PROs:</a:t>
            </a:r>
          </a:p>
          <a:p>
            <a:pPr marL="571500" indent="-342900" algn="just" fontAlgn="base">
              <a:buFont typeface="Arial" panose="020B0604020202020204" pitchFamily="34" charset="0"/>
              <a:buChar char="•"/>
            </a:pPr>
            <a:r>
              <a:rPr lang="en-US" dirty="0" smtClean="0"/>
              <a:t>HMMs </a:t>
            </a:r>
            <a:r>
              <a:rPr lang="en-US" dirty="0"/>
              <a:t>are used a lot and have been extensively studied. There are algorithms for training and decoding that work well.</a:t>
            </a:r>
          </a:p>
          <a:p>
            <a:pPr marL="571500" indent="-342900" algn="just" fontAlgn="base">
              <a:buFont typeface="Arial" panose="020B0604020202020204" pitchFamily="34" charset="0"/>
              <a:buChar char="•"/>
            </a:pPr>
            <a:r>
              <a:rPr lang="en-US" dirty="0"/>
              <a:t>For tasks like part-of-speech tagging and named entity recognition, where the context of a word in a sentence is crucial, HMMs can be used to model sequential data.</a:t>
            </a:r>
          </a:p>
          <a:p>
            <a:pPr marL="571500" indent="-342900" algn="just" fontAlgn="base">
              <a:buFont typeface="Arial" panose="020B0604020202020204" pitchFamily="34" charset="0"/>
              <a:buChar char="•"/>
            </a:pPr>
            <a:r>
              <a:rPr lang="en-US" dirty="0"/>
              <a:t>With the help of probabilities, HMMs can include more things, like linguistic context or data from the outside world</a:t>
            </a:r>
            <a:r>
              <a:rPr lang="en-US" dirty="0" smtClean="0"/>
              <a:t>.</a:t>
            </a:r>
          </a:p>
          <a:p>
            <a:pPr marL="571500" indent="-342900" algn="just" fontAlgn="base">
              <a:buFont typeface="Arial" panose="020B0604020202020204" pitchFamily="34" charset="0"/>
              <a:buChar char="•"/>
            </a:pPr>
            <a:endParaRPr lang="en-US" dirty="0" smtClean="0"/>
          </a:p>
          <a:p>
            <a:pPr marL="228600" indent="0" algn="just" fontAlgn="base"/>
            <a:r>
              <a:rPr lang="en-US" b="1" dirty="0" smtClean="0"/>
              <a:t>CONs:</a:t>
            </a:r>
            <a:endParaRPr lang="en-US" b="1" dirty="0"/>
          </a:p>
          <a:p>
            <a:pPr marL="571500" indent="-342900" algn="just" fontAlgn="base">
              <a:buFont typeface="Arial" panose="020B0604020202020204" pitchFamily="34" charset="0"/>
              <a:buChar char="•"/>
            </a:pPr>
            <a:r>
              <a:rPr lang="en-US" dirty="0"/>
              <a:t>HMMs assume that the observations are independent, which is often not true in NLP tasks because of the hidden states.</a:t>
            </a:r>
          </a:p>
          <a:p>
            <a:pPr marL="571500" indent="-342900" algn="just" fontAlgn="base">
              <a:buFont typeface="Arial" panose="020B0604020202020204" pitchFamily="34" charset="0"/>
              <a:buChar char="•"/>
            </a:pPr>
            <a:r>
              <a:rPr lang="en-US" dirty="0"/>
              <a:t>Long-range dependencies can be problematic for HMMs to handle, and they sometimes need help understanding the context of a word in a sentence entirely.</a:t>
            </a:r>
          </a:p>
          <a:p>
            <a:pPr marL="571500" indent="-342900" algn="just" fontAlgn="base">
              <a:buFont typeface="Arial" panose="020B0604020202020204" pitchFamily="34" charset="0"/>
              <a:buChar char="•"/>
            </a:pPr>
            <a:r>
              <a:rPr lang="en-US" dirty="0"/>
              <a:t>HMMs may need to be tuned carefully to work well because how the initial model parameters are chosen can affect how well they work.</a:t>
            </a:r>
          </a:p>
          <a:p>
            <a:pPr algn="just" fontAlgn="base"/>
            <a:endParaRPr lang="en-US" dirty="0" smtClean="0"/>
          </a:p>
          <a:p>
            <a:pPr algn="just" fontAlgn="base"/>
            <a:r>
              <a:rPr lang="en-US" dirty="0"/>
              <a:t> </a:t>
            </a:r>
            <a:r>
              <a:rPr lang="en-US" dirty="0" smtClean="0"/>
              <a:t>   </a:t>
            </a:r>
            <a:r>
              <a:rPr lang="en-US" b="1" dirty="0" smtClean="0"/>
              <a:t>The </a:t>
            </a:r>
            <a:r>
              <a:rPr lang="en-US" b="1" dirty="0"/>
              <a:t>hidden Markov Model can be helpful for NLP tasks, but they are not always the most effective or flexible method. Other methods, like recurrent neural networks, may be better for some functions or data sets.</a:t>
            </a:r>
          </a:p>
          <a:p>
            <a:pPr marL="571500" indent="-342900" algn="just" fontAlgn="base">
              <a:buFont typeface="Arial" panose="020B0604020202020204" pitchFamily="34" charset="0"/>
              <a:buChar char="•"/>
            </a:pPr>
            <a:endParaRPr lang="en-US" dirty="0"/>
          </a:p>
          <a:p>
            <a:pPr algn="just"/>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71</a:t>
            </a:fld>
            <a:endParaRPr lang="en-US" sz="1800" b="0" i="0" u="none" strike="noStrike" cap="none">
              <a:latin typeface="Calibri"/>
              <a:ea typeface="Calibri"/>
              <a:cs typeface="Calibri"/>
              <a:sym typeface="Calibri"/>
            </a:endParaRPr>
          </a:p>
        </p:txBody>
      </p:sp>
    </p:spTree>
    <p:extLst>
      <p:ext uri="{BB962C8B-B14F-4D97-AF65-F5344CB8AC3E}">
        <p14:creationId xmlns:p14="http://schemas.microsoft.com/office/powerpoint/2010/main" val="206714684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749" y="28829"/>
            <a:ext cx="10034651" cy="815608"/>
          </a:xfrm>
        </p:spPr>
        <p:txBody>
          <a:bodyPr/>
          <a:lstStyle/>
          <a:p>
            <a:pPr algn="ctr" fontAlgn="base"/>
            <a:r>
              <a:rPr lang="en-IN" b="1" dirty="0" smtClean="0"/>
              <a:t/>
            </a:r>
            <a:br>
              <a:rPr lang="en-IN" b="1" dirty="0" smtClean="0"/>
            </a:br>
            <a:r>
              <a:rPr lang="en-US" b="1" dirty="0"/>
              <a:t>T</a:t>
            </a:r>
            <a:r>
              <a:rPr lang="en-US" b="1" dirty="0" smtClean="0"/>
              <a:t>he </a:t>
            </a:r>
            <a:r>
              <a:rPr lang="en-US" b="1" dirty="0"/>
              <a:t>Hidden Markov Model’s Applications in NLP?</a:t>
            </a:r>
          </a:p>
        </p:txBody>
      </p:sp>
      <p:sp>
        <p:nvSpPr>
          <p:cNvPr id="3" name="Text Placeholder 2"/>
          <p:cNvSpPr>
            <a:spLocks noGrp="1"/>
          </p:cNvSpPr>
          <p:nvPr>
            <p:ph type="body" idx="1"/>
          </p:nvPr>
        </p:nvSpPr>
        <p:spPr>
          <a:xfrm>
            <a:off x="252248" y="1063208"/>
            <a:ext cx="9538138" cy="4616648"/>
          </a:xfrm>
        </p:spPr>
        <p:txBody>
          <a:bodyPr/>
          <a:lstStyle/>
          <a:p>
            <a:pPr marL="514350" indent="-285750" algn="just" fontAlgn="base">
              <a:buFont typeface="Arial" panose="020B0604020202020204" pitchFamily="34" charset="0"/>
              <a:buChar char="•"/>
            </a:pPr>
            <a:r>
              <a:rPr lang="en-US" sz="2000" dirty="0"/>
              <a:t>Part-of-speech tagging: Using the word order and the POS tags of words around it, HMMs can predict the part-of-speech tag for each word in a sentence</a:t>
            </a:r>
            <a:r>
              <a:rPr lang="en-US" sz="2000" dirty="0" smtClean="0"/>
              <a:t>.</a:t>
            </a:r>
          </a:p>
          <a:p>
            <a:pPr marL="514350" indent="-285750" algn="just" fontAlgn="base">
              <a:buFont typeface="Arial" panose="020B0604020202020204" pitchFamily="34" charset="0"/>
              <a:buChar char="•"/>
            </a:pPr>
            <a:endParaRPr lang="en-US" sz="2000" dirty="0"/>
          </a:p>
          <a:p>
            <a:pPr marL="514350" indent="-285750" algn="just" fontAlgn="base">
              <a:buFont typeface="Arial" panose="020B0604020202020204" pitchFamily="34" charset="0"/>
              <a:buChar char="•"/>
            </a:pPr>
            <a:r>
              <a:rPr lang="en-US" sz="2000" dirty="0">
                <a:hlinkClick r:id="rId2"/>
              </a:rPr>
              <a:t>Named entity recognition</a:t>
            </a:r>
            <a:r>
              <a:rPr lang="en-US" sz="2000" dirty="0"/>
              <a:t>: Named entities in text, such as names of people, places, or organizations, can be found using HMMs</a:t>
            </a:r>
            <a:r>
              <a:rPr lang="en-US" sz="2000" dirty="0" smtClean="0"/>
              <a:t>.</a:t>
            </a:r>
          </a:p>
          <a:p>
            <a:pPr marL="514350" indent="-285750" algn="just" fontAlgn="base">
              <a:buFont typeface="Arial" panose="020B0604020202020204" pitchFamily="34" charset="0"/>
              <a:buChar char="•"/>
            </a:pPr>
            <a:endParaRPr lang="en-US" sz="2000" dirty="0"/>
          </a:p>
          <a:p>
            <a:pPr marL="514350" indent="-285750" algn="just" fontAlgn="base">
              <a:buFont typeface="Arial" panose="020B0604020202020204" pitchFamily="34" charset="0"/>
              <a:buChar char="•"/>
            </a:pPr>
            <a:r>
              <a:rPr lang="en-US" sz="2000" dirty="0"/>
              <a:t>HMMs can turn spoken language into text by simulating the probability distribution of speech sounds given the words being spoken</a:t>
            </a:r>
            <a:r>
              <a:rPr lang="en-US" sz="2000" dirty="0" smtClean="0"/>
              <a:t>.</a:t>
            </a:r>
          </a:p>
          <a:p>
            <a:pPr marL="514350" indent="-285750" algn="just" fontAlgn="base">
              <a:buFont typeface="Arial" panose="020B0604020202020204" pitchFamily="34" charset="0"/>
              <a:buChar char="•"/>
            </a:pPr>
            <a:endParaRPr lang="en-US" sz="2000" dirty="0"/>
          </a:p>
          <a:p>
            <a:pPr marL="514350" indent="-285750" algn="just" fontAlgn="base">
              <a:buFont typeface="Arial" panose="020B0604020202020204" pitchFamily="34" charset="0"/>
              <a:buChar char="•"/>
            </a:pPr>
            <a:r>
              <a:rPr lang="en-US" sz="2000" dirty="0"/>
              <a:t>HMMs can</a:t>
            </a:r>
            <a:r>
              <a:rPr lang="en-US" sz="2000" dirty="0">
                <a:hlinkClick r:id="rId3"/>
              </a:rPr>
              <a:t> translate text</a:t>
            </a:r>
            <a:r>
              <a:rPr lang="en-US" sz="2000" dirty="0"/>
              <a:t> from one language to another by simulating the probability distribution of words in the target language given the words in the source language</a:t>
            </a:r>
            <a:r>
              <a:rPr lang="en-US" sz="2000" dirty="0" smtClean="0"/>
              <a:t>.</a:t>
            </a:r>
          </a:p>
          <a:p>
            <a:pPr marL="228600" indent="0" algn="just" fontAlgn="base"/>
            <a:endParaRPr lang="en-US" sz="2000" dirty="0"/>
          </a:p>
          <a:p>
            <a:pPr marL="514350" indent="-285750" algn="just" fontAlgn="base">
              <a:buFont typeface="Arial" panose="020B0604020202020204" pitchFamily="34" charset="0"/>
              <a:buChar char="•"/>
            </a:pPr>
            <a:r>
              <a:rPr lang="en-US" sz="2000" dirty="0"/>
              <a:t>Language modelling: Using the previous words in a sequence as a guide, HMMs can predict the following word. This can enhance the efficiency of language processing tasks like text generation and spelling checking.</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72</a:t>
            </a:fld>
            <a:endParaRPr lang="en-US" sz="1800" b="0" i="0" u="none" strike="noStrike" cap="none">
              <a:latin typeface="Calibri"/>
              <a:ea typeface="Calibri"/>
              <a:cs typeface="Calibri"/>
              <a:sym typeface="Calibri"/>
            </a:endParaRPr>
          </a:p>
        </p:txBody>
      </p:sp>
    </p:spTree>
    <p:extLst>
      <p:ext uri="{BB962C8B-B14F-4D97-AF65-F5344CB8AC3E}">
        <p14:creationId xmlns:p14="http://schemas.microsoft.com/office/powerpoint/2010/main" val="410519064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Shape 698"/>
        <p:cNvGrpSpPr/>
        <p:nvPr/>
      </p:nvGrpSpPr>
      <p:grpSpPr>
        <a:xfrm>
          <a:off x="0" y="0"/>
          <a:ext cx="0" cy="0"/>
          <a:chOff x="0" y="0"/>
          <a:chExt cx="0" cy="0"/>
        </a:xfrm>
      </p:grpSpPr>
      <p:sp>
        <p:nvSpPr>
          <p:cNvPr id="699" name="Google Shape;699;p67"/>
          <p:cNvSpPr txBox="1">
            <a:spLocks noGrp="1"/>
          </p:cNvSpPr>
          <p:nvPr>
            <p:ph type="title"/>
          </p:nvPr>
        </p:nvSpPr>
        <p:spPr>
          <a:xfrm>
            <a:off x="643767" y="777372"/>
            <a:ext cx="4606150" cy="4298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dirty="0"/>
              <a:t>Research at IITB</a:t>
            </a:r>
            <a:endParaRPr dirty="0"/>
          </a:p>
        </p:txBody>
      </p:sp>
      <p:pic>
        <p:nvPicPr>
          <p:cNvPr id="700" name="Google Shape;700;p67"/>
          <p:cNvPicPr preferRelativeResize="0"/>
          <p:nvPr/>
        </p:nvPicPr>
        <p:blipFill rotWithShape="1">
          <a:blip r:embed="rId3">
            <a:alphaModFix/>
          </a:blip>
          <a:srcRect/>
          <a:stretch/>
        </p:blipFill>
        <p:spPr>
          <a:xfrm>
            <a:off x="790851" y="1751234"/>
            <a:ext cx="8549640" cy="4649724"/>
          </a:xfrm>
          <a:prstGeom prst="rect">
            <a:avLst/>
          </a:prstGeom>
          <a:noFill/>
          <a:ln>
            <a:noFill/>
          </a:ln>
        </p:spPr>
      </p:pic>
      <p:sp>
        <p:nvSpPr>
          <p:cNvPr id="701" name="Google Shape;701;p67"/>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73</a:t>
            </a:fld>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Shape 705"/>
        <p:cNvGrpSpPr/>
        <p:nvPr/>
      </p:nvGrpSpPr>
      <p:grpSpPr>
        <a:xfrm>
          <a:off x="0" y="0"/>
          <a:ext cx="0" cy="0"/>
          <a:chOff x="0" y="0"/>
          <a:chExt cx="0" cy="0"/>
        </a:xfrm>
      </p:grpSpPr>
      <p:pic>
        <p:nvPicPr>
          <p:cNvPr id="706" name="Google Shape;706;p68"/>
          <p:cNvPicPr preferRelativeResize="0"/>
          <p:nvPr/>
        </p:nvPicPr>
        <p:blipFill rotWithShape="1">
          <a:blip r:embed="rId3">
            <a:alphaModFix/>
          </a:blip>
          <a:srcRect/>
          <a:stretch/>
        </p:blipFill>
        <p:spPr>
          <a:xfrm>
            <a:off x="438912" y="1344167"/>
            <a:ext cx="9401556" cy="5285232"/>
          </a:xfrm>
          <a:prstGeom prst="rect">
            <a:avLst/>
          </a:prstGeom>
          <a:noFill/>
          <a:ln>
            <a:noFill/>
          </a:ln>
        </p:spPr>
      </p:pic>
      <p:sp>
        <p:nvSpPr>
          <p:cNvPr id="707" name="Google Shape;707;p68"/>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74</a:t>
            </a:fld>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Shape 711"/>
        <p:cNvGrpSpPr/>
        <p:nvPr/>
      </p:nvGrpSpPr>
      <p:grpSpPr>
        <a:xfrm>
          <a:off x="0" y="0"/>
          <a:ext cx="0" cy="0"/>
          <a:chOff x="0" y="0"/>
          <a:chExt cx="0" cy="0"/>
        </a:xfrm>
      </p:grpSpPr>
      <p:sp>
        <p:nvSpPr>
          <p:cNvPr id="712" name="Google Shape;712;p69"/>
          <p:cNvSpPr txBox="1">
            <a:spLocks noGrp="1"/>
          </p:cNvSpPr>
          <p:nvPr>
            <p:ph type="title"/>
          </p:nvPr>
        </p:nvSpPr>
        <p:spPr>
          <a:xfrm>
            <a:off x="753362" y="711706"/>
            <a:ext cx="5726265" cy="5740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600" dirty="0"/>
              <a:t>Parsing / Syntax Analysis</a:t>
            </a:r>
            <a:endParaRPr sz="3600" dirty="0"/>
          </a:p>
        </p:txBody>
      </p:sp>
      <p:sp>
        <p:nvSpPr>
          <p:cNvPr id="713" name="Google Shape;713;p69"/>
          <p:cNvSpPr txBox="1"/>
          <p:nvPr/>
        </p:nvSpPr>
        <p:spPr>
          <a:xfrm>
            <a:off x="753362" y="1642372"/>
            <a:ext cx="8423910" cy="3909645"/>
          </a:xfrm>
          <a:prstGeom prst="rect">
            <a:avLst/>
          </a:prstGeom>
          <a:noFill/>
          <a:ln>
            <a:noFill/>
          </a:ln>
        </p:spPr>
        <p:txBody>
          <a:bodyPr spcFirstLastPara="1" wrap="square" lIns="0" tIns="50150" rIns="0" bIns="0" anchor="t" anchorCtr="0">
            <a:spAutoFit/>
          </a:bodyPr>
          <a:lstStyle/>
          <a:p>
            <a:pPr marL="201295" marR="132080" lvl="0" indent="-189230" algn="l" rtl="0">
              <a:lnSpc>
                <a:spcPct val="108695"/>
              </a:lnSpc>
              <a:spcBef>
                <a:spcPts val="0"/>
              </a:spcBef>
              <a:spcAft>
                <a:spcPts val="0"/>
              </a:spcAft>
              <a:buClr>
                <a:schemeClr val="dk1"/>
              </a:buClr>
              <a:buSzPts val="1409"/>
              <a:buFont typeface="Arial"/>
              <a:buChar char="•"/>
            </a:pPr>
            <a:r>
              <a:rPr lang="en-US" sz="2300" dirty="0" smtClean="0">
                <a:solidFill>
                  <a:schemeClr val="dk1"/>
                </a:solidFill>
                <a:latin typeface="Calibri"/>
                <a:ea typeface="Calibri"/>
                <a:cs typeface="Calibri"/>
                <a:sym typeface="Calibri"/>
              </a:rPr>
              <a:t>Given </a:t>
            </a:r>
            <a:r>
              <a:rPr lang="en-US" sz="2300" dirty="0">
                <a:solidFill>
                  <a:schemeClr val="dk1"/>
                </a:solidFill>
                <a:latin typeface="Calibri"/>
                <a:ea typeface="Calibri"/>
                <a:cs typeface="Calibri"/>
                <a:sym typeface="Calibri"/>
              </a:rPr>
              <a:t>a string of terminals and a CFG, determine if the string can be  generated by the CFG.</a:t>
            </a:r>
            <a:endParaRPr sz="2300" dirty="0">
              <a:solidFill>
                <a:schemeClr val="dk1"/>
              </a:solidFill>
              <a:latin typeface="Calibri"/>
              <a:ea typeface="Calibri"/>
              <a:cs typeface="Calibri"/>
              <a:sym typeface="Calibri"/>
            </a:endParaRPr>
          </a:p>
          <a:p>
            <a:pPr marL="376555" marR="0" lvl="1" indent="-229870" algn="l" rtl="0">
              <a:lnSpc>
                <a:spcPct val="100000"/>
              </a:lnSpc>
              <a:spcBef>
                <a:spcPts val="885"/>
              </a:spcBef>
              <a:spcAft>
                <a:spcPts val="0"/>
              </a:spcAft>
              <a:buClr>
                <a:schemeClr val="dk1"/>
              </a:buClr>
              <a:buSzPts val="1950"/>
              <a:buFont typeface="Calibri"/>
              <a:buChar char="–"/>
            </a:pPr>
            <a:r>
              <a:rPr lang="en-US" sz="1950" b="0" i="0" u="none" strike="noStrike" cap="none" dirty="0">
                <a:solidFill>
                  <a:schemeClr val="dk1"/>
                </a:solidFill>
                <a:latin typeface="Calibri"/>
                <a:ea typeface="Calibri"/>
                <a:cs typeface="Calibri"/>
                <a:sym typeface="Calibri"/>
              </a:rPr>
              <a:t>Also return a parse tree for the string</a:t>
            </a:r>
            <a:endParaRPr sz="1950" b="0" i="0" u="none" strike="noStrike" cap="none" dirty="0">
              <a:solidFill>
                <a:schemeClr val="dk1"/>
              </a:solidFill>
              <a:latin typeface="Calibri"/>
              <a:ea typeface="Calibri"/>
              <a:cs typeface="Calibri"/>
              <a:sym typeface="Calibri"/>
            </a:endParaRPr>
          </a:p>
          <a:p>
            <a:pPr marL="361950" marR="0" lvl="1" indent="-237490" algn="l" rtl="0">
              <a:lnSpc>
                <a:spcPct val="100000"/>
              </a:lnSpc>
              <a:spcBef>
                <a:spcPts val="695"/>
              </a:spcBef>
              <a:spcAft>
                <a:spcPts val="0"/>
              </a:spcAft>
              <a:buClr>
                <a:schemeClr val="dk1"/>
              </a:buClr>
              <a:buSzPts val="1950"/>
              <a:buFont typeface="Calibri"/>
              <a:buChar char="–"/>
            </a:pPr>
            <a:r>
              <a:rPr lang="en-US" sz="1950" b="0" i="0" u="none" strike="noStrike" cap="none" dirty="0">
                <a:solidFill>
                  <a:schemeClr val="dk1"/>
                </a:solidFill>
                <a:latin typeface="Calibri"/>
                <a:ea typeface="Calibri"/>
                <a:cs typeface="Calibri"/>
                <a:sym typeface="Calibri"/>
              </a:rPr>
              <a:t>return all possible parse trees for the string</a:t>
            </a:r>
            <a:endParaRPr sz="1950" b="0" i="0" u="none" strike="noStrike" cap="none" dirty="0">
              <a:solidFill>
                <a:schemeClr val="dk1"/>
              </a:solidFill>
              <a:latin typeface="Calibri"/>
              <a:ea typeface="Calibri"/>
              <a:cs typeface="Calibri"/>
              <a:sym typeface="Calibri"/>
            </a:endParaRPr>
          </a:p>
          <a:p>
            <a:pPr marL="0" marR="0" lvl="0" indent="0" algn="l" rtl="0">
              <a:lnSpc>
                <a:spcPct val="100000"/>
              </a:lnSpc>
              <a:spcBef>
                <a:spcPts val="45"/>
              </a:spcBef>
              <a:spcAft>
                <a:spcPts val="0"/>
              </a:spcAft>
              <a:buNone/>
            </a:pPr>
            <a:endParaRPr sz="2750" dirty="0">
              <a:solidFill>
                <a:schemeClr val="dk1"/>
              </a:solidFill>
              <a:latin typeface="Calibri"/>
              <a:ea typeface="Calibri"/>
              <a:cs typeface="Calibri"/>
              <a:sym typeface="Calibri"/>
            </a:endParaRPr>
          </a:p>
          <a:p>
            <a:pPr marL="159385" marR="0" lvl="0" indent="-147320" algn="l" rtl="0">
              <a:lnSpc>
                <a:spcPct val="100000"/>
              </a:lnSpc>
              <a:spcBef>
                <a:spcPts val="0"/>
              </a:spcBef>
              <a:spcAft>
                <a:spcPts val="0"/>
              </a:spcAft>
              <a:buClr>
                <a:schemeClr val="dk1"/>
              </a:buClr>
              <a:buSzPts val="2100"/>
              <a:buFont typeface="Calibri"/>
              <a:buChar char="•"/>
            </a:pPr>
            <a:r>
              <a:rPr lang="en-US" sz="2300" dirty="0">
                <a:solidFill>
                  <a:schemeClr val="dk1"/>
                </a:solidFill>
                <a:latin typeface="Calibri"/>
                <a:ea typeface="Calibri"/>
                <a:cs typeface="Calibri"/>
                <a:sym typeface="Calibri"/>
              </a:rPr>
              <a:t>Must search space of derivations for one that derives the given string.</a:t>
            </a:r>
            <a:endParaRPr sz="2300" dirty="0">
              <a:solidFill>
                <a:schemeClr val="dk1"/>
              </a:solidFill>
              <a:latin typeface="Calibri"/>
              <a:ea typeface="Calibri"/>
              <a:cs typeface="Calibri"/>
              <a:sym typeface="Calibri"/>
            </a:endParaRPr>
          </a:p>
          <a:p>
            <a:pPr marL="181610" marR="0" lvl="0" indent="0" algn="l" rtl="0">
              <a:lnSpc>
                <a:spcPct val="100000"/>
              </a:lnSpc>
              <a:spcBef>
                <a:spcPts val="620"/>
              </a:spcBef>
              <a:spcAft>
                <a:spcPts val="0"/>
              </a:spcAft>
              <a:buNone/>
            </a:pPr>
            <a:r>
              <a:rPr lang="en-US" sz="1950" dirty="0">
                <a:solidFill>
                  <a:schemeClr val="dk1"/>
                </a:solidFill>
                <a:latin typeface="Calibri"/>
                <a:ea typeface="Calibri"/>
                <a:cs typeface="Calibri"/>
                <a:sym typeface="Calibri"/>
              </a:rPr>
              <a:t>– </a:t>
            </a:r>
            <a:r>
              <a:rPr lang="en-US" sz="1950" dirty="0">
                <a:solidFill>
                  <a:srgbClr val="5B9AD3"/>
                </a:solidFill>
                <a:latin typeface="Calibri"/>
                <a:ea typeface="Calibri"/>
                <a:cs typeface="Calibri"/>
                <a:sym typeface="Calibri"/>
              </a:rPr>
              <a:t>Top-Down Parsing</a:t>
            </a:r>
            <a:r>
              <a:rPr lang="en-US" sz="1950" dirty="0">
                <a:solidFill>
                  <a:schemeClr val="dk1"/>
                </a:solidFill>
                <a:latin typeface="Calibri"/>
                <a:ea typeface="Calibri"/>
                <a:cs typeface="Calibri"/>
                <a:sym typeface="Calibri"/>
              </a:rPr>
              <a:t>: Start searching space of derivations for the start symbol.</a:t>
            </a:r>
            <a:endParaRPr sz="1950" dirty="0">
              <a:solidFill>
                <a:schemeClr val="dk1"/>
              </a:solidFill>
              <a:latin typeface="Calibri"/>
              <a:ea typeface="Calibri"/>
              <a:cs typeface="Calibri"/>
              <a:sym typeface="Calibri"/>
            </a:endParaRPr>
          </a:p>
          <a:p>
            <a:pPr marL="125095" marR="0" lvl="0" indent="0" algn="l" rtl="0">
              <a:lnSpc>
                <a:spcPct val="113846"/>
              </a:lnSpc>
              <a:spcBef>
                <a:spcPts val="660"/>
              </a:spcBef>
              <a:spcAft>
                <a:spcPts val="0"/>
              </a:spcAft>
              <a:buNone/>
            </a:pPr>
            <a:r>
              <a:rPr lang="en-US" sz="1950" dirty="0">
                <a:solidFill>
                  <a:schemeClr val="dk1"/>
                </a:solidFill>
                <a:latin typeface="Calibri"/>
                <a:ea typeface="Calibri"/>
                <a:cs typeface="Calibri"/>
                <a:sym typeface="Calibri"/>
              </a:rPr>
              <a:t>– </a:t>
            </a:r>
            <a:r>
              <a:rPr lang="en-US" sz="1950" dirty="0">
                <a:solidFill>
                  <a:srgbClr val="5B9AD3"/>
                </a:solidFill>
                <a:latin typeface="Calibri"/>
                <a:ea typeface="Calibri"/>
                <a:cs typeface="Calibri"/>
                <a:sym typeface="Calibri"/>
              </a:rPr>
              <a:t>Bottom-up Parsing</a:t>
            </a:r>
            <a:r>
              <a:rPr lang="en-US" sz="1950" dirty="0">
                <a:solidFill>
                  <a:schemeClr val="dk1"/>
                </a:solidFill>
                <a:latin typeface="Calibri"/>
                <a:ea typeface="Calibri"/>
                <a:cs typeface="Calibri"/>
                <a:sym typeface="Calibri"/>
              </a:rPr>
              <a:t>: Start search space of reverse derivations from the terminal</a:t>
            </a:r>
            <a:endParaRPr sz="1950" dirty="0">
              <a:solidFill>
                <a:schemeClr val="dk1"/>
              </a:solidFill>
              <a:latin typeface="Calibri"/>
              <a:ea typeface="Calibri"/>
              <a:cs typeface="Calibri"/>
              <a:sym typeface="Calibri"/>
            </a:endParaRPr>
          </a:p>
          <a:p>
            <a:pPr marL="13334" marR="0" lvl="0" indent="0" algn="l" rtl="0">
              <a:lnSpc>
                <a:spcPct val="113846"/>
              </a:lnSpc>
              <a:spcBef>
                <a:spcPts val="0"/>
              </a:spcBef>
              <a:spcAft>
                <a:spcPts val="0"/>
              </a:spcAft>
              <a:buNone/>
            </a:pPr>
            <a:r>
              <a:rPr lang="en-US" sz="1950" dirty="0">
                <a:solidFill>
                  <a:schemeClr val="dk1"/>
                </a:solidFill>
                <a:latin typeface="Calibri"/>
                <a:ea typeface="Calibri"/>
                <a:cs typeface="Calibri"/>
                <a:sym typeface="Calibri"/>
              </a:rPr>
              <a:t>symbols in the string.</a:t>
            </a:r>
            <a:endParaRPr sz="1950" dirty="0">
              <a:solidFill>
                <a:schemeClr val="dk1"/>
              </a:solidFill>
              <a:latin typeface="Calibri"/>
              <a:ea typeface="Calibri"/>
              <a:cs typeface="Calibri"/>
              <a:sym typeface="Calibri"/>
            </a:endParaRPr>
          </a:p>
        </p:txBody>
      </p:sp>
      <p:sp>
        <p:nvSpPr>
          <p:cNvPr id="714" name="Google Shape;714;p69"/>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75</a:t>
            </a:fld>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Shape 718"/>
        <p:cNvGrpSpPr/>
        <p:nvPr/>
      </p:nvGrpSpPr>
      <p:grpSpPr>
        <a:xfrm>
          <a:off x="0" y="0"/>
          <a:ext cx="0" cy="0"/>
          <a:chOff x="0" y="0"/>
          <a:chExt cx="0" cy="0"/>
        </a:xfrm>
      </p:grpSpPr>
      <p:sp>
        <p:nvSpPr>
          <p:cNvPr id="719" name="Google Shape;719;p70"/>
          <p:cNvSpPr txBox="1">
            <a:spLocks noGrp="1"/>
          </p:cNvSpPr>
          <p:nvPr>
            <p:ph type="title"/>
          </p:nvPr>
        </p:nvSpPr>
        <p:spPr>
          <a:xfrm>
            <a:off x="675298" y="565123"/>
            <a:ext cx="2635460" cy="5283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300" dirty="0"/>
              <a:t>Parsing</a:t>
            </a:r>
            <a:endParaRPr sz="3300" dirty="0"/>
          </a:p>
        </p:txBody>
      </p:sp>
      <p:pic>
        <p:nvPicPr>
          <p:cNvPr id="720" name="Google Shape;720;p70"/>
          <p:cNvPicPr preferRelativeResize="0"/>
          <p:nvPr/>
        </p:nvPicPr>
        <p:blipFill rotWithShape="1">
          <a:blip r:embed="rId3">
            <a:alphaModFix/>
          </a:blip>
          <a:srcRect/>
          <a:stretch/>
        </p:blipFill>
        <p:spPr>
          <a:xfrm>
            <a:off x="6716268" y="4611623"/>
            <a:ext cx="131064" cy="144780"/>
          </a:xfrm>
          <a:prstGeom prst="rect">
            <a:avLst/>
          </a:prstGeom>
          <a:noFill/>
          <a:ln>
            <a:noFill/>
          </a:ln>
        </p:spPr>
      </p:pic>
      <p:sp>
        <p:nvSpPr>
          <p:cNvPr id="721" name="Google Shape;721;p70"/>
          <p:cNvSpPr txBox="1"/>
          <p:nvPr/>
        </p:nvSpPr>
        <p:spPr>
          <a:xfrm>
            <a:off x="675298" y="1448688"/>
            <a:ext cx="8880182" cy="3307715"/>
          </a:xfrm>
          <a:prstGeom prst="rect">
            <a:avLst/>
          </a:prstGeom>
          <a:noFill/>
          <a:ln>
            <a:noFill/>
          </a:ln>
        </p:spPr>
        <p:txBody>
          <a:bodyPr spcFirstLastPara="1" wrap="square" lIns="0" tIns="12700" rIns="0" bIns="0" anchor="t" anchorCtr="0">
            <a:spAutoFit/>
          </a:bodyPr>
          <a:lstStyle/>
          <a:p>
            <a:pPr marL="201295" marR="0" lvl="0" indent="-189230" algn="l" rtl="0">
              <a:lnSpc>
                <a:spcPct val="100000"/>
              </a:lnSpc>
              <a:spcBef>
                <a:spcPts val="0"/>
              </a:spcBef>
              <a:spcAft>
                <a:spcPts val="0"/>
              </a:spcAft>
              <a:buClr>
                <a:schemeClr val="dk1"/>
              </a:buClr>
              <a:buSzPts val="1950"/>
              <a:buFont typeface="Arial"/>
              <a:buChar char="•"/>
            </a:pPr>
            <a:r>
              <a:rPr lang="en-US" sz="1950" dirty="0">
                <a:solidFill>
                  <a:schemeClr val="dk1"/>
                </a:solidFill>
                <a:latin typeface="Calibri"/>
                <a:ea typeface="Calibri"/>
                <a:cs typeface="Calibri"/>
                <a:sym typeface="Calibri"/>
              </a:rPr>
              <a:t>Syntactic Parsing - Produce the correct syntactic parse tree for a sentence.</a:t>
            </a:r>
            <a:endParaRPr sz="195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850"/>
              <a:buFont typeface="Arial"/>
              <a:buNone/>
            </a:pPr>
            <a:endParaRPr sz="2850" dirty="0">
              <a:solidFill>
                <a:schemeClr val="dk1"/>
              </a:solidFill>
              <a:latin typeface="Calibri"/>
              <a:ea typeface="Calibri"/>
              <a:cs typeface="Calibri"/>
              <a:sym typeface="Calibri"/>
            </a:endParaRPr>
          </a:p>
          <a:p>
            <a:pPr marL="13334" marR="0" lvl="0" indent="0" algn="l" rtl="0">
              <a:lnSpc>
                <a:spcPct val="100000"/>
              </a:lnSpc>
              <a:spcBef>
                <a:spcPts val="0"/>
              </a:spcBef>
              <a:spcAft>
                <a:spcPts val="0"/>
              </a:spcAft>
              <a:buNone/>
            </a:pPr>
            <a:r>
              <a:rPr lang="en-US" sz="1950" dirty="0">
                <a:solidFill>
                  <a:schemeClr val="dk1"/>
                </a:solidFill>
                <a:latin typeface="Calibri"/>
                <a:ea typeface="Calibri"/>
                <a:cs typeface="Calibri"/>
                <a:sym typeface="Calibri"/>
              </a:rPr>
              <a:t>Context Free Grammars (CFG) = {N, Σ, R, S}</a:t>
            </a:r>
            <a:endParaRPr sz="195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1900" dirty="0">
              <a:solidFill>
                <a:schemeClr val="dk1"/>
              </a:solidFill>
              <a:latin typeface="Calibri"/>
              <a:ea typeface="Calibri"/>
              <a:cs typeface="Calibri"/>
              <a:sym typeface="Calibri"/>
            </a:endParaRPr>
          </a:p>
          <a:p>
            <a:pPr marL="257809" marR="0" lvl="0" indent="-245744" algn="l" rtl="0">
              <a:lnSpc>
                <a:spcPct val="100000"/>
              </a:lnSpc>
              <a:spcBef>
                <a:spcPts val="1160"/>
              </a:spcBef>
              <a:spcAft>
                <a:spcPts val="0"/>
              </a:spcAft>
              <a:buClr>
                <a:schemeClr val="dk1"/>
              </a:buClr>
              <a:buSzPts val="1950"/>
              <a:buFont typeface="Arial"/>
              <a:buChar char="•"/>
            </a:pPr>
            <a:r>
              <a:rPr lang="en-US" sz="1950" dirty="0">
                <a:solidFill>
                  <a:schemeClr val="dk1"/>
                </a:solidFill>
                <a:latin typeface="Calibri"/>
                <a:ea typeface="Calibri"/>
                <a:cs typeface="Calibri"/>
                <a:sym typeface="Calibri"/>
              </a:rPr>
              <a:t>N a set of non-terminal symbols (or variables)</a:t>
            </a:r>
            <a:endParaRPr sz="1950" dirty="0">
              <a:solidFill>
                <a:schemeClr val="dk1"/>
              </a:solidFill>
              <a:latin typeface="Calibri"/>
              <a:ea typeface="Calibri"/>
              <a:cs typeface="Calibri"/>
              <a:sym typeface="Calibri"/>
            </a:endParaRPr>
          </a:p>
          <a:p>
            <a:pPr marL="257809" marR="0" lvl="0" indent="-245744" algn="l" rtl="0">
              <a:lnSpc>
                <a:spcPct val="100000"/>
              </a:lnSpc>
              <a:spcBef>
                <a:spcPts val="600"/>
              </a:spcBef>
              <a:spcAft>
                <a:spcPts val="0"/>
              </a:spcAft>
              <a:buClr>
                <a:schemeClr val="dk1"/>
              </a:buClr>
              <a:buSzPts val="1950"/>
              <a:buFont typeface="Arial"/>
              <a:buChar char="•"/>
            </a:pPr>
            <a:r>
              <a:rPr lang="en-US" sz="1950" dirty="0">
                <a:solidFill>
                  <a:schemeClr val="dk1"/>
                </a:solidFill>
                <a:latin typeface="Calibri"/>
                <a:ea typeface="Calibri"/>
                <a:cs typeface="Calibri"/>
                <a:sym typeface="Calibri"/>
              </a:rPr>
              <a:t>Σ a set of terminal symbols (disjoint from N)</a:t>
            </a:r>
            <a:endParaRPr sz="1950" dirty="0">
              <a:solidFill>
                <a:schemeClr val="dk1"/>
              </a:solidFill>
              <a:latin typeface="Calibri"/>
              <a:ea typeface="Calibri"/>
              <a:cs typeface="Calibri"/>
              <a:sym typeface="Calibri"/>
            </a:endParaRPr>
          </a:p>
          <a:p>
            <a:pPr marL="201295" marR="0" lvl="0" indent="-189230" algn="l" rtl="0">
              <a:lnSpc>
                <a:spcPct val="100000"/>
              </a:lnSpc>
              <a:spcBef>
                <a:spcPts val="600"/>
              </a:spcBef>
              <a:spcAft>
                <a:spcPts val="0"/>
              </a:spcAft>
              <a:buClr>
                <a:schemeClr val="dk1"/>
              </a:buClr>
              <a:buSzPts val="1950"/>
              <a:buFont typeface="Arial"/>
              <a:buChar char="•"/>
            </a:pPr>
            <a:r>
              <a:rPr lang="en-US" sz="1950" dirty="0">
                <a:solidFill>
                  <a:schemeClr val="dk1"/>
                </a:solidFill>
                <a:latin typeface="Calibri"/>
                <a:ea typeface="Calibri"/>
                <a:cs typeface="Calibri"/>
                <a:sym typeface="Calibri"/>
              </a:rPr>
              <a:t>R a set of productions or rules of the form A→β,</a:t>
            </a:r>
            <a:endParaRPr sz="1950" dirty="0">
              <a:solidFill>
                <a:schemeClr val="dk1"/>
              </a:solidFill>
              <a:latin typeface="Calibri"/>
              <a:ea typeface="Calibri"/>
              <a:cs typeface="Calibri"/>
              <a:sym typeface="Calibri"/>
            </a:endParaRPr>
          </a:p>
          <a:p>
            <a:pPr marL="295275" marR="0" lvl="0" indent="0" algn="l" rtl="0">
              <a:lnSpc>
                <a:spcPct val="100000"/>
              </a:lnSpc>
              <a:spcBef>
                <a:spcPts val="705"/>
              </a:spcBef>
              <a:spcAft>
                <a:spcPts val="0"/>
              </a:spcAft>
              <a:buNone/>
            </a:pPr>
            <a:r>
              <a:rPr lang="en-US" sz="1950" dirty="0">
                <a:solidFill>
                  <a:schemeClr val="dk1"/>
                </a:solidFill>
                <a:latin typeface="Calibri"/>
                <a:ea typeface="Calibri"/>
                <a:cs typeface="Calibri"/>
                <a:sym typeface="Calibri"/>
              </a:rPr>
              <a:t>where A is a non-terminal and β is a string of symbols from (Σ	N)*</a:t>
            </a:r>
            <a:endParaRPr sz="1950" dirty="0">
              <a:solidFill>
                <a:schemeClr val="dk1"/>
              </a:solidFill>
              <a:latin typeface="Calibri"/>
              <a:ea typeface="Calibri"/>
              <a:cs typeface="Calibri"/>
              <a:sym typeface="Calibri"/>
            </a:endParaRPr>
          </a:p>
          <a:p>
            <a:pPr marL="201295" marR="0" lvl="0" indent="-189230" algn="l" rtl="0">
              <a:lnSpc>
                <a:spcPct val="100000"/>
              </a:lnSpc>
              <a:spcBef>
                <a:spcPts val="600"/>
              </a:spcBef>
              <a:spcAft>
                <a:spcPts val="0"/>
              </a:spcAft>
              <a:buClr>
                <a:schemeClr val="dk1"/>
              </a:buClr>
              <a:buSzPts val="1950"/>
              <a:buFont typeface="Arial"/>
              <a:buChar char="•"/>
            </a:pPr>
            <a:r>
              <a:rPr lang="en-US" sz="1950" dirty="0">
                <a:solidFill>
                  <a:schemeClr val="dk1"/>
                </a:solidFill>
                <a:latin typeface="Calibri"/>
                <a:ea typeface="Calibri"/>
                <a:cs typeface="Calibri"/>
                <a:sym typeface="Calibri"/>
              </a:rPr>
              <a:t>S, a designated non-terminal called the start symbol</a:t>
            </a:r>
            <a:endParaRPr sz="1950" dirty="0">
              <a:solidFill>
                <a:schemeClr val="dk1"/>
              </a:solidFill>
              <a:latin typeface="Calibri"/>
              <a:ea typeface="Calibri"/>
              <a:cs typeface="Calibri"/>
              <a:sym typeface="Calibri"/>
            </a:endParaRPr>
          </a:p>
        </p:txBody>
      </p:sp>
      <p:sp>
        <p:nvSpPr>
          <p:cNvPr id="722" name="Google Shape;722;p70"/>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76</a:t>
            </a:fld>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Shape 726"/>
        <p:cNvGrpSpPr/>
        <p:nvPr/>
      </p:nvGrpSpPr>
      <p:grpSpPr>
        <a:xfrm>
          <a:off x="0" y="0"/>
          <a:ext cx="0" cy="0"/>
          <a:chOff x="0" y="0"/>
          <a:chExt cx="0" cy="0"/>
        </a:xfrm>
      </p:grpSpPr>
      <p:sp>
        <p:nvSpPr>
          <p:cNvPr id="727" name="Google Shape;727;p71"/>
          <p:cNvSpPr txBox="1">
            <a:spLocks noGrp="1"/>
          </p:cNvSpPr>
          <p:nvPr>
            <p:ph type="title"/>
          </p:nvPr>
        </p:nvSpPr>
        <p:spPr>
          <a:xfrm>
            <a:off x="558925" y="490448"/>
            <a:ext cx="4738289" cy="5283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300" dirty="0"/>
              <a:t>Example </a:t>
            </a:r>
            <a:r>
              <a:rPr lang="en-US" sz="3300" dirty="0" smtClean="0"/>
              <a:t>of CFG</a:t>
            </a:r>
            <a:endParaRPr sz="3300" dirty="0"/>
          </a:p>
        </p:txBody>
      </p:sp>
      <p:sp>
        <p:nvSpPr>
          <p:cNvPr id="728" name="Google Shape;728;p71"/>
          <p:cNvSpPr txBox="1">
            <a:spLocks noGrp="1"/>
          </p:cNvSpPr>
          <p:nvPr>
            <p:ph type="body" idx="1"/>
          </p:nvPr>
        </p:nvSpPr>
        <p:spPr>
          <a:xfrm>
            <a:off x="558925" y="1471981"/>
            <a:ext cx="2691129" cy="4718684"/>
          </a:xfrm>
          <a:prstGeom prst="rect">
            <a:avLst/>
          </a:prstGeom>
          <a:noFill/>
          <a:ln>
            <a:noFill/>
          </a:ln>
        </p:spPr>
        <p:txBody>
          <a:bodyPr spcFirstLastPara="1" wrap="square" lIns="0" tIns="12700" rIns="0" bIns="0" anchor="t" anchorCtr="0">
            <a:spAutoFit/>
          </a:bodyPr>
          <a:lstStyle/>
          <a:p>
            <a:pPr marL="13334" lvl="0" indent="0" algn="l" rtl="0">
              <a:lnSpc>
                <a:spcPct val="100000"/>
              </a:lnSpc>
              <a:spcBef>
                <a:spcPts val="0"/>
              </a:spcBef>
              <a:spcAft>
                <a:spcPts val="0"/>
              </a:spcAft>
              <a:buNone/>
            </a:pPr>
            <a:r>
              <a:rPr lang="en-US" dirty="0"/>
              <a:t>Grammar</a:t>
            </a:r>
            <a:endParaRPr dirty="0"/>
          </a:p>
          <a:p>
            <a:pPr marL="0" lvl="0" indent="0" algn="l" rtl="0">
              <a:lnSpc>
                <a:spcPct val="100000"/>
              </a:lnSpc>
              <a:spcBef>
                <a:spcPts val="15"/>
              </a:spcBef>
              <a:spcAft>
                <a:spcPts val="0"/>
              </a:spcAft>
              <a:buNone/>
            </a:pPr>
            <a:endParaRPr sz="2100" dirty="0"/>
          </a:p>
          <a:p>
            <a:pPr marL="13334" lvl="0" indent="0" algn="l" rtl="0">
              <a:lnSpc>
                <a:spcPct val="100000"/>
              </a:lnSpc>
              <a:spcBef>
                <a:spcPts val="0"/>
              </a:spcBef>
              <a:spcAft>
                <a:spcPts val="0"/>
              </a:spcAft>
              <a:buNone/>
            </a:pPr>
            <a:r>
              <a:rPr lang="en-US" dirty="0"/>
              <a:t>S → NP VP</a:t>
            </a:r>
            <a:endParaRPr dirty="0"/>
          </a:p>
          <a:p>
            <a:pPr marL="13334" lvl="0" indent="0" algn="l" rtl="0">
              <a:lnSpc>
                <a:spcPct val="100000"/>
              </a:lnSpc>
              <a:spcBef>
                <a:spcPts val="150"/>
              </a:spcBef>
              <a:spcAft>
                <a:spcPts val="0"/>
              </a:spcAft>
              <a:buNone/>
            </a:pPr>
            <a:r>
              <a:rPr lang="en-US" dirty="0"/>
              <a:t>S → Aux NP VP</a:t>
            </a:r>
            <a:endParaRPr dirty="0"/>
          </a:p>
          <a:p>
            <a:pPr marL="13334" lvl="0" indent="0" algn="l" rtl="0">
              <a:lnSpc>
                <a:spcPct val="100000"/>
              </a:lnSpc>
              <a:spcBef>
                <a:spcPts val="165"/>
              </a:spcBef>
              <a:spcAft>
                <a:spcPts val="0"/>
              </a:spcAft>
              <a:buNone/>
            </a:pPr>
            <a:r>
              <a:rPr lang="en-US" dirty="0"/>
              <a:t>S → VP</a:t>
            </a:r>
            <a:endParaRPr dirty="0"/>
          </a:p>
          <a:p>
            <a:pPr marL="13334" lvl="0" indent="0" algn="just" rtl="0">
              <a:lnSpc>
                <a:spcPct val="100000"/>
              </a:lnSpc>
              <a:spcBef>
                <a:spcPts val="105"/>
              </a:spcBef>
              <a:spcAft>
                <a:spcPts val="0"/>
              </a:spcAft>
              <a:buNone/>
            </a:pPr>
            <a:r>
              <a:rPr lang="en-US" dirty="0"/>
              <a:t>NP → Pronoun</a:t>
            </a:r>
            <a:endParaRPr dirty="0"/>
          </a:p>
          <a:p>
            <a:pPr marL="13334" marR="704215" lvl="0" indent="-1269" algn="just" rtl="0">
              <a:lnSpc>
                <a:spcPct val="103699"/>
              </a:lnSpc>
              <a:spcBef>
                <a:spcPts val="15"/>
              </a:spcBef>
              <a:spcAft>
                <a:spcPts val="0"/>
              </a:spcAft>
              <a:buNone/>
            </a:pPr>
            <a:r>
              <a:rPr lang="en-US" dirty="0"/>
              <a:t>NP → Proper-Noun  NP → </a:t>
            </a:r>
            <a:r>
              <a:rPr lang="en-US" dirty="0" err="1"/>
              <a:t>Det</a:t>
            </a:r>
            <a:r>
              <a:rPr lang="en-US" dirty="0"/>
              <a:t> Nominal  </a:t>
            </a:r>
            <a:r>
              <a:rPr lang="en-US" dirty="0" err="1"/>
              <a:t>Nominal</a:t>
            </a:r>
            <a:r>
              <a:rPr lang="en-US" dirty="0"/>
              <a:t> → Noun</a:t>
            </a:r>
            <a:endParaRPr dirty="0"/>
          </a:p>
          <a:p>
            <a:pPr marL="13334" marR="5080" lvl="0" indent="0" algn="l" rtl="0">
              <a:lnSpc>
                <a:spcPct val="105900"/>
              </a:lnSpc>
              <a:spcBef>
                <a:spcPts val="10"/>
              </a:spcBef>
              <a:spcAft>
                <a:spcPts val="0"/>
              </a:spcAft>
              <a:buNone/>
            </a:pPr>
            <a:r>
              <a:rPr lang="en-US" dirty="0"/>
              <a:t>Nominal → Nominal Noun  Nominal → Nominal PP  VP → Verb</a:t>
            </a:r>
            <a:endParaRPr dirty="0"/>
          </a:p>
          <a:p>
            <a:pPr marL="68580" lvl="0" indent="0" algn="l" rtl="0">
              <a:lnSpc>
                <a:spcPct val="100000"/>
              </a:lnSpc>
              <a:spcBef>
                <a:spcPts val="140"/>
              </a:spcBef>
              <a:spcAft>
                <a:spcPts val="0"/>
              </a:spcAft>
              <a:buNone/>
            </a:pPr>
            <a:r>
              <a:rPr lang="en-US" dirty="0"/>
              <a:t>VP → Verb NP</a:t>
            </a:r>
            <a:endParaRPr dirty="0"/>
          </a:p>
          <a:p>
            <a:pPr marL="68580" lvl="0" indent="0" algn="l" rtl="0">
              <a:lnSpc>
                <a:spcPct val="100000"/>
              </a:lnSpc>
              <a:spcBef>
                <a:spcPts val="140"/>
              </a:spcBef>
              <a:spcAft>
                <a:spcPts val="0"/>
              </a:spcAft>
              <a:buNone/>
            </a:pPr>
            <a:r>
              <a:rPr lang="en-US" dirty="0"/>
              <a:t>VP → VP PP</a:t>
            </a:r>
            <a:endParaRPr dirty="0"/>
          </a:p>
          <a:p>
            <a:pPr marL="13334" lvl="0" indent="0" algn="l" rtl="0">
              <a:lnSpc>
                <a:spcPct val="100000"/>
              </a:lnSpc>
              <a:spcBef>
                <a:spcPts val="210"/>
              </a:spcBef>
              <a:spcAft>
                <a:spcPts val="0"/>
              </a:spcAft>
              <a:buNone/>
            </a:pPr>
            <a:r>
              <a:rPr lang="en-US" dirty="0"/>
              <a:t>PP → Prep NP</a:t>
            </a:r>
            <a:endParaRPr dirty="0"/>
          </a:p>
        </p:txBody>
      </p:sp>
      <p:sp>
        <p:nvSpPr>
          <p:cNvPr id="729" name="Google Shape;729;p71"/>
          <p:cNvSpPr txBox="1"/>
          <p:nvPr/>
        </p:nvSpPr>
        <p:spPr>
          <a:xfrm>
            <a:off x="5093461" y="1471981"/>
            <a:ext cx="798195" cy="3225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950" b="1" dirty="0">
                <a:solidFill>
                  <a:schemeClr val="dk1"/>
                </a:solidFill>
                <a:latin typeface="Calibri"/>
                <a:ea typeface="Calibri"/>
                <a:cs typeface="Calibri"/>
                <a:sym typeface="Calibri"/>
              </a:rPr>
              <a:t>Lexicon</a:t>
            </a:r>
            <a:endParaRPr sz="1950" dirty="0">
              <a:solidFill>
                <a:schemeClr val="dk1"/>
              </a:solidFill>
              <a:latin typeface="Calibri"/>
              <a:ea typeface="Calibri"/>
              <a:cs typeface="Calibri"/>
              <a:sym typeface="Calibri"/>
            </a:endParaRPr>
          </a:p>
        </p:txBody>
      </p:sp>
      <p:sp>
        <p:nvSpPr>
          <p:cNvPr id="730" name="Google Shape;730;p71"/>
          <p:cNvSpPr txBox="1"/>
          <p:nvPr/>
        </p:nvSpPr>
        <p:spPr>
          <a:xfrm>
            <a:off x="5093461" y="2061769"/>
            <a:ext cx="4176663" cy="2492349"/>
          </a:xfrm>
          <a:prstGeom prst="rect">
            <a:avLst/>
          </a:prstGeom>
          <a:noFill/>
          <a:ln>
            <a:noFill/>
          </a:ln>
        </p:spPr>
        <p:txBody>
          <a:bodyPr spcFirstLastPara="1" wrap="square" lIns="0" tIns="12700" rIns="0" bIns="0" anchor="t" anchorCtr="0">
            <a:spAutoFit/>
          </a:bodyPr>
          <a:lstStyle/>
          <a:p>
            <a:pPr marL="12700" marR="0" lvl="0" indent="0" algn="l" rtl="0">
              <a:lnSpc>
                <a:spcPct val="118717"/>
              </a:lnSpc>
              <a:spcBef>
                <a:spcPts val="0"/>
              </a:spcBef>
              <a:spcAft>
                <a:spcPts val="0"/>
              </a:spcAft>
              <a:buNone/>
            </a:pPr>
            <a:r>
              <a:rPr lang="en-US" sz="1950" dirty="0" err="1">
                <a:solidFill>
                  <a:schemeClr val="dk1"/>
                </a:solidFill>
                <a:latin typeface="Calibri"/>
                <a:ea typeface="Calibri"/>
                <a:cs typeface="Calibri"/>
                <a:sym typeface="Calibri"/>
              </a:rPr>
              <a:t>Det</a:t>
            </a:r>
            <a:r>
              <a:rPr lang="en-US" sz="1950" dirty="0">
                <a:solidFill>
                  <a:schemeClr val="dk1"/>
                </a:solidFill>
                <a:latin typeface="Calibri"/>
                <a:ea typeface="Calibri"/>
                <a:cs typeface="Calibri"/>
                <a:sym typeface="Calibri"/>
              </a:rPr>
              <a:t> -&gt; </a:t>
            </a:r>
            <a:r>
              <a:rPr lang="en-US" sz="1950" dirty="0" err="1">
                <a:solidFill>
                  <a:schemeClr val="dk1"/>
                </a:solidFill>
                <a:latin typeface="Calibri"/>
                <a:ea typeface="Calibri"/>
                <a:cs typeface="Calibri"/>
                <a:sym typeface="Calibri"/>
              </a:rPr>
              <a:t>the|a|that|this</a:t>
            </a:r>
            <a:endParaRPr sz="1950" dirty="0">
              <a:solidFill>
                <a:schemeClr val="dk1"/>
              </a:solidFill>
              <a:latin typeface="Calibri"/>
              <a:ea typeface="Calibri"/>
              <a:cs typeface="Calibri"/>
              <a:sym typeface="Calibri"/>
            </a:endParaRPr>
          </a:p>
          <a:p>
            <a:pPr marL="12700" marR="0" lvl="0" indent="0" algn="l" rtl="0">
              <a:lnSpc>
                <a:spcPct val="118717"/>
              </a:lnSpc>
              <a:spcBef>
                <a:spcPts val="0"/>
              </a:spcBef>
              <a:spcAft>
                <a:spcPts val="0"/>
              </a:spcAft>
              <a:buNone/>
            </a:pPr>
            <a:r>
              <a:rPr lang="en-US" sz="1950" dirty="0">
                <a:solidFill>
                  <a:schemeClr val="dk1"/>
                </a:solidFill>
                <a:latin typeface="Calibri"/>
                <a:ea typeface="Calibri"/>
                <a:cs typeface="Calibri"/>
                <a:sym typeface="Calibri"/>
              </a:rPr>
              <a:t>Noun -&gt; book |flight| money</a:t>
            </a:r>
            <a:endParaRPr sz="1950" dirty="0">
              <a:solidFill>
                <a:schemeClr val="dk1"/>
              </a:solidFill>
              <a:latin typeface="Calibri"/>
              <a:ea typeface="Calibri"/>
              <a:cs typeface="Calibri"/>
              <a:sym typeface="Calibri"/>
            </a:endParaRPr>
          </a:p>
          <a:p>
            <a:pPr marL="12700" marR="637540" lvl="0" indent="0" algn="l" rtl="0">
              <a:lnSpc>
                <a:spcPct val="121025"/>
              </a:lnSpc>
              <a:spcBef>
                <a:spcPts val="80"/>
              </a:spcBef>
              <a:spcAft>
                <a:spcPts val="0"/>
              </a:spcAft>
              <a:buNone/>
            </a:pPr>
            <a:r>
              <a:rPr lang="en-US" sz="1950" dirty="0">
                <a:solidFill>
                  <a:schemeClr val="dk1"/>
                </a:solidFill>
                <a:latin typeface="Calibri"/>
                <a:ea typeface="Calibri"/>
                <a:cs typeface="Calibri"/>
                <a:sym typeface="Calibri"/>
              </a:rPr>
              <a:t>Verb -&gt; book | prefer |include  Pronoun -&gt; I | he | she | me  Proper-Noun -&gt; Pune | Mumbai  Aux -&gt; does</a:t>
            </a:r>
            <a:endParaRPr sz="1950" dirty="0">
              <a:solidFill>
                <a:schemeClr val="dk1"/>
              </a:solidFill>
              <a:latin typeface="Calibri"/>
              <a:ea typeface="Calibri"/>
              <a:cs typeface="Calibri"/>
              <a:sym typeface="Calibri"/>
            </a:endParaRPr>
          </a:p>
          <a:p>
            <a:pPr marL="12700" marR="0" lvl="0" indent="0" algn="l" rtl="0">
              <a:lnSpc>
                <a:spcPct val="100000"/>
              </a:lnSpc>
              <a:spcBef>
                <a:spcPts val="10"/>
              </a:spcBef>
              <a:spcAft>
                <a:spcPts val="0"/>
              </a:spcAft>
              <a:buNone/>
            </a:pPr>
            <a:r>
              <a:rPr lang="en-US" sz="1950" dirty="0">
                <a:solidFill>
                  <a:schemeClr val="dk1"/>
                </a:solidFill>
                <a:latin typeface="Calibri"/>
                <a:ea typeface="Calibri"/>
                <a:cs typeface="Calibri"/>
                <a:sym typeface="Calibri"/>
              </a:rPr>
              <a:t>Prep -&gt; from | to |on | near | through</a:t>
            </a:r>
            <a:endParaRPr sz="1950" dirty="0">
              <a:solidFill>
                <a:schemeClr val="dk1"/>
              </a:solidFill>
              <a:latin typeface="Calibri"/>
              <a:ea typeface="Calibri"/>
              <a:cs typeface="Calibri"/>
              <a:sym typeface="Calibri"/>
            </a:endParaRPr>
          </a:p>
        </p:txBody>
      </p:sp>
      <p:sp>
        <p:nvSpPr>
          <p:cNvPr id="731" name="Google Shape;731;p71"/>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77</a:t>
            </a:fld>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Shape 735"/>
        <p:cNvGrpSpPr/>
        <p:nvPr/>
      </p:nvGrpSpPr>
      <p:grpSpPr>
        <a:xfrm>
          <a:off x="0" y="0"/>
          <a:ext cx="0" cy="0"/>
          <a:chOff x="0" y="0"/>
          <a:chExt cx="0" cy="0"/>
        </a:xfrm>
      </p:grpSpPr>
      <p:sp>
        <p:nvSpPr>
          <p:cNvPr id="736" name="Google Shape;736;p72"/>
          <p:cNvSpPr txBox="1"/>
          <p:nvPr/>
        </p:nvSpPr>
        <p:spPr>
          <a:xfrm>
            <a:off x="212343" y="1166876"/>
            <a:ext cx="7811770" cy="1996690"/>
          </a:xfrm>
          <a:prstGeom prst="rect">
            <a:avLst/>
          </a:prstGeom>
          <a:noFill/>
          <a:ln>
            <a:noFill/>
          </a:ln>
        </p:spPr>
        <p:txBody>
          <a:bodyPr spcFirstLastPara="1" wrap="square" lIns="0" tIns="67300" rIns="0" bIns="0" anchor="t" anchorCtr="0">
            <a:spAutoFit/>
          </a:bodyPr>
          <a:lstStyle/>
          <a:p>
            <a:pPr marL="201295" marR="5080" lvl="0" indent="-189230" algn="l" rtl="0">
              <a:lnSpc>
                <a:spcPct val="97435"/>
              </a:lnSpc>
              <a:spcBef>
                <a:spcPts val="0"/>
              </a:spcBef>
              <a:spcAft>
                <a:spcPts val="0"/>
              </a:spcAft>
              <a:buClr>
                <a:schemeClr val="dk1"/>
              </a:buClr>
              <a:buSzPts val="1950"/>
              <a:buFont typeface="Arial"/>
              <a:buChar char="•"/>
            </a:pPr>
            <a:r>
              <a:rPr lang="en-US" sz="1950" dirty="0">
                <a:solidFill>
                  <a:schemeClr val="dk1"/>
                </a:solidFill>
                <a:latin typeface="Calibri"/>
                <a:ea typeface="Calibri"/>
                <a:cs typeface="Calibri"/>
                <a:sym typeface="Calibri"/>
              </a:rPr>
              <a:t>Sentences are generated by recursively rewriting the start symbol using the  productions until only terminals symbols remain.</a:t>
            </a:r>
            <a:endParaRPr sz="1950" dirty="0">
              <a:solidFill>
                <a:schemeClr val="dk1"/>
              </a:solidFill>
              <a:latin typeface="Calibri"/>
              <a:ea typeface="Calibri"/>
              <a:cs typeface="Calibri"/>
              <a:sym typeface="Calibri"/>
            </a:endParaRPr>
          </a:p>
          <a:p>
            <a:pPr marL="201295" marR="0" lvl="0" indent="-189230" algn="l" rtl="0">
              <a:lnSpc>
                <a:spcPct val="100000"/>
              </a:lnSpc>
              <a:spcBef>
                <a:spcPts val="365"/>
              </a:spcBef>
              <a:spcAft>
                <a:spcPts val="0"/>
              </a:spcAft>
              <a:buClr>
                <a:schemeClr val="dk1"/>
              </a:buClr>
              <a:buSzPts val="1950"/>
              <a:buFont typeface="Arial"/>
              <a:buChar char="•"/>
            </a:pPr>
            <a:r>
              <a:rPr lang="en-US" sz="1950" dirty="0">
                <a:solidFill>
                  <a:schemeClr val="dk1"/>
                </a:solidFill>
                <a:latin typeface="Calibri"/>
                <a:ea typeface="Calibri"/>
                <a:cs typeface="Calibri"/>
                <a:sym typeface="Calibri"/>
              </a:rPr>
              <a:t>Ex. - book the flight from </a:t>
            </a:r>
            <a:r>
              <a:rPr lang="en-US" sz="1950" dirty="0" smtClean="0">
                <a:solidFill>
                  <a:schemeClr val="dk1"/>
                </a:solidFill>
                <a:latin typeface="Calibri"/>
                <a:ea typeface="Calibri"/>
                <a:cs typeface="Calibri"/>
                <a:sym typeface="Calibri"/>
              </a:rPr>
              <a:t>Mumbai</a:t>
            </a:r>
            <a:endParaRPr sz="1950" dirty="0" smtClean="0">
              <a:solidFill>
                <a:schemeClr val="dk1"/>
              </a:solidFill>
              <a:latin typeface="Calibri"/>
              <a:ea typeface="Calibri"/>
              <a:cs typeface="Calibri"/>
              <a:sym typeface="Calibri"/>
            </a:endParaRPr>
          </a:p>
          <a:p>
            <a:pPr marL="0" marR="0" lvl="0" indent="0" algn="l" rtl="0">
              <a:lnSpc>
                <a:spcPct val="100000"/>
              </a:lnSpc>
              <a:spcBef>
                <a:spcPts val="50"/>
              </a:spcBef>
              <a:spcAft>
                <a:spcPts val="0"/>
              </a:spcAft>
              <a:buNone/>
            </a:pPr>
            <a:endParaRPr sz="2350" dirty="0" smtClean="0">
              <a:solidFill>
                <a:schemeClr val="dk1"/>
              </a:solidFill>
              <a:latin typeface="Calibri"/>
              <a:ea typeface="Calibri"/>
              <a:cs typeface="Calibri"/>
              <a:sym typeface="Calibri"/>
            </a:endParaRPr>
          </a:p>
          <a:p>
            <a:pPr marL="0" marR="0" lvl="0" indent="0" algn="l" rtl="0">
              <a:lnSpc>
                <a:spcPct val="100000"/>
              </a:lnSpc>
              <a:spcBef>
                <a:spcPts val="50"/>
              </a:spcBef>
              <a:spcAft>
                <a:spcPts val="0"/>
              </a:spcAft>
              <a:buNone/>
            </a:pPr>
            <a:r>
              <a:rPr lang="en-US" sz="2300" dirty="0" smtClean="0">
                <a:solidFill>
                  <a:schemeClr val="dk1"/>
                </a:solidFill>
                <a:latin typeface="Calibri"/>
                <a:ea typeface="Calibri"/>
                <a:cs typeface="Calibri"/>
                <a:sym typeface="Calibri"/>
              </a:rPr>
              <a:t>                                                         Start</a:t>
            </a:r>
            <a:endParaRPr sz="2300" dirty="0">
              <a:solidFill>
                <a:schemeClr val="dk1"/>
              </a:solidFill>
              <a:latin typeface="Calibri"/>
              <a:ea typeface="Calibri"/>
              <a:cs typeface="Calibri"/>
              <a:sym typeface="Calibri"/>
            </a:endParaRPr>
          </a:p>
          <a:p>
            <a:pPr marL="3785234" marR="0" lvl="0" indent="0" algn="l" rtl="0">
              <a:lnSpc>
                <a:spcPct val="100000"/>
              </a:lnSpc>
              <a:spcBef>
                <a:spcPts val="0"/>
              </a:spcBef>
              <a:spcAft>
                <a:spcPts val="0"/>
              </a:spcAft>
              <a:buNone/>
            </a:pPr>
            <a:r>
              <a:rPr lang="en-US" sz="1650" dirty="0">
                <a:solidFill>
                  <a:schemeClr val="dk1"/>
                </a:solidFill>
                <a:latin typeface="Calibri"/>
                <a:ea typeface="Calibri"/>
                <a:cs typeface="Calibri"/>
                <a:sym typeface="Calibri"/>
              </a:rPr>
              <a:t>VP</a:t>
            </a:r>
            <a:endParaRPr sz="1650" dirty="0">
              <a:solidFill>
                <a:schemeClr val="dk1"/>
              </a:solidFill>
              <a:latin typeface="Calibri"/>
              <a:ea typeface="Calibri"/>
              <a:cs typeface="Calibri"/>
              <a:sym typeface="Calibri"/>
            </a:endParaRPr>
          </a:p>
        </p:txBody>
      </p:sp>
      <p:sp>
        <p:nvSpPr>
          <p:cNvPr id="737" name="Google Shape;737;p72"/>
          <p:cNvSpPr txBox="1"/>
          <p:nvPr/>
        </p:nvSpPr>
        <p:spPr>
          <a:xfrm>
            <a:off x="4408678" y="3450844"/>
            <a:ext cx="270510" cy="2768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650">
                <a:solidFill>
                  <a:schemeClr val="dk1"/>
                </a:solidFill>
                <a:latin typeface="Calibri"/>
                <a:ea typeface="Calibri"/>
                <a:cs typeface="Calibri"/>
                <a:sym typeface="Calibri"/>
              </a:rPr>
              <a:t>NP</a:t>
            </a:r>
            <a:endParaRPr sz="1650">
              <a:solidFill>
                <a:schemeClr val="dk1"/>
              </a:solidFill>
              <a:latin typeface="Calibri"/>
              <a:ea typeface="Calibri"/>
              <a:cs typeface="Calibri"/>
              <a:sym typeface="Calibri"/>
            </a:endParaRPr>
          </a:p>
        </p:txBody>
      </p:sp>
      <p:sp>
        <p:nvSpPr>
          <p:cNvPr id="738" name="Google Shape;738;p72"/>
          <p:cNvSpPr txBox="1"/>
          <p:nvPr/>
        </p:nvSpPr>
        <p:spPr>
          <a:xfrm>
            <a:off x="3230879" y="3415284"/>
            <a:ext cx="412750" cy="2768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650">
                <a:solidFill>
                  <a:schemeClr val="dk1"/>
                </a:solidFill>
                <a:latin typeface="Calibri"/>
                <a:ea typeface="Calibri"/>
                <a:cs typeface="Calibri"/>
                <a:sym typeface="Calibri"/>
              </a:rPr>
              <a:t>Verb</a:t>
            </a:r>
            <a:endParaRPr sz="1650">
              <a:solidFill>
                <a:schemeClr val="dk1"/>
              </a:solidFill>
              <a:latin typeface="Calibri"/>
              <a:ea typeface="Calibri"/>
              <a:cs typeface="Calibri"/>
              <a:sym typeface="Calibri"/>
            </a:endParaRPr>
          </a:p>
        </p:txBody>
      </p:sp>
      <p:sp>
        <p:nvSpPr>
          <p:cNvPr id="739" name="Google Shape;739;p72"/>
          <p:cNvSpPr txBox="1"/>
          <p:nvPr/>
        </p:nvSpPr>
        <p:spPr>
          <a:xfrm>
            <a:off x="3230879" y="3782314"/>
            <a:ext cx="452120" cy="27749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650">
                <a:solidFill>
                  <a:srgbClr val="BE0000"/>
                </a:solidFill>
                <a:latin typeface="Calibri"/>
                <a:ea typeface="Calibri"/>
                <a:cs typeface="Calibri"/>
                <a:sym typeface="Calibri"/>
              </a:rPr>
              <a:t>book</a:t>
            </a:r>
            <a:endParaRPr sz="1650">
              <a:solidFill>
                <a:schemeClr val="dk1"/>
              </a:solidFill>
              <a:latin typeface="Calibri"/>
              <a:ea typeface="Calibri"/>
              <a:cs typeface="Calibri"/>
              <a:sym typeface="Calibri"/>
            </a:endParaRPr>
          </a:p>
        </p:txBody>
      </p:sp>
      <p:sp>
        <p:nvSpPr>
          <p:cNvPr id="740" name="Google Shape;740;p72"/>
          <p:cNvSpPr txBox="1"/>
          <p:nvPr/>
        </p:nvSpPr>
        <p:spPr>
          <a:xfrm>
            <a:off x="4079747" y="4203700"/>
            <a:ext cx="325755" cy="2768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650">
                <a:solidFill>
                  <a:schemeClr val="dk1"/>
                </a:solidFill>
                <a:latin typeface="Calibri"/>
                <a:ea typeface="Calibri"/>
                <a:cs typeface="Calibri"/>
                <a:sym typeface="Calibri"/>
              </a:rPr>
              <a:t>Det</a:t>
            </a:r>
            <a:endParaRPr sz="1650">
              <a:solidFill>
                <a:schemeClr val="dk1"/>
              </a:solidFill>
              <a:latin typeface="Calibri"/>
              <a:ea typeface="Calibri"/>
              <a:cs typeface="Calibri"/>
              <a:sym typeface="Calibri"/>
            </a:endParaRPr>
          </a:p>
        </p:txBody>
      </p:sp>
      <p:sp>
        <p:nvSpPr>
          <p:cNvPr id="741" name="Google Shape;741;p72"/>
          <p:cNvSpPr txBox="1"/>
          <p:nvPr/>
        </p:nvSpPr>
        <p:spPr>
          <a:xfrm>
            <a:off x="4853685" y="4203700"/>
            <a:ext cx="745490" cy="2768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650">
                <a:solidFill>
                  <a:schemeClr val="dk1"/>
                </a:solidFill>
                <a:latin typeface="Calibri"/>
                <a:ea typeface="Calibri"/>
                <a:cs typeface="Calibri"/>
                <a:sym typeface="Calibri"/>
              </a:rPr>
              <a:t>Nominal</a:t>
            </a:r>
            <a:endParaRPr sz="1650">
              <a:solidFill>
                <a:schemeClr val="dk1"/>
              </a:solidFill>
              <a:latin typeface="Calibri"/>
              <a:ea typeface="Calibri"/>
              <a:cs typeface="Calibri"/>
              <a:sym typeface="Calibri"/>
            </a:endParaRPr>
          </a:p>
        </p:txBody>
      </p:sp>
      <p:sp>
        <p:nvSpPr>
          <p:cNvPr id="742" name="Google Shape;742;p72"/>
          <p:cNvSpPr txBox="1"/>
          <p:nvPr/>
        </p:nvSpPr>
        <p:spPr>
          <a:xfrm>
            <a:off x="3654552" y="4529835"/>
            <a:ext cx="309245" cy="2768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650">
                <a:solidFill>
                  <a:srgbClr val="BE0000"/>
                </a:solidFill>
                <a:latin typeface="Calibri"/>
                <a:ea typeface="Calibri"/>
                <a:cs typeface="Calibri"/>
                <a:sym typeface="Calibri"/>
              </a:rPr>
              <a:t>the</a:t>
            </a:r>
            <a:endParaRPr sz="1650">
              <a:solidFill>
                <a:schemeClr val="dk1"/>
              </a:solidFill>
              <a:latin typeface="Calibri"/>
              <a:ea typeface="Calibri"/>
              <a:cs typeface="Calibri"/>
              <a:sym typeface="Calibri"/>
            </a:endParaRPr>
          </a:p>
        </p:txBody>
      </p:sp>
      <p:sp>
        <p:nvSpPr>
          <p:cNvPr id="743" name="Google Shape;743;p72"/>
          <p:cNvSpPr txBox="1"/>
          <p:nvPr/>
        </p:nvSpPr>
        <p:spPr>
          <a:xfrm>
            <a:off x="4503420" y="4836159"/>
            <a:ext cx="745490" cy="2768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650">
                <a:solidFill>
                  <a:schemeClr val="dk1"/>
                </a:solidFill>
                <a:latin typeface="Calibri"/>
                <a:ea typeface="Calibri"/>
                <a:cs typeface="Calibri"/>
                <a:sym typeface="Calibri"/>
              </a:rPr>
              <a:t>Nominal</a:t>
            </a:r>
            <a:endParaRPr sz="1650">
              <a:solidFill>
                <a:schemeClr val="dk1"/>
              </a:solidFill>
              <a:latin typeface="Calibri"/>
              <a:ea typeface="Calibri"/>
              <a:cs typeface="Calibri"/>
              <a:sym typeface="Calibri"/>
            </a:endParaRPr>
          </a:p>
        </p:txBody>
      </p:sp>
      <p:sp>
        <p:nvSpPr>
          <p:cNvPr id="744" name="Google Shape;744;p72"/>
          <p:cNvSpPr txBox="1"/>
          <p:nvPr/>
        </p:nvSpPr>
        <p:spPr>
          <a:xfrm>
            <a:off x="5742432" y="4836159"/>
            <a:ext cx="243204" cy="2768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650">
                <a:solidFill>
                  <a:schemeClr val="dk1"/>
                </a:solidFill>
                <a:latin typeface="Calibri"/>
                <a:ea typeface="Calibri"/>
                <a:cs typeface="Calibri"/>
                <a:sym typeface="Calibri"/>
              </a:rPr>
              <a:t>PP</a:t>
            </a:r>
            <a:endParaRPr sz="1650">
              <a:solidFill>
                <a:schemeClr val="dk1"/>
              </a:solidFill>
              <a:latin typeface="Calibri"/>
              <a:ea typeface="Calibri"/>
              <a:cs typeface="Calibri"/>
              <a:sym typeface="Calibri"/>
            </a:endParaRPr>
          </a:p>
        </p:txBody>
      </p:sp>
      <p:sp>
        <p:nvSpPr>
          <p:cNvPr id="745" name="Google Shape;745;p72"/>
          <p:cNvSpPr txBox="1"/>
          <p:nvPr/>
        </p:nvSpPr>
        <p:spPr>
          <a:xfrm>
            <a:off x="3985259" y="5371084"/>
            <a:ext cx="726440" cy="640080"/>
          </a:xfrm>
          <a:prstGeom prst="rect">
            <a:avLst/>
          </a:prstGeom>
          <a:noFill/>
          <a:ln>
            <a:noFill/>
          </a:ln>
        </p:spPr>
        <p:txBody>
          <a:bodyPr spcFirstLastPara="1" wrap="square" lIns="0" tIns="12700" rIns="0" bIns="0" anchor="t" anchorCtr="0">
            <a:spAutoFit/>
          </a:bodyPr>
          <a:lstStyle/>
          <a:p>
            <a:pPr marL="12700" marR="5080" lvl="0" indent="234950" algn="l" rtl="0">
              <a:lnSpc>
                <a:spcPct val="122100"/>
              </a:lnSpc>
              <a:spcBef>
                <a:spcPts val="0"/>
              </a:spcBef>
              <a:spcAft>
                <a:spcPts val="0"/>
              </a:spcAft>
              <a:buNone/>
            </a:pPr>
            <a:r>
              <a:rPr lang="en-US" sz="1650">
                <a:solidFill>
                  <a:schemeClr val="dk1"/>
                </a:solidFill>
                <a:latin typeface="Calibri"/>
                <a:ea typeface="Calibri"/>
                <a:cs typeface="Calibri"/>
                <a:sym typeface="Calibri"/>
              </a:rPr>
              <a:t>Noun  </a:t>
            </a:r>
            <a:r>
              <a:rPr lang="en-US" sz="1650">
                <a:solidFill>
                  <a:srgbClr val="BE0000"/>
                </a:solidFill>
                <a:latin typeface="Calibri"/>
                <a:ea typeface="Calibri"/>
                <a:cs typeface="Calibri"/>
                <a:sym typeface="Calibri"/>
              </a:rPr>
              <a:t>flight</a:t>
            </a:r>
            <a:endParaRPr sz="1650">
              <a:solidFill>
                <a:schemeClr val="dk1"/>
              </a:solidFill>
              <a:latin typeface="Calibri"/>
              <a:ea typeface="Calibri"/>
              <a:cs typeface="Calibri"/>
              <a:sym typeface="Calibri"/>
            </a:endParaRPr>
          </a:p>
        </p:txBody>
      </p:sp>
      <p:sp>
        <p:nvSpPr>
          <p:cNvPr id="746" name="Google Shape;746;p72"/>
          <p:cNvSpPr txBox="1"/>
          <p:nvPr/>
        </p:nvSpPr>
        <p:spPr>
          <a:xfrm>
            <a:off x="5493258" y="5371084"/>
            <a:ext cx="433705" cy="640080"/>
          </a:xfrm>
          <a:prstGeom prst="rect">
            <a:avLst/>
          </a:prstGeom>
          <a:noFill/>
          <a:ln>
            <a:noFill/>
          </a:ln>
        </p:spPr>
        <p:txBody>
          <a:bodyPr spcFirstLastPara="1" wrap="square" lIns="0" tIns="12700" rIns="0" bIns="0" anchor="t" anchorCtr="0">
            <a:spAutoFit/>
          </a:bodyPr>
          <a:lstStyle/>
          <a:p>
            <a:pPr marL="12700" marR="5080" lvl="0" indent="634" algn="l" rtl="0">
              <a:lnSpc>
                <a:spcPct val="122100"/>
              </a:lnSpc>
              <a:spcBef>
                <a:spcPts val="0"/>
              </a:spcBef>
              <a:spcAft>
                <a:spcPts val="0"/>
              </a:spcAft>
              <a:buNone/>
            </a:pPr>
            <a:r>
              <a:rPr lang="en-US" sz="1650">
                <a:solidFill>
                  <a:schemeClr val="dk1"/>
                </a:solidFill>
                <a:latin typeface="Calibri"/>
                <a:ea typeface="Calibri"/>
                <a:cs typeface="Calibri"/>
                <a:sym typeface="Calibri"/>
              </a:rPr>
              <a:t>Prep  </a:t>
            </a:r>
            <a:r>
              <a:rPr lang="en-US" sz="1650">
                <a:solidFill>
                  <a:srgbClr val="BE0000"/>
                </a:solidFill>
                <a:latin typeface="Calibri"/>
                <a:ea typeface="Calibri"/>
                <a:cs typeface="Calibri"/>
                <a:sym typeface="Calibri"/>
              </a:rPr>
              <a:t>from</a:t>
            </a:r>
            <a:endParaRPr sz="1650">
              <a:solidFill>
                <a:schemeClr val="dk1"/>
              </a:solidFill>
              <a:latin typeface="Calibri"/>
              <a:ea typeface="Calibri"/>
              <a:cs typeface="Calibri"/>
              <a:sym typeface="Calibri"/>
            </a:endParaRPr>
          </a:p>
        </p:txBody>
      </p:sp>
      <p:sp>
        <p:nvSpPr>
          <p:cNvPr id="747" name="Google Shape;747;p72"/>
          <p:cNvSpPr txBox="1"/>
          <p:nvPr/>
        </p:nvSpPr>
        <p:spPr>
          <a:xfrm>
            <a:off x="6235700" y="5412994"/>
            <a:ext cx="1123315" cy="904875"/>
          </a:xfrm>
          <a:prstGeom prst="rect">
            <a:avLst/>
          </a:prstGeom>
          <a:noFill/>
          <a:ln>
            <a:noFill/>
          </a:ln>
        </p:spPr>
        <p:txBody>
          <a:bodyPr spcFirstLastPara="1" wrap="square" lIns="0" tIns="46975" rIns="0" bIns="0" anchor="t" anchorCtr="0">
            <a:spAutoFit/>
          </a:bodyPr>
          <a:lstStyle/>
          <a:p>
            <a:pPr marL="41910" marR="0" lvl="0" indent="0" algn="l" rtl="0">
              <a:lnSpc>
                <a:spcPct val="100000"/>
              </a:lnSpc>
              <a:spcBef>
                <a:spcPts val="0"/>
              </a:spcBef>
              <a:spcAft>
                <a:spcPts val="0"/>
              </a:spcAft>
              <a:buNone/>
            </a:pPr>
            <a:r>
              <a:rPr lang="en-US" sz="1650">
                <a:solidFill>
                  <a:schemeClr val="dk1"/>
                </a:solidFill>
                <a:latin typeface="Calibri"/>
                <a:ea typeface="Calibri"/>
                <a:cs typeface="Calibri"/>
                <a:sym typeface="Calibri"/>
              </a:rPr>
              <a:t>NP</a:t>
            </a:r>
            <a:endParaRPr sz="1650">
              <a:solidFill>
                <a:schemeClr val="dk1"/>
              </a:solidFill>
              <a:latin typeface="Calibri"/>
              <a:ea typeface="Calibri"/>
              <a:cs typeface="Calibri"/>
              <a:sym typeface="Calibri"/>
            </a:endParaRPr>
          </a:p>
          <a:p>
            <a:pPr marL="12700" marR="0" lvl="0" indent="0" algn="l" rtl="0">
              <a:lnSpc>
                <a:spcPct val="100000"/>
              </a:lnSpc>
              <a:spcBef>
                <a:spcPts val="275"/>
              </a:spcBef>
              <a:spcAft>
                <a:spcPts val="0"/>
              </a:spcAft>
              <a:buNone/>
            </a:pPr>
            <a:r>
              <a:rPr lang="en-US" sz="1650">
                <a:solidFill>
                  <a:schemeClr val="dk1"/>
                </a:solidFill>
                <a:latin typeface="Calibri"/>
                <a:ea typeface="Calibri"/>
                <a:cs typeface="Calibri"/>
                <a:sym typeface="Calibri"/>
              </a:rPr>
              <a:t>Proper-Noun</a:t>
            </a:r>
            <a:endParaRPr sz="1650">
              <a:solidFill>
                <a:schemeClr val="dk1"/>
              </a:solidFill>
              <a:latin typeface="Calibri"/>
              <a:ea typeface="Calibri"/>
              <a:cs typeface="Calibri"/>
              <a:sym typeface="Calibri"/>
            </a:endParaRPr>
          </a:p>
          <a:p>
            <a:pPr marL="261620" marR="0" lvl="0" indent="0" algn="l" rtl="0">
              <a:lnSpc>
                <a:spcPct val="100000"/>
              </a:lnSpc>
              <a:spcBef>
                <a:spcPts val="434"/>
              </a:spcBef>
              <a:spcAft>
                <a:spcPts val="0"/>
              </a:spcAft>
              <a:buNone/>
            </a:pPr>
            <a:r>
              <a:rPr lang="en-US" sz="1650">
                <a:solidFill>
                  <a:srgbClr val="BE0000"/>
                </a:solidFill>
                <a:latin typeface="Calibri"/>
                <a:ea typeface="Calibri"/>
                <a:cs typeface="Calibri"/>
                <a:sym typeface="Calibri"/>
              </a:rPr>
              <a:t>Mumbai</a:t>
            </a:r>
            <a:endParaRPr sz="1650">
              <a:solidFill>
                <a:schemeClr val="dk1"/>
              </a:solidFill>
              <a:latin typeface="Calibri"/>
              <a:ea typeface="Calibri"/>
              <a:cs typeface="Calibri"/>
              <a:sym typeface="Calibri"/>
            </a:endParaRPr>
          </a:p>
        </p:txBody>
      </p:sp>
      <p:sp>
        <p:nvSpPr>
          <p:cNvPr id="748" name="Google Shape;748;p72"/>
          <p:cNvSpPr/>
          <p:nvPr/>
        </p:nvSpPr>
        <p:spPr>
          <a:xfrm>
            <a:off x="4125467" y="2798064"/>
            <a:ext cx="6350" cy="352425"/>
          </a:xfrm>
          <a:custGeom>
            <a:avLst/>
            <a:gdLst/>
            <a:ahLst/>
            <a:cxnLst/>
            <a:rect l="l" t="t" r="r" b="b"/>
            <a:pathLst>
              <a:path w="6350" h="352425" extrusionOk="0">
                <a:moveTo>
                  <a:pt x="5851" y="0"/>
                </a:moveTo>
                <a:lnTo>
                  <a:pt x="0" y="0"/>
                </a:lnTo>
                <a:lnTo>
                  <a:pt x="0" y="352425"/>
                </a:lnTo>
                <a:lnTo>
                  <a:pt x="5851" y="352425"/>
                </a:lnTo>
                <a:lnTo>
                  <a:pt x="5851"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49" name="Google Shape;749;p72"/>
          <p:cNvSpPr/>
          <p:nvPr/>
        </p:nvSpPr>
        <p:spPr>
          <a:xfrm>
            <a:off x="3782568" y="3340607"/>
            <a:ext cx="664210" cy="155575"/>
          </a:xfrm>
          <a:custGeom>
            <a:avLst/>
            <a:gdLst/>
            <a:ahLst/>
            <a:cxnLst/>
            <a:rect l="l" t="t" r="r" b="b"/>
            <a:pathLst>
              <a:path w="664210" h="155575" extrusionOk="0">
                <a:moveTo>
                  <a:pt x="345821" y="48768"/>
                </a:moveTo>
                <a:lnTo>
                  <a:pt x="344170" y="42672"/>
                </a:lnTo>
                <a:lnTo>
                  <a:pt x="0" y="150749"/>
                </a:lnTo>
                <a:lnTo>
                  <a:pt x="1524" y="155321"/>
                </a:lnTo>
                <a:lnTo>
                  <a:pt x="345821" y="48768"/>
                </a:lnTo>
                <a:close/>
              </a:path>
              <a:path w="664210" h="155575" extrusionOk="0">
                <a:moveTo>
                  <a:pt x="664083" y="86741"/>
                </a:moveTo>
                <a:lnTo>
                  <a:pt x="319913" y="0"/>
                </a:lnTo>
                <a:lnTo>
                  <a:pt x="318389" y="4572"/>
                </a:lnTo>
                <a:lnTo>
                  <a:pt x="662559" y="91313"/>
                </a:lnTo>
                <a:lnTo>
                  <a:pt x="664083" y="86741"/>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50" name="Google Shape;750;p72"/>
          <p:cNvSpPr/>
          <p:nvPr/>
        </p:nvSpPr>
        <p:spPr>
          <a:xfrm>
            <a:off x="3424428" y="3709415"/>
            <a:ext cx="16510" cy="259079"/>
          </a:xfrm>
          <a:custGeom>
            <a:avLst/>
            <a:gdLst/>
            <a:ahLst/>
            <a:cxnLst/>
            <a:rect l="l" t="t" r="r" b="b"/>
            <a:pathLst>
              <a:path w="16510" h="259079" extrusionOk="0">
                <a:moveTo>
                  <a:pt x="16383" y="0"/>
                </a:moveTo>
                <a:lnTo>
                  <a:pt x="11937" y="0"/>
                </a:lnTo>
                <a:lnTo>
                  <a:pt x="0" y="259080"/>
                </a:lnTo>
                <a:lnTo>
                  <a:pt x="5969" y="259080"/>
                </a:lnTo>
                <a:lnTo>
                  <a:pt x="16383"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51" name="Google Shape;751;p72"/>
          <p:cNvSpPr/>
          <p:nvPr/>
        </p:nvSpPr>
        <p:spPr>
          <a:xfrm>
            <a:off x="4148328" y="3837432"/>
            <a:ext cx="294640" cy="434340"/>
          </a:xfrm>
          <a:custGeom>
            <a:avLst/>
            <a:gdLst/>
            <a:ahLst/>
            <a:cxnLst/>
            <a:rect l="l" t="t" r="r" b="b"/>
            <a:pathLst>
              <a:path w="294639" h="434339" extrusionOk="0">
                <a:moveTo>
                  <a:pt x="289813" y="0"/>
                </a:moveTo>
                <a:lnTo>
                  <a:pt x="0" y="431291"/>
                </a:lnTo>
                <a:lnTo>
                  <a:pt x="3048" y="434339"/>
                </a:lnTo>
                <a:lnTo>
                  <a:pt x="294386" y="3047"/>
                </a:lnTo>
                <a:lnTo>
                  <a:pt x="289813"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52" name="Google Shape;752;p72"/>
          <p:cNvSpPr/>
          <p:nvPr/>
        </p:nvSpPr>
        <p:spPr>
          <a:xfrm>
            <a:off x="4520184" y="3820667"/>
            <a:ext cx="692150" cy="435609"/>
          </a:xfrm>
          <a:custGeom>
            <a:avLst/>
            <a:gdLst/>
            <a:ahLst/>
            <a:cxnLst/>
            <a:rect l="l" t="t" r="r" b="b"/>
            <a:pathLst>
              <a:path w="692150" h="435610" extrusionOk="0">
                <a:moveTo>
                  <a:pt x="3048" y="0"/>
                </a:moveTo>
                <a:lnTo>
                  <a:pt x="0" y="4572"/>
                </a:lnTo>
                <a:lnTo>
                  <a:pt x="688593" y="435483"/>
                </a:lnTo>
                <a:lnTo>
                  <a:pt x="691641" y="430911"/>
                </a:lnTo>
                <a:lnTo>
                  <a:pt x="3048"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53" name="Google Shape;753;p72"/>
          <p:cNvSpPr/>
          <p:nvPr/>
        </p:nvSpPr>
        <p:spPr>
          <a:xfrm>
            <a:off x="3803903" y="4514088"/>
            <a:ext cx="347980" cy="264160"/>
          </a:xfrm>
          <a:custGeom>
            <a:avLst/>
            <a:gdLst/>
            <a:ahLst/>
            <a:cxnLst/>
            <a:rect l="l" t="t" r="r" b="b"/>
            <a:pathLst>
              <a:path w="347979" h="264160" extrusionOk="0">
                <a:moveTo>
                  <a:pt x="344678" y="0"/>
                </a:moveTo>
                <a:lnTo>
                  <a:pt x="0" y="259334"/>
                </a:lnTo>
                <a:lnTo>
                  <a:pt x="3048" y="263906"/>
                </a:lnTo>
                <a:lnTo>
                  <a:pt x="347725" y="4572"/>
                </a:lnTo>
                <a:lnTo>
                  <a:pt x="344678"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54" name="Google Shape;754;p72"/>
          <p:cNvSpPr/>
          <p:nvPr/>
        </p:nvSpPr>
        <p:spPr>
          <a:xfrm>
            <a:off x="4864608" y="4591811"/>
            <a:ext cx="962025" cy="365760"/>
          </a:xfrm>
          <a:custGeom>
            <a:avLst/>
            <a:gdLst/>
            <a:ahLst/>
            <a:cxnLst/>
            <a:rect l="l" t="t" r="r" b="b"/>
            <a:pathLst>
              <a:path w="962025" h="365760" extrusionOk="0">
                <a:moveTo>
                  <a:pt x="347599" y="0"/>
                </a:moveTo>
                <a:lnTo>
                  <a:pt x="345820" y="2793"/>
                </a:lnTo>
                <a:lnTo>
                  <a:pt x="344550" y="1524"/>
                </a:lnTo>
                <a:lnTo>
                  <a:pt x="0" y="361188"/>
                </a:lnTo>
                <a:lnTo>
                  <a:pt x="3047" y="365760"/>
                </a:lnTo>
                <a:lnTo>
                  <a:pt x="346582" y="5587"/>
                </a:lnTo>
                <a:lnTo>
                  <a:pt x="960501" y="315468"/>
                </a:lnTo>
                <a:lnTo>
                  <a:pt x="962025" y="309371"/>
                </a:lnTo>
                <a:lnTo>
                  <a:pt x="347599"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55" name="Google Shape;755;p72"/>
          <p:cNvSpPr/>
          <p:nvPr/>
        </p:nvSpPr>
        <p:spPr>
          <a:xfrm>
            <a:off x="4590288" y="5375147"/>
            <a:ext cx="277495" cy="219710"/>
          </a:xfrm>
          <a:custGeom>
            <a:avLst/>
            <a:gdLst/>
            <a:ahLst/>
            <a:cxnLst/>
            <a:rect l="l" t="t" r="r" b="b"/>
            <a:pathLst>
              <a:path w="277495" h="219710" extrusionOk="0">
                <a:moveTo>
                  <a:pt x="274192" y="0"/>
                </a:moveTo>
                <a:lnTo>
                  <a:pt x="0" y="214629"/>
                </a:lnTo>
                <a:lnTo>
                  <a:pt x="3048" y="219201"/>
                </a:lnTo>
                <a:lnTo>
                  <a:pt x="277240" y="4571"/>
                </a:lnTo>
                <a:lnTo>
                  <a:pt x="274192"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56" name="Google Shape;756;p72"/>
          <p:cNvSpPr/>
          <p:nvPr/>
        </p:nvSpPr>
        <p:spPr>
          <a:xfrm>
            <a:off x="4293108" y="5884164"/>
            <a:ext cx="149860" cy="123825"/>
          </a:xfrm>
          <a:custGeom>
            <a:avLst/>
            <a:gdLst/>
            <a:ahLst/>
            <a:cxnLst/>
            <a:rect l="l" t="t" r="r" b="b"/>
            <a:pathLst>
              <a:path w="149860" h="123825" extrusionOk="0">
                <a:moveTo>
                  <a:pt x="146557" y="0"/>
                </a:moveTo>
                <a:lnTo>
                  <a:pt x="0" y="119253"/>
                </a:lnTo>
                <a:lnTo>
                  <a:pt x="4571" y="123825"/>
                </a:lnTo>
                <a:lnTo>
                  <a:pt x="149605" y="4572"/>
                </a:lnTo>
                <a:lnTo>
                  <a:pt x="146557"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57" name="Google Shape;757;p72"/>
          <p:cNvSpPr/>
          <p:nvPr/>
        </p:nvSpPr>
        <p:spPr>
          <a:xfrm>
            <a:off x="5721096" y="5242559"/>
            <a:ext cx="617220" cy="428625"/>
          </a:xfrm>
          <a:custGeom>
            <a:avLst/>
            <a:gdLst/>
            <a:ahLst/>
            <a:cxnLst/>
            <a:rect l="l" t="t" r="r" b="b"/>
            <a:pathLst>
              <a:path w="617220" h="428625" extrusionOk="0">
                <a:moveTo>
                  <a:pt x="106680" y="51816"/>
                </a:moveTo>
                <a:lnTo>
                  <a:pt x="102108" y="50292"/>
                </a:lnTo>
                <a:lnTo>
                  <a:pt x="0" y="428625"/>
                </a:lnTo>
                <a:lnTo>
                  <a:pt x="4572" y="428625"/>
                </a:lnTo>
                <a:lnTo>
                  <a:pt x="106680" y="51816"/>
                </a:lnTo>
                <a:close/>
              </a:path>
              <a:path w="617220" h="428625" extrusionOk="0">
                <a:moveTo>
                  <a:pt x="617220" y="376809"/>
                </a:moveTo>
                <a:lnTo>
                  <a:pt x="105156" y="0"/>
                </a:lnTo>
                <a:lnTo>
                  <a:pt x="102108" y="4572"/>
                </a:lnTo>
                <a:lnTo>
                  <a:pt x="614172" y="381381"/>
                </a:lnTo>
                <a:lnTo>
                  <a:pt x="617220" y="376809"/>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58" name="Google Shape;758;p72"/>
          <p:cNvSpPr/>
          <p:nvPr/>
        </p:nvSpPr>
        <p:spPr>
          <a:xfrm>
            <a:off x="5721096" y="5885688"/>
            <a:ext cx="5080" cy="195580"/>
          </a:xfrm>
          <a:custGeom>
            <a:avLst/>
            <a:gdLst/>
            <a:ahLst/>
            <a:cxnLst/>
            <a:rect l="l" t="t" r="r" b="b"/>
            <a:pathLst>
              <a:path w="5079" h="195579" extrusionOk="0">
                <a:moveTo>
                  <a:pt x="4800" y="0"/>
                </a:moveTo>
                <a:lnTo>
                  <a:pt x="0" y="0"/>
                </a:lnTo>
                <a:lnTo>
                  <a:pt x="0" y="195325"/>
                </a:lnTo>
                <a:lnTo>
                  <a:pt x="4800" y="195325"/>
                </a:lnTo>
                <a:lnTo>
                  <a:pt x="4800"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59" name="Google Shape;759;p72"/>
          <p:cNvSpPr/>
          <p:nvPr/>
        </p:nvSpPr>
        <p:spPr>
          <a:xfrm>
            <a:off x="6464808" y="5885688"/>
            <a:ext cx="102235" cy="196850"/>
          </a:xfrm>
          <a:custGeom>
            <a:avLst/>
            <a:gdLst/>
            <a:ahLst/>
            <a:cxnLst/>
            <a:rect l="l" t="t" r="r" b="b"/>
            <a:pathLst>
              <a:path w="102234" h="196850" extrusionOk="0">
                <a:moveTo>
                  <a:pt x="4571" y="0"/>
                </a:moveTo>
                <a:lnTo>
                  <a:pt x="0" y="1524"/>
                </a:lnTo>
                <a:lnTo>
                  <a:pt x="95885" y="196342"/>
                </a:lnTo>
                <a:lnTo>
                  <a:pt x="101981" y="193294"/>
                </a:lnTo>
                <a:lnTo>
                  <a:pt x="4571"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60" name="Google Shape;760;p72"/>
          <p:cNvSpPr/>
          <p:nvPr/>
        </p:nvSpPr>
        <p:spPr>
          <a:xfrm>
            <a:off x="6701028" y="6240779"/>
            <a:ext cx="70485" cy="207010"/>
          </a:xfrm>
          <a:custGeom>
            <a:avLst/>
            <a:gdLst/>
            <a:ahLst/>
            <a:cxnLst/>
            <a:rect l="l" t="t" r="r" b="b"/>
            <a:pathLst>
              <a:path w="70484" h="207010" extrusionOk="0">
                <a:moveTo>
                  <a:pt x="6096" y="0"/>
                </a:moveTo>
                <a:lnTo>
                  <a:pt x="0" y="1524"/>
                </a:lnTo>
                <a:lnTo>
                  <a:pt x="65913" y="206883"/>
                </a:lnTo>
                <a:lnTo>
                  <a:pt x="70485" y="205359"/>
                </a:lnTo>
                <a:lnTo>
                  <a:pt x="6096"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61" name="Google Shape;761;p72"/>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78</a:t>
            </a:fld>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Shape 765"/>
        <p:cNvGrpSpPr/>
        <p:nvPr/>
      </p:nvGrpSpPr>
      <p:grpSpPr>
        <a:xfrm>
          <a:off x="0" y="0"/>
          <a:ext cx="0" cy="0"/>
          <a:chOff x="0" y="0"/>
          <a:chExt cx="0" cy="0"/>
        </a:xfrm>
      </p:grpSpPr>
      <p:sp>
        <p:nvSpPr>
          <p:cNvPr id="766" name="Google Shape;766;p73"/>
          <p:cNvSpPr txBox="1">
            <a:spLocks noGrp="1"/>
          </p:cNvSpPr>
          <p:nvPr>
            <p:ph type="title"/>
          </p:nvPr>
        </p:nvSpPr>
        <p:spPr>
          <a:xfrm>
            <a:off x="754125" y="1051300"/>
            <a:ext cx="7338600" cy="466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950"/>
              <a:t>The miniature English grammar and lexicon</a:t>
            </a:r>
            <a:endParaRPr sz="2950"/>
          </a:p>
        </p:txBody>
      </p:sp>
      <p:sp>
        <p:nvSpPr>
          <p:cNvPr id="767" name="Google Shape;767;p73"/>
          <p:cNvSpPr txBox="1"/>
          <p:nvPr/>
        </p:nvSpPr>
        <p:spPr>
          <a:xfrm>
            <a:off x="591058" y="1751329"/>
            <a:ext cx="909319"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Grammar</a:t>
            </a:r>
            <a:endParaRPr sz="1800">
              <a:solidFill>
                <a:schemeClr val="dk1"/>
              </a:solidFill>
              <a:latin typeface="Calibri"/>
              <a:ea typeface="Calibri"/>
              <a:cs typeface="Calibri"/>
              <a:sym typeface="Calibri"/>
            </a:endParaRPr>
          </a:p>
        </p:txBody>
      </p:sp>
      <p:sp>
        <p:nvSpPr>
          <p:cNvPr id="768" name="Google Shape;768;p73"/>
          <p:cNvSpPr txBox="1"/>
          <p:nvPr/>
        </p:nvSpPr>
        <p:spPr>
          <a:xfrm>
            <a:off x="591058" y="2407462"/>
            <a:ext cx="2031364" cy="3964940"/>
          </a:xfrm>
          <a:prstGeom prst="rect">
            <a:avLst/>
          </a:prstGeom>
          <a:noFill/>
          <a:ln>
            <a:noFill/>
          </a:ln>
        </p:spPr>
        <p:txBody>
          <a:bodyPr spcFirstLastPara="1" wrap="square" lIns="0" tIns="52700" rIns="0" bIns="0" anchor="t" anchorCtr="0">
            <a:spAutoFit/>
          </a:bodyPr>
          <a:lstStyle/>
          <a:p>
            <a:pPr marL="12700" marR="0" lvl="0" indent="0" algn="l" rtl="0">
              <a:lnSpc>
                <a:spcPct val="100000"/>
              </a:lnSpc>
              <a:spcBef>
                <a:spcPts val="0"/>
              </a:spcBef>
              <a:spcAft>
                <a:spcPts val="0"/>
              </a:spcAft>
              <a:buNone/>
            </a:pPr>
            <a:r>
              <a:rPr lang="en-US" sz="1450">
                <a:solidFill>
                  <a:schemeClr val="dk1"/>
                </a:solidFill>
                <a:latin typeface="Calibri"/>
                <a:ea typeface="Calibri"/>
                <a:cs typeface="Calibri"/>
                <a:sym typeface="Calibri"/>
              </a:rPr>
              <a:t>S → NP VP</a:t>
            </a:r>
            <a:endParaRPr sz="1450">
              <a:solidFill>
                <a:schemeClr val="dk1"/>
              </a:solidFill>
              <a:latin typeface="Calibri"/>
              <a:ea typeface="Calibri"/>
              <a:cs typeface="Calibri"/>
              <a:sym typeface="Calibri"/>
            </a:endParaRPr>
          </a:p>
          <a:p>
            <a:pPr marL="12700" marR="886460" lvl="0" indent="0" algn="l" rtl="0">
              <a:lnSpc>
                <a:spcPct val="144827"/>
              </a:lnSpc>
              <a:spcBef>
                <a:spcPts val="90"/>
              </a:spcBef>
              <a:spcAft>
                <a:spcPts val="0"/>
              </a:spcAft>
              <a:buNone/>
            </a:pPr>
            <a:r>
              <a:rPr lang="en-US" sz="1450">
                <a:solidFill>
                  <a:schemeClr val="dk1"/>
                </a:solidFill>
                <a:latin typeface="Calibri"/>
                <a:ea typeface="Calibri"/>
                <a:cs typeface="Calibri"/>
                <a:sym typeface="Calibri"/>
              </a:rPr>
              <a:t>S → Aux NP VP  S → VP</a:t>
            </a:r>
            <a:endParaRPr sz="1450">
              <a:solidFill>
                <a:schemeClr val="dk1"/>
              </a:solidFill>
              <a:latin typeface="Calibri"/>
              <a:ea typeface="Calibri"/>
              <a:cs typeface="Calibri"/>
              <a:sym typeface="Calibri"/>
            </a:endParaRPr>
          </a:p>
          <a:p>
            <a:pPr marL="12700" marR="0" lvl="0" indent="0" algn="l" rtl="0">
              <a:lnSpc>
                <a:spcPct val="100000"/>
              </a:lnSpc>
              <a:spcBef>
                <a:spcPts val="210"/>
              </a:spcBef>
              <a:spcAft>
                <a:spcPts val="0"/>
              </a:spcAft>
              <a:buNone/>
            </a:pPr>
            <a:r>
              <a:rPr lang="en-US" sz="1450">
                <a:solidFill>
                  <a:schemeClr val="dk1"/>
                </a:solidFill>
                <a:latin typeface="Calibri"/>
                <a:ea typeface="Calibri"/>
                <a:cs typeface="Calibri"/>
                <a:sym typeface="Calibri"/>
              </a:rPr>
              <a:t>NP → Pronoun</a:t>
            </a:r>
            <a:endParaRPr sz="1450">
              <a:solidFill>
                <a:schemeClr val="dk1"/>
              </a:solidFill>
              <a:latin typeface="Calibri"/>
              <a:ea typeface="Calibri"/>
              <a:cs typeface="Calibri"/>
              <a:sym typeface="Calibri"/>
            </a:endParaRPr>
          </a:p>
          <a:p>
            <a:pPr marL="12700" marR="0" lvl="0" indent="0" algn="l" rtl="0">
              <a:lnSpc>
                <a:spcPct val="100000"/>
              </a:lnSpc>
              <a:spcBef>
                <a:spcPts val="200"/>
              </a:spcBef>
              <a:spcAft>
                <a:spcPts val="0"/>
              </a:spcAft>
              <a:buNone/>
            </a:pPr>
            <a:r>
              <a:rPr lang="en-US" sz="1450">
                <a:solidFill>
                  <a:schemeClr val="dk1"/>
                </a:solidFill>
                <a:latin typeface="Calibri"/>
                <a:ea typeface="Calibri"/>
                <a:cs typeface="Calibri"/>
                <a:sym typeface="Calibri"/>
              </a:rPr>
              <a:t>NP → Proper-Noun</a:t>
            </a:r>
            <a:endParaRPr sz="1450">
              <a:solidFill>
                <a:schemeClr val="dk1"/>
              </a:solidFill>
              <a:latin typeface="Calibri"/>
              <a:ea typeface="Calibri"/>
              <a:cs typeface="Calibri"/>
              <a:sym typeface="Calibri"/>
            </a:endParaRPr>
          </a:p>
          <a:p>
            <a:pPr marL="12700" marR="523875" lvl="0" indent="0" algn="l" rtl="0">
              <a:lnSpc>
                <a:spcPct val="119000"/>
              </a:lnSpc>
              <a:spcBef>
                <a:spcPts val="0"/>
              </a:spcBef>
              <a:spcAft>
                <a:spcPts val="0"/>
              </a:spcAft>
              <a:buNone/>
            </a:pPr>
            <a:r>
              <a:rPr lang="en-US" sz="1450">
                <a:solidFill>
                  <a:schemeClr val="dk1"/>
                </a:solidFill>
                <a:latin typeface="Calibri"/>
                <a:ea typeface="Calibri"/>
                <a:cs typeface="Calibri"/>
                <a:sym typeface="Calibri"/>
              </a:rPr>
              <a:t>NP → Det Nominal  Nominal → Noun</a:t>
            </a:r>
            <a:endParaRPr sz="1450">
              <a:solidFill>
                <a:schemeClr val="dk1"/>
              </a:solidFill>
              <a:latin typeface="Calibri"/>
              <a:ea typeface="Calibri"/>
              <a:cs typeface="Calibri"/>
              <a:sym typeface="Calibri"/>
            </a:endParaRPr>
          </a:p>
          <a:p>
            <a:pPr marL="12700" marR="5080" lvl="0" indent="0" algn="l" rtl="0">
              <a:lnSpc>
                <a:spcPct val="119000"/>
              </a:lnSpc>
              <a:spcBef>
                <a:spcPts val="0"/>
              </a:spcBef>
              <a:spcAft>
                <a:spcPts val="0"/>
              </a:spcAft>
              <a:buNone/>
            </a:pPr>
            <a:r>
              <a:rPr lang="en-US" sz="1450">
                <a:solidFill>
                  <a:schemeClr val="dk1"/>
                </a:solidFill>
                <a:latin typeface="Calibri"/>
                <a:ea typeface="Calibri"/>
                <a:cs typeface="Calibri"/>
                <a:sym typeface="Calibri"/>
              </a:rPr>
              <a:t>Nominal → Nominal Noun  Nominal → Nominal  PP  VP → Verb</a:t>
            </a:r>
            <a:endParaRPr sz="1450">
              <a:solidFill>
                <a:schemeClr val="dk1"/>
              </a:solidFill>
              <a:latin typeface="Calibri"/>
              <a:ea typeface="Calibri"/>
              <a:cs typeface="Calibri"/>
              <a:sym typeface="Calibri"/>
            </a:endParaRPr>
          </a:p>
          <a:p>
            <a:pPr marL="12700" marR="718185" lvl="0" indent="0" algn="l" rtl="0">
              <a:lnSpc>
                <a:spcPct val="119000"/>
              </a:lnSpc>
              <a:spcBef>
                <a:spcPts val="0"/>
              </a:spcBef>
              <a:spcAft>
                <a:spcPts val="0"/>
              </a:spcAft>
              <a:buNone/>
            </a:pPr>
            <a:r>
              <a:rPr lang="en-US" sz="1450">
                <a:solidFill>
                  <a:schemeClr val="dk1"/>
                </a:solidFill>
                <a:latin typeface="Calibri"/>
                <a:ea typeface="Calibri"/>
                <a:cs typeface="Calibri"/>
                <a:sym typeface="Calibri"/>
              </a:rPr>
              <a:t>VP → Verb NP  VP → Verb NP PP</a:t>
            </a:r>
            <a:endParaRPr sz="1450">
              <a:solidFill>
                <a:schemeClr val="dk1"/>
              </a:solidFill>
              <a:latin typeface="Calibri"/>
              <a:ea typeface="Calibri"/>
              <a:cs typeface="Calibri"/>
              <a:sym typeface="Calibri"/>
            </a:endParaRPr>
          </a:p>
          <a:p>
            <a:pPr marL="55244" marR="974089" lvl="0" indent="-43180" algn="l" rtl="0">
              <a:lnSpc>
                <a:spcPct val="149655"/>
              </a:lnSpc>
              <a:spcBef>
                <a:spcPts val="45"/>
              </a:spcBef>
              <a:spcAft>
                <a:spcPts val="0"/>
              </a:spcAft>
              <a:buNone/>
            </a:pPr>
            <a:r>
              <a:rPr lang="en-US" sz="1450">
                <a:solidFill>
                  <a:schemeClr val="dk1"/>
                </a:solidFill>
                <a:latin typeface="Calibri"/>
                <a:ea typeface="Calibri"/>
                <a:cs typeface="Calibri"/>
                <a:sym typeface="Calibri"/>
              </a:rPr>
              <a:t>VP → Verb PP  VP → VP PP</a:t>
            </a:r>
            <a:endParaRPr sz="1450">
              <a:solidFill>
                <a:schemeClr val="dk1"/>
              </a:solidFill>
              <a:latin typeface="Calibri"/>
              <a:ea typeface="Calibri"/>
              <a:cs typeface="Calibri"/>
              <a:sym typeface="Calibri"/>
            </a:endParaRPr>
          </a:p>
          <a:p>
            <a:pPr marL="12700" marR="0" lvl="0" indent="0" algn="l" rtl="0">
              <a:lnSpc>
                <a:spcPct val="100000"/>
              </a:lnSpc>
              <a:spcBef>
                <a:spcPts val="160"/>
              </a:spcBef>
              <a:spcAft>
                <a:spcPts val="0"/>
              </a:spcAft>
              <a:buNone/>
            </a:pPr>
            <a:r>
              <a:rPr lang="en-US" sz="1450">
                <a:solidFill>
                  <a:schemeClr val="dk1"/>
                </a:solidFill>
                <a:latin typeface="Calibri"/>
                <a:ea typeface="Calibri"/>
                <a:cs typeface="Calibri"/>
                <a:sym typeface="Calibri"/>
              </a:rPr>
              <a:t>PP → Preposition NP</a:t>
            </a:r>
            <a:endParaRPr sz="1450">
              <a:solidFill>
                <a:schemeClr val="dk1"/>
              </a:solidFill>
              <a:latin typeface="Calibri"/>
              <a:ea typeface="Calibri"/>
              <a:cs typeface="Calibri"/>
              <a:sym typeface="Calibri"/>
            </a:endParaRPr>
          </a:p>
        </p:txBody>
      </p:sp>
      <p:sp>
        <p:nvSpPr>
          <p:cNvPr id="769" name="Google Shape;769;p73"/>
          <p:cNvSpPr txBox="1"/>
          <p:nvPr/>
        </p:nvSpPr>
        <p:spPr>
          <a:xfrm>
            <a:off x="5093461" y="2325370"/>
            <a:ext cx="798195" cy="3225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950" b="1">
                <a:solidFill>
                  <a:schemeClr val="dk1"/>
                </a:solidFill>
                <a:latin typeface="Calibri"/>
                <a:ea typeface="Calibri"/>
                <a:cs typeface="Calibri"/>
                <a:sym typeface="Calibri"/>
              </a:rPr>
              <a:t>Lexicon</a:t>
            </a:r>
            <a:endParaRPr sz="1950">
              <a:solidFill>
                <a:schemeClr val="dk1"/>
              </a:solidFill>
              <a:latin typeface="Calibri"/>
              <a:ea typeface="Calibri"/>
              <a:cs typeface="Calibri"/>
              <a:sym typeface="Calibri"/>
            </a:endParaRPr>
          </a:p>
        </p:txBody>
      </p:sp>
      <p:sp>
        <p:nvSpPr>
          <p:cNvPr id="770" name="Google Shape;770;p73"/>
          <p:cNvSpPr txBox="1"/>
          <p:nvPr/>
        </p:nvSpPr>
        <p:spPr>
          <a:xfrm>
            <a:off x="5093461" y="2931159"/>
            <a:ext cx="3580129" cy="1786255"/>
          </a:xfrm>
          <a:prstGeom prst="rect">
            <a:avLst/>
          </a:prstGeom>
          <a:noFill/>
          <a:ln>
            <a:noFill/>
          </a:ln>
        </p:spPr>
        <p:txBody>
          <a:bodyPr spcFirstLastPara="1" wrap="square" lIns="0" tIns="12700" rIns="0" bIns="0" anchor="t" anchorCtr="0">
            <a:spAutoFit/>
          </a:bodyPr>
          <a:lstStyle/>
          <a:p>
            <a:pPr marL="12700" marR="0" lvl="0" indent="0" algn="just" rtl="0">
              <a:lnSpc>
                <a:spcPct val="100000"/>
              </a:lnSpc>
              <a:spcBef>
                <a:spcPts val="0"/>
              </a:spcBef>
              <a:spcAft>
                <a:spcPts val="0"/>
              </a:spcAft>
              <a:buNone/>
            </a:pPr>
            <a:r>
              <a:rPr lang="en-US" sz="1650">
                <a:solidFill>
                  <a:schemeClr val="dk1"/>
                </a:solidFill>
                <a:latin typeface="Calibri"/>
                <a:ea typeface="Calibri"/>
                <a:cs typeface="Calibri"/>
                <a:sym typeface="Calibri"/>
              </a:rPr>
              <a:t>Det -&gt; the a that this</a:t>
            </a:r>
            <a:endParaRPr sz="1650">
              <a:solidFill>
                <a:schemeClr val="dk1"/>
              </a:solidFill>
              <a:latin typeface="Calibri"/>
              <a:ea typeface="Calibri"/>
              <a:cs typeface="Calibri"/>
              <a:sym typeface="Calibri"/>
            </a:endParaRPr>
          </a:p>
          <a:p>
            <a:pPr marL="12700" marR="1169035" lvl="0" indent="0" algn="just" rtl="0">
              <a:lnSpc>
                <a:spcPct val="100000"/>
              </a:lnSpc>
              <a:spcBef>
                <a:spcPts val="0"/>
              </a:spcBef>
              <a:spcAft>
                <a:spcPts val="0"/>
              </a:spcAft>
              <a:buNone/>
            </a:pPr>
            <a:r>
              <a:rPr lang="en-US" sz="1650">
                <a:solidFill>
                  <a:schemeClr val="dk1"/>
                </a:solidFill>
                <a:latin typeface="Calibri"/>
                <a:ea typeface="Calibri"/>
                <a:cs typeface="Calibri"/>
                <a:sym typeface="Calibri"/>
              </a:rPr>
              <a:t>Noun -&gt; book flight money  Verb -&gt; book prefer include  Pronoun -&gt; I he she me we</a:t>
            </a:r>
            <a:endParaRPr sz="1650">
              <a:solidFill>
                <a:schemeClr val="dk1"/>
              </a:solidFill>
              <a:latin typeface="Calibri"/>
              <a:ea typeface="Calibri"/>
              <a:cs typeface="Calibri"/>
              <a:sym typeface="Calibri"/>
            </a:endParaRPr>
          </a:p>
          <a:p>
            <a:pPr marL="12700" marR="5080" lvl="0" indent="0" algn="just" rtl="0">
              <a:lnSpc>
                <a:spcPct val="100000"/>
              </a:lnSpc>
              <a:spcBef>
                <a:spcPts val="0"/>
              </a:spcBef>
              <a:spcAft>
                <a:spcPts val="0"/>
              </a:spcAft>
              <a:buNone/>
            </a:pPr>
            <a:r>
              <a:rPr lang="en-US" sz="1650">
                <a:solidFill>
                  <a:schemeClr val="dk1"/>
                </a:solidFill>
                <a:latin typeface="Calibri"/>
                <a:ea typeface="Calibri"/>
                <a:cs typeface="Calibri"/>
                <a:sym typeface="Calibri"/>
              </a:rPr>
              <a:t>Proper-Noun -&gt; Pune Mumbai Hyderabad  Aux -&gt; does</a:t>
            </a:r>
            <a:endParaRPr sz="1650">
              <a:solidFill>
                <a:schemeClr val="dk1"/>
              </a:solidFill>
              <a:latin typeface="Calibri"/>
              <a:ea typeface="Calibri"/>
              <a:cs typeface="Calibri"/>
              <a:sym typeface="Calibri"/>
            </a:endParaRPr>
          </a:p>
          <a:p>
            <a:pPr marL="12700" marR="0" lvl="0" indent="0" algn="just" rtl="0">
              <a:lnSpc>
                <a:spcPct val="100000"/>
              </a:lnSpc>
              <a:spcBef>
                <a:spcPts val="0"/>
              </a:spcBef>
              <a:spcAft>
                <a:spcPts val="0"/>
              </a:spcAft>
              <a:buNone/>
            </a:pPr>
            <a:r>
              <a:rPr lang="en-US" sz="1650">
                <a:solidFill>
                  <a:schemeClr val="dk1"/>
                </a:solidFill>
                <a:latin typeface="Calibri"/>
                <a:ea typeface="Calibri"/>
                <a:cs typeface="Calibri"/>
                <a:sym typeface="Calibri"/>
              </a:rPr>
              <a:t>Preposition -&gt; from to on near through</a:t>
            </a:r>
            <a:endParaRPr sz="1650">
              <a:solidFill>
                <a:schemeClr val="dk1"/>
              </a:solidFill>
              <a:latin typeface="Calibri"/>
              <a:ea typeface="Calibri"/>
              <a:cs typeface="Calibri"/>
              <a:sym typeface="Calibri"/>
            </a:endParaRPr>
          </a:p>
        </p:txBody>
      </p:sp>
      <p:sp>
        <p:nvSpPr>
          <p:cNvPr id="771" name="Google Shape;771;p73"/>
          <p:cNvSpPr/>
          <p:nvPr/>
        </p:nvSpPr>
        <p:spPr>
          <a:xfrm>
            <a:off x="3799490" y="5308091"/>
            <a:ext cx="5132674" cy="1229995"/>
          </a:xfrm>
          <a:custGeom>
            <a:avLst/>
            <a:gdLst/>
            <a:ahLst/>
            <a:cxnLst/>
            <a:rect l="l" t="t" r="r" b="b"/>
            <a:pathLst>
              <a:path w="4366259" h="1229995" extrusionOk="0">
                <a:moveTo>
                  <a:pt x="4366260" y="0"/>
                </a:moveTo>
                <a:lnTo>
                  <a:pt x="4357116" y="0"/>
                </a:lnTo>
                <a:lnTo>
                  <a:pt x="4357116" y="6096"/>
                </a:lnTo>
                <a:lnTo>
                  <a:pt x="4357116" y="10668"/>
                </a:lnTo>
                <a:lnTo>
                  <a:pt x="4357116" y="1219085"/>
                </a:lnTo>
                <a:lnTo>
                  <a:pt x="10668" y="1219085"/>
                </a:lnTo>
                <a:lnTo>
                  <a:pt x="10668" y="10668"/>
                </a:lnTo>
                <a:lnTo>
                  <a:pt x="4357116" y="10668"/>
                </a:lnTo>
                <a:lnTo>
                  <a:pt x="4357116" y="6108"/>
                </a:lnTo>
                <a:lnTo>
                  <a:pt x="10668" y="6108"/>
                </a:lnTo>
                <a:lnTo>
                  <a:pt x="4357116" y="6096"/>
                </a:lnTo>
                <a:lnTo>
                  <a:pt x="4357116" y="0"/>
                </a:lnTo>
                <a:lnTo>
                  <a:pt x="0" y="0"/>
                </a:lnTo>
                <a:lnTo>
                  <a:pt x="0" y="1229741"/>
                </a:lnTo>
                <a:lnTo>
                  <a:pt x="4366260" y="1229741"/>
                </a:lnTo>
                <a:lnTo>
                  <a:pt x="4366260" y="1225169"/>
                </a:lnTo>
                <a:lnTo>
                  <a:pt x="4366260" y="1219073"/>
                </a:lnTo>
                <a:lnTo>
                  <a:pt x="4366260" y="10668"/>
                </a:lnTo>
                <a:lnTo>
                  <a:pt x="4366260" y="6096"/>
                </a:lnTo>
                <a:lnTo>
                  <a:pt x="4366260"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72" name="Google Shape;772;p73"/>
          <p:cNvSpPr txBox="1"/>
          <p:nvPr/>
        </p:nvSpPr>
        <p:spPr>
          <a:xfrm>
            <a:off x="4026978" y="5351625"/>
            <a:ext cx="2931160" cy="91122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dirty="0">
                <a:solidFill>
                  <a:schemeClr val="dk1"/>
                </a:solidFill>
                <a:latin typeface="Calibri"/>
                <a:ea typeface="Calibri"/>
                <a:cs typeface="Calibri"/>
                <a:sym typeface="Calibri"/>
              </a:rPr>
              <a:t>Exercise</a:t>
            </a:r>
            <a:endParaRPr sz="1450" dirty="0">
              <a:solidFill>
                <a:schemeClr val="dk1"/>
              </a:solidFill>
              <a:latin typeface="Calibri"/>
              <a:ea typeface="Calibri"/>
              <a:cs typeface="Calibri"/>
              <a:sym typeface="Calibri"/>
            </a:endParaRPr>
          </a:p>
          <a:p>
            <a:pPr marL="12700" marR="0" lvl="0" indent="0" algn="l" rtl="0">
              <a:lnSpc>
                <a:spcPct val="119310"/>
              </a:lnSpc>
              <a:spcBef>
                <a:spcPts val="0"/>
              </a:spcBef>
              <a:spcAft>
                <a:spcPts val="0"/>
              </a:spcAft>
              <a:buNone/>
            </a:pPr>
            <a:r>
              <a:rPr lang="en-US" sz="1450" dirty="0">
                <a:solidFill>
                  <a:schemeClr val="dk1"/>
                </a:solidFill>
                <a:latin typeface="Calibri"/>
                <a:ea typeface="Calibri"/>
                <a:cs typeface="Calibri"/>
                <a:sym typeface="Calibri"/>
              </a:rPr>
              <a:t>Parse following sentences</a:t>
            </a:r>
            <a:endParaRPr sz="1450" dirty="0">
              <a:solidFill>
                <a:schemeClr val="dk1"/>
              </a:solidFill>
              <a:latin typeface="Calibri"/>
              <a:ea typeface="Calibri"/>
              <a:cs typeface="Calibri"/>
              <a:sym typeface="Calibri"/>
            </a:endParaRPr>
          </a:p>
          <a:p>
            <a:pPr marL="12700" marR="5080" lvl="0" indent="0" algn="l" rtl="0">
              <a:lnSpc>
                <a:spcPct val="122758"/>
              </a:lnSpc>
              <a:spcBef>
                <a:spcPts val="15"/>
              </a:spcBef>
              <a:spcAft>
                <a:spcPts val="0"/>
              </a:spcAft>
              <a:buNone/>
            </a:pPr>
            <a:r>
              <a:rPr lang="en-US" sz="1450" dirty="0">
                <a:solidFill>
                  <a:srgbClr val="FF0000"/>
                </a:solidFill>
                <a:latin typeface="Calibri"/>
                <a:ea typeface="Calibri"/>
                <a:cs typeface="Calibri"/>
                <a:sym typeface="Calibri"/>
              </a:rPr>
              <a:t>Does American airlines serves a meal?  She plays in the garden.</a:t>
            </a:r>
            <a:endParaRPr sz="1450" dirty="0">
              <a:solidFill>
                <a:schemeClr val="dk1"/>
              </a:solidFill>
              <a:latin typeface="Calibri"/>
              <a:ea typeface="Calibri"/>
              <a:cs typeface="Calibri"/>
              <a:sym typeface="Calibri"/>
            </a:endParaRPr>
          </a:p>
        </p:txBody>
      </p:sp>
      <p:sp>
        <p:nvSpPr>
          <p:cNvPr id="773" name="Google Shape;773;p73"/>
          <p:cNvSpPr txBox="1"/>
          <p:nvPr/>
        </p:nvSpPr>
        <p:spPr>
          <a:xfrm>
            <a:off x="7730743" y="5763767"/>
            <a:ext cx="865505" cy="472440"/>
          </a:xfrm>
          <a:prstGeom prst="rect">
            <a:avLst/>
          </a:prstGeom>
          <a:noFill/>
          <a:ln>
            <a:noFill/>
          </a:ln>
        </p:spPr>
        <p:txBody>
          <a:bodyPr spcFirstLastPara="1" wrap="square" lIns="0" tIns="8250" rIns="0" bIns="0" anchor="t" anchorCtr="0">
            <a:spAutoFit/>
          </a:bodyPr>
          <a:lstStyle/>
          <a:p>
            <a:pPr marL="29209" marR="5080" lvl="0" indent="-17145" algn="l" rtl="0">
              <a:lnSpc>
                <a:spcPct val="102099"/>
              </a:lnSpc>
              <a:spcBef>
                <a:spcPts val="0"/>
              </a:spcBef>
              <a:spcAft>
                <a:spcPts val="0"/>
              </a:spcAft>
              <a:buNone/>
            </a:pPr>
            <a:r>
              <a:rPr lang="en-US" sz="1450">
                <a:solidFill>
                  <a:schemeClr val="dk1"/>
                </a:solidFill>
                <a:latin typeface="Calibri"/>
                <a:ea typeface="Calibri"/>
                <a:cs typeface="Calibri"/>
                <a:sym typeface="Calibri"/>
              </a:rPr>
              <a:t>Top-down  Bottom-up</a:t>
            </a:r>
            <a:endParaRPr sz="1450">
              <a:solidFill>
                <a:schemeClr val="dk1"/>
              </a:solidFill>
              <a:latin typeface="Calibri"/>
              <a:ea typeface="Calibri"/>
              <a:cs typeface="Calibri"/>
              <a:sym typeface="Calibri"/>
            </a:endParaRPr>
          </a:p>
        </p:txBody>
      </p:sp>
      <p:sp>
        <p:nvSpPr>
          <p:cNvPr id="774" name="Google Shape;774;p73"/>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79</a:t>
            </a:fld>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Shape 778"/>
        <p:cNvGrpSpPr/>
        <p:nvPr/>
      </p:nvGrpSpPr>
      <p:grpSpPr>
        <a:xfrm>
          <a:off x="0" y="0"/>
          <a:ext cx="0" cy="0"/>
          <a:chOff x="0" y="0"/>
          <a:chExt cx="0" cy="0"/>
        </a:xfrm>
      </p:grpSpPr>
      <p:sp>
        <p:nvSpPr>
          <p:cNvPr id="779" name="Google Shape;779;p74"/>
          <p:cNvSpPr txBox="1">
            <a:spLocks noGrp="1"/>
          </p:cNvSpPr>
          <p:nvPr>
            <p:ph type="title"/>
          </p:nvPr>
        </p:nvSpPr>
        <p:spPr>
          <a:xfrm>
            <a:off x="754126" y="1370075"/>
            <a:ext cx="4499610" cy="3759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2300">
                <a:solidFill>
                  <a:srgbClr val="FF0000"/>
                </a:solidFill>
              </a:rPr>
              <a:t>Does American airlines serves a meal?</a:t>
            </a:r>
            <a:endParaRPr sz="2300"/>
          </a:p>
        </p:txBody>
      </p:sp>
      <p:sp>
        <p:nvSpPr>
          <p:cNvPr id="780" name="Google Shape;780;p74"/>
          <p:cNvSpPr txBox="1"/>
          <p:nvPr/>
        </p:nvSpPr>
        <p:spPr>
          <a:xfrm>
            <a:off x="5775959" y="1370075"/>
            <a:ext cx="2047239" cy="37592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None/>
            </a:pPr>
            <a:r>
              <a:rPr lang="en-US" sz="2300">
                <a:solidFill>
                  <a:schemeClr val="dk1"/>
                </a:solidFill>
                <a:latin typeface="Calibri"/>
                <a:ea typeface="Calibri"/>
                <a:cs typeface="Calibri"/>
                <a:sym typeface="Calibri"/>
              </a:rPr>
              <a:t>(top-down parse)</a:t>
            </a:r>
            <a:endParaRPr sz="2300">
              <a:solidFill>
                <a:schemeClr val="dk1"/>
              </a:solidFill>
              <a:latin typeface="Calibri"/>
              <a:ea typeface="Calibri"/>
              <a:cs typeface="Calibri"/>
              <a:sym typeface="Calibri"/>
            </a:endParaRPr>
          </a:p>
        </p:txBody>
      </p:sp>
      <p:sp>
        <p:nvSpPr>
          <p:cNvPr id="781" name="Google Shape;781;p74"/>
          <p:cNvSpPr txBox="1"/>
          <p:nvPr/>
        </p:nvSpPr>
        <p:spPr>
          <a:xfrm>
            <a:off x="4117847" y="2125726"/>
            <a:ext cx="139700" cy="3225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950">
                <a:solidFill>
                  <a:schemeClr val="dk1"/>
                </a:solidFill>
                <a:latin typeface="Calibri"/>
                <a:ea typeface="Calibri"/>
                <a:cs typeface="Calibri"/>
                <a:sym typeface="Calibri"/>
              </a:rPr>
              <a:t>S</a:t>
            </a:r>
            <a:endParaRPr sz="1950">
              <a:solidFill>
                <a:schemeClr val="dk1"/>
              </a:solidFill>
              <a:latin typeface="Calibri"/>
              <a:ea typeface="Calibri"/>
              <a:cs typeface="Calibri"/>
              <a:sym typeface="Calibri"/>
            </a:endParaRPr>
          </a:p>
        </p:txBody>
      </p:sp>
      <p:sp>
        <p:nvSpPr>
          <p:cNvPr id="782" name="Google Shape;782;p74"/>
          <p:cNvSpPr txBox="1"/>
          <p:nvPr/>
        </p:nvSpPr>
        <p:spPr>
          <a:xfrm>
            <a:off x="2609088" y="2773426"/>
            <a:ext cx="408940" cy="3225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950">
                <a:solidFill>
                  <a:schemeClr val="dk1"/>
                </a:solidFill>
                <a:latin typeface="Calibri"/>
                <a:ea typeface="Calibri"/>
                <a:cs typeface="Calibri"/>
                <a:sym typeface="Calibri"/>
              </a:rPr>
              <a:t>Aux</a:t>
            </a:r>
            <a:endParaRPr sz="1950">
              <a:solidFill>
                <a:schemeClr val="dk1"/>
              </a:solidFill>
              <a:latin typeface="Calibri"/>
              <a:ea typeface="Calibri"/>
              <a:cs typeface="Calibri"/>
              <a:sym typeface="Calibri"/>
            </a:endParaRPr>
          </a:p>
        </p:txBody>
      </p:sp>
      <p:sp>
        <p:nvSpPr>
          <p:cNvPr id="783" name="Google Shape;783;p74"/>
          <p:cNvSpPr txBox="1"/>
          <p:nvPr/>
        </p:nvSpPr>
        <p:spPr>
          <a:xfrm>
            <a:off x="4117847" y="2773426"/>
            <a:ext cx="316230" cy="3225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950">
                <a:solidFill>
                  <a:schemeClr val="dk1"/>
                </a:solidFill>
                <a:latin typeface="Calibri"/>
                <a:ea typeface="Calibri"/>
                <a:cs typeface="Calibri"/>
                <a:sym typeface="Calibri"/>
              </a:rPr>
              <a:t>NP</a:t>
            </a:r>
            <a:endParaRPr sz="1950">
              <a:solidFill>
                <a:schemeClr val="dk1"/>
              </a:solidFill>
              <a:latin typeface="Calibri"/>
              <a:ea typeface="Calibri"/>
              <a:cs typeface="Calibri"/>
              <a:sym typeface="Calibri"/>
            </a:endParaRPr>
          </a:p>
        </p:txBody>
      </p:sp>
      <p:sp>
        <p:nvSpPr>
          <p:cNvPr id="784" name="Google Shape;784;p74"/>
          <p:cNvSpPr txBox="1"/>
          <p:nvPr/>
        </p:nvSpPr>
        <p:spPr>
          <a:xfrm>
            <a:off x="6245352" y="2773426"/>
            <a:ext cx="295910" cy="3225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950">
                <a:solidFill>
                  <a:schemeClr val="dk1"/>
                </a:solidFill>
                <a:latin typeface="Calibri"/>
                <a:ea typeface="Calibri"/>
                <a:cs typeface="Calibri"/>
                <a:sym typeface="Calibri"/>
              </a:rPr>
              <a:t>VP</a:t>
            </a:r>
            <a:endParaRPr sz="1950">
              <a:solidFill>
                <a:schemeClr val="dk1"/>
              </a:solidFill>
              <a:latin typeface="Calibri"/>
              <a:ea typeface="Calibri"/>
              <a:cs typeface="Calibri"/>
              <a:sym typeface="Calibri"/>
            </a:endParaRPr>
          </a:p>
        </p:txBody>
      </p:sp>
      <p:sp>
        <p:nvSpPr>
          <p:cNvPr id="785" name="Google Shape;785;p74"/>
          <p:cNvSpPr txBox="1"/>
          <p:nvPr/>
        </p:nvSpPr>
        <p:spPr>
          <a:xfrm>
            <a:off x="2609088" y="3420872"/>
            <a:ext cx="532765" cy="3232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950">
                <a:solidFill>
                  <a:srgbClr val="FF0000"/>
                </a:solidFill>
                <a:latin typeface="Calibri"/>
                <a:ea typeface="Calibri"/>
                <a:cs typeface="Calibri"/>
                <a:sym typeface="Calibri"/>
              </a:rPr>
              <a:t>Does</a:t>
            </a:r>
            <a:endParaRPr sz="1950">
              <a:solidFill>
                <a:schemeClr val="dk1"/>
              </a:solidFill>
              <a:latin typeface="Calibri"/>
              <a:ea typeface="Calibri"/>
              <a:cs typeface="Calibri"/>
              <a:sym typeface="Calibri"/>
            </a:endParaRPr>
          </a:p>
        </p:txBody>
      </p:sp>
      <p:sp>
        <p:nvSpPr>
          <p:cNvPr id="786" name="Google Shape;786;p74"/>
          <p:cNvSpPr txBox="1"/>
          <p:nvPr/>
        </p:nvSpPr>
        <p:spPr>
          <a:xfrm>
            <a:off x="4117085" y="3378708"/>
            <a:ext cx="711200" cy="673100"/>
          </a:xfrm>
          <a:prstGeom prst="rect">
            <a:avLst/>
          </a:prstGeom>
          <a:noFill/>
          <a:ln>
            <a:noFill/>
          </a:ln>
        </p:spPr>
        <p:txBody>
          <a:bodyPr spcFirstLastPara="1" wrap="square" lIns="0" tIns="12700" rIns="0" bIns="0" anchor="t" anchorCtr="0">
            <a:spAutoFit/>
          </a:bodyPr>
          <a:lstStyle/>
          <a:p>
            <a:pPr marL="53339" marR="5080" lvl="0" indent="-41274" algn="l" rtl="0">
              <a:lnSpc>
                <a:spcPct val="109000"/>
              </a:lnSpc>
              <a:spcBef>
                <a:spcPts val="0"/>
              </a:spcBef>
              <a:spcAft>
                <a:spcPts val="0"/>
              </a:spcAft>
              <a:buNone/>
            </a:pPr>
            <a:r>
              <a:rPr lang="en-US" sz="1950">
                <a:solidFill>
                  <a:schemeClr val="dk1"/>
                </a:solidFill>
                <a:latin typeface="Calibri"/>
                <a:ea typeface="Calibri"/>
                <a:cs typeface="Calibri"/>
                <a:sym typeface="Calibri"/>
              </a:rPr>
              <a:t>proper  Noun</a:t>
            </a:r>
            <a:endParaRPr sz="1950">
              <a:solidFill>
                <a:schemeClr val="dk1"/>
              </a:solidFill>
              <a:latin typeface="Calibri"/>
              <a:ea typeface="Calibri"/>
              <a:cs typeface="Calibri"/>
              <a:sym typeface="Calibri"/>
            </a:endParaRPr>
          </a:p>
        </p:txBody>
      </p:sp>
      <p:sp>
        <p:nvSpPr>
          <p:cNvPr id="787" name="Google Shape;787;p74"/>
          <p:cNvSpPr txBox="1"/>
          <p:nvPr/>
        </p:nvSpPr>
        <p:spPr>
          <a:xfrm>
            <a:off x="5626861" y="3420872"/>
            <a:ext cx="296545" cy="3232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950">
                <a:solidFill>
                  <a:schemeClr val="dk1"/>
                </a:solidFill>
                <a:latin typeface="Calibri"/>
                <a:ea typeface="Calibri"/>
                <a:cs typeface="Calibri"/>
                <a:sym typeface="Calibri"/>
              </a:rPr>
              <a:t>VP</a:t>
            </a:r>
            <a:endParaRPr sz="1950">
              <a:solidFill>
                <a:schemeClr val="dk1"/>
              </a:solidFill>
              <a:latin typeface="Calibri"/>
              <a:ea typeface="Calibri"/>
              <a:cs typeface="Calibri"/>
              <a:sym typeface="Calibri"/>
            </a:endParaRPr>
          </a:p>
        </p:txBody>
      </p:sp>
      <p:sp>
        <p:nvSpPr>
          <p:cNvPr id="788" name="Google Shape;788;p74"/>
          <p:cNvSpPr txBox="1"/>
          <p:nvPr/>
        </p:nvSpPr>
        <p:spPr>
          <a:xfrm>
            <a:off x="7643621" y="3420872"/>
            <a:ext cx="281940" cy="3232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950">
                <a:solidFill>
                  <a:schemeClr val="dk1"/>
                </a:solidFill>
                <a:latin typeface="Calibri"/>
                <a:ea typeface="Calibri"/>
                <a:cs typeface="Calibri"/>
                <a:sym typeface="Calibri"/>
              </a:rPr>
              <a:t>PP</a:t>
            </a:r>
            <a:endParaRPr sz="1950">
              <a:solidFill>
                <a:schemeClr val="dk1"/>
              </a:solidFill>
              <a:latin typeface="Calibri"/>
              <a:ea typeface="Calibri"/>
              <a:cs typeface="Calibri"/>
              <a:sym typeface="Calibri"/>
            </a:endParaRPr>
          </a:p>
        </p:txBody>
      </p:sp>
      <p:sp>
        <p:nvSpPr>
          <p:cNvPr id="789" name="Google Shape;789;p74"/>
          <p:cNvSpPr txBox="1"/>
          <p:nvPr/>
        </p:nvSpPr>
        <p:spPr>
          <a:xfrm>
            <a:off x="3363467" y="4393692"/>
            <a:ext cx="1801495" cy="3225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950">
                <a:solidFill>
                  <a:srgbClr val="FF0000"/>
                </a:solidFill>
                <a:latin typeface="Calibri"/>
                <a:ea typeface="Calibri"/>
                <a:cs typeface="Calibri"/>
                <a:sym typeface="Calibri"/>
              </a:rPr>
              <a:t>American Airlines</a:t>
            </a:r>
            <a:endParaRPr sz="1950">
              <a:solidFill>
                <a:schemeClr val="dk1"/>
              </a:solidFill>
              <a:latin typeface="Calibri"/>
              <a:ea typeface="Calibri"/>
              <a:cs typeface="Calibri"/>
              <a:sym typeface="Calibri"/>
            </a:endParaRPr>
          </a:p>
        </p:txBody>
      </p:sp>
      <p:sp>
        <p:nvSpPr>
          <p:cNvPr id="790" name="Google Shape;790;p74"/>
          <p:cNvSpPr txBox="1"/>
          <p:nvPr/>
        </p:nvSpPr>
        <p:spPr>
          <a:xfrm>
            <a:off x="5626861" y="4393692"/>
            <a:ext cx="475615" cy="3225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950">
                <a:solidFill>
                  <a:schemeClr val="dk1"/>
                </a:solidFill>
                <a:latin typeface="Calibri"/>
                <a:ea typeface="Calibri"/>
                <a:cs typeface="Calibri"/>
                <a:sym typeface="Calibri"/>
              </a:rPr>
              <a:t>verb</a:t>
            </a:r>
            <a:endParaRPr sz="1950">
              <a:solidFill>
                <a:schemeClr val="dk1"/>
              </a:solidFill>
              <a:latin typeface="Calibri"/>
              <a:ea typeface="Calibri"/>
              <a:cs typeface="Calibri"/>
              <a:sym typeface="Calibri"/>
            </a:endParaRPr>
          </a:p>
        </p:txBody>
      </p:sp>
      <p:sp>
        <p:nvSpPr>
          <p:cNvPr id="791" name="Google Shape;791;p74"/>
          <p:cNvSpPr txBox="1"/>
          <p:nvPr/>
        </p:nvSpPr>
        <p:spPr>
          <a:xfrm>
            <a:off x="7379461" y="4393692"/>
            <a:ext cx="1071880" cy="3225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950">
                <a:solidFill>
                  <a:schemeClr val="dk1"/>
                </a:solidFill>
                <a:latin typeface="Calibri"/>
                <a:ea typeface="Calibri"/>
                <a:cs typeface="Calibri"/>
                <a:sym typeface="Calibri"/>
              </a:rPr>
              <a:t>Det	NP</a:t>
            </a:r>
            <a:endParaRPr sz="1950">
              <a:solidFill>
                <a:schemeClr val="dk1"/>
              </a:solidFill>
              <a:latin typeface="Calibri"/>
              <a:ea typeface="Calibri"/>
              <a:cs typeface="Calibri"/>
              <a:sym typeface="Calibri"/>
            </a:endParaRPr>
          </a:p>
        </p:txBody>
      </p:sp>
      <p:sp>
        <p:nvSpPr>
          <p:cNvPr id="792" name="Google Shape;792;p74"/>
          <p:cNvSpPr txBox="1"/>
          <p:nvPr/>
        </p:nvSpPr>
        <p:spPr>
          <a:xfrm>
            <a:off x="5626861" y="5041392"/>
            <a:ext cx="670560" cy="3225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950">
                <a:solidFill>
                  <a:srgbClr val="FF0000"/>
                </a:solidFill>
                <a:latin typeface="Calibri"/>
                <a:ea typeface="Calibri"/>
                <a:cs typeface="Calibri"/>
                <a:sym typeface="Calibri"/>
              </a:rPr>
              <a:t>serves</a:t>
            </a:r>
            <a:endParaRPr sz="1950">
              <a:solidFill>
                <a:schemeClr val="dk1"/>
              </a:solidFill>
              <a:latin typeface="Calibri"/>
              <a:ea typeface="Calibri"/>
              <a:cs typeface="Calibri"/>
              <a:sym typeface="Calibri"/>
            </a:endParaRPr>
          </a:p>
        </p:txBody>
      </p:sp>
      <p:sp>
        <p:nvSpPr>
          <p:cNvPr id="793" name="Google Shape;793;p74"/>
          <p:cNvSpPr txBox="1"/>
          <p:nvPr/>
        </p:nvSpPr>
        <p:spPr>
          <a:xfrm>
            <a:off x="7361935" y="5041392"/>
            <a:ext cx="144145" cy="3225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950">
                <a:solidFill>
                  <a:srgbClr val="FF0000"/>
                </a:solidFill>
                <a:latin typeface="Calibri"/>
                <a:ea typeface="Calibri"/>
                <a:cs typeface="Calibri"/>
                <a:sym typeface="Calibri"/>
              </a:rPr>
              <a:t>a</a:t>
            </a:r>
            <a:endParaRPr sz="1950">
              <a:solidFill>
                <a:schemeClr val="dk1"/>
              </a:solidFill>
              <a:latin typeface="Calibri"/>
              <a:ea typeface="Calibri"/>
              <a:cs typeface="Calibri"/>
              <a:sym typeface="Calibri"/>
            </a:endParaRPr>
          </a:p>
        </p:txBody>
      </p:sp>
      <p:sp>
        <p:nvSpPr>
          <p:cNvPr id="794" name="Google Shape;794;p74"/>
          <p:cNvSpPr txBox="1"/>
          <p:nvPr/>
        </p:nvSpPr>
        <p:spPr>
          <a:xfrm>
            <a:off x="8383016" y="5041392"/>
            <a:ext cx="626110" cy="3225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950">
                <a:solidFill>
                  <a:srgbClr val="FF0000"/>
                </a:solidFill>
                <a:latin typeface="Calibri"/>
                <a:ea typeface="Calibri"/>
                <a:cs typeface="Calibri"/>
                <a:sym typeface="Calibri"/>
              </a:rPr>
              <a:t>meals</a:t>
            </a:r>
            <a:endParaRPr sz="1950">
              <a:solidFill>
                <a:schemeClr val="dk1"/>
              </a:solidFill>
              <a:latin typeface="Calibri"/>
              <a:ea typeface="Calibri"/>
              <a:cs typeface="Calibri"/>
              <a:sym typeface="Calibri"/>
            </a:endParaRPr>
          </a:p>
        </p:txBody>
      </p:sp>
      <p:sp>
        <p:nvSpPr>
          <p:cNvPr id="795" name="Google Shape;795;p74"/>
          <p:cNvSpPr/>
          <p:nvPr/>
        </p:nvSpPr>
        <p:spPr>
          <a:xfrm>
            <a:off x="3080004" y="2554223"/>
            <a:ext cx="3165475" cy="309880"/>
          </a:xfrm>
          <a:custGeom>
            <a:avLst/>
            <a:gdLst/>
            <a:ahLst/>
            <a:cxnLst/>
            <a:rect l="l" t="t" r="r" b="b"/>
            <a:pathLst>
              <a:path w="3165475" h="309880" extrusionOk="0">
                <a:moveTo>
                  <a:pt x="986028" y="4572"/>
                </a:moveTo>
                <a:lnTo>
                  <a:pt x="984504" y="0"/>
                </a:lnTo>
                <a:lnTo>
                  <a:pt x="0" y="303530"/>
                </a:lnTo>
                <a:lnTo>
                  <a:pt x="1524" y="309626"/>
                </a:lnTo>
                <a:lnTo>
                  <a:pt x="986028" y="4572"/>
                </a:lnTo>
                <a:close/>
              </a:path>
              <a:path w="3165475" h="309880" extrusionOk="0">
                <a:moveTo>
                  <a:pt x="3165221" y="303530"/>
                </a:moveTo>
                <a:lnTo>
                  <a:pt x="1028700" y="0"/>
                </a:lnTo>
                <a:lnTo>
                  <a:pt x="1027938" y="2286"/>
                </a:lnTo>
                <a:lnTo>
                  <a:pt x="1025652" y="3048"/>
                </a:lnTo>
                <a:lnTo>
                  <a:pt x="1171956" y="286766"/>
                </a:lnTo>
                <a:lnTo>
                  <a:pt x="1176528" y="283718"/>
                </a:lnTo>
                <a:lnTo>
                  <a:pt x="1032129" y="5334"/>
                </a:lnTo>
                <a:lnTo>
                  <a:pt x="3165221" y="309626"/>
                </a:lnTo>
                <a:lnTo>
                  <a:pt x="3165221" y="30353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96" name="Google Shape;796;p74"/>
          <p:cNvSpPr/>
          <p:nvPr/>
        </p:nvSpPr>
        <p:spPr>
          <a:xfrm>
            <a:off x="2775204" y="3144011"/>
            <a:ext cx="15240" cy="325120"/>
          </a:xfrm>
          <a:custGeom>
            <a:avLst/>
            <a:gdLst/>
            <a:ahLst/>
            <a:cxnLst/>
            <a:rect l="l" t="t" r="r" b="b"/>
            <a:pathLst>
              <a:path w="15239" h="325120" extrusionOk="0">
                <a:moveTo>
                  <a:pt x="4571" y="0"/>
                </a:moveTo>
                <a:lnTo>
                  <a:pt x="0" y="0"/>
                </a:lnTo>
                <a:lnTo>
                  <a:pt x="10668" y="324865"/>
                </a:lnTo>
                <a:lnTo>
                  <a:pt x="15239" y="324865"/>
                </a:lnTo>
                <a:lnTo>
                  <a:pt x="4571"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97" name="Google Shape;797;p74"/>
          <p:cNvSpPr/>
          <p:nvPr/>
        </p:nvSpPr>
        <p:spPr>
          <a:xfrm>
            <a:off x="4251959" y="3144011"/>
            <a:ext cx="5080" cy="325120"/>
          </a:xfrm>
          <a:custGeom>
            <a:avLst/>
            <a:gdLst/>
            <a:ahLst/>
            <a:cxnLst/>
            <a:rect l="l" t="t" r="r" b="b"/>
            <a:pathLst>
              <a:path w="5079" h="325120" extrusionOk="0">
                <a:moveTo>
                  <a:pt x="4801" y="0"/>
                </a:moveTo>
                <a:lnTo>
                  <a:pt x="0" y="0"/>
                </a:lnTo>
                <a:lnTo>
                  <a:pt x="0" y="324865"/>
                </a:lnTo>
                <a:lnTo>
                  <a:pt x="4801" y="324865"/>
                </a:lnTo>
                <a:lnTo>
                  <a:pt x="4801"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98" name="Google Shape;798;p74"/>
          <p:cNvSpPr/>
          <p:nvPr/>
        </p:nvSpPr>
        <p:spPr>
          <a:xfrm>
            <a:off x="5792724" y="3140963"/>
            <a:ext cx="1982470" cy="329565"/>
          </a:xfrm>
          <a:custGeom>
            <a:avLst/>
            <a:gdLst/>
            <a:ahLst/>
            <a:cxnLst/>
            <a:rect l="l" t="t" r="r" b="b"/>
            <a:pathLst>
              <a:path w="1982470" h="329564" extrusionOk="0">
                <a:moveTo>
                  <a:pt x="548513" y="4572"/>
                </a:moveTo>
                <a:lnTo>
                  <a:pt x="545465" y="0"/>
                </a:lnTo>
                <a:lnTo>
                  <a:pt x="0" y="324993"/>
                </a:lnTo>
                <a:lnTo>
                  <a:pt x="3048" y="329565"/>
                </a:lnTo>
                <a:lnTo>
                  <a:pt x="548513" y="4572"/>
                </a:lnTo>
                <a:close/>
              </a:path>
              <a:path w="1982470" h="329564" extrusionOk="0">
                <a:moveTo>
                  <a:pt x="1982343" y="251714"/>
                </a:moveTo>
                <a:lnTo>
                  <a:pt x="578993" y="0"/>
                </a:lnTo>
                <a:lnTo>
                  <a:pt x="577469" y="4572"/>
                </a:lnTo>
                <a:lnTo>
                  <a:pt x="1980819" y="256286"/>
                </a:lnTo>
                <a:lnTo>
                  <a:pt x="1982343" y="251714"/>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99" name="Google Shape;799;p74"/>
          <p:cNvSpPr/>
          <p:nvPr/>
        </p:nvSpPr>
        <p:spPr>
          <a:xfrm>
            <a:off x="4367784" y="4096511"/>
            <a:ext cx="5080" cy="367030"/>
          </a:xfrm>
          <a:custGeom>
            <a:avLst/>
            <a:gdLst/>
            <a:ahLst/>
            <a:cxnLst/>
            <a:rect l="l" t="t" r="r" b="b"/>
            <a:pathLst>
              <a:path w="5079" h="367029" extrusionOk="0">
                <a:moveTo>
                  <a:pt x="4801" y="0"/>
                </a:moveTo>
                <a:lnTo>
                  <a:pt x="0" y="0"/>
                </a:lnTo>
                <a:lnTo>
                  <a:pt x="0" y="366902"/>
                </a:lnTo>
                <a:lnTo>
                  <a:pt x="4801" y="366902"/>
                </a:lnTo>
                <a:lnTo>
                  <a:pt x="4801"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00" name="Google Shape;800;p74"/>
          <p:cNvSpPr/>
          <p:nvPr/>
        </p:nvSpPr>
        <p:spPr>
          <a:xfrm>
            <a:off x="5792723" y="3720084"/>
            <a:ext cx="5080" cy="744220"/>
          </a:xfrm>
          <a:custGeom>
            <a:avLst/>
            <a:gdLst/>
            <a:ahLst/>
            <a:cxnLst/>
            <a:rect l="l" t="t" r="r" b="b"/>
            <a:pathLst>
              <a:path w="5079" h="744220" extrusionOk="0">
                <a:moveTo>
                  <a:pt x="4801" y="0"/>
                </a:moveTo>
                <a:lnTo>
                  <a:pt x="0" y="0"/>
                </a:lnTo>
                <a:lnTo>
                  <a:pt x="0" y="743965"/>
                </a:lnTo>
                <a:lnTo>
                  <a:pt x="4801" y="743965"/>
                </a:lnTo>
                <a:lnTo>
                  <a:pt x="4801"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01" name="Google Shape;801;p74"/>
          <p:cNvSpPr/>
          <p:nvPr/>
        </p:nvSpPr>
        <p:spPr>
          <a:xfrm>
            <a:off x="7415783" y="3822191"/>
            <a:ext cx="1136650" cy="643255"/>
          </a:xfrm>
          <a:custGeom>
            <a:avLst/>
            <a:gdLst/>
            <a:ahLst/>
            <a:cxnLst/>
            <a:rect l="l" t="t" r="r" b="b"/>
            <a:pathLst>
              <a:path w="1136650" h="643254" extrusionOk="0">
                <a:moveTo>
                  <a:pt x="361061" y="0"/>
                </a:moveTo>
                <a:lnTo>
                  <a:pt x="359410" y="2540"/>
                </a:lnTo>
                <a:lnTo>
                  <a:pt x="356489" y="1524"/>
                </a:lnTo>
                <a:lnTo>
                  <a:pt x="0" y="639953"/>
                </a:lnTo>
                <a:lnTo>
                  <a:pt x="4572" y="643001"/>
                </a:lnTo>
                <a:lnTo>
                  <a:pt x="359537" y="5842"/>
                </a:lnTo>
                <a:lnTo>
                  <a:pt x="1131951" y="643001"/>
                </a:lnTo>
                <a:lnTo>
                  <a:pt x="1136523" y="639953"/>
                </a:lnTo>
                <a:lnTo>
                  <a:pt x="361061"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02" name="Google Shape;802;p74"/>
          <p:cNvSpPr/>
          <p:nvPr/>
        </p:nvSpPr>
        <p:spPr>
          <a:xfrm>
            <a:off x="7415783" y="4756403"/>
            <a:ext cx="6350" cy="399415"/>
          </a:xfrm>
          <a:custGeom>
            <a:avLst/>
            <a:gdLst/>
            <a:ahLst/>
            <a:cxnLst/>
            <a:rect l="l" t="t" r="r" b="b"/>
            <a:pathLst>
              <a:path w="6350" h="399414" extrusionOk="0">
                <a:moveTo>
                  <a:pt x="5852" y="0"/>
                </a:moveTo>
                <a:lnTo>
                  <a:pt x="0" y="0"/>
                </a:lnTo>
                <a:lnTo>
                  <a:pt x="0" y="399161"/>
                </a:lnTo>
                <a:lnTo>
                  <a:pt x="5852" y="399161"/>
                </a:lnTo>
                <a:lnTo>
                  <a:pt x="5852"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03" name="Google Shape;803;p74"/>
          <p:cNvSpPr/>
          <p:nvPr/>
        </p:nvSpPr>
        <p:spPr>
          <a:xfrm>
            <a:off x="8548116" y="4756403"/>
            <a:ext cx="5080" cy="378460"/>
          </a:xfrm>
          <a:custGeom>
            <a:avLst/>
            <a:gdLst/>
            <a:ahLst/>
            <a:cxnLst/>
            <a:rect l="l" t="t" r="r" b="b"/>
            <a:pathLst>
              <a:path w="5079" h="378460" extrusionOk="0">
                <a:moveTo>
                  <a:pt x="4800" y="0"/>
                </a:moveTo>
                <a:lnTo>
                  <a:pt x="0" y="0"/>
                </a:lnTo>
                <a:lnTo>
                  <a:pt x="0" y="378206"/>
                </a:lnTo>
                <a:lnTo>
                  <a:pt x="4800" y="378206"/>
                </a:lnTo>
                <a:lnTo>
                  <a:pt x="4800"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04" name="Google Shape;804;p74"/>
          <p:cNvSpPr/>
          <p:nvPr/>
        </p:nvSpPr>
        <p:spPr>
          <a:xfrm>
            <a:off x="5865876" y="4756403"/>
            <a:ext cx="5080" cy="378460"/>
          </a:xfrm>
          <a:custGeom>
            <a:avLst/>
            <a:gdLst/>
            <a:ahLst/>
            <a:cxnLst/>
            <a:rect l="l" t="t" r="r" b="b"/>
            <a:pathLst>
              <a:path w="5079" h="378460" extrusionOk="0">
                <a:moveTo>
                  <a:pt x="4800" y="0"/>
                </a:moveTo>
                <a:lnTo>
                  <a:pt x="0" y="0"/>
                </a:lnTo>
                <a:lnTo>
                  <a:pt x="0" y="378206"/>
                </a:lnTo>
                <a:lnTo>
                  <a:pt x="4800" y="378206"/>
                </a:lnTo>
                <a:lnTo>
                  <a:pt x="4800"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05" name="Google Shape;805;p74"/>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80</a:t>
            </a:fld>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Shape 809"/>
        <p:cNvGrpSpPr/>
        <p:nvPr/>
      </p:nvGrpSpPr>
      <p:grpSpPr>
        <a:xfrm>
          <a:off x="0" y="0"/>
          <a:ext cx="0" cy="0"/>
          <a:chOff x="0" y="0"/>
          <a:chExt cx="0" cy="0"/>
        </a:xfrm>
      </p:grpSpPr>
      <p:sp>
        <p:nvSpPr>
          <p:cNvPr id="810" name="Google Shape;810;p75"/>
          <p:cNvSpPr txBox="1"/>
          <p:nvPr/>
        </p:nvSpPr>
        <p:spPr>
          <a:xfrm>
            <a:off x="754126" y="1354074"/>
            <a:ext cx="3176270" cy="42989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2650">
                <a:solidFill>
                  <a:srgbClr val="FF0000"/>
                </a:solidFill>
                <a:latin typeface="Calibri"/>
                <a:ea typeface="Calibri"/>
                <a:cs typeface="Calibri"/>
                <a:sym typeface="Calibri"/>
              </a:rPr>
              <a:t>She plays in the garden.</a:t>
            </a:r>
            <a:endParaRPr sz="2650">
              <a:solidFill>
                <a:schemeClr val="dk1"/>
              </a:solidFill>
              <a:latin typeface="Calibri"/>
              <a:ea typeface="Calibri"/>
              <a:cs typeface="Calibri"/>
              <a:sym typeface="Calibri"/>
            </a:endParaRPr>
          </a:p>
        </p:txBody>
      </p:sp>
      <p:sp>
        <p:nvSpPr>
          <p:cNvPr id="811" name="Google Shape;811;p75"/>
          <p:cNvSpPr txBox="1">
            <a:spLocks noGrp="1"/>
          </p:cNvSpPr>
          <p:nvPr>
            <p:ph type="title"/>
          </p:nvPr>
        </p:nvSpPr>
        <p:spPr>
          <a:xfrm>
            <a:off x="6219697" y="1354074"/>
            <a:ext cx="2286000" cy="4298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a:t>Bottom-up parse</a:t>
            </a:r>
            <a:endParaRPr/>
          </a:p>
        </p:txBody>
      </p:sp>
      <p:graphicFrame>
        <p:nvGraphicFramePr>
          <p:cNvPr id="812" name="Google Shape;812;p75"/>
          <p:cNvGraphicFramePr/>
          <p:nvPr/>
        </p:nvGraphicFramePr>
        <p:xfrm>
          <a:off x="220725" y="4578096"/>
          <a:ext cx="6745625" cy="1453829"/>
        </p:xfrm>
        <a:graphic>
          <a:graphicData uri="http://schemas.openxmlformats.org/drawingml/2006/table">
            <a:tbl>
              <a:tblPr firstRow="1" bandRow="1">
                <a:noFill/>
                <a:tableStyleId>{E85DE1A1-A1B0-44A0-A59F-CCC16BF1A76C}</a:tableStyleId>
              </a:tblPr>
              <a:tblGrid>
                <a:gridCol w="1358275">
                  <a:extLst>
                    <a:ext uri="{9D8B030D-6E8A-4147-A177-3AD203B41FA5}">
                      <a16:colId xmlns:a16="http://schemas.microsoft.com/office/drawing/2014/main" val="20000"/>
                    </a:ext>
                  </a:extLst>
                </a:gridCol>
                <a:gridCol w="1072525">
                  <a:extLst>
                    <a:ext uri="{9D8B030D-6E8A-4147-A177-3AD203B41FA5}">
                      <a16:colId xmlns:a16="http://schemas.microsoft.com/office/drawing/2014/main" val="20001"/>
                    </a:ext>
                  </a:extLst>
                </a:gridCol>
                <a:gridCol w="1583700">
                  <a:extLst>
                    <a:ext uri="{9D8B030D-6E8A-4147-A177-3AD203B41FA5}">
                      <a16:colId xmlns:a16="http://schemas.microsoft.com/office/drawing/2014/main" val="20002"/>
                    </a:ext>
                  </a:extLst>
                </a:gridCol>
                <a:gridCol w="1213475">
                  <a:extLst>
                    <a:ext uri="{9D8B030D-6E8A-4147-A177-3AD203B41FA5}">
                      <a16:colId xmlns:a16="http://schemas.microsoft.com/office/drawing/2014/main" val="20003"/>
                    </a:ext>
                  </a:extLst>
                </a:gridCol>
                <a:gridCol w="1517650">
                  <a:extLst>
                    <a:ext uri="{9D8B030D-6E8A-4147-A177-3AD203B41FA5}">
                      <a16:colId xmlns:a16="http://schemas.microsoft.com/office/drawing/2014/main" val="20004"/>
                    </a:ext>
                  </a:extLst>
                </a:gridCol>
              </a:tblGrid>
              <a:tr h="409950">
                <a:tc>
                  <a:txBody>
                    <a:bodyPr/>
                    <a:lstStyle/>
                    <a:p>
                      <a:pPr marL="127000" marR="0" lvl="0" indent="0" algn="l" rtl="0">
                        <a:lnSpc>
                          <a:spcPct val="95000"/>
                        </a:lnSpc>
                        <a:spcBef>
                          <a:spcPts val="0"/>
                        </a:spcBef>
                        <a:spcAft>
                          <a:spcPts val="0"/>
                        </a:spcAft>
                        <a:buNone/>
                      </a:pPr>
                      <a:r>
                        <a:rPr lang="en-US" sz="1800" u="none" strike="noStrike" cap="none">
                          <a:latin typeface="Calibri"/>
                          <a:ea typeface="Calibri"/>
                          <a:cs typeface="Calibri"/>
                          <a:sym typeface="Calibri"/>
                        </a:rPr>
                        <a:t>NP</a:t>
                      </a:r>
                      <a:endParaRPr sz="1800" u="none" strike="noStrike" cap="none">
                        <a:latin typeface="Calibri"/>
                        <a:ea typeface="Calibri"/>
                        <a:cs typeface="Calibri"/>
                        <a:sym typeface="Calibri"/>
                      </a:endParaRPr>
                    </a:p>
                  </a:txBody>
                  <a:tcPr marL="0" marR="0" marT="0" marB="0"/>
                </a:tc>
                <a:tc>
                  <a:txBody>
                    <a:bodyPr/>
                    <a:lstStyle/>
                    <a:p>
                      <a:pPr marL="307975" marR="0" lvl="0" indent="0" algn="ctr" rtl="0">
                        <a:lnSpc>
                          <a:spcPct val="95000"/>
                        </a:lnSpc>
                        <a:spcBef>
                          <a:spcPts val="0"/>
                        </a:spcBef>
                        <a:spcAft>
                          <a:spcPts val="0"/>
                        </a:spcAft>
                        <a:buNone/>
                      </a:pPr>
                      <a:r>
                        <a:rPr lang="en-US" sz="1800" u="none" strike="noStrike" cap="none">
                          <a:latin typeface="Calibri"/>
                          <a:ea typeface="Calibri"/>
                          <a:cs typeface="Calibri"/>
                          <a:sym typeface="Calibri"/>
                        </a:rPr>
                        <a:t>VP</a:t>
                      </a:r>
                      <a:endParaRPr sz="1800" u="none" strike="noStrike" cap="none">
                        <a:latin typeface="Calibri"/>
                        <a:ea typeface="Calibri"/>
                        <a:cs typeface="Calibri"/>
                        <a:sym typeface="Calibri"/>
                      </a:endParaRPr>
                    </a:p>
                  </a:txBody>
                  <a:tcPr marL="0" marR="0" marT="0" marB="0"/>
                </a:tc>
                <a:tc>
                  <a:txBody>
                    <a:bodyPr/>
                    <a:lstStyle/>
                    <a:p>
                      <a:pPr marL="0" marR="0" lvl="0" indent="0" algn="l" rtl="0">
                        <a:lnSpc>
                          <a:spcPct val="100000"/>
                        </a:lnSpc>
                        <a:spcBef>
                          <a:spcPts val="0"/>
                        </a:spcBef>
                        <a:spcAft>
                          <a:spcPts val="0"/>
                        </a:spcAft>
                        <a:buNone/>
                      </a:pPr>
                      <a:endParaRPr sz="2100" u="none" strike="noStrike" cap="none">
                        <a:latin typeface="Times New Roman"/>
                        <a:ea typeface="Times New Roman"/>
                        <a:cs typeface="Times New Roman"/>
                        <a:sym typeface="Times New Roman"/>
                      </a:endParaRPr>
                    </a:p>
                  </a:txBody>
                  <a:tcPr marL="0" marR="0" marT="0" marB="0"/>
                </a:tc>
                <a:tc>
                  <a:txBody>
                    <a:bodyPr/>
                    <a:lstStyle/>
                    <a:p>
                      <a:pPr marL="0" marR="0" lvl="0" indent="0" algn="l" rtl="0">
                        <a:lnSpc>
                          <a:spcPct val="100000"/>
                        </a:lnSpc>
                        <a:spcBef>
                          <a:spcPts val="0"/>
                        </a:spcBef>
                        <a:spcAft>
                          <a:spcPts val="0"/>
                        </a:spcAft>
                        <a:buNone/>
                      </a:pPr>
                      <a:endParaRPr sz="2100" u="none" strike="noStrike" cap="none">
                        <a:latin typeface="Times New Roman"/>
                        <a:ea typeface="Times New Roman"/>
                        <a:cs typeface="Times New Roman"/>
                        <a:sym typeface="Times New Roman"/>
                      </a:endParaRPr>
                    </a:p>
                  </a:txBody>
                  <a:tcPr marL="0" marR="0" marT="0" marB="0"/>
                </a:tc>
                <a:tc>
                  <a:txBody>
                    <a:bodyPr/>
                    <a:lstStyle/>
                    <a:p>
                      <a:pPr marL="604520" marR="0" lvl="0" indent="0" algn="l" rtl="0">
                        <a:lnSpc>
                          <a:spcPct val="95000"/>
                        </a:lnSpc>
                        <a:spcBef>
                          <a:spcPts val="0"/>
                        </a:spcBef>
                        <a:spcAft>
                          <a:spcPts val="0"/>
                        </a:spcAft>
                        <a:buNone/>
                      </a:pPr>
                      <a:r>
                        <a:rPr lang="en-US" sz="1800" u="none" strike="noStrike" cap="none">
                          <a:latin typeface="Calibri"/>
                          <a:ea typeface="Calibri"/>
                          <a:cs typeface="Calibri"/>
                          <a:sym typeface="Calibri"/>
                        </a:rPr>
                        <a:t>Nominal</a:t>
                      </a:r>
                      <a:endParaRPr sz="1800" u="none" strike="noStrike" cap="none">
                        <a:latin typeface="Calibri"/>
                        <a:ea typeface="Calibri"/>
                        <a:cs typeface="Calibri"/>
                        <a:sym typeface="Calibri"/>
                      </a:endParaRPr>
                    </a:p>
                  </a:txBody>
                  <a:tcPr marL="0" marR="0" marT="0" marB="0"/>
                </a:tc>
                <a:extLst>
                  <a:ext uri="{0D108BD9-81ED-4DB2-BD59-A6C34878D82A}">
                    <a16:rowId xmlns:a16="http://schemas.microsoft.com/office/drawing/2014/main" val="10000"/>
                  </a:ext>
                </a:extLst>
              </a:tr>
              <a:tr h="592325">
                <a:tc>
                  <a:txBody>
                    <a:bodyPr/>
                    <a:lstStyle/>
                    <a:p>
                      <a:pPr marL="127000" marR="0" lvl="0" indent="0" algn="l" rtl="0">
                        <a:lnSpc>
                          <a:spcPct val="100000"/>
                        </a:lnSpc>
                        <a:spcBef>
                          <a:spcPts val="0"/>
                        </a:spcBef>
                        <a:spcAft>
                          <a:spcPts val="0"/>
                        </a:spcAft>
                        <a:buNone/>
                      </a:pPr>
                      <a:r>
                        <a:rPr lang="en-US" sz="1800" u="none" strike="noStrike" cap="none">
                          <a:latin typeface="Calibri"/>
                          <a:ea typeface="Calibri"/>
                          <a:cs typeface="Calibri"/>
                          <a:sym typeface="Calibri"/>
                        </a:rPr>
                        <a:t>Pronoun</a:t>
                      </a:r>
                      <a:endParaRPr sz="1800" u="none" strike="noStrike" cap="none">
                        <a:latin typeface="Calibri"/>
                        <a:ea typeface="Calibri"/>
                        <a:cs typeface="Calibri"/>
                        <a:sym typeface="Calibri"/>
                      </a:endParaRPr>
                    </a:p>
                  </a:txBody>
                  <a:tcPr marL="0" marR="0" marT="123825" marB="0"/>
                </a:tc>
                <a:tc>
                  <a:txBody>
                    <a:bodyPr/>
                    <a:lstStyle/>
                    <a:p>
                      <a:pPr marL="283845" marR="0" lvl="0" indent="0" algn="ctr" rtl="0">
                        <a:lnSpc>
                          <a:spcPct val="100000"/>
                        </a:lnSpc>
                        <a:spcBef>
                          <a:spcPts val="0"/>
                        </a:spcBef>
                        <a:spcAft>
                          <a:spcPts val="0"/>
                        </a:spcAft>
                        <a:buNone/>
                      </a:pPr>
                      <a:r>
                        <a:rPr lang="en-US" sz="1800" u="none" strike="noStrike" cap="none">
                          <a:latin typeface="Calibri"/>
                          <a:ea typeface="Calibri"/>
                          <a:cs typeface="Calibri"/>
                          <a:sym typeface="Calibri"/>
                        </a:rPr>
                        <a:t>verb</a:t>
                      </a:r>
                      <a:endParaRPr sz="1800" u="none" strike="noStrike" cap="none">
                        <a:latin typeface="Calibri"/>
                        <a:ea typeface="Calibri"/>
                        <a:cs typeface="Calibri"/>
                        <a:sym typeface="Calibri"/>
                      </a:endParaRPr>
                    </a:p>
                  </a:txBody>
                  <a:tcPr marL="0" marR="0" marT="123825" marB="0"/>
                </a:tc>
                <a:tc>
                  <a:txBody>
                    <a:bodyPr/>
                    <a:lstStyle/>
                    <a:p>
                      <a:pPr marL="171450" marR="0" lvl="0" indent="0" algn="l" rtl="0">
                        <a:lnSpc>
                          <a:spcPct val="100000"/>
                        </a:lnSpc>
                        <a:spcBef>
                          <a:spcPts val="0"/>
                        </a:spcBef>
                        <a:spcAft>
                          <a:spcPts val="0"/>
                        </a:spcAft>
                        <a:buNone/>
                      </a:pPr>
                      <a:r>
                        <a:rPr lang="en-US" sz="1800" u="none" strike="noStrike" cap="none">
                          <a:latin typeface="Calibri"/>
                          <a:ea typeface="Calibri"/>
                          <a:cs typeface="Calibri"/>
                          <a:sym typeface="Calibri"/>
                        </a:rPr>
                        <a:t>Preposition</a:t>
                      </a:r>
                      <a:endParaRPr sz="1800" u="none" strike="noStrike" cap="none">
                        <a:latin typeface="Calibri"/>
                        <a:ea typeface="Calibri"/>
                        <a:cs typeface="Calibri"/>
                        <a:sym typeface="Calibri"/>
                      </a:endParaRPr>
                    </a:p>
                  </a:txBody>
                  <a:tcPr marL="0" marR="0" marT="123825" marB="0"/>
                </a:tc>
                <a:tc>
                  <a:txBody>
                    <a:bodyPr/>
                    <a:lstStyle/>
                    <a:p>
                      <a:pPr marL="346710" marR="0" lvl="0" indent="0" algn="l" rtl="0">
                        <a:lnSpc>
                          <a:spcPct val="100000"/>
                        </a:lnSpc>
                        <a:spcBef>
                          <a:spcPts val="0"/>
                        </a:spcBef>
                        <a:spcAft>
                          <a:spcPts val="0"/>
                        </a:spcAft>
                        <a:buNone/>
                      </a:pPr>
                      <a:r>
                        <a:rPr lang="en-US" sz="1800" u="none" strike="noStrike" cap="none">
                          <a:latin typeface="Calibri"/>
                          <a:ea typeface="Calibri"/>
                          <a:cs typeface="Calibri"/>
                          <a:sym typeface="Calibri"/>
                        </a:rPr>
                        <a:t>Det</a:t>
                      </a:r>
                      <a:endParaRPr sz="1800" u="none" strike="noStrike" cap="none">
                        <a:latin typeface="Calibri"/>
                        <a:ea typeface="Calibri"/>
                        <a:cs typeface="Calibri"/>
                        <a:sym typeface="Calibri"/>
                      </a:endParaRPr>
                    </a:p>
                  </a:txBody>
                  <a:tcPr marL="0" marR="0" marT="123825" marB="0"/>
                </a:tc>
                <a:tc>
                  <a:txBody>
                    <a:bodyPr/>
                    <a:lstStyle/>
                    <a:p>
                      <a:pPr marL="555625" marR="0" lvl="0" indent="0" algn="l" rtl="0">
                        <a:lnSpc>
                          <a:spcPct val="100000"/>
                        </a:lnSpc>
                        <a:spcBef>
                          <a:spcPts val="0"/>
                        </a:spcBef>
                        <a:spcAft>
                          <a:spcPts val="0"/>
                        </a:spcAft>
                        <a:buNone/>
                      </a:pPr>
                      <a:r>
                        <a:rPr lang="en-US" sz="1800" u="none" strike="noStrike" cap="none">
                          <a:latin typeface="Calibri"/>
                          <a:ea typeface="Calibri"/>
                          <a:cs typeface="Calibri"/>
                          <a:sym typeface="Calibri"/>
                        </a:rPr>
                        <a:t>Noun</a:t>
                      </a:r>
                      <a:endParaRPr sz="1800" u="none" strike="noStrike" cap="none">
                        <a:latin typeface="Calibri"/>
                        <a:ea typeface="Calibri"/>
                        <a:cs typeface="Calibri"/>
                        <a:sym typeface="Calibri"/>
                      </a:endParaRPr>
                    </a:p>
                  </a:txBody>
                  <a:tcPr marL="0" marR="0" marT="123825" marB="0"/>
                </a:tc>
                <a:extLst>
                  <a:ext uri="{0D108BD9-81ED-4DB2-BD59-A6C34878D82A}">
                    <a16:rowId xmlns:a16="http://schemas.microsoft.com/office/drawing/2014/main" val="10001"/>
                  </a:ext>
                </a:extLst>
              </a:tr>
              <a:tr h="410975">
                <a:tc>
                  <a:txBody>
                    <a:bodyPr/>
                    <a:lstStyle/>
                    <a:p>
                      <a:pPr marL="127000" marR="0" lvl="0" indent="0" algn="l" rtl="0">
                        <a:lnSpc>
                          <a:spcPct val="119444"/>
                        </a:lnSpc>
                        <a:spcBef>
                          <a:spcPts val="0"/>
                        </a:spcBef>
                        <a:spcAft>
                          <a:spcPts val="0"/>
                        </a:spcAft>
                        <a:buNone/>
                      </a:pPr>
                      <a:r>
                        <a:rPr lang="en-US" sz="1800" u="none" strike="noStrike" cap="none">
                          <a:solidFill>
                            <a:srgbClr val="BE0000"/>
                          </a:solidFill>
                          <a:latin typeface="Calibri"/>
                          <a:ea typeface="Calibri"/>
                          <a:cs typeface="Calibri"/>
                          <a:sym typeface="Calibri"/>
                        </a:rPr>
                        <a:t>She</a:t>
                      </a:r>
                      <a:endParaRPr sz="1800" u="none" strike="noStrike" cap="none">
                        <a:latin typeface="Calibri"/>
                        <a:ea typeface="Calibri"/>
                        <a:cs typeface="Calibri"/>
                        <a:sym typeface="Calibri"/>
                      </a:endParaRPr>
                    </a:p>
                  </a:txBody>
                  <a:tcPr marL="0" marR="0" marT="125100" marB="0"/>
                </a:tc>
                <a:tc>
                  <a:txBody>
                    <a:bodyPr/>
                    <a:lstStyle/>
                    <a:p>
                      <a:pPr marL="259079" marR="0" lvl="0" indent="0" algn="ctr" rtl="0">
                        <a:lnSpc>
                          <a:spcPct val="119444"/>
                        </a:lnSpc>
                        <a:spcBef>
                          <a:spcPts val="0"/>
                        </a:spcBef>
                        <a:spcAft>
                          <a:spcPts val="0"/>
                        </a:spcAft>
                        <a:buNone/>
                      </a:pPr>
                      <a:r>
                        <a:rPr lang="en-US" sz="1800" u="none" strike="noStrike" cap="none">
                          <a:solidFill>
                            <a:srgbClr val="BE0000"/>
                          </a:solidFill>
                          <a:latin typeface="Calibri"/>
                          <a:ea typeface="Calibri"/>
                          <a:cs typeface="Calibri"/>
                          <a:sym typeface="Calibri"/>
                        </a:rPr>
                        <a:t>plays</a:t>
                      </a:r>
                      <a:endParaRPr sz="1800" u="none" strike="noStrike" cap="none">
                        <a:latin typeface="Calibri"/>
                        <a:ea typeface="Calibri"/>
                        <a:cs typeface="Calibri"/>
                        <a:sym typeface="Calibri"/>
                      </a:endParaRPr>
                    </a:p>
                  </a:txBody>
                  <a:tcPr marL="0" marR="0" marT="125100" marB="0"/>
                </a:tc>
                <a:tc>
                  <a:txBody>
                    <a:bodyPr/>
                    <a:lstStyle/>
                    <a:p>
                      <a:pPr marL="394970" marR="0" lvl="0" indent="0" algn="l" rtl="0">
                        <a:lnSpc>
                          <a:spcPct val="119444"/>
                        </a:lnSpc>
                        <a:spcBef>
                          <a:spcPts val="0"/>
                        </a:spcBef>
                        <a:spcAft>
                          <a:spcPts val="0"/>
                        </a:spcAft>
                        <a:buNone/>
                      </a:pPr>
                      <a:r>
                        <a:rPr lang="en-US" sz="1800" u="none" strike="noStrike" cap="none">
                          <a:solidFill>
                            <a:srgbClr val="BE0000"/>
                          </a:solidFill>
                          <a:latin typeface="Calibri"/>
                          <a:ea typeface="Calibri"/>
                          <a:cs typeface="Calibri"/>
                          <a:sym typeface="Calibri"/>
                        </a:rPr>
                        <a:t>in</a:t>
                      </a:r>
                      <a:endParaRPr sz="1800" u="none" strike="noStrike" cap="none">
                        <a:latin typeface="Calibri"/>
                        <a:ea typeface="Calibri"/>
                        <a:cs typeface="Calibri"/>
                        <a:sym typeface="Calibri"/>
                      </a:endParaRPr>
                    </a:p>
                  </a:txBody>
                  <a:tcPr marL="0" marR="0" marT="125100" marB="0"/>
                </a:tc>
                <a:tc>
                  <a:txBody>
                    <a:bodyPr/>
                    <a:lstStyle/>
                    <a:p>
                      <a:pPr marL="0" marR="76200" lvl="0" indent="0" algn="ctr" rtl="0">
                        <a:lnSpc>
                          <a:spcPct val="119444"/>
                        </a:lnSpc>
                        <a:spcBef>
                          <a:spcPts val="0"/>
                        </a:spcBef>
                        <a:spcAft>
                          <a:spcPts val="0"/>
                        </a:spcAft>
                        <a:buNone/>
                      </a:pPr>
                      <a:r>
                        <a:rPr lang="en-US" sz="1800" u="none" strike="noStrike" cap="none">
                          <a:solidFill>
                            <a:srgbClr val="BE0000"/>
                          </a:solidFill>
                          <a:latin typeface="Calibri"/>
                          <a:ea typeface="Calibri"/>
                          <a:cs typeface="Calibri"/>
                          <a:sym typeface="Calibri"/>
                        </a:rPr>
                        <a:t>the</a:t>
                      </a:r>
                      <a:endParaRPr sz="1800" u="none" strike="noStrike" cap="none">
                        <a:latin typeface="Calibri"/>
                        <a:ea typeface="Calibri"/>
                        <a:cs typeface="Calibri"/>
                        <a:sym typeface="Calibri"/>
                      </a:endParaRPr>
                    </a:p>
                  </a:txBody>
                  <a:tcPr marL="0" marR="0" marT="125100" marB="0"/>
                </a:tc>
                <a:tc>
                  <a:txBody>
                    <a:bodyPr/>
                    <a:lstStyle/>
                    <a:p>
                      <a:pPr marL="493394" marR="0" lvl="0" indent="0" algn="l" rtl="0">
                        <a:lnSpc>
                          <a:spcPct val="119444"/>
                        </a:lnSpc>
                        <a:spcBef>
                          <a:spcPts val="0"/>
                        </a:spcBef>
                        <a:spcAft>
                          <a:spcPts val="0"/>
                        </a:spcAft>
                        <a:buNone/>
                      </a:pPr>
                      <a:r>
                        <a:rPr lang="en-US" sz="1800" u="none" strike="noStrike" cap="none">
                          <a:solidFill>
                            <a:srgbClr val="BE0000"/>
                          </a:solidFill>
                          <a:latin typeface="Calibri"/>
                          <a:ea typeface="Calibri"/>
                          <a:cs typeface="Calibri"/>
                          <a:sym typeface="Calibri"/>
                        </a:rPr>
                        <a:t>garden</a:t>
                      </a:r>
                      <a:endParaRPr sz="1800" u="none" strike="noStrike" cap="none">
                        <a:latin typeface="Calibri"/>
                        <a:ea typeface="Calibri"/>
                        <a:cs typeface="Calibri"/>
                        <a:sym typeface="Calibri"/>
                      </a:endParaRPr>
                    </a:p>
                  </a:txBody>
                  <a:tcPr marL="0" marR="0" marT="125100" marB="0"/>
                </a:tc>
                <a:extLst>
                  <a:ext uri="{0D108BD9-81ED-4DB2-BD59-A6C34878D82A}">
                    <a16:rowId xmlns:a16="http://schemas.microsoft.com/office/drawing/2014/main" val="10002"/>
                  </a:ext>
                </a:extLst>
              </a:tr>
            </a:tbl>
          </a:graphicData>
        </a:graphic>
      </p:graphicFrame>
      <p:sp>
        <p:nvSpPr>
          <p:cNvPr id="813" name="Google Shape;813;p75"/>
          <p:cNvSpPr/>
          <p:nvPr/>
        </p:nvSpPr>
        <p:spPr>
          <a:xfrm>
            <a:off x="512063" y="5458967"/>
            <a:ext cx="15240" cy="273050"/>
          </a:xfrm>
          <a:custGeom>
            <a:avLst/>
            <a:gdLst/>
            <a:ahLst/>
            <a:cxnLst/>
            <a:rect l="l" t="t" r="r" b="b"/>
            <a:pathLst>
              <a:path w="15240" h="273050" extrusionOk="0">
                <a:moveTo>
                  <a:pt x="4571" y="0"/>
                </a:moveTo>
                <a:lnTo>
                  <a:pt x="0" y="0"/>
                </a:lnTo>
                <a:lnTo>
                  <a:pt x="10667" y="272541"/>
                </a:lnTo>
                <a:lnTo>
                  <a:pt x="15240" y="272541"/>
                </a:lnTo>
                <a:lnTo>
                  <a:pt x="4571"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14" name="Google Shape;814;p75"/>
          <p:cNvSpPr/>
          <p:nvPr/>
        </p:nvSpPr>
        <p:spPr>
          <a:xfrm>
            <a:off x="512063" y="4872228"/>
            <a:ext cx="5080" cy="262255"/>
          </a:xfrm>
          <a:custGeom>
            <a:avLst/>
            <a:gdLst/>
            <a:ahLst/>
            <a:cxnLst/>
            <a:rect l="l" t="t" r="r" b="b"/>
            <a:pathLst>
              <a:path w="5079" h="262254" extrusionOk="0">
                <a:moveTo>
                  <a:pt x="4801" y="0"/>
                </a:moveTo>
                <a:lnTo>
                  <a:pt x="0" y="0"/>
                </a:lnTo>
                <a:lnTo>
                  <a:pt x="0" y="262001"/>
                </a:lnTo>
                <a:lnTo>
                  <a:pt x="4801" y="262001"/>
                </a:lnTo>
                <a:lnTo>
                  <a:pt x="4801"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15" name="Google Shape;815;p75"/>
          <p:cNvSpPr/>
          <p:nvPr/>
        </p:nvSpPr>
        <p:spPr>
          <a:xfrm>
            <a:off x="2218944" y="5458967"/>
            <a:ext cx="17145" cy="273050"/>
          </a:xfrm>
          <a:custGeom>
            <a:avLst/>
            <a:gdLst/>
            <a:ahLst/>
            <a:cxnLst/>
            <a:rect l="l" t="t" r="r" b="b"/>
            <a:pathLst>
              <a:path w="17144" h="273050" extrusionOk="0">
                <a:moveTo>
                  <a:pt x="6223" y="0"/>
                </a:moveTo>
                <a:lnTo>
                  <a:pt x="0" y="0"/>
                </a:lnTo>
                <a:lnTo>
                  <a:pt x="10922" y="272541"/>
                </a:lnTo>
                <a:lnTo>
                  <a:pt x="17144" y="272541"/>
                </a:lnTo>
                <a:lnTo>
                  <a:pt x="6223"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16" name="Google Shape;816;p75"/>
          <p:cNvSpPr/>
          <p:nvPr/>
        </p:nvSpPr>
        <p:spPr>
          <a:xfrm>
            <a:off x="2218944" y="4872228"/>
            <a:ext cx="17145" cy="262255"/>
          </a:xfrm>
          <a:custGeom>
            <a:avLst/>
            <a:gdLst/>
            <a:ahLst/>
            <a:cxnLst/>
            <a:rect l="l" t="t" r="r" b="b"/>
            <a:pathLst>
              <a:path w="17144" h="262254" extrusionOk="0">
                <a:moveTo>
                  <a:pt x="17144" y="0"/>
                </a:moveTo>
                <a:lnTo>
                  <a:pt x="10922" y="0"/>
                </a:lnTo>
                <a:lnTo>
                  <a:pt x="0" y="262001"/>
                </a:lnTo>
                <a:lnTo>
                  <a:pt x="6223" y="262001"/>
                </a:lnTo>
                <a:lnTo>
                  <a:pt x="17144"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17" name="Google Shape;817;p75"/>
          <p:cNvSpPr/>
          <p:nvPr/>
        </p:nvSpPr>
        <p:spPr>
          <a:xfrm>
            <a:off x="3162300" y="5458967"/>
            <a:ext cx="58419" cy="273050"/>
          </a:xfrm>
          <a:custGeom>
            <a:avLst/>
            <a:gdLst/>
            <a:ahLst/>
            <a:cxnLst/>
            <a:rect l="l" t="t" r="r" b="b"/>
            <a:pathLst>
              <a:path w="58419" h="273050" extrusionOk="0">
                <a:moveTo>
                  <a:pt x="58166" y="0"/>
                </a:moveTo>
                <a:lnTo>
                  <a:pt x="52069" y="0"/>
                </a:lnTo>
                <a:lnTo>
                  <a:pt x="0" y="271017"/>
                </a:lnTo>
                <a:lnTo>
                  <a:pt x="4572" y="272541"/>
                </a:lnTo>
                <a:lnTo>
                  <a:pt x="58166"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18" name="Google Shape;818;p75"/>
          <p:cNvSpPr/>
          <p:nvPr/>
        </p:nvSpPr>
        <p:spPr>
          <a:xfrm>
            <a:off x="4713732" y="5458967"/>
            <a:ext cx="26034" cy="273050"/>
          </a:xfrm>
          <a:custGeom>
            <a:avLst/>
            <a:gdLst/>
            <a:ahLst/>
            <a:cxnLst/>
            <a:rect l="l" t="t" r="r" b="b"/>
            <a:pathLst>
              <a:path w="26035" h="273050" extrusionOk="0">
                <a:moveTo>
                  <a:pt x="4571" y="0"/>
                </a:moveTo>
                <a:lnTo>
                  <a:pt x="0" y="0"/>
                </a:lnTo>
                <a:lnTo>
                  <a:pt x="19684" y="272541"/>
                </a:lnTo>
                <a:lnTo>
                  <a:pt x="25780" y="272541"/>
                </a:lnTo>
                <a:lnTo>
                  <a:pt x="4571"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19" name="Google Shape;819;p75"/>
          <p:cNvSpPr/>
          <p:nvPr/>
        </p:nvSpPr>
        <p:spPr>
          <a:xfrm>
            <a:off x="6231635" y="5458967"/>
            <a:ext cx="6350" cy="408940"/>
          </a:xfrm>
          <a:custGeom>
            <a:avLst/>
            <a:gdLst/>
            <a:ahLst/>
            <a:cxnLst/>
            <a:rect l="l" t="t" r="r" b="b"/>
            <a:pathLst>
              <a:path w="6350" h="408939" extrusionOk="0">
                <a:moveTo>
                  <a:pt x="5851" y="0"/>
                </a:moveTo>
                <a:lnTo>
                  <a:pt x="0" y="0"/>
                </a:lnTo>
                <a:lnTo>
                  <a:pt x="0" y="408685"/>
                </a:lnTo>
                <a:lnTo>
                  <a:pt x="5851" y="408685"/>
                </a:lnTo>
                <a:lnTo>
                  <a:pt x="5851"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 name="Google Shape;820;p75"/>
          <p:cNvSpPr/>
          <p:nvPr/>
        </p:nvSpPr>
        <p:spPr>
          <a:xfrm>
            <a:off x="6252971" y="4872228"/>
            <a:ext cx="6350" cy="262255"/>
          </a:xfrm>
          <a:custGeom>
            <a:avLst/>
            <a:gdLst/>
            <a:ahLst/>
            <a:cxnLst/>
            <a:rect l="l" t="t" r="r" b="b"/>
            <a:pathLst>
              <a:path w="6350" h="262254" extrusionOk="0">
                <a:moveTo>
                  <a:pt x="5851" y="0"/>
                </a:moveTo>
                <a:lnTo>
                  <a:pt x="0" y="0"/>
                </a:lnTo>
                <a:lnTo>
                  <a:pt x="0" y="262001"/>
                </a:lnTo>
                <a:lnTo>
                  <a:pt x="5851" y="262001"/>
                </a:lnTo>
                <a:lnTo>
                  <a:pt x="5851"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 name="Google Shape;821;p75"/>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81</a:t>
            </a:fld>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Shape 825"/>
        <p:cNvGrpSpPr/>
        <p:nvPr/>
      </p:nvGrpSpPr>
      <p:grpSpPr>
        <a:xfrm>
          <a:off x="0" y="0"/>
          <a:ext cx="0" cy="0"/>
          <a:chOff x="0" y="0"/>
          <a:chExt cx="0" cy="0"/>
        </a:xfrm>
      </p:grpSpPr>
      <p:sp>
        <p:nvSpPr>
          <p:cNvPr id="826" name="Google Shape;826;p76"/>
          <p:cNvSpPr txBox="1"/>
          <p:nvPr/>
        </p:nvSpPr>
        <p:spPr>
          <a:xfrm>
            <a:off x="5616194" y="3906265"/>
            <a:ext cx="29083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NP</a:t>
            </a:r>
            <a:endParaRPr sz="1800">
              <a:solidFill>
                <a:schemeClr val="dk1"/>
              </a:solidFill>
              <a:latin typeface="Calibri"/>
              <a:ea typeface="Calibri"/>
              <a:cs typeface="Calibri"/>
              <a:sym typeface="Calibri"/>
            </a:endParaRPr>
          </a:p>
        </p:txBody>
      </p:sp>
      <p:sp>
        <p:nvSpPr>
          <p:cNvPr id="827" name="Google Shape;827;p76"/>
          <p:cNvSpPr txBox="1"/>
          <p:nvPr/>
        </p:nvSpPr>
        <p:spPr>
          <a:xfrm>
            <a:off x="335025" y="4503928"/>
            <a:ext cx="29083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NP</a:t>
            </a:r>
            <a:endParaRPr sz="1800">
              <a:solidFill>
                <a:schemeClr val="dk1"/>
              </a:solidFill>
              <a:latin typeface="Calibri"/>
              <a:ea typeface="Calibri"/>
              <a:cs typeface="Calibri"/>
              <a:sym typeface="Calibri"/>
            </a:endParaRPr>
          </a:p>
        </p:txBody>
      </p:sp>
      <p:sp>
        <p:nvSpPr>
          <p:cNvPr id="828" name="Google Shape;828;p76"/>
          <p:cNvSpPr txBox="1"/>
          <p:nvPr/>
        </p:nvSpPr>
        <p:spPr>
          <a:xfrm>
            <a:off x="2123185" y="4503928"/>
            <a:ext cx="27495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VP</a:t>
            </a:r>
            <a:endParaRPr sz="1800">
              <a:solidFill>
                <a:schemeClr val="dk1"/>
              </a:solidFill>
              <a:latin typeface="Calibri"/>
              <a:ea typeface="Calibri"/>
              <a:cs typeface="Calibri"/>
              <a:sym typeface="Calibri"/>
            </a:endParaRPr>
          </a:p>
        </p:txBody>
      </p:sp>
      <p:sp>
        <p:nvSpPr>
          <p:cNvPr id="829" name="Google Shape;829;p76"/>
          <p:cNvSpPr txBox="1"/>
          <p:nvPr/>
        </p:nvSpPr>
        <p:spPr>
          <a:xfrm>
            <a:off x="6040120" y="4503928"/>
            <a:ext cx="81280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Nominal</a:t>
            </a:r>
            <a:endParaRPr sz="1800">
              <a:solidFill>
                <a:schemeClr val="dk1"/>
              </a:solidFill>
              <a:latin typeface="Calibri"/>
              <a:ea typeface="Calibri"/>
              <a:cs typeface="Calibri"/>
              <a:sym typeface="Calibri"/>
            </a:endParaRPr>
          </a:p>
        </p:txBody>
      </p:sp>
      <p:sp>
        <p:nvSpPr>
          <p:cNvPr id="830" name="Google Shape;830;p76"/>
          <p:cNvSpPr txBox="1"/>
          <p:nvPr/>
        </p:nvSpPr>
        <p:spPr>
          <a:xfrm>
            <a:off x="335025" y="5099811"/>
            <a:ext cx="82105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Pronoun</a:t>
            </a:r>
            <a:endParaRPr sz="1800">
              <a:solidFill>
                <a:schemeClr val="dk1"/>
              </a:solidFill>
              <a:latin typeface="Calibri"/>
              <a:ea typeface="Calibri"/>
              <a:cs typeface="Calibri"/>
              <a:sym typeface="Calibri"/>
            </a:endParaRPr>
          </a:p>
        </p:txBody>
      </p:sp>
      <p:sp>
        <p:nvSpPr>
          <p:cNvPr id="831" name="Google Shape;831;p76"/>
          <p:cNvSpPr txBox="1"/>
          <p:nvPr/>
        </p:nvSpPr>
        <p:spPr>
          <a:xfrm>
            <a:off x="2026411" y="5099811"/>
            <a:ext cx="44005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verb</a:t>
            </a:r>
            <a:endParaRPr sz="1800">
              <a:solidFill>
                <a:schemeClr val="dk1"/>
              </a:solidFill>
              <a:latin typeface="Calibri"/>
              <a:ea typeface="Calibri"/>
              <a:cs typeface="Calibri"/>
              <a:sym typeface="Calibri"/>
            </a:endParaRPr>
          </a:p>
        </p:txBody>
      </p:sp>
      <p:sp>
        <p:nvSpPr>
          <p:cNvPr id="832" name="Google Shape;832;p76"/>
          <p:cNvSpPr txBox="1"/>
          <p:nvPr/>
        </p:nvSpPr>
        <p:spPr>
          <a:xfrm>
            <a:off x="2811272" y="5099811"/>
            <a:ext cx="108331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Preposition</a:t>
            </a:r>
            <a:endParaRPr sz="1800">
              <a:solidFill>
                <a:schemeClr val="dk1"/>
              </a:solidFill>
              <a:latin typeface="Calibri"/>
              <a:ea typeface="Calibri"/>
              <a:cs typeface="Calibri"/>
              <a:sym typeface="Calibri"/>
            </a:endParaRPr>
          </a:p>
        </p:txBody>
      </p:sp>
      <p:sp>
        <p:nvSpPr>
          <p:cNvPr id="833" name="Google Shape;833;p76"/>
          <p:cNvSpPr txBox="1"/>
          <p:nvPr/>
        </p:nvSpPr>
        <p:spPr>
          <a:xfrm>
            <a:off x="4560315" y="5099811"/>
            <a:ext cx="35306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Det</a:t>
            </a:r>
            <a:endParaRPr sz="1800">
              <a:solidFill>
                <a:schemeClr val="dk1"/>
              </a:solidFill>
              <a:latin typeface="Calibri"/>
              <a:ea typeface="Calibri"/>
              <a:cs typeface="Calibri"/>
              <a:sym typeface="Calibri"/>
            </a:endParaRPr>
          </a:p>
        </p:txBody>
      </p:sp>
      <p:sp>
        <p:nvSpPr>
          <p:cNvPr id="834" name="Google Shape;834;p76"/>
          <p:cNvSpPr txBox="1"/>
          <p:nvPr/>
        </p:nvSpPr>
        <p:spPr>
          <a:xfrm>
            <a:off x="5991859" y="5099811"/>
            <a:ext cx="53594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Noun</a:t>
            </a:r>
            <a:endParaRPr sz="1800">
              <a:solidFill>
                <a:schemeClr val="dk1"/>
              </a:solidFill>
              <a:latin typeface="Calibri"/>
              <a:ea typeface="Calibri"/>
              <a:cs typeface="Calibri"/>
              <a:sym typeface="Calibri"/>
            </a:endParaRPr>
          </a:p>
        </p:txBody>
      </p:sp>
      <p:sp>
        <p:nvSpPr>
          <p:cNvPr id="835" name="Google Shape;835;p76"/>
          <p:cNvSpPr txBox="1"/>
          <p:nvPr/>
        </p:nvSpPr>
        <p:spPr>
          <a:xfrm>
            <a:off x="335025" y="5697220"/>
            <a:ext cx="36512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rgbClr val="BE0000"/>
                </a:solidFill>
                <a:latin typeface="Calibri"/>
                <a:ea typeface="Calibri"/>
                <a:cs typeface="Calibri"/>
                <a:sym typeface="Calibri"/>
              </a:rPr>
              <a:t>She</a:t>
            </a:r>
            <a:endParaRPr sz="1800">
              <a:solidFill>
                <a:schemeClr val="dk1"/>
              </a:solidFill>
              <a:latin typeface="Calibri"/>
              <a:ea typeface="Calibri"/>
              <a:cs typeface="Calibri"/>
              <a:sym typeface="Calibri"/>
            </a:endParaRPr>
          </a:p>
        </p:txBody>
      </p:sp>
      <p:sp>
        <p:nvSpPr>
          <p:cNvPr id="836" name="Google Shape;836;p76"/>
          <p:cNvSpPr txBox="1"/>
          <p:nvPr/>
        </p:nvSpPr>
        <p:spPr>
          <a:xfrm>
            <a:off x="1987295" y="5697220"/>
            <a:ext cx="48768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rgbClr val="BE0000"/>
                </a:solidFill>
                <a:latin typeface="Calibri"/>
                <a:ea typeface="Calibri"/>
                <a:cs typeface="Calibri"/>
                <a:sym typeface="Calibri"/>
              </a:rPr>
              <a:t>plays</a:t>
            </a:r>
            <a:endParaRPr sz="1800">
              <a:solidFill>
                <a:schemeClr val="dk1"/>
              </a:solidFill>
              <a:latin typeface="Calibri"/>
              <a:ea typeface="Calibri"/>
              <a:cs typeface="Calibri"/>
              <a:sym typeface="Calibri"/>
            </a:endParaRPr>
          </a:p>
        </p:txBody>
      </p:sp>
      <p:sp>
        <p:nvSpPr>
          <p:cNvPr id="837" name="Google Shape;837;p76"/>
          <p:cNvSpPr txBox="1"/>
          <p:nvPr/>
        </p:nvSpPr>
        <p:spPr>
          <a:xfrm>
            <a:off x="2928620" y="5697220"/>
            <a:ext cx="19875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rgbClr val="BE0000"/>
                </a:solidFill>
                <a:latin typeface="Calibri"/>
                <a:ea typeface="Calibri"/>
                <a:cs typeface="Calibri"/>
                <a:sym typeface="Calibri"/>
              </a:rPr>
              <a:t>in</a:t>
            </a:r>
            <a:endParaRPr sz="1800">
              <a:solidFill>
                <a:schemeClr val="dk1"/>
              </a:solidFill>
              <a:latin typeface="Calibri"/>
              <a:ea typeface="Calibri"/>
              <a:cs typeface="Calibri"/>
              <a:sym typeface="Calibri"/>
            </a:endParaRPr>
          </a:p>
        </p:txBody>
      </p:sp>
      <p:sp>
        <p:nvSpPr>
          <p:cNvPr id="838" name="Google Shape;838;p76"/>
          <p:cNvSpPr txBox="1"/>
          <p:nvPr/>
        </p:nvSpPr>
        <p:spPr>
          <a:xfrm>
            <a:off x="4622546" y="5697220"/>
            <a:ext cx="33591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rgbClr val="BE0000"/>
                </a:solidFill>
                <a:latin typeface="Calibri"/>
                <a:ea typeface="Calibri"/>
                <a:cs typeface="Calibri"/>
                <a:sym typeface="Calibri"/>
              </a:rPr>
              <a:t>the</a:t>
            </a:r>
            <a:endParaRPr sz="1800">
              <a:solidFill>
                <a:schemeClr val="dk1"/>
              </a:solidFill>
              <a:latin typeface="Calibri"/>
              <a:ea typeface="Calibri"/>
              <a:cs typeface="Calibri"/>
              <a:sym typeface="Calibri"/>
            </a:endParaRPr>
          </a:p>
        </p:txBody>
      </p:sp>
      <p:sp>
        <p:nvSpPr>
          <p:cNvPr id="839" name="Google Shape;839;p76"/>
          <p:cNvSpPr txBox="1"/>
          <p:nvPr/>
        </p:nvSpPr>
        <p:spPr>
          <a:xfrm>
            <a:off x="5929629" y="5697220"/>
            <a:ext cx="66167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rgbClr val="BE0000"/>
                </a:solidFill>
                <a:latin typeface="Calibri"/>
                <a:ea typeface="Calibri"/>
                <a:cs typeface="Calibri"/>
                <a:sym typeface="Calibri"/>
              </a:rPr>
              <a:t>garden</a:t>
            </a:r>
            <a:endParaRPr sz="1800">
              <a:solidFill>
                <a:schemeClr val="dk1"/>
              </a:solidFill>
              <a:latin typeface="Calibri"/>
              <a:ea typeface="Calibri"/>
              <a:cs typeface="Calibri"/>
              <a:sym typeface="Calibri"/>
            </a:endParaRPr>
          </a:p>
        </p:txBody>
      </p:sp>
      <p:sp>
        <p:nvSpPr>
          <p:cNvPr id="840" name="Google Shape;840;p76"/>
          <p:cNvSpPr/>
          <p:nvPr/>
        </p:nvSpPr>
        <p:spPr>
          <a:xfrm>
            <a:off x="512063" y="5458967"/>
            <a:ext cx="15240" cy="273050"/>
          </a:xfrm>
          <a:custGeom>
            <a:avLst/>
            <a:gdLst/>
            <a:ahLst/>
            <a:cxnLst/>
            <a:rect l="l" t="t" r="r" b="b"/>
            <a:pathLst>
              <a:path w="15240" h="273050" extrusionOk="0">
                <a:moveTo>
                  <a:pt x="4571" y="0"/>
                </a:moveTo>
                <a:lnTo>
                  <a:pt x="0" y="0"/>
                </a:lnTo>
                <a:lnTo>
                  <a:pt x="10667" y="272541"/>
                </a:lnTo>
                <a:lnTo>
                  <a:pt x="15240" y="272541"/>
                </a:lnTo>
                <a:lnTo>
                  <a:pt x="4571"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41" name="Google Shape;841;p76"/>
          <p:cNvSpPr/>
          <p:nvPr/>
        </p:nvSpPr>
        <p:spPr>
          <a:xfrm>
            <a:off x="512063" y="4872228"/>
            <a:ext cx="5080" cy="262255"/>
          </a:xfrm>
          <a:custGeom>
            <a:avLst/>
            <a:gdLst/>
            <a:ahLst/>
            <a:cxnLst/>
            <a:rect l="l" t="t" r="r" b="b"/>
            <a:pathLst>
              <a:path w="5079" h="262254" extrusionOk="0">
                <a:moveTo>
                  <a:pt x="4801" y="0"/>
                </a:moveTo>
                <a:lnTo>
                  <a:pt x="0" y="0"/>
                </a:lnTo>
                <a:lnTo>
                  <a:pt x="0" y="262001"/>
                </a:lnTo>
                <a:lnTo>
                  <a:pt x="4801" y="262001"/>
                </a:lnTo>
                <a:lnTo>
                  <a:pt x="4801"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42" name="Google Shape;842;p76"/>
          <p:cNvSpPr/>
          <p:nvPr/>
        </p:nvSpPr>
        <p:spPr>
          <a:xfrm>
            <a:off x="2218944" y="5458967"/>
            <a:ext cx="17145" cy="273050"/>
          </a:xfrm>
          <a:custGeom>
            <a:avLst/>
            <a:gdLst/>
            <a:ahLst/>
            <a:cxnLst/>
            <a:rect l="l" t="t" r="r" b="b"/>
            <a:pathLst>
              <a:path w="17144" h="273050" extrusionOk="0">
                <a:moveTo>
                  <a:pt x="6223" y="0"/>
                </a:moveTo>
                <a:lnTo>
                  <a:pt x="0" y="0"/>
                </a:lnTo>
                <a:lnTo>
                  <a:pt x="10922" y="272541"/>
                </a:lnTo>
                <a:lnTo>
                  <a:pt x="17144" y="272541"/>
                </a:lnTo>
                <a:lnTo>
                  <a:pt x="6223"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43" name="Google Shape;843;p76"/>
          <p:cNvSpPr/>
          <p:nvPr/>
        </p:nvSpPr>
        <p:spPr>
          <a:xfrm>
            <a:off x="2218944" y="4872228"/>
            <a:ext cx="17145" cy="262255"/>
          </a:xfrm>
          <a:custGeom>
            <a:avLst/>
            <a:gdLst/>
            <a:ahLst/>
            <a:cxnLst/>
            <a:rect l="l" t="t" r="r" b="b"/>
            <a:pathLst>
              <a:path w="17144" h="262254" extrusionOk="0">
                <a:moveTo>
                  <a:pt x="17144" y="0"/>
                </a:moveTo>
                <a:lnTo>
                  <a:pt x="10922" y="0"/>
                </a:lnTo>
                <a:lnTo>
                  <a:pt x="0" y="262001"/>
                </a:lnTo>
                <a:lnTo>
                  <a:pt x="6223" y="262001"/>
                </a:lnTo>
                <a:lnTo>
                  <a:pt x="17144"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44" name="Google Shape;844;p76"/>
          <p:cNvSpPr/>
          <p:nvPr/>
        </p:nvSpPr>
        <p:spPr>
          <a:xfrm>
            <a:off x="3057144" y="5458967"/>
            <a:ext cx="58419" cy="273050"/>
          </a:xfrm>
          <a:custGeom>
            <a:avLst/>
            <a:gdLst/>
            <a:ahLst/>
            <a:cxnLst/>
            <a:rect l="l" t="t" r="r" b="b"/>
            <a:pathLst>
              <a:path w="58419" h="273050" extrusionOk="0">
                <a:moveTo>
                  <a:pt x="58166" y="0"/>
                </a:moveTo>
                <a:lnTo>
                  <a:pt x="53593" y="0"/>
                </a:lnTo>
                <a:lnTo>
                  <a:pt x="0" y="271017"/>
                </a:lnTo>
                <a:lnTo>
                  <a:pt x="6095" y="272541"/>
                </a:lnTo>
                <a:lnTo>
                  <a:pt x="58166"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45" name="Google Shape;845;p76"/>
          <p:cNvSpPr/>
          <p:nvPr/>
        </p:nvSpPr>
        <p:spPr>
          <a:xfrm>
            <a:off x="4713732" y="5458967"/>
            <a:ext cx="26034" cy="273050"/>
          </a:xfrm>
          <a:custGeom>
            <a:avLst/>
            <a:gdLst/>
            <a:ahLst/>
            <a:cxnLst/>
            <a:rect l="l" t="t" r="r" b="b"/>
            <a:pathLst>
              <a:path w="26035" h="273050" extrusionOk="0">
                <a:moveTo>
                  <a:pt x="4571" y="0"/>
                </a:moveTo>
                <a:lnTo>
                  <a:pt x="0" y="0"/>
                </a:lnTo>
                <a:lnTo>
                  <a:pt x="19684" y="272541"/>
                </a:lnTo>
                <a:lnTo>
                  <a:pt x="25780" y="272541"/>
                </a:lnTo>
                <a:lnTo>
                  <a:pt x="4571"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46" name="Google Shape;846;p76"/>
          <p:cNvSpPr/>
          <p:nvPr/>
        </p:nvSpPr>
        <p:spPr>
          <a:xfrm>
            <a:off x="6231635" y="5458967"/>
            <a:ext cx="6350" cy="408940"/>
          </a:xfrm>
          <a:custGeom>
            <a:avLst/>
            <a:gdLst/>
            <a:ahLst/>
            <a:cxnLst/>
            <a:rect l="l" t="t" r="r" b="b"/>
            <a:pathLst>
              <a:path w="6350" h="408939" extrusionOk="0">
                <a:moveTo>
                  <a:pt x="5851" y="0"/>
                </a:moveTo>
                <a:lnTo>
                  <a:pt x="0" y="0"/>
                </a:lnTo>
                <a:lnTo>
                  <a:pt x="0" y="408685"/>
                </a:lnTo>
                <a:lnTo>
                  <a:pt x="5851" y="408685"/>
                </a:lnTo>
                <a:lnTo>
                  <a:pt x="5851"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47" name="Google Shape;847;p76"/>
          <p:cNvSpPr/>
          <p:nvPr/>
        </p:nvSpPr>
        <p:spPr>
          <a:xfrm>
            <a:off x="6252971" y="4872228"/>
            <a:ext cx="6350" cy="262255"/>
          </a:xfrm>
          <a:custGeom>
            <a:avLst/>
            <a:gdLst/>
            <a:ahLst/>
            <a:cxnLst/>
            <a:rect l="l" t="t" r="r" b="b"/>
            <a:pathLst>
              <a:path w="6350" h="262254" extrusionOk="0">
                <a:moveTo>
                  <a:pt x="5851" y="0"/>
                </a:moveTo>
                <a:lnTo>
                  <a:pt x="0" y="0"/>
                </a:lnTo>
                <a:lnTo>
                  <a:pt x="0" y="262001"/>
                </a:lnTo>
                <a:lnTo>
                  <a:pt x="5851" y="262001"/>
                </a:lnTo>
                <a:lnTo>
                  <a:pt x="5851"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48" name="Google Shape;848;p76"/>
          <p:cNvSpPr/>
          <p:nvPr/>
        </p:nvSpPr>
        <p:spPr>
          <a:xfrm>
            <a:off x="4840224" y="4251959"/>
            <a:ext cx="1501140" cy="789940"/>
          </a:xfrm>
          <a:custGeom>
            <a:avLst/>
            <a:gdLst/>
            <a:ahLst/>
            <a:cxnLst/>
            <a:rect l="l" t="t" r="r" b="b"/>
            <a:pathLst>
              <a:path w="1501139" h="789939" extrusionOk="0">
                <a:moveTo>
                  <a:pt x="862584" y="24384"/>
                </a:moveTo>
                <a:lnTo>
                  <a:pt x="858012" y="21336"/>
                </a:lnTo>
                <a:lnTo>
                  <a:pt x="0" y="786638"/>
                </a:lnTo>
                <a:lnTo>
                  <a:pt x="3048" y="789686"/>
                </a:lnTo>
                <a:lnTo>
                  <a:pt x="862584" y="24384"/>
                </a:lnTo>
                <a:close/>
              </a:path>
              <a:path w="1501139" h="789939" extrusionOk="0">
                <a:moveTo>
                  <a:pt x="1501140" y="282067"/>
                </a:moveTo>
                <a:lnTo>
                  <a:pt x="871728" y="0"/>
                </a:lnTo>
                <a:lnTo>
                  <a:pt x="870204" y="4572"/>
                </a:lnTo>
                <a:lnTo>
                  <a:pt x="1498092" y="288163"/>
                </a:lnTo>
                <a:lnTo>
                  <a:pt x="1501140" y="282067"/>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49" name="Google Shape;849;p76"/>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82</a:t>
            </a:fld>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Shape 853"/>
        <p:cNvGrpSpPr/>
        <p:nvPr/>
      </p:nvGrpSpPr>
      <p:grpSpPr>
        <a:xfrm>
          <a:off x="0" y="0"/>
          <a:ext cx="0" cy="0"/>
          <a:chOff x="0" y="0"/>
          <a:chExt cx="0" cy="0"/>
        </a:xfrm>
      </p:grpSpPr>
      <p:sp>
        <p:nvSpPr>
          <p:cNvPr id="854" name="Google Shape;854;p77"/>
          <p:cNvSpPr txBox="1"/>
          <p:nvPr/>
        </p:nvSpPr>
        <p:spPr>
          <a:xfrm>
            <a:off x="1508760" y="2115565"/>
            <a:ext cx="13081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S</a:t>
            </a:r>
            <a:endParaRPr sz="1800">
              <a:solidFill>
                <a:schemeClr val="dk1"/>
              </a:solidFill>
              <a:latin typeface="Calibri"/>
              <a:ea typeface="Calibri"/>
              <a:cs typeface="Calibri"/>
              <a:sym typeface="Calibri"/>
            </a:endParaRPr>
          </a:p>
        </p:txBody>
      </p:sp>
      <p:sp>
        <p:nvSpPr>
          <p:cNvPr id="855" name="Google Shape;855;p77"/>
          <p:cNvSpPr txBox="1"/>
          <p:nvPr/>
        </p:nvSpPr>
        <p:spPr>
          <a:xfrm>
            <a:off x="3017520" y="3011678"/>
            <a:ext cx="890269" cy="887094"/>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VP</a:t>
            </a:r>
            <a:endParaRPr sz="1800">
              <a:solidFill>
                <a:schemeClr val="dk1"/>
              </a:solidFill>
              <a:latin typeface="Calibri"/>
              <a:ea typeface="Calibri"/>
              <a:cs typeface="Calibri"/>
              <a:sym typeface="Calibri"/>
            </a:endParaRPr>
          </a:p>
          <a:p>
            <a:pPr marL="0" marR="0" lvl="0" indent="0" algn="l" rtl="0">
              <a:lnSpc>
                <a:spcPct val="100000"/>
              </a:lnSpc>
              <a:spcBef>
                <a:spcPts val="15"/>
              </a:spcBef>
              <a:spcAft>
                <a:spcPts val="0"/>
              </a:spcAft>
              <a:buNone/>
            </a:pPr>
            <a:endParaRPr sz="2000">
              <a:solidFill>
                <a:schemeClr val="dk1"/>
              </a:solidFill>
              <a:latin typeface="Calibri"/>
              <a:ea typeface="Calibri"/>
              <a:cs typeface="Calibri"/>
              <a:sym typeface="Calibri"/>
            </a:endParaRPr>
          </a:p>
          <a:p>
            <a:pPr marL="0" marR="5080" lvl="0" indent="0" algn="r" rtl="0">
              <a:lnSpc>
                <a:spcPct val="100000"/>
              </a:lnSpc>
              <a:spcBef>
                <a:spcPts val="0"/>
              </a:spcBef>
              <a:spcAft>
                <a:spcPts val="0"/>
              </a:spcAft>
              <a:buNone/>
            </a:pPr>
            <a:r>
              <a:rPr lang="en-US" sz="1800">
                <a:solidFill>
                  <a:schemeClr val="dk1"/>
                </a:solidFill>
                <a:latin typeface="Calibri"/>
                <a:ea typeface="Calibri"/>
                <a:cs typeface="Calibri"/>
                <a:sym typeface="Calibri"/>
              </a:rPr>
              <a:t>PP</a:t>
            </a:r>
            <a:endParaRPr sz="1800">
              <a:solidFill>
                <a:schemeClr val="dk1"/>
              </a:solidFill>
              <a:latin typeface="Calibri"/>
              <a:ea typeface="Calibri"/>
              <a:cs typeface="Calibri"/>
              <a:sym typeface="Calibri"/>
            </a:endParaRPr>
          </a:p>
        </p:txBody>
      </p:sp>
      <p:sp>
        <p:nvSpPr>
          <p:cNvPr id="856" name="Google Shape;856;p77"/>
          <p:cNvSpPr txBox="1"/>
          <p:nvPr/>
        </p:nvSpPr>
        <p:spPr>
          <a:xfrm>
            <a:off x="5616194" y="3906265"/>
            <a:ext cx="29083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NP</a:t>
            </a:r>
            <a:endParaRPr sz="1800">
              <a:solidFill>
                <a:schemeClr val="dk1"/>
              </a:solidFill>
              <a:latin typeface="Calibri"/>
              <a:ea typeface="Calibri"/>
              <a:cs typeface="Calibri"/>
              <a:sym typeface="Calibri"/>
            </a:endParaRPr>
          </a:p>
        </p:txBody>
      </p:sp>
      <p:sp>
        <p:nvSpPr>
          <p:cNvPr id="857" name="Google Shape;857;p77"/>
          <p:cNvSpPr txBox="1"/>
          <p:nvPr/>
        </p:nvSpPr>
        <p:spPr>
          <a:xfrm>
            <a:off x="335025" y="4503928"/>
            <a:ext cx="29083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NP</a:t>
            </a:r>
            <a:endParaRPr sz="1800">
              <a:solidFill>
                <a:schemeClr val="dk1"/>
              </a:solidFill>
              <a:latin typeface="Calibri"/>
              <a:ea typeface="Calibri"/>
              <a:cs typeface="Calibri"/>
              <a:sym typeface="Calibri"/>
            </a:endParaRPr>
          </a:p>
        </p:txBody>
      </p:sp>
      <p:sp>
        <p:nvSpPr>
          <p:cNvPr id="858" name="Google Shape;858;p77"/>
          <p:cNvSpPr txBox="1"/>
          <p:nvPr/>
        </p:nvSpPr>
        <p:spPr>
          <a:xfrm>
            <a:off x="2123185" y="4503928"/>
            <a:ext cx="27495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VP</a:t>
            </a:r>
            <a:endParaRPr sz="1800">
              <a:solidFill>
                <a:schemeClr val="dk1"/>
              </a:solidFill>
              <a:latin typeface="Calibri"/>
              <a:ea typeface="Calibri"/>
              <a:cs typeface="Calibri"/>
              <a:sym typeface="Calibri"/>
            </a:endParaRPr>
          </a:p>
        </p:txBody>
      </p:sp>
      <p:sp>
        <p:nvSpPr>
          <p:cNvPr id="859" name="Google Shape;859;p77"/>
          <p:cNvSpPr txBox="1"/>
          <p:nvPr/>
        </p:nvSpPr>
        <p:spPr>
          <a:xfrm>
            <a:off x="6040120" y="4503928"/>
            <a:ext cx="81280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Nominal</a:t>
            </a:r>
            <a:endParaRPr sz="1800">
              <a:solidFill>
                <a:schemeClr val="dk1"/>
              </a:solidFill>
              <a:latin typeface="Calibri"/>
              <a:ea typeface="Calibri"/>
              <a:cs typeface="Calibri"/>
              <a:sym typeface="Calibri"/>
            </a:endParaRPr>
          </a:p>
        </p:txBody>
      </p:sp>
      <p:sp>
        <p:nvSpPr>
          <p:cNvPr id="860" name="Google Shape;860;p77"/>
          <p:cNvSpPr txBox="1"/>
          <p:nvPr/>
        </p:nvSpPr>
        <p:spPr>
          <a:xfrm>
            <a:off x="335025" y="5099811"/>
            <a:ext cx="82105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Pronoun</a:t>
            </a:r>
            <a:endParaRPr sz="1800">
              <a:solidFill>
                <a:schemeClr val="dk1"/>
              </a:solidFill>
              <a:latin typeface="Calibri"/>
              <a:ea typeface="Calibri"/>
              <a:cs typeface="Calibri"/>
              <a:sym typeface="Calibri"/>
            </a:endParaRPr>
          </a:p>
        </p:txBody>
      </p:sp>
      <p:sp>
        <p:nvSpPr>
          <p:cNvPr id="861" name="Google Shape;861;p77"/>
          <p:cNvSpPr txBox="1"/>
          <p:nvPr/>
        </p:nvSpPr>
        <p:spPr>
          <a:xfrm>
            <a:off x="2026411" y="5099811"/>
            <a:ext cx="44005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verb</a:t>
            </a:r>
            <a:endParaRPr sz="1800">
              <a:solidFill>
                <a:schemeClr val="dk1"/>
              </a:solidFill>
              <a:latin typeface="Calibri"/>
              <a:ea typeface="Calibri"/>
              <a:cs typeface="Calibri"/>
              <a:sym typeface="Calibri"/>
            </a:endParaRPr>
          </a:p>
        </p:txBody>
      </p:sp>
      <p:sp>
        <p:nvSpPr>
          <p:cNvPr id="862" name="Google Shape;862;p77"/>
          <p:cNvSpPr txBox="1"/>
          <p:nvPr/>
        </p:nvSpPr>
        <p:spPr>
          <a:xfrm>
            <a:off x="2811272" y="5099811"/>
            <a:ext cx="108331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Preposition</a:t>
            </a:r>
            <a:endParaRPr sz="1800">
              <a:solidFill>
                <a:schemeClr val="dk1"/>
              </a:solidFill>
              <a:latin typeface="Calibri"/>
              <a:ea typeface="Calibri"/>
              <a:cs typeface="Calibri"/>
              <a:sym typeface="Calibri"/>
            </a:endParaRPr>
          </a:p>
        </p:txBody>
      </p:sp>
      <p:sp>
        <p:nvSpPr>
          <p:cNvPr id="863" name="Google Shape;863;p77"/>
          <p:cNvSpPr txBox="1"/>
          <p:nvPr/>
        </p:nvSpPr>
        <p:spPr>
          <a:xfrm>
            <a:off x="4560315" y="5099811"/>
            <a:ext cx="35306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Det</a:t>
            </a:r>
            <a:endParaRPr sz="1800">
              <a:solidFill>
                <a:schemeClr val="dk1"/>
              </a:solidFill>
              <a:latin typeface="Calibri"/>
              <a:ea typeface="Calibri"/>
              <a:cs typeface="Calibri"/>
              <a:sym typeface="Calibri"/>
            </a:endParaRPr>
          </a:p>
        </p:txBody>
      </p:sp>
      <p:sp>
        <p:nvSpPr>
          <p:cNvPr id="864" name="Google Shape;864;p77"/>
          <p:cNvSpPr txBox="1"/>
          <p:nvPr/>
        </p:nvSpPr>
        <p:spPr>
          <a:xfrm>
            <a:off x="5991859" y="5099811"/>
            <a:ext cx="53594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Noun</a:t>
            </a:r>
            <a:endParaRPr sz="1800">
              <a:solidFill>
                <a:schemeClr val="dk1"/>
              </a:solidFill>
              <a:latin typeface="Calibri"/>
              <a:ea typeface="Calibri"/>
              <a:cs typeface="Calibri"/>
              <a:sym typeface="Calibri"/>
            </a:endParaRPr>
          </a:p>
        </p:txBody>
      </p:sp>
      <p:sp>
        <p:nvSpPr>
          <p:cNvPr id="865" name="Google Shape;865;p77"/>
          <p:cNvSpPr txBox="1"/>
          <p:nvPr/>
        </p:nvSpPr>
        <p:spPr>
          <a:xfrm>
            <a:off x="335025" y="5697220"/>
            <a:ext cx="36512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rgbClr val="BE0000"/>
                </a:solidFill>
                <a:latin typeface="Calibri"/>
                <a:ea typeface="Calibri"/>
                <a:cs typeface="Calibri"/>
                <a:sym typeface="Calibri"/>
              </a:rPr>
              <a:t>She</a:t>
            </a:r>
            <a:endParaRPr sz="1800">
              <a:solidFill>
                <a:schemeClr val="dk1"/>
              </a:solidFill>
              <a:latin typeface="Calibri"/>
              <a:ea typeface="Calibri"/>
              <a:cs typeface="Calibri"/>
              <a:sym typeface="Calibri"/>
            </a:endParaRPr>
          </a:p>
        </p:txBody>
      </p:sp>
      <p:sp>
        <p:nvSpPr>
          <p:cNvPr id="866" name="Google Shape;866;p77"/>
          <p:cNvSpPr txBox="1"/>
          <p:nvPr/>
        </p:nvSpPr>
        <p:spPr>
          <a:xfrm>
            <a:off x="1987295" y="5697220"/>
            <a:ext cx="48768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rgbClr val="BE0000"/>
                </a:solidFill>
                <a:latin typeface="Calibri"/>
                <a:ea typeface="Calibri"/>
                <a:cs typeface="Calibri"/>
                <a:sym typeface="Calibri"/>
              </a:rPr>
              <a:t>plays</a:t>
            </a:r>
            <a:endParaRPr sz="1800">
              <a:solidFill>
                <a:schemeClr val="dk1"/>
              </a:solidFill>
              <a:latin typeface="Calibri"/>
              <a:ea typeface="Calibri"/>
              <a:cs typeface="Calibri"/>
              <a:sym typeface="Calibri"/>
            </a:endParaRPr>
          </a:p>
        </p:txBody>
      </p:sp>
      <p:sp>
        <p:nvSpPr>
          <p:cNvPr id="867" name="Google Shape;867;p77"/>
          <p:cNvSpPr txBox="1"/>
          <p:nvPr/>
        </p:nvSpPr>
        <p:spPr>
          <a:xfrm>
            <a:off x="2928620" y="5697220"/>
            <a:ext cx="19875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rgbClr val="BE0000"/>
                </a:solidFill>
                <a:latin typeface="Calibri"/>
                <a:ea typeface="Calibri"/>
                <a:cs typeface="Calibri"/>
                <a:sym typeface="Calibri"/>
              </a:rPr>
              <a:t>in</a:t>
            </a:r>
            <a:endParaRPr sz="1800">
              <a:solidFill>
                <a:schemeClr val="dk1"/>
              </a:solidFill>
              <a:latin typeface="Calibri"/>
              <a:ea typeface="Calibri"/>
              <a:cs typeface="Calibri"/>
              <a:sym typeface="Calibri"/>
            </a:endParaRPr>
          </a:p>
        </p:txBody>
      </p:sp>
      <p:sp>
        <p:nvSpPr>
          <p:cNvPr id="868" name="Google Shape;868;p77"/>
          <p:cNvSpPr txBox="1"/>
          <p:nvPr/>
        </p:nvSpPr>
        <p:spPr>
          <a:xfrm>
            <a:off x="4622546" y="5697220"/>
            <a:ext cx="33591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rgbClr val="BE0000"/>
                </a:solidFill>
                <a:latin typeface="Calibri"/>
                <a:ea typeface="Calibri"/>
                <a:cs typeface="Calibri"/>
                <a:sym typeface="Calibri"/>
              </a:rPr>
              <a:t>the</a:t>
            </a:r>
            <a:endParaRPr sz="1800">
              <a:solidFill>
                <a:schemeClr val="dk1"/>
              </a:solidFill>
              <a:latin typeface="Calibri"/>
              <a:ea typeface="Calibri"/>
              <a:cs typeface="Calibri"/>
              <a:sym typeface="Calibri"/>
            </a:endParaRPr>
          </a:p>
        </p:txBody>
      </p:sp>
      <p:sp>
        <p:nvSpPr>
          <p:cNvPr id="869" name="Google Shape;869;p77"/>
          <p:cNvSpPr txBox="1"/>
          <p:nvPr/>
        </p:nvSpPr>
        <p:spPr>
          <a:xfrm>
            <a:off x="5929629" y="5697220"/>
            <a:ext cx="66167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rgbClr val="BE0000"/>
                </a:solidFill>
                <a:latin typeface="Calibri"/>
                <a:ea typeface="Calibri"/>
                <a:cs typeface="Calibri"/>
                <a:sym typeface="Calibri"/>
              </a:rPr>
              <a:t>garden</a:t>
            </a:r>
            <a:endParaRPr sz="1800">
              <a:solidFill>
                <a:schemeClr val="dk1"/>
              </a:solidFill>
              <a:latin typeface="Calibri"/>
              <a:ea typeface="Calibri"/>
              <a:cs typeface="Calibri"/>
              <a:sym typeface="Calibri"/>
            </a:endParaRPr>
          </a:p>
        </p:txBody>
      </p:sp>
      <p:sp>
        <p:nvSpPr>
          <p:cNvPr id="870" name="Google Shape;870;p77"/>
          <p:cNvSpPr/>
          <p:nvPr/>
        </p:nvSpPr>
        <p:spPr>
          <a:xfrm>
            <a:off x="512063" y="5458967"/>
            <a:ext cx="15240" cy="273050"/>
          </a:xfrm>
          <a:custGeom>
            <a:avLst/>
            <a:gdLst/>
            <a:ahLst/>
            <a:cxnLst/>
            <a:rect l="l" t="t" r="r" b="b"/>
            <a:pathLst>
              <a:path w="15240" h="273050" extrusionOk="0">
                <a:moveTo>
                  <a:pt x="4571" y="0"/>
                </a:moveTo>
                <a:lnTo>
                  <a:pt x="0" y="0"/>
                </a:lnTo>
                <a:lnTo>
                  <a:pt x="10667" y="272541"/>
                </a:lnTo>
                <a:lnTo>
                  <a:pt x="15240" y="272541"/>
                </a:lnTo>
                <a:lnTo>
                  <a:pt x="4571"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71" name="Google Shape;871;p77"/>
          <p:cNvSpPr/>
          <p:nvPr/>
        </p:nvSpPr>
        <p:spPr>
          <a:xfrm>
            <a:off x="512063" y="4872228"/>
            <a:ext cx="5080" cy="262255"/>
          </a:xfrm>
          <a:custGeom>
            <a:avLst/>
            <a:gdLst/>
            <a:ahLst/>
            <a:cxnLst/>
            <a:rect l="l" t="t" r="r" b="b"/>
            <a:pathLst>
              <a:path w="5079" h="262254" extrusionOk="0">
                <a:moveTo>
                  <a:pt x="4801" y="0"/>
                </a:moveTo>
                <a:lnTo>
                  <a:pt x="0" y="0"/>
                </a:lnTo>
                <a:lnTo>
                  <a:pt x="0" y="262001"/>
                </a:lnTo>
                <a:lnTo>
                  <a:pt x="4801" y="262001"/>
                </a:lnTo>
                <a:lnTo>
                  <a:pt x="4801"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72" name="Google Shape;872;p77"/>
          <p:cNvSpPr/>
          <p:nvPr/>
        </p:nvSpPr>
        <p:spPr>
          <a:xfrm>
            <a:off x="2218944" y="5458967"/>
            <a:ext cx="17145" cy="273050"/>
          </a:xfrm>
          <a:custGeom>
            <a:avLst/>
            <a:gdLst/>
            <a:ahLst/>
            <a:cxnLst/>
            <a:rect l="l" t="t" r="r" b="b"/>
            <a:pathLst>
              <a:path w="17144" h="273050" extrusionOk="0">
                <a:moveTo>
                  <a:pt x="6223" y="0"/>
                </a:moveTo>
                <a:lnTo>
                  <a:pt x="0" y="0"/>
                </a:lnTo>
                <a:lnTo>
                  <a:pt x="10922" y="272541"/>
                </a:lnTo>
                <a:lnTo>
                  <a:pt x="17144" y="272541"/>
                </a:lnTo>
                <a:lnTo>
                  <a:pt x="6223"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73" name="Google Shape;873;p77"/>
          <p:cNvSpPr/>
          <p:nvPr/>
        </p:nvSpPr>
        <p:spPr>
          <a:xfrm>
            <a:off x="617220" y="2482595"/>
            <a:ext cx="2350135" cy="1961514"/>
          </a:xfrm>
          <a:custGeom>
            <a:avLst/>
            <a:gdLst/>
            <a:ahLst/>
            <a:cxnLst/>
            <a:rect l="l" t="t" r="r" b="b"/>
            <a:pathLst>
              <a:path w="2350135" h="1961514" extrusionOk="0">
                <a:moveTo>
                  <a:pt x="926592" y="1524"/>
                </a:moveTo>
                <a:lnTo>
                  <a:pt x="922020" y="0"/>
                </a:lnTo>
                <a:lnTo>
                  <a:pt x="0" y="1958340"/>
                </a:lnTo>
                <a:lnTo>
                  <a:pt x="4559" y="1961400"/>
                </a:lnTo>
                <a:lnTo>
                  <a:pt x="926592" y="1524"/>
                </a:lnTo>
                <a:close/>
              </a:path>
              <a:path w="2350135" h="1961514" extrusionOk="0">
                <a:moveTo>
                  <a:pt x="2349881" y="710184"/>
                </a:moveTo>
                <a:lnTo>
                  <a:pt x="955548" y="50292"/>
                </a:lnTo>
                <a:lnTo>
                  <a:pt x="954024" y="54864"/>
                </a:lnTo>
                <a:lnTo>
                  <a:pt x="2346960" y="716280"/>
                </a:lnTo>
                <a:lnTo>
                  <a:pt x="2349881" y="710184"/>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74" name="Google Shape;874;p77"/>
          <p:cNvSpPr/>
          <p:nvPr/>
        </p:nvSpPr>
        <p:spPr>
          <a:xfrm>
            <a:off x="2218944" y="4872228"/>
            <a:ext cx="17145" cy="262255"/>
          </a:xfrm>
          <a:custGeom>
            <a:avLst/>
            <a:gdLst/>
            <a:ahLst/>
            <a:cxnLst/>
            <a:rect l="l" t="t" r="r" b="b"/>
            <a:pathLst>
              <a:path w="17144" h="262254" extrusionOk="0">
                <a:moveTo>
                  <a:pt x="16763" y="0"/>
                </a:moveTo>
                <a:lnTo>
                  <a:pt x="10668" y="0"/>
                </a:lnTo>
                <a:lnTo>
                  <a:pt x="0" y="262128"/>
                </a:lnTo>
                <a:lnTo>
                  <a:pt x="6095" y="262128"/>
                </a:lnTo>
                <a:lnTo>
                  <a:pt x="16763"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75" name="Google Shape;875;p77"/>
          <p:cNvSpPr/>
          <p:nvPr/>
        </p:nvSpPr>
        <p:spPr>
          <a:xfrm>
            <a:off x="2366772" y="3320795"/>
            <a:ext cx="3890645" cy="1690370"/>
          </a:xfrm>
          <a:custGeom>
            <a:avLst/>
            <a:gdLst/>
            <a:ahLst/>
            <a:cxnLst/>
            <a:rect l="l" t="t" r="r" b="b"/>
            <a:pathLst>
              <a:path w="3890645" h="1690370" extrusionOk="0">
                <a:moveTo>
                  <a:pt x="748284" y="1524"/>
                </a:moveTo>
                <a:lnTo>
                  <a:pt x="743585" y="0"/>
                </a:lnTo>
                <a:lnTo>
                  <a:pt x="0" y="1120140"/>
                </a:lnTo>
                <a:lnTo>
                  <a:pt x="4572" y="1123200"/>
                </a:lnTo>
                <a:lnTo>
                  <a:pt x="748284" y="1524"/>
                </a:lnTo>
                <a:close/>
              </a:path>
              <a:path w="3890645" h="1690370" extrusionOk="0">
                <a:moveTo>
                  <a:pt x="1345565" y="704088"/>
                </a:moveTo>
                <a:lnTo>
                  <a:pt x="1340993" y="701040"/>
                </a:lnTo>
                <a:lnTo>
                  <a:pt x="952500" y="1687068"/>
                </a:lnTo>
                <a:lnTo>
                  <a:pt x="956932" y="1688592"/>
                </a:lnTo>
                <a:lnTo>
                  <a:pt x="1345565" y="704088"/>
                </a:lnTo>
                <a:close/>
              </a:path>
              <a:path w="3890645" h="1690370" extrusionOk="0">
                <a:moveTo>
                  <a:pt x="1449197" y="701040"/>
                </a:moveTo>
                <a:lnTo>
                  <a:pt x="748284" y="9144"/>
                </a:lnTo>
                <a:lnTo>
                  <a:pt x="743585" y="13716"/>
                </a:lnTo>
                <a:lnTo>
                  <a:pt x="1446149" y="704088"/>
                </a:lnTo>
                <a:lnTo>
                  <a:pt x="1449197" y="701040"/>
                </a:lnTo>
                <a:close/>
              </a:path>
              <a:path w="3890645" h="1690370" extrusionOk="0">
                <a:moveTo>
                  <a:pt x="3220085" y="966216"/>
                </a:moveTo>
                <a:lnTo>
                  <a:pt x="3217037" y="963168"/>
                </a:lnTo>
                <a:lnTo>
                  <a:pt x="2462657" y="1685544"/>
                </a:lnTo>
                <a:lnTo>
                  <a:pt x="2465705" y="1690116"/>
                </a:lnTo>
                <a:lnTo>
                  <a:pt x="3220085" y="966216"/>
                </a:lnTo>
                <a:close/>
              </a:path>
              <a:path w="3890645" h="1690370" extrusionOk="0">
                <a:moveTo>
                  <a:pt x="3890645" y="1234440"/>
                </a:moveTo>
                <a:lnTo>
                  <a:pt x="3239897" y="941832"/>
                </a:lnTo>
                <a:lnTo>
                  <a:pt x="1374521" y="699516"/>
                </a:lnTo>
                <a:lnTo>
                  <a:pt x="1374521" y="705612"/>
                </a:lnTo>
                <a:lnTo>
                  <a:pt x="3238373" y="946404"/>
                </a:lnTo>
                <a:lnTo>
                  <a:pt x="3887597" y="1239012"/>
                </a:lnTo>
                <a:lnTo>
                  <a:pt x="3890645" y="123444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76" name="Google Shape;876;p77"/>
          <p:cNvSpPr/>
          <p:nvPr/>
        </p:nvSpPr>
        <p:spPr>
          <a:xfrm>
            <a:off x="6252845" y="4872240"/>
            <a:ext cx="6350" cy="262255"/>
          </a:xfrm>
          <a:custGeom>
            <a:avLst/>
            <a:gdLst/>
            <a:ahLst/>
            <a:cxnLst/>
            <a:rect l="l" t="t" r="r" b="b"/>
            <a:pathLst>
              <a:path w="6350" h="262254" extrusionOk="0">
                <a:moveTo>
                  <a:pt x="6109" y="0"/>
                </a:moveTo>
                <a:lnTo>
                  <a:pt x="0" y="0"/>
                </a:lnTo>
                <a:lnTo>
                  <a:pt x="0" y="262115"/>
                </a:lnTo>
                <a:lnTo>
                  <a:pt x="6109" y="262115"/>
                </a:lnTo>
                <a:lnTo>
                  <a:pt x="6109"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77" name="Google Shape;877;p77"/>
          <p:cNvSpPr/>
          <p:nvPr/>
        </p:nvSpPr>
        <p:spPr>
          <a:xfrm>
            <a:off x="3057144" y="5458967"/>
            <a:ext cx="58419" cy="273050"/>
          </a:xfrm>
          <a:custGeom>
            <a:avLst/>
            <a:gdLst/>
            <a:ahLst/>
            <a:cxnLst/>
            <a:rect l="l" t="t" r="r" b="b"/>
            <a:pathLst>
              <a:path w="58419" h="273050" extrusionOk="0">
                <a:moveTo>
                  <a:pt x="58166" y="0"/>
                </a:moveTo>
                <a:lnTo>
                  <a:pt x="53593" y="0"/>
                </a:lnTo>
                <a:lnTo>
                  <a:pt x="0" y="271017"/>
                </a:lnTo>
                <a:lnTo>
                  <a:pt x="6095" y="272541"/>
                </a:lnTo>
                <a:lnTo>
                  <a:pt x="58166"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78" name="Google Shape;878;p77"/>
          <p:cNvSpPr/>
          <p:nvPr/>
        </p:nvSpPr>
        <p:spPr>
          <a:xfrm>
            <a:off x="4713732" y="5458967"/>
            <a:ext cx="26034" cy="273050"/>
          </a:xfrm>
          <a:custGeom>
            <a:avLst/>
            <a:gdLst/>
            <a:ahLst/>
            <a:cxnLst/>
            <a:rect l="l" t="t" r="r" b="b"/>
            <a:pathLst>
              <a:path w="26035" h="273050" extrusionOk="0">
                <a:moveTo>
                  <a:pt x="4571" y="0"/>
                </a:moveTo>
                <a:lnTo>
                  <a:pt x="0" y="0"/>
                </a:lnTo>
                <a:lnTo>
                  <a:pt x="19684" y="272541"/>
                </a:lnTo>
                <a:lnTo>
                  <a:pt x="25780" y="272541"/>
                </a:lnTo>
                <a:lnTo>
                  <a:pt x="4571"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79" name="Google Shape;879;p77"/>
          <p:cNvSpPr/>
          <p:nvPr/>
        </p:nvSpPr>
        <p:spPr>
          <a:xfrm>
            <a:off x="6231635" y="5458967"/>
            <a:ext cx="6350" cy="408940"/>
          </a:xfrm>
          <a:custGeom>
            <a:avLst/>
            <a:gdLst/>
            <a:ahLst/>
            <a:cxnLst/>
            <a:rect l="l" t="t" r="r" b="b"/>
            <a:pathLst>
              <a:path w="6350" h="408939" extrusionOk="0">
                <a:moveTo>
                  <a:pt x="5851" y="0"/>
                </a:moveTo>
                <a:lnTo>
                  <a:pt x="0" y="0"/>
                </a:lnTo>
                <a:lnTo>
                  <a:pt x="0" y="408685"/>
                </a:lnTo>
                <a:lnTo>
                  <a:pt x="5851" y="408685"/>
                </a:lnTo>
                <a:lnTo>
                  <a:pt x="5851" y="0"/>
                </a:lnTo>
                <a:close/>
              </a:path>
            </a:pathLst>
          </a:custGeom>
          <a:solidFill>
            <a:srgbClr val="5B9AD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0" name="Google Shape;880;p77"/>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83</a:t>
            </a:fld>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Shape 884"/>
        <p:cNvGrpSpPr/>
        <p:nvPr/>
      </p:nvGrpSpPr>
      <p:grpSpPr>
        <a:xfrm>
          <a:off x="0" y="0"/>
          <a:ext cx="0" cy="0"/>
          <a:chOff x="0" y="0"/>
          <a:chExt cx="0" cy="0"/>
        </a:xfrm>
      </p:grpSpPr>
      <p:sp>
        <p:nvSpPr>
          <p:cNvPr id="885" name="Google Shape;885;p78"/>
          <p:cNvSpPr txBox="1">
            <a:spLocks noGrp="1"/>
          </p:cNvSpPr>
          <p:nvPr>
            <p:ph type="title"/>
          </p:nvPr>
        </p:nvSpPr>
        <p:spPr>
          <a:xfrm>
            <a:off x="230630" y="236483"/>
            <a:ext cx="7704074" cy="68993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dirty="0">
                <a:solidFill>
                  <a:srgbClr val="0070C0"/>
                </a:solidFill>
              </a:rPr>
              <a:t>Ambiguity</a:t>
            </a:r>
            <a:endParaRPr sz="4400" dirty="0">
              <a:solidFill>
                <a:srgbClr val="0070C0"/>
              </a:solidFill>
            </a:endParaRPr>
          </a:p>
        </p:txBody>
      </p:sp>
      <p:sp>
        <p:nvSpPr>
          <p:cNvPr id="886" name="Google Shape;886;p78"/>
          <p:cNvSpPr txBox="1"/>
          <p:nvPr/>
        </p:nvSpPr>
        <p:spPr>
          <a:xfrm>
            <a:off x="230631" y="1235570"/>
            <a:ext cx="9559755" cy="5239255"/>
          </a:xfrm>
          <a:prstGeom prst="rect">
            <a:avLst/>
          </a:prstGeom>
          <a:noFill/>
          <a:ln>
            <a:noFill/>
          </a:ln>
        </p:spPr>
        <p:txBody>
          <a:bodyPr spcFirstLastPara="1" wrap="square" lIns="0" tIns="88900" rIns="0" bIns="0" anchor="t" anchorCtr="0">
            <a:spAutoFit/>
          </a:bodyPr>
          <a:lstStyle/>
          <a:p>
            <a:pPr marL="201295" marR="0" lvl="0" indent="-203200" algn="just" rtl="0">
              <a:lnSpc>
                <a:spcPct val="100000"/>
              </a:lnSpc>
              <a:spcBef>
                <a:spcPts val="0"/>
              </a:spcBef>
              <a:spcAft>
                <a:spcPts val="0"/>
              </a:spcAft>
              <a:buClr>
                <a:schemeClr val="dk1"/>
              </a:buClr>
              <a:buSzPts val="3200"/>
              <a:buFont typeface="Arial"/>
              <a:buChar char="•"/>
            </a:pPr>
            <a:r>
              <a:rPr lang="en-US" sz="2800" dirty="0">
                <a:solidFill>
                  <a:schemeClr val="dk1"/>
                </a:solidFill>
                <a:latin typeface="Calibri"/>
                <a:ea typeface="Calibri"/>
                <a:cs typeface="Calibri"/>
                <a:sym typeface="Calibri"/>
              </a:rPr>
              <a:t>Present at various phases</a:t>
            </a:r>
            <a:endParaRPr sz="2800" dirty="0">
              <a:solidFill>
                <a:schemeClr val="dk1"/>
              </a:solidFill>
              <a:latin typeface="Calibri"/>
              <a:ea typeface="Calibri"/>
              <a:cs typeface="Calibri"/>
              <a:sym typeface="Calibri"/>
            </a:endParaRPr>
          </a:p>
          <a:p>
            <a:pPr marL="201295" marR="0" lvl="0" indent="-203200" algn="just" rtl="0">
              <a:lnSpc>
                <a:spcPct val="100000"/>
              </a:lnSpc>
              <a:spcBef>
                <a:spcPts val="600"/>
              </a:spcBef>
              <a:spcAft>
                <a:spcPts val="0"/>
              </a:spcAft>
              <a:buClr>
                <a:schemeClr val="dk1"/>
              </a:buClr>
              <a:buSzPts val="3200"/>
              <a:buFont typeface="Arial"/>
              <a:buChar char="•"/>
            </a:pPr>
            <a:r>
              <a:rPr lang="en-US" sz="2800" dirty="0">
                <a:solidFill>
                  <a:schemeClr val="dk1"/>
                </a:solidFill>
                <a:latin typeface="Calibri"/>
                <a:ea typeface="Calibri"/>
                <a:cs typeface="Calibri"/>
                <a:sym typeface="Calibri"/>
              </a:rPr>
              <a:t>Lexical level – </a:t>
            </a:r>
            <a:r>
              <a:rPr lang="en-US" sz="2800" dirty="0" err="1">
                <a:solidFill>
                  <a:schemeClr val="dk1"/>
                </a:solidFill>
                <a:latin typeface="Calibri"/>
                <a:ea typeface="Calibri"/>
                <a:cs typeface="Calibri"/>
                <a:sym typeface="Calibri"/>
              </a:rPr>
              <a:t>pos</a:t>
            </a:r>
            <a:r>
              <a:rPr lang="en-US" sz="2800" dirty="0">
                <a:solidFill>
                  <a:schemeClr val="dk1"/>
                </a:solidFill>
                <a:latin typeface="Calibri"/>
                <a:ea typeface="Calibri"/>
                <a:cs typeface="Calibri"/>
                <a:sym typeface="Calibri"/>
              </a:rPr>
              <a:t> tagging</a:t>
            </a:r>
            <a:endParaRPr sz="2800" dirty="0">
              <a:solidFill>
                <a:schemeClr val="dk1"/>
              </a:solidFill>
              <a:latin typeface="Calibri"/>
              <a:ea typeface="Calibri"/>
              <a:cs typeface="Calibri"/>
              <a:sym typeface="Calibri"/>
            </a:endParaRPr>
          </a:p>
          <a:p>
            <a:pPr marL="212090" marR="0" lvl="0" indent="0" algn="just" rtl="0">
              <a:lnSpc>
                <a:spcPct val="100000"/>
              </a:lnSpc>
              <a:spcBef>
                <a:spcPts val="919"/>
              </a:spcBef>
              <a:spcAft>
                <a:spcPts val="0"/>
              </a:spcAft>
              <a:buNone/>
            </a:pPr>
            <a:r>
              <a:rPr lang="en-US" sz="2800" dirty="0">
                <a:solidFill>
                  <a:schemeClr val="dk1"/>
                </a:solidFill>
                <a:latin typeface="Calibri"/>
                <a:ea typeface="Calibri"/>
                <a:cs typeface="Calibri"/>
                <a:sym typeface="Calibri"/>
              </a:rPr>
              <a:t>ex. </a:t>
            </a:r>
            <a:r>
              <a:rPr lang="en-US" sz="2800" dirty="0">
                <a:solidFill>
                  <a:srgbClr val="FF0000"/>
                </a:solidFill>
                <a:latin typeface="Calibri"/>
                <a:ea typeface="Calibri"/>
                <a:cs typeface="Calibri"/>
                <a:sym typeface="Calibri"/>
              </a:rPr>
              <a:t>Book</a:t>
            </a:r>
            <a:r>
              <a:rPr lang="en-US" sz="2800" dirty="0">
                <a:solidFill>
                  <a:schemeClr val="dk1"/>
                </a:solidFill>
                <a:latin typeface="Calibri"/>
                <a:ea typeface="Calibri"/>
                <a:cs typeface="Calibri"/>
                <a:sym typeface="Calibri"/>
              </a:rPr>
              <a:t> that flight.	Book as Noun or Verb – Rule based </a:t>
            </a:r>
            <a:r>
              <a:rPr lang="en-US" sz="2800" dirty="0" err="1">
                <a:solidFill>
                  <a:schemeClr val="dk1"/>
                </a:solidFill>
                <a:latin typeface="Calibri"/>
                <a:ea typeface="Calibri"/>
                <a:cs typeface="Calibri"/>
                <a:sym typeface="Calibri"/>
              </a:rPr>
              <a:t>algo</a:t>
            </a:r>
            <a:r>
              <a:rPr lang="en-US" sz="2800" dirty="0">
                <a:solidFill>
                  <a:schemeClr val="dk1"/>
                </a:solidFill>
                <a:latin typeface="Calibri"/>
                <a:ea typeface="Calibri"/>
                <a:cs typeface="Calibri"/>
                <a:sym typeface="Calibri"/>
              </a:rPr>
              <a:t>, WSD</a:t>
            </a:r>
            <a:endParaRPr sz="2800" dirty="0"/>
          </a:p>
          <a:p>
            <a:pPr marL="201295" marR="0" lvl="0" indent="-203200" algn="just" rtl="0">
              <a:lnSpc>
                <a:spcPct val="100000"/>
              </a:lnSpc>
              <a:spcBef>
                <a:spcPts val="580"/>
              </a:spcBef>
              <a:spcAft>
                <a:spcPts val="0"/>
              </a:spcAft>
              <a:buClr>
                <a:schemeClr val="dk1"/>
              </a:buClr>
              <a:buSzPts val="3200"/>
              <a:buFont typeface="Arial"/>
              <a:buChar char="•"/>
            </a:pPr>
            <a:r>
              <a:rPr lang="en-US" sz="2800" dirty="0">
                <a:solidFill>
                  <a:schemeClr val="dk1"/>
                </a:solidFill>
                <a:latin typeface="Calibri"/>
                <a:ea typeface="Calibri"/>
                <a:cs typeface="Calibri"/>
                <a:sym typeface="Calibri"/>
              </a:rPr>
              <a:t>Syntactic Level –</a:t>
            </a:r>
            <a:endParaRPr sz="2800" dirty="0"/>
          </a:p>
          <a:p>
            <a:pPr marL="238759" marR="685800" lvl="0" indent="0" algn="just" rtl="0">
              <a:lnSpc>
                <a:spcPct val="92812"/>
              </a:lnSpc>
              <a:spcBef>
                <a:spcPts val="5"/>
              </a:spcBef>
              <a:spcAft>
                <a:spcPts val="0"/>
              </a:spcAft>
              <a:buNone/>
            </a:pPr>
            <a:r>
              <a:rPr lang="en-US" sz="2800" dirty="0">
                <a:solidFill>
                  <a:schemeClr val="dk1"/>
                </a:solidFill>
                <a:latin typeface="Calibri"/>
                <a:ea typeface="Calibri"/>
                <a:cs typeface="Calibri"/>
                <a:sym typeface="Calibri"/>
              </a:rPr>
              <a:t>ambiguity rises in syntactic structures – structural ambiguity  multiple parse trees are possible for the same sentence</a:t>
            </a:r>
            <a:endParaRPr sz="2800" dirty="0">
              <a:solidFill>
                <a:schemeClr val="dk1"/>
              </a:solidFill>
              <a:latin typeface="Calibri"/>
              <a:ea typeface="Calibri"/>
              <a:cs typeface="Calibri"/>
              <a:sym typeface="Calibri"/>
            </a:endParaRPr>
          </a:p>
          <a:p>
            <a:pPr marL="201295" marR="0" lvl="0" indent="-203200" algn="just" rtl="0">
              <a:lnSpc>
                <a:spcPct val="100000"/>
              </a:lnSpc>
              <a:spcBef>
                <a:spcPts val="620"/>
              </a:spcBef>
              <a:spcAft>
                <a:spcPts val="0"/>
              </a:spcAft>
              <a:buClr>
                <a:schemeClr val="dk1"/>
              </a:buClr>
              <a:buSzPts val="3200"/>
              <a:buFont typeface="Arial"/>
              <a:buChar char="•"/>
            </a:pPr>
            <a:r>
              <a:rPr lang="en-US" sz="2800" dirty="0">
                <a:solidFill>
                  <a:schemeClr val="dk1"/>
                </a:solidFill>
                <a:latin typeface="Calibri"/>
                <a:ea typeface="Calibri"/>
                <a:cs typeface="Calibri"/>
                <a:sym typeface="Calibri"/>
              </a:rPr>
              <a:t>Syntactic ambiguity</a:t>
            </a:r>
            <a:endParaRPr sz="2800" dirty="0">
              <a:solidFill>
                <a:schemeClr val="dk1"/>
              </a:solidFill>
              <a:latin typeface="Calibri"/>
              <a:ea typeface="Calibri"/>
              <a:cs typeface="Calibri"/>
              <a:sym typeface="Calibri"/>
            </a:endParaRPr>
          </a:p>
          <a:p>
            <a:pPr marL="314960" marR="0" lvl="1" indent="-203200" algn="just" rtl="0">
              <a:lnSpc>
                <a:spcPct val="100000"/>
              </a:lnSpc>
              <a:spcBef>
                <a:spcPts val="600"/>
              </a:spcBef>
              <a:spcAft>
                <a:spcPts val="0"/>
              </a:spcAft>
              <a:buClr>
                <a:srgbClr val="0070C0"/>
              </a:buClr>
              <a:buSzPts val="3200"/>
              <a:buFont typeface="Calibri"/>
              <a:buChar char="-"/>
            </a:pPr>
            <a:r>
              <a:rPr lang="en-US" sz="2800" b="0" i="0" u="none" strike="noStrike" cap="none" dirty="0">
                <a:solidFill>
                  <a:srgbClr val="0070C0"/>
                </a:solidFill>
                <a:latin typeface="Calibri"/>
                <a:ea typeface="Calibri"/>
                <a:cs typeface="Calibri"/>
                <a:sym typeface="Calibri"/>
              </a:rPr>
              <a:t>attachment ambiguity</a:t>
            </a:r>
            <a:endParaRPr sz="2800" b="0" i="0" u="none" strike="noStrike" cap="none" dirty="0">
              <a:solidFill>
                <a:srgbClr val="0070C0"/>
              </a:solidFill>
              <a:latin typeface="Calibri"/>
              <a:ea typeface="Calibri"/>
              <a:cs typeface="Calibri"/>
              <a:sym typeface="Calibri"/>
            </a:endParaRPr>
          </a:p>
          <a:p>
            <a:pPr marL="314960" marR="0" lvl="1" indent="-203200" algn="just" rtl="0">
              <a:lnSpc>
                <a:spcPct val="100000"/>
              </a:lnSpc>
              <a:spcBef>
                <a:spcPts val="600"/>
              </a:spcBef>
              <a:spcAft>
                <a:spcPts val="0"/>
              </a:spcAft>
              <a:buClr>
                <a:srgbClr val="0070C0"/>
              </a:buClr>
              <a:buSzPts val="3200"/>
              <a:buFont typeface="Calibri"/>
              <a:buChar char="-"/>
            </a:pPr>
            <a:r>
              <a:rPr lang="en-US" sz="2800" b="0" i="0" u="none" strike="noStrike" cap="none" dirty="0">
                <a:solidFill>
                  <a:srgbClr val="0070C0"/>
                </a:solidFill>
                <a:latin typeface="Calibri"/>
                <a:ea typeface="Calibri"/>
                <a:cs typeface="Calibri"/>
                <a:sym typeface="Calibri"/>
              </a:rPr>
              <a:t>coordination ambiguity</a:t>
            </a:r>
            <a:endParaRPr sz="2800" b="0" i="0" u="none" strike="noStrike" cap="none" dirty="0">
              <a:solidFill>
                <a:srgbClr val="0070C0"/>
              </a:solidFill>
              <a:latin typeface="Calibri"/>
              <a:ea typeface="Calibri"/>
              <a:cs typeface="Calibri"/>
              <a:sym typeface="Calibri"/>
            </a:endParaRPr>
          </a:p>
        </p:txBody>
      </p:sp>
      <p:sp>
        <p:nvSpPr>
          <p:cNvPr id="887" name="Google Shape;887;p78"/>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84</a:t>
            </a:fld>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Shape 891"/>
        <p:cNvGrpSpPr/>
        <p:nvPr/>
      </p:nvGrpSpPr>
      <p:grpSpPr>
        <a:xfrm>
          <a:off x="0" y="0"/>
          <a:ext cx="0" cy="0"/>
          <a:chOff x="0" y="0"/>
          <a:chExt cx="0" cy="0"/>
        </a:xfrm>
      </p:grpSpPr>
      <p:sp>
        <p:nvSpPr>
          <p:cNvPr id="892" name="Google Shape;892;p79"/>
          <p:cNvSpPr txBox="1">
            <a:spLocks noGrp="1"/>
          </p:cNvSpPr>
          <p:nvPr>
            <p:ph type="title"/>
          </p:nvPr>
        </p:nvSpPr>
        <p:spPr>
          <a:xfrm>
            <a:off x="517635" y="557048"/>
            <a:ext cx="7162800" cy="62837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000" dirty="0">
                <a:solidFill>
                  <a:srgbClr val="0070C0"/>
                </a:solidFill>
              </a:rPr>
              <a:t>Attachment ambiguity</a:t>
            </a:r>
            <a:endParaRPr dirty="0"/>
          </a:p>
        </p:txBody>
      </p:sp>
      <p:sp>
        <p:nvSpPr>
          <p:cNvPr id="893" name="Google Shape;893;p79"/>
          <p:cNvSpPr txBox="1"/>
          <p:nvPr/>
        </p:nvSpPr>
        <p:spPr>
          <a:xfrm>
            <a:off x="517635" y="1939289"/>
            <a:ext cx="8850900" cy="1695321"/>
          </a:xfrm>
          <a:prstGeom prst="rect">
            <a:avLst/>
          </a:prstGeom>
          <a:noFill/>
          <a:ln>
            <a:noFill/>
          </a:ln>
        </p:spPr>
        <p:txBody>
          <a:bodyPr spcFirstLastPara="1" wrap="square" lIns="0" tIns="50150" rIns="0" bIns="0" anchor="t" anchorCtr="0">
            <a:spAutoFit/>
          </a:bodyPr>
          <a:lstStyle/>
          <a:p>
            <a:pPr marL="201295" marR="5080" lvl="0" indent="-203200" algn="just" rtl="0">
              <a:lnSpc>
                <a:spcPct val="78125"/>
              </a:lnSpc>
              <a:spcBef>
                <a:spcPts val="0"/>
              </a:spcBef>
              <a:spcAft>
                <a:spcPts val="0"/>
              </a:spcAft>
              <a:buClr>
                <a:schemeClr val="dk1"/>
              </a:buClr>
              <a:buSzPts val="3200"/>
              <a:buFont typeface="Arial"/>
              <a:buChar char="•"/>
            </a:pPr>
            <a:r>
              <a:rPr lang="en-US" sz="3200" dirty="0">
                <a:solidFill>
                  <a:schemeClr val="dk1"/>
                </a:solidFill>
                <a:latin typeface="Calibri"/>
                <a:ea typeface="Calibri"/>
                <a:cs typeface="Calibri"/>
                <a:sym typeface="Calibri"/>
              </a:rPr>
              <a:t>This ambiguity exists if a particular constituent can be attached to the parse  tree at more than one places.</a:t>
            </a:r>
            <a:endParaRPr sz="3200" dirty="0">
              <a:solidFill>
                <a:schemeClr val="dk1"/>
              </a:solidFill>
              <a:latin typeface="Calibri"/>
              <a:ea typeface="Calibri"/>
              <a:cs typeface="Calibri"/>
              <a:sym typeface="Calibri"/>
            </a:endParaRPr>
          </a:p>
          <a:p>
            <a:pPr marL="13334" marR="0" lvl="0" indent="0" algn="just" rtl="0">
              <a:lnSpc>
                <a:spcPct val="100000"/>
              </a:lnSpc>
              <a:spcBef>
                <a:spcPts val="0"/>
              </a:spcBef>
              <a:spcAft>
                <a:spcPts val="0"/>
              </a:spcAft>
              <a:buNone/>
            </a:pPr>
            <a:r>
              <a:rPr lang="en-US" sz="3200" dirty="0" smtClean="0">
                <a:solidFill>
                  <a:schemeClr val="dk1"/>
                </a:solidFill>
                <a:latin typeface="Calibri"/>
                <a:ea typeface="Calibri"/>
                <a:cs typeface="Calibri"/>
                <a:sym typeface="Calibri"/>
              </a:rPr>
              <a:t>Ex</a:t>
            </a:r>
            <a:r>
              <a:rPr lang="en-US" sz="3200" dirty="0">
                <a:solidFill>
                  <a:schemeClr val="dk1"/>
                </a:solidFill>
                <a:latin typeface="Calibri"/>
                <a:ea typeface="Calibri"/>
                <a:cs typeface="Calibri"/>
                <a:sym typeface="Calibri"/>
              </a:rPr>
              <a:t>. I saw the man with a telescope.</a:t>
            </a:r>
            <a:endParaRPr sz="3200" dirty="0">
              <a:solidFill>
                <a:schemeClr val="dk1"/>
              </a:solidFill>
              <a:latin typeface="Calibri"/>
              <a:ea typeface="Calibri"/>
              <a:cs typeface="Calibri"/>
              <a:sym typeface="Calibri"/>
            </a:endParaRPr>
          </a:p>
        </p:txBody>
      </p:sp>
      <p:sp>
        <p:nvSpPr>
          <p:cNvPr id="894" name="Google Shape;894;p79"/>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85</a:t>
            </a:fld>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Shape 898"/>
        <p:cNvGrpSpPr/>
        <p:nvPr/>
      </p:nvGrpSpPr>
      <p:grpSpPr>
        <a:xfrm>
          <a:off x="0" y="0"/>
          <a:ext cx="0" cy="0"/>
          <a:chOff x="0" y="0"/>
          <a:chExt cx="0" cy="0"/>
        </a:xfrm>
      </p:grpSpPr>
      <p:sp>
        <p:nvSpPr>
          <p:cNvPr id="899" name="Google Shape;899;p80"/>
          <p:cNvSpPr txBox="1"/>
          <p:nvPr/>
        </p:nvSpPr>
        <p:spPr>
          <a:xfrm>
            <a:off x="450850" y="609600"/>
            <a:ext cx="7931150" cy="505267"/>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3200">
                <a:solidFill>
                  <a:schemeClr val="dk1"/>
                </a:solidFill>
                <a:latin typeface="Calibri"/>
                <a:ea typeface="Calibri"/>
                <a:cs typeface="Calibri"/>
                <a:sym typeface="Calibri"/>
              </a:rPr>
              <a:t>One of the possible parse trees</a:t>
            </a:r>
            <a:endParaRPr sz="3200">
              <a:solidFill>
                <a:schemeClr val="dk1"/>
              </a:solidFill>
              <a:latin typeface="Calibri"/>
              <a:ea typeface="Calibri"/>
              <a:cs typeface="Calibri"/>
              <a:sym typeface="Calibri"/>
            </a:endParaRPr>
          </a:p>
        </p:txBody>
      </p:sp>
      <p:pic>
        <p:nvPicPr>
          <p:cNvPr id="900" name="Google Shape;900;p80"/>
          <p:cNvPicPr preferRelativeResize="0"/>
          <p:nvPr/>
        </p:nvPicPr>
        <p:blipFill rotWithShape="1">
          <a:blip r:embed="rId3">
            <a:alphaModFix/>
          </a:blip>
          <a:srcRect/>
          <a:stretch/>
        </p:blipFill>
        <p:spPr>
          <a:xfrm>
            <a:off x="495801" y="1524000"/>
            <a:ext cx="8845550" cy="5943600"/>
          </a:xfrm>
          <a:prstGeom prst="rect">
            <a:avLst/>
          </a:prstGeom>
          <a:noFill/>
          <a:ln>
            <a:noFill/>
          </a:ln>
        </p:spPr>
      </p:pic>
      <p:sp>
        <p:nvSpPr>
          <p:cNvPr id="901" name="Google Shape;901;p80"/>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86</a:t>
            </a:fld>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Shape 905"/>
        <p:cNvGrpSpPr/>
        <p:nvPr/>
      </p:nvGrpSpPr>
      <p:grpSpPr>
        <a:xfrm>
          <a:off x="0" y="0"/>
          <a:ext cx="0" cy="0"/>
          <a:chOff x="0" y="0"/>
          <a:chExt cx="0" cy="0"/>
        </a:xfrm>
      </p:grpSpPr>
      <p:sp>
        <p:nvSpPr>
          <p:cNvPr id="906" name="Google Shape;906;p81"/>
          <p:cNvSpPr txBox="1">
            <a:spLocks noGrp="1"/>
          </p:cNvSpPr>
          <p:nvPr>
            <p:ph type="title"/>
          </p:nvPr>
        </p:nvSpPr>
        <p:spPr>
          <a:xfrm>
            <a:off x="533400" y="685800"/>
            <a:ext cx="8001000" cy="62837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000">
                <a:solidFill>
                  <a:srgbClr val="0070C0"/>
                </a:solidFill>
              </a:rPr>
              <a:t>Attachment ambiguity</a:t>
            </a:r>
            <a:endParaRPr/>
          </a:p>
        </p:txBody>
      </p:sp>
      <p:sp>
        <p:nvSpPr>
          <p:cNvPr id="907" name="Google Shape;907;p81"/>
          <p:cNvSpPr txBox="1"/>
          <p:nvPr/>
        </p:nvSpPr>
        <p:spPr>
          <a:xfrm>
            <a:off x="209295" y="1939289"/>
            <a:ext cx="9159240" cy="2323585"/>
          </a:xfrm>
          <a:prstGeom prst="rect">
            <a:avLst/>
          </a:prstGeom>
          <a:noFill/>
          <a:ln>
            <a:noFill/>
          </a:ln>
        </p:spPr>
        <p:txBody>
          <a:bodyPr spcFirstLastPara="1" wrap="square" lIns="0" tIns="50150" rIns="0" bIns="0" anchor="t" anchorCtr="0">
            <a:spAutoFit/>
          </a:bodyPr>
          <a:lstStyle/>
          <a:p>
            <a:pPr marL="201295" marR="5080" lvl="0" indent="-189230" algn="l" rtl="0">
              <a:lnSpc>
                <a:spcPct val="108695"/>
              </a:lnSpc>
              <a:spcBef>
                <a:spcPts val="0"/>
              </a:spcBef>
              <a:spcAft>
                <a:spcPts val="0"/>
              </a:spcAft>
              <a:buClr>
                <a:schemeClr val="dk1"/>
              </a:buClr>
              <a:buSzPts val="2300"/>
              <a:buFont typeface="Arial"/>
              <a:buChar char="•"/>
            </a:pPr>
            <a:r>
              <a:rPr lang="en-US" sz="2300">
                <a:solidFill>
                  <a:schemeClr val="dk1"/>
                </a:solidFill>
                <a:latin typeface="Calibri"/>
                <a:ea typeface="Calibri"/>
                <a:cs typeface="Calibri"/>
                <a:sym typeface="Calibri"/>
              </a:rPr>
              <a:t>This ambiguity exists if a particular constituent can be attached to the parse  tree at more than one places.</a:t>
            </a:r>
            <a:endParaRPr sz="2300">
              <a:solidFill>
                <a:schemeClr val="dk1"/>
              </a:solidFill>
              <a:latin typeface="Calibri"/>
              <a:ea typeface="Calibri"/>
              <a:cs typeface="Calibri"/>
              <a:sym typeface="Calibri"/>
            </a:endParaRPr>
          </a:p>
          <a:p>
            <a:pPr marL="0" marR="0" lvl="0" indent="0" algn="l" rtl="0">
              <a:lnSpc>
                <a:spcPct val="100000"/>
              </a:lnSpc>
              <a:spcBef>
                <a:spcPts val="50"/>
              </a:spcBef>
              <a:spcAft>
                <a:spcPts val="0"/>
              </a:spcAft>
              <a:buNone/>
            </a:pPr>
            <a:endParaRPr sz="2350">
              <a:solidFill>
                <a:schemeClr val="dk1"/>
              </a:solidFill>
              <a:latin typeface="Calibri"/>
              <a:ea typeface="Calibri"/>
              <a:cs typeface="Calibri"/>
              <a:sym typeface="Calibri"/>
            </a:endParaRPr>
          </a:p>
          <a:p>
            <a:pPr marL="414019" marR="4984750" lvl="0" indent="-401954" algn="l" rtl="0">
              <a:lnSpc>
                <a:spcPct val="120000"/>
              </a:lnSpc>
              <a:spcBef>
                <a:spcPts val="0"/>
              </a:spcBef>
              <a:spcAft>
                <a:spcPts val="0"/>
              </a:spcAft>
              <a:buNone/>
            </a:pPr>
            <a:r>
              <a:rPr lang="en-US" sz="2300">
                <a:solidFill>
                  <a:schemeClr val="dk1"/>
                </a:solidFill>
                <a:latin typeface="Calibri"/>
                <a:ea typeface="Calibri"/>
                <a:cs typeface="Calibri"/>
                <a:sym typeface="Calibri"/>
              </a:rPr>
              <a:t>Ex. </a:t>
            </a:r>
            <a:r>
              <a:rPr lang="en-US" sz="2300" u="sng">
                <a:solidFill>
                  <a:schemeClr val="dk1"/>
                </a:solidFill>
                <a:latin typeface="Calibri"/>
                <a:ea typeface="Calibri"/>
                <a:cs typeface="Calibri"/>
                <a:sym typeface="Calibri"/>
              </a:rPr>
              <a:t>I saw</a:t>
            </a:r>
            <a:r>
              <a:rPr lang="en-US" sz="2300">
                <a:solidFill>
                  <a:schemeClr val="dk1"/>
                </a:solidFill>
                <a:latin typeface="Calibri"/>
                <a:ea typeface="Calibri"/>
                <a:cs typeface="Calibri"/>
                <a:sym typeface="Calibri"/>
              </a:rPr>
              <a:t> the man </a:t>
            </a:r>
            <a:r>
              <a:rPr lang="en-US" sz="2300" u="sng">
                <a:solidFill>
                  <a:schemeClr val="dk1"/>
                </a:solidFill>
                <a:latin typeface="Calibri"/>
                <a:ea typeface="Calibri"/>
                <a:cs typeface="Calibri"/>
                <a:sym typeface="Calibri"/>
              </a:rPr>
              <a:t>with a telescope</a:t>
            </a:r>
            <a:r>
              <a:rPr lang="en-US" sz="2300">
                <a:solidFill>
                  <a:schemeClr val="dk1"/>
                </a:solidFill>
                <a:latin typeface="Calibri"/>
                <a:ea typeface="Calibri"/>
                <a:cs typeface="Calibri"/>
                <a:sym typeface="Calibri"/>
              </a:rPr>
              <a:t>.  I saw </a:t>
            </a:r>
            <a:r>
              <a:rPr lang="en-US" sz="2300" u="sng">
                <a:solidFill>
                  <a:schemeClr val="dk1"/>
                </a:solidFill>
                <a:latin typeface="Calibri"/>
                <a:ea typeface="Calibri"/>
                <a:cs typeface="Calibri"/>
                <a:sym typeface="Calibri"/>
              </a:rPr>
              <a:t>the man with a telescope</a:t>
            </a:r>
            <a:r>
              <a:rPr lang="en-US" sz="2300">
                <a:solidFill>
                  <a:schemeClr val="dk1"/>
                </a:solidFill>
                <a:latin typeface="Calibri"/>
                <a:ea typeface="Calibri"/>
                <a:cs typeface="Calibri"/>
                <a:sym typeface="Calibri"/>
              </a:rPr>
              <a:t>.</a:t>
            </a:r>
            <a:endParaRPr sz="2300">
              <a:solidFill>
                <a:schemeClr val="dk1"/>
              </a:solidFill>
              <a:latin typeface="Calibri"/>
              <a:ea typeface="Calibri"/>
              <a:cs typeface="Calibri"/>
              <a:sym typeface="Calibri"/>
            </a:endParaRPr>
          </a:p>
          <a:p>
            <a:pPr marL="0" marR="0" lvl="0" indent="0" algn="l" rtl="0">
              <a:lnSpc>
                <a:spcPct val="100000"/>
              </a:lnSpc>
              <a:spcBef>
                <a:spcPts val="5"/>
              </a:spcBef>
              <a:spcAft>
                <a:spcPts val="0"/>
              </a:spcAft>
              <a:buNone/>
            </a:pPr>
            <a:endParaRPr sz="2650">
              <a:solidFill>
                <a:schemeClr val="dk1"/>
              </a:solidFill>
              <a:latin typeface="Calibri"/>
              <a:ea typeface="Calibri"/>
              <a:cs typeface="Calibri"/>
              <a:sym typeface="Calibri"/>
            </a:endParaRPr>
          </a:p>
        </p:txBody>
      </p:sp>
      <p:sp>
        <p:nvSpPr>
          <p:cNvPr id="908" name="Google Shape;908;p81"/>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87</a:t>
            </a:fld>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912"/>
        <p:cNvGrpSpPr/>
        <p:nvPr/>
      </p:nvGrpSpPr>
      <p:grpSpPr>
        <a:xfrm>
          <a:off x="0" y="0"/>
          <a:ext cx="0" cy="0"/>
          <a:chOff x="0" y="0"/>
          <a:chExt cx="0" cy="0"/>
        </a:xfrm>
      </p:grpSpPr>
      <p:sp>
        <p:nvSpPr>
          <p:cNvPr id="914" name="Google Shape;914;p82"/>
          <p:cNvSpPr txBox="1">
            <a:spLocks noGrp="1"/>
          </p:cNvSpPr>
          <p:nvPr>
            <p:ph type="body" idx="1"/>
          </p:nvPr>
        </p:nvSpPr>
        <p:spPr>
          <a:xfrm>
            <a:off x="203368" y="762091"/>
            <a:ext cx="9565132" cy="5878532"/>
          </a:xfrm>
          <a:prstGeom prst="rect">
            <a:avLst/>
          </a:prstGeom>
          <a:noFill/>
          <a:ln>
            <a:noFill/>
          </a:ln>
        </p:spPr>
        <p:txBody>
          <a:bodyPr spcFirstLastPara="1" wrap="square" lIns="0" tIns="0" rIns="0" bIns="0" anchor="t" anchorCtr="0">
            <a:spAutoFit/>
          </a:bodyPr>
          <a:lstStyle/>
          <a:p>
            <a:pPr marL="0" lvl="0" indent="0" algn="just" rtl="0">
              <a:spcBef>
                <a:spcPts val="0"/>
              </a:spcBef>
              <a:spcAft>
                <a:spcPts val="0"/>
              </a:spcAft>
              <a:buNone/>
            </a:pPr>
            <a:r>
              <a:rPr lang="en-US" sz="2400" dirty="0">
                <a:latin typeface="Times New Roman"/>
                <a:ea typeface="Times New Roman"/>
                <a:cs typeface="Times New Roman"/>
                <a:sym typeface="Times New Roman"/>
              </a:rPr>
              <a:t>“</a:t>
            </a:r>
            <a:r>
              <a:rPr lang="en-US" sz="2400" b="1" i="1" dirty="0" err="1">
                <a:solidFill>
                  <a:srgbClr val="0070C0"/>
                </a:solidFill>
                <a:latin typeface="Times New Roman"/>
                <a:ea typeface="Times New Roman"/>
                <a:cs typeface="Times New Roman"/>
                <a:sym typeface="Times New Roman"/>
              </a:rPr>
              <a:t>Guna</a:t>
            </a:r>
            <a:r>
              <a:rPr lang="en-US" sz="2400" b="1" i="1" dirty="0">
                <a:solidFill>
                  <a:srgbClr val="0070C0"/>
                </a:solidFill>
                <a:latin typeface="Times New Roman"/>
                <a:ea typeface="Times New Roman"/>
                <a:cs typeface="Times New Roman"/>
                <a:sym typeface="Times New Roman"/>
              </a:rPr>
              <a:t> ate an ice cream with fruits from Chennai</a:t>
            </a:r>
            <a:r>
              <a:rPr lang="en-US" sz="2400" dirty="0">
                <a:latin typeface="Times New Roman"/>
                <a:ea typeface="Times New Roman"/>
                <a:cs typeface="Times New Roman"/>
                <a:sym typeface="Times New Roman"/>
              </a:rPr>
              <a:t>”</a:t>
            </a:r>
            <a:endParaRPr sz="2400" dirty="0"/>
          </a:p>
          <a:p>
            <a:pPr marL="0" lvl="0" indent="0" algn="just" rtl="0">
              <a:spcBef>
                <a:spcPts val="0"/>
              </a:spcBef>
              <a:spcAft>
                <a:spcPts val="0"/>
              </a:spcAft>
              <a:buNone/>
            </a:pPr>
            <a:r>
              <a:rPr lang="en-US" sz="2400" dirty="0">
                <a:latin typeface="Times New Roman"/>
                <a:ea typeface="Times New Roman"/>
                <a:cs typeface="Times New Roman"/>
                <a:sym typeface="Times New Roman"/>
              </a:rPr>
              <a:t>In this sentence, we have two prepositional phrases “</a:t>
            </a:r>
            <a:r>
              <a:rPr lang="en-US" sz="2400" b="1" i="1" dirty="0">
                <a:latin typeface="Times New Roman"/>
                <a:ea typeface="Times New Roman"/>
                <a:cs typeface="Times New Roman"/>
                <a:sym typeface="Times New Roman"/>
              </a:rPr>
              <a:t>with fruits</a:t>
            </a:r>
            <a:r>
              <a:rPr lang="en-US" sz="2400" dirty="0">
                <a:latin typeface="Times New Roman"/>
                <a:ea typeface="Times New Roman"/>
                <a:cs typeface="Times New Roman"/>
                <a:sym typeface="Times New Roman"/>
              </a:rPr>
              <a:t>” and “</a:t>
            </a:r>
            <a:r>
              <a:rPr lang="en-US" sz="2400" b="1" i="1" dirty="0">
                <a:latin typeface="Times New Roman"/>
                <a:ea typeface="Times New Roman"/>
                <a:cs typeface="Times New Roman"/>
                <a:sym typeface="Times New Roman"/>
              </a:rPr>
              <a:t>from Chennai</a:t>
            </a:r>
            <a:r>
              <a:rPr lang="en-US" sz="2400" dirty="0">
                <a:latin typeface="Times New Roman"/>
                <a:ea typeface="Times New Roman"/>
                <a:cs typeface="Times New Roman"/>
                <a:sym typeface="Times New Roman"/>
              </a:rPr>
              <a:t>”. </a:t>
            </a:r>
            <a:endParaRPr lang="en-US" sz="2400" dirty="0" smtClean="0">
              <a:latin typeface="Times New Roman"/>
              <a:ea typeface="Times New Roman"/>
              <a:cs typeface="Times New Roman"/>
              <a:sym typeface="Times New Roman"/>
            </a:endParaRPr>
          </a:p>
          <a:p>
            <a:pPr marL="0" lvl="0" indent="0" algn="just" rtl="0">
              <a:spcBef>
                <a:spcPts val="0"/>
              </a:spcBef>
              <a:spcAft>
                <a:spcPts val="0"/>
              </a:spcAft>
              <a:buNone/>
            </a:pPr>
            <a:endParaRPr sz="2400" dirty="0"/>
          </a:p>
          <a:p>
            <a:pPr marL="0" lvl="0" indent="0" algn="just" rtl="0">
              <a:spcBef>
                <a:spcPts val="0"/>
              </a:spcBef>
              <a:spcAft>
                <a:spcPts val="0"/>
              </a:spcAft>
              <a:buNone/>
            </a:pPr>
            <a:r>
              <a:rPr lang="en-US" sz="2400" dirty="0">
                <a:latin typeface="Times New Roman"/>
                <a:ea typeface="Times New Roman"/>
                <a:cs typeface="Times New Roman"/>
                <a:sym typeface="Times New Roman"/>
              </a:rPr>
              <a:t>Here the possible meanings are as follows;</a:t>
            </a:r>
            <a:endParaRPr sz="2400" dirty="0"/>
          </a:p>
          <a:p>
            <a:pPr marL="0" lvl="0" indent="0" algn="just" rtl="0">
              <a:spcBef>
                <a:spcPts val="0"/>
              </a:spcBef>
              <a:spcAft>
                <a:spcPts val="0"/>
              </a:spcAft>
              <a:buNone/>
            </a:pPr>
            <a:r>
              <a:rPr lang="en-US" sz="2400" dirty="0">
                <a:latin typeface="Times New Roman"/>
                <a:ea typeface="Times New Roman"/>
                <a:cs typeface="Times New Roman"/>
                <a:sym typeface="Times New Roman"/>
              </a:rPr>
              <a:t>1. </a:t>
            </a:r>
            <a:r>
              <a:rPr lang="en-US" sz="2400" dirty="0" err="1">
                <a:latin typeface="Times New Roman"/>
                <a:ea typeface="Times New Roman"/>
                <a:cs typeface="Times New Roman"/>
                <a:sym typeface="Times New Roman"/>
              </a:rPr>
              <a:t>Guna</a:t>
            </a:r>
            <a:r>
              <a:rPr lang="en-US" sz="2400" dirty="0">
                <a:latin typeface="Times New Roman"/>
                <a:ea typeface="Times New Roman"/>
                <a:cs typeface="Times New Roman"/>
                <a:sym typeface="Times New Roman"/>
              </a:rPr>
              <a:t> who is from Chennai ate an ice cream filled with fruits.</a:t>
            </a:r>
            <a:endParaRPr sz="2400" dirty="0"/>
          </a:p>
          <a:p>
            <a:pPr marL="0" lvl="0" indent="0" algn="just" rtl="0">
              <a:spcBef>
                <a:spcPts val="0"/>
              </a:spcBef>
              <a:spcAft>
                <a:spcPts val="0"/>
              </a:spcAft>
              <a:buNone/>
            </a:pPr>
            <a:r>
              <a:rPr lang="en-US" sz="2400" dirty="0">
                <a:latin typeface="Times New Roman"/>
                <a:ea typeface="Times New Roman"/>
                <a:cs typeface="Times New Roman"/>
                <a:sym typeface="Times New Roman"/>
              </a:rPr>
              <a:t>2.Guna ate an ice cream filled with fruits and the ice cream is brought from Chennai.</a:t>
            </a:r>
            <a:endParaRPr sz="2400" dirty="0"/>
          </a:p>
          <a:p>
            <a:pPr marL="0" lvl="0" indent="0" algn="just" rtl="0">
              <a:spcBef>
                <a:spcPts val="0"/>
              </a:spcBef>
              <a:spcAft>
                <a:spcPts val="0"/>
              </a:spcAft>
              <a:buNone/>
            </a:pPr>
            <a:r>
              <a:rPr lang="en-US" sz="2400" dirty="0">
                <a:latin typeface="Times New Roman"/>
                <a:ea typeface="Times New Roman"/>
                <a:cs typeface="Times New Roman"/>
                <a:sym typeface="Times New Roman"/>
              </a:rPr>
              <a:t>3.Guna who is from Chennai ate the ice cream with the help of fruits.</a:t>
            </a:r>
            <a:endParaRPr sz="2400" dirty="0"/>
          </a:p>
          <a:p>
            <a:pPr marL="0" lvl="0" indent="0" algn="just" rtl="0">
              <a:spcBef>
                <a:spcPts val="0"/>
              </a:spcBef>
              <a:spcAft>
                <a:spcPts val="0"/>
              </a:spcAft>
              <a:buNone/>
            </a:pPr>
            <a:r>
              <a:rPr lang="en-US" sz="2400" dirty="0">
                <a:latin typeface="Times New Roman"/>
                <a:ea typeface="Times New Roman"/>
                <a:cs typeface="Times New Roman"/>
                <a:sym typeface="Times New Roman"/>
              </a:rPr>
              <a:t>4. </a:t>
            </a:r>
            <a:r>
              <a:rPr lang="en-US" sz="2400" dirty="0" err="1">
                <a:latin typeface="Times New Roman"/>
                <a:ea typeface="Times New Roman"/>
                <a:cs typeface="Times New Roman"/>
                <a:sym typeface="Times New Roman"/>
              </a:rPr>
              <a:t>Guna</a:t>
            </a:r>
            <a:r>
              <a:rPr lang="en-US" sz="2400" dirty="0">
                <a:latin typeface="Times New Roman"/>
                <a:ea typeface="Times New Roman"/>
                <a:cs typeface="Times New Roman"/>
                <a:sym typeface="Times New Roman"/>
              </a:rPr>
              <a:t> with the help of fruits ate the ice cream which is brought from Chennai</a:t>
            </a:r>
            <a:endParaRPr sz="2400" dirty="0"/>
          </a:p>
          <a:p>
            <a:pPr marL="0" lvl="0" indent="0" algn="just" rtl="0">
              <a:spcBef>
                <a:spcPts val="0"/>
              </a:spcBef>
              <a:spcAft>
                <a:spcPts val="0"/>
              </a:spcAft>
              <a:buNone/>
            </a:pPr>
            <a:endParaRPr sz="2400" dirty="0">
              <a:latin typeface="Times New Roman"/>
              <a:ea typeface="Times New Roman"/>
              <a:cs typeface="Times New Roman"/>
              <a:sym typeface="Times New Roman"/>
            </a:endParaRPr>
          </a:p>
          <a:p>
            <a:pPr marL="0" lvl="0" indent="0" algn="just" rtl="0">
              <a:spcBef>
                <a:spcPts val="0"/>
              </a:spcBef>
              <a:spcAft>
                <a:spcPts val="0"/>
              </a:spcAft>
              <a:buNone/>
            </a:pPr>
            <a:r>
              <a:rPr lang="en-US" sz="2400" dirty="0">
                <a:latin typeface="Times New Roman"/>
                <a:ea typeface="Times New Roman"/>
                <a:cs typeface="Times New Roman"/>
                <a:sym typeface="Times New Roman"/>
              </a:rPr>
              <a:t>Here we got four possibilities due to two prepositional phrases. Each one arises from how we attach the prepositional phrases “</a:t>
            </a:r>
            <a:r>
              <a:rPr lang="en-US" sz="2400" b="1" i="1" dirty="0">
                <a:latin typeface="Times New Roman"/>
                <a:ea typeface="Times New Roman"/>
                <a:cs typeface="Times New Roman"/>
                <a:sym typeface="Times New Roman"/>
              </a:rPr>
              <a:t>with fruits</a:t>
            </a:r>
            <a:r>
              <a:rPr lang="en-US" sz="2400" dirty="0">
                <a:latin typeface="Times New Roman"/>
                <a:ea typeface="Times New Roman"/>
                <a:cs typeface="Times New Roman"/>
                <a:sym typeface="Times New Roman"/>
              </a:rPr>
              <a:t>” and “</a:t>
            </a:r>
            <a:r>
              <a:rPr lang="en-US" sz="2400" b="1" i="1" dirty="0">
                <a:latin typeface="Times New Roman"/>
                <a:ea typeface="Times New Roman"/>
                <a:cs typeface="Times New Roman"/>
                <a:sym typeface="Times New Roman"/>
              </a:rPr>
              <a:t>from Chennai</a:t>
            </a:r>
            <a:r>
              <a:rPr lang="en-US" sz="2400" dirty="0">
                <a:latin typeface="Times New Roman"/>
                <a:ea typeface="Times New Roman"/>
                <a:cs typeface="Times New Roman"/>
                <a:sym typeface="Times New Roman"/>
              </a:rPr>
              <a:t>” to either “</a:t>
            </a:r>
            <a:r>
              <a:rPr lang="en-US" sz="2400" b="1" i="1" dirty="0" err="1">
                <a:latin typeface="Times New Roman"/>
                <a:ea typeface="Times New Roman"/>
                <a:cs typeface="Times New Roman"/>
                <a:sym typeface="Times New Roman"/>
              </a:rPr>
              <a:t>Guna</a:t>
            </a:r>
            <a:r>
              <a:rPr lang="en-US" sz="2400" dirty="0">
                <a:latin typeface="Times New Roman"/>
                <a:ea typeface="Times New Roman"/>
                <a:cs typeface="Times New Roman"/>
                <a:sym typeface="Times New Roman"/>
              </a:rPr>
              <a:t>” or the “</a:t>
            </a:r>
            <a:r>
              <a:rPr lang="en-US" sz="2400" b="1" i="1" dirty="0">
                <a:latin typeface="Times New Roman"/>
                <a:ea typeface="Times New Roman"/>
                <a:cs typeface="Times New Roman"/>
                <a:sym typeface="Times New Roman"/>
              </a:rPr>
              <a:t>ice cream</a:t>
            </a:r>
            <a:r>
              <a:rPr lang="en-US" sz="2400" dirty="0">
                <a:latin typeface="Times New Roman"/>
                <a:ea typeface="Times New Roman"/>
                <a:cs typeface="Times New Roman"/>
                <a:sym typeface="Times New Roman"/>
              </a:rPr>
              <a:t>”.</a:t>
            </a:r>
            <a:endParaRPr sz="2400" dirty="0"/>
          </a:p>
          <a:p>
            <a:pPr marL="0" lvl="0" indent="0" algn="just" rtl="0">
              <a:spcBef>
                <a:spcPts val="0"/>
              </a:spcBef>
              <a:spcAft>
                <a:spcPts val="0"/>
              </a:spcAft>
              <a:buNone/>
            </a:pPr>
            <a:endParaRPr sz="2400" dirty="0">
              <a:latin typeface="Times New Roman"/>
              <a:ea typeface="Times New Roman"/>
              <a:cs typeface="Times New Roman"/>
              <a:sym typeface="Times New Roman"/>
            </a:endParaRPr>
          </a:p>
        </p:txBody>
      </p:sp>
      <p:sp>
        <p:nvSpPr>
          <p:cNvPr id="915" name="Google Shape;915;p82"/>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88</a:t>
            </a:fld>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919"/>
        <p:cNvGrpSpPr/>
        <p:nvPr/>
      </p:nvGrpSpPr>
      <p:grpSpPr>
        <a:xfrm>
          <a:off x="0" y="0"/>
          <a:ext cx="0" cy="0"/>
          <a:chOff x="0" y="0"/>
          <a:chExt cx="0" cy="0"/>
        </a:xfrm>
      </p:grpSpPr>
      <p:sp>
        <p:nvSpPr>
          <p:cNvPr id="921" name="Google Shape;921;p83"/>
          <p:cNvSpPr txBox="1">
            <a:spLocks noGrp="1"/>
          </p:cNvSpPr>
          <p:nvPr>
            <p:ph type="body" idx="1"/>
          </p:nvPr>
        </p:nvSpPr>
        <p:spPr>
          <a:xfrm>
            <a:off x="314452" y="2009140"/>
            <a:ext cx="9031605" cy="1969770"/>
          </a:xfrm>
          <a:prstGeom prst="rect">
            <a:avLst/>
          </a:prstGeom>
          <a:noFill/>
          <a:ln>
            <a:noFill/>
          </a:ln>
        </p:spPr>
        <p:txBody>
          <a:bodyPr spcFirstLastPara="1" wrap="square" lIns="0" tIns="0" rIns="0" bIns="0" anchor="t" anchorCtr="0">
            <a:spAutoFit/>
          </a:bodyPr>
          <a:lstStyle/>
          <a:p>
            <a:pPr marL="0" lvl="0" indent="0" algn="just" rtl="0">
              <a:spcBef>
                <a:spcPts val="0"/>
              </a:spcBef>
              <a:spcAft>
                <a:spcPts val="0"/>
              </a:spcAft>
              <a:buNone/>
            </a:pPr>
            <a:r>
              <a:rPr lang="en-US" sz="3200"/>
              <a:t>I saw </a:t>
            </a:r>
            <a:r>
              <a:rPr lang="en-US" sz="3200" u="sng"/>
              <a:t>the man on the hill</a:t>
            </a:r>
            <a:r>
              <a:rPr lang="en-US" sz="3200"/>
              <a:t> with a telescope.</a:t>
            </a:r>
            <a:endParaRPr/>
          </a:p>
          <a:p>
            <a:pPr marL="0" lvl="0" indent="0" algn="just" rtl="0">
              <a:spcBef>
                <a:spcPts val="0"/>
              </a:spcBef>
              <a:spcAft>
                <a:spcPts val="0"/>
              </a:spcAft>
              <a:buNone/>
            </a:pPr>
            <a:r>
              <a:rPr lang="en-US" sz="3200"/>
              <a:t>I saw </a:t>
            </a:r>
            <a:r>
              <a:rPr lang="en-US" sz="3200" u="sng"/>
              <a:t>the man on the hill with a telescope. </a:t>
            </a:r>
            <a:r>
              <a:rPr lang="en-US" sz="3200"/>
              <a:t> </a:t>
            </a:r>
            <a:endParaRPr/>
          </a:p>
          <a:p>
            <a:pPr marL="0" lvl="0" indent="0" algn="just" rtl="0">
              <a:spcBef>
                <a:spcPts val="0"/>
              </a:spcBef>
              <a:spcAft>
                <a:spcPts val="0"/>
              </a:spcAft>
              <a:buNone/>
            </a:pPr>
            <a:r>
              <a:rPr lang="en-US" sz="3200"/>
              <a:t>I saw </a:t>
            </a:r>
            <a:r>
              <a:rPr lang="en-US" sz="3200" u="sng"/>
              <a:t>the man</a:t>
            </a:r>
            <a:r>
              <a:rPr lang="en-US" sz="3200"/>
              <a:t> on the hill with a telescope</a:t>
            </a:r>
            <a:endParaRPr sz="3200"/>
          </a:p>
          <a:p>
            <a:pPr marL="0" lvl="0" indent="0" algn="l" rtl="0">
              <a:spcBef>
                <a:spcPts val="0"/>
              </a:spcBef>
              <a:spcAft>
                <a:spcPts val="0"/>
              </a:spcAft>
              <a:buNone/>
            </a:pPr>
            <a:endParaRPr sz="3200"/>
          </a:p>
        </p:txBody>
      </p:sp>
      <p:sp>
        <p:nvSpPr>
          <p:cNvPr id="922" name="Google Shape;922;p83"/>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89</a:t>
            </a:fld>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926"/>
        <p:cNvGrpSpPr/>
        <p:nvPr/>
      </p:nvGrpSpPr>
      <p:grpSpPr>
        <a:xfrm>
          <a:off x="0" y="0"/>
          <a:ext cx="0" cy="0"/>
          <a:chOff x="0" y="0"/>
          <a:chExt cx="0" cy="0"/>
        </a:xfrm>
      </p:grpSpPr>
      <p:sp>
        <p:nvSpPr>
          <p:cNvPr id="927" name="Google Shape;927;p84"/>
          <p:cNvSpPr txBox="1">
            <a:spLocks noGrp="1"/>
          </p:cNvSpPr>
          <p:nvPr>
            <p:ph type="title"/>
          </p:nvPr>
        </p:nvSpPr>
        <p:spPr>
          <a:xfrm>
            <a:off x="246634" y="1204722"/>
            <a:ext cx="8375015" cy="429894"/>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endParaRPr/>
          </a:p>
        </p:txBody>
      </p:sp>
      <p:sp>
        <p:nvSpPr>
          <p:cNvPr id="928" name="Google Shape;928;p84"/>
          <p:cNvSpPr txBox="1">
            <a:spLocks noGrp="1"/>
          </p:cNvSpPr>
          <p:nvPr>
            <p:ph type="body" idx="1"/>
          </p:nvPr>
        </p:nvSpPr>
        <p:spPr>
          <a:xfrm>
            <a:off x="314452" y="2009140"/>
            <a:ext cx="9031605" cy="1661993"/>
          </a:xfrm>
          <a:prstGeom prst="rect">
            <a:avLst/>
          </a:prstGeom>
          <a:noFill/>
          <a:ln>
            <a:noFill/>
          </a:ln>
        </p:spPr>
        <p:txBody>
          <a:bodyPr spcFirstLastPara="1" wrap="square" lIns="0" tIns="0" rIns="0" bIns="0" anchor="t" anchorCtr="0">
            <a:spAutoFit/>
          </a:bodyPr>
          <a:lstStyle/>
          <a:p>
            <a:pPr marL="0" lvl="0" indent="0" algn="just" rtl="0">
              <a:spcBef>
                <a:spcPts val="0"/>
              </a:spcBef>
              <a:spcAft>
                <a:spcPts val="0"/>
              </a:spcAft>
              <a:buNone/>
            </a:pPr>
            <a:r>
              <a:rPr lang="en-US" sz="3600">
                <a:latin typeface="Times New Roman"/>
                <a:ea typeface="Times New Roman"/>
                <a:cs typeface="Times New Roman"/>
                <a:sym typeface="Times New Roman"/>
              </a:rPr>
              <a:t>Attachment ambiguity arises from </a:t>
            </a:r>
            <a:r>
              <a:rPr lang="en-US" sz="3600" b="1">
                <a:solidFill>
                  <a:srgbClr val="FF0000"/>
                </a:solidFill>
                <a:latin typeface="Times New Roman"/>
                <a:ea typeface="Times New Roman"/>
                <a:cs typeface="Times New Roman"/>
                <a:sym typeface="Times New Roman"/>
              </a:rPr>
              <a:t>uncertainty</a:t>
            </a:r>
            <a:r>
              <a:rPr lang="en-US" sz="3600" b="1">
                <a:latin typeface="Times New Roman"/>
                <a:ea typeface="Times New Roman"/>
                <a:cs typeface="Times New Roman"/>
                <a:sym typeface="Times New Roman"/>
              </a:rPr>
              <a:t> of attaching a phrase or clause to a part of a sentence</a:t>
            </a:r>
            <a:endParaRPr sz="3600">
              <a:latin typeface="Times New Roman"/>
              <a:ea typeface="Times New Roman"/>
              <a:cs typeface="Times New Roman"/>
              <a:sym typeface="Times New Roman"/>
            </a:endParaRPr>
          </a:p>
        </p:txBody>
      </p:sp>
      <p:sp>
        <p:nvSpPr>
          <p:cNvPr id="929" name="Google Shape;929;p84"/>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90</a:t>
            </a:fld>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Shape 933"/>
        <p:cNvGrpSpPr/>
        <p:nvPr/>
      </p:nvGrpSpPr>
      <p:grpSpPr>
        <a:xfrm>
          <a:off x="0" y="0"/>
          <a:ext cx="0" cy="0"/>
          <a:chOff x="0" y="0"/>
          <a:chExt cx="0" cy="0"/>
        </a:xfrm>
      </p:grpSpPr>
      <p:sp>
        <p:nvSpPr>
          <p:cNvPr id="934" name="Google Shape;934;p85"/>
          <p:cNvSpPr txBox="1">
            <a:spLocks noGrp="1"/>
          </p:cNvSpPr>
          <p:nvPr>
            <p:ph type="title"/>
          </p:nvPr>
        </p:nvSpPr>
        <p:spPr>
          <a:xfrm>
            <a:off x="457200" y="381000"/>
            <a:ext cx="7010400" cy="50526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200" b="1">
                <a:solidFill>
                  <a:srgbClr val="0070C0"/>
                </a:solidFill>
              </a:rPr>
              <a:t>Coordination ambiguity</a:t>
            </a:r>
            <a:endParaRPr/>
          </a:p>
        </p:txBody>
      </p:sp>
      <p:sp>
        <p:nvSpPr>
          <p:cNvPr id="935" name="Google Shape;935;p85"/>
          <p:cNvSpPr txBox="1"/>
          <p:nvPr/>
        </p:nvSpPr>
        <p:spPr>
          <a:xfrm>
            <a:off x="228600" y="1676400"/>
            <a:ext cx="9601200" cy="3629199"/>
          </a:xfrm>
          <a:prstGeom prst="rect">
            <a:avLst/>
          </a:prstGeom>
          <a:noFill/>
          <a:ln>
            <a:noFill/>
          </a:ln>
        </p:spPr>
        <p:txBody>
          <a:bodyPr spcFirstLastPara="1" wrap="square" lIns="0" tIns="12700" rIns="0" bIns="0" anchor="t" anchorCtr="0">
            <a:spAutoFit/>
          </a:bodyPr>
          <a:lstStyle/>
          <a:p>
            <a:pPr marL="201295" marR="0" lvl="0" indent="-203200" algn="just" rtl="0">
              <a:lnSpc>
                <a:spcPct val="69375"/>
              </a:lnSpc>
              <a:spcBef>
                <a:spcPts val="0"/>
              </a:spcBef>
              <a:spcAft>
                <a:spcPts val="0"/>
              </a:spcAft>
              <a:buClr>
                <a:schemeClr val="dk1"/>
              </a:buClr>
              <a:buSzPts val="3200"/>
              <a:buFont typeface="Arial"/>
              <a:buChar char="•"/>
            </a:pPr>
            <a:r>
              <a:rPr lang="en-US" sz="3200">
                <a:solidFill>
                  <a:schemeClr val="dk1"/>
                </a:solidFill>
                <a:latin typeface="Times New Roman"/>
                <a:ea typeface="Times New Roman"/>
                <a:cs typeface="Times New Roman"/>
                <a:sym typeface="Times New Roman"/>
              </a:rPr>
              <a:t>This ambiguity exists when different sets of phrases are combined by a conjunction like</a:t>
            </a:r>
            <a:endParaRPr sz="3200">
              <a:solidFill>
                <a:schemeClr val="dk1"/>
              </a:solidFill>
              <a:latin typeface="Times New Roman"/>
              <a:ea typeface="Times New Roman"/>
              <a:cs typeface="Times New Roman"/>
              <a:sym typeface="Times New Roman"/>
            </a:endParaRPr>
          </a:p>
          <a:p>
            <a:pPr marL="201295" marR="0" lvl="0" indent="0" algn="just" rtl="0">
              <a:lnSpc>
                <a:spcPct val="69375"/>
              </a:lnSpc>
              <a:spcBef>
                <a:spcPts val="0"/>
              </a:spcBef>
              <a:spcAft>
                <a:spcPts val="0"/>
              </a:spcAft>
              <a:buNone/>
            </a:pPr>
            <a:r>
              <a:rPr lang="en-US" sz="3200">
                <a:solidFill>
                  <a:schemeClr val="dk1"/>
                </a:solidFill>
                <a:latin typeface="Times New Roman"/>
                <a:ea typeface="Times New Roman"/>
                <a:cs typeface="Times New Roman"/>
                <a:sym typeface="Times New Roman"/>
              </a:rPr>
              <a:t>“and”</a:t>
            </a:r>
            <a:endParaRPr sz="320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endParaRPr sz="3200">
              <a:solidFill>
                <a:schemeClr val="dk1"/>
              </a:solidFill>
              <a:latin typeface="Times New Roman"/>
              <a:ea typeface="Times New Roman"/>
              <a:cs typeface="Times New Roman"/>
              <a:sym typeface="Times New Roman"/>
            </a:endParaRPr>
          </a:p>
          <a:p>
            <a:pPr marL="13334" marR="0" lvl="0" indent="0" algn="just" rtl="0">
              <a:lnSpc>
                <a:spcPct val="100000"/>
              </a:lnSpc>
              <a:spcBef>
                <a:spcPts val="1160"/>
              </a:spcBef>
              <a:spcAft>
                <a:spcPts val="0"/>
              </a:spcAft>
              <a:buNone/>
            </a:pPr>
            <a:r>
              <a:rPr lang="en-US" sz="3200">
                <a:solidFill>
                  <a:schemeClr val="dk1"/>
                </a:solidFill>
                <a:latin typeface="Times New Roman"/>
                <a:ea typeface="Times New Roman"/>
                <a:cs typeface="Times New Roman"/>
                <a:sym typeface="Times New Roman"/>
              </a:rPr>
              <a:t>Ex. Old men and women, young boys and girls</a:t>
            </a:r>
            <a:endParaRPr/>
          </a:p>
          <a:p>
            <a:pPr marL="350520" marR="0" lvl="0" indent="0" algn="just" rtl="0">
              <a:lnSpc>
                <a:spcPct val="100000"/>
              </a:lnSpc>
              <a:spcBef>
                <a:spcPts val="615"/>
              </a:spcBef>
              <a:spcAft>
                <a:spcPts val="0"/>
              </a:spcAft>
              <a:buNone/>
            </a:pPr>
            <a:r>
              <a:rPr lang="en-US" sz="3200">
                <a:solidFill>
                  <a:schemeClr val="dk1"/>
                </a:solidFill>
                <a:latin typeface="Times New Roman"/>
                <a:ea typeface="Times New Roman"/>
                <a:cs typeface="Times New Roman"/>
                <a:sym typeface="Times New Roman"/>
              </a:rPr>
              <a:t> (old men) and (women)</a:t>
            </a:r>
            <a:endParaRPr/>
          </a:p>
          <a:p>
            <a:pPr marL="350520" marR="0" lvl="0" indent="0" algn="just" rtl="0">
              <a:lnSpc>
                <a:spcPct val="100000"/>
              </a:lnSpc>
              <a:spcBef>
                <a:spcPts val="600"/>
              </a:spcBef>
              <a:spcAft>
                <a:spcPts val="0"/>
              </a:spcAft>
              <a:buNone/>
            </a:pPr>
            <a:r>
              <a:rPr lang="en-US" sz="3200">
                <a:solidFill>
                  <a:schemeClr val="dk1"/>
                </a:solidFill>
                <a:latin typeface="Times New Roman"/>
                <a:ea typeface="Times New Roman"/>
                <a:cs typeface="Times New Roman"/>
                <a:sym typeface="Times New Roman"/>
              </a:rPr>
              <a:t> old (men and women)</a:t>
            </a:r>
            <a:endParaRPr/>
          </a:p>
          <a:p>
            <a:pPr marL="0" marR="0" lvl="0" indent="0" algn="just" rtl="0">
              <a:lnSpc>
                <a:spcPct val="100000"/>
              </a:lnSpc>
              <a:spcBef>
                <a:spcPts val="30"/>
              </a:spcBef>
              <a:spcAft>
                <a:spcPts val="0"/>
              </a:spcAft>
              <a:buNone/>
            </a:pPr>
            <a:endParaRPr sz="3200">
              <a:solidFill>
                <a:schemeClr val="dk1"/>
              </a:solidFill>
              <a:latin typeface="Times New Roman"/>
              <a:ea typeface="Times New Roman"/>
              <a:cs typeface="Times New Roman"/>
              <a:sym typeface="Times New Roman"/>
            </a:endParaRPr>
          </a:p>
        </p:txBody>
      </p:sp>
      <p:sp>
        <p:nvSpPr>
          <p:cNvPr id="936" name="Google Shape;936;p85"/>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91</a:t>
            </a:fld>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940"/>
        <p:cNvGrpSpPr/>
        <p:nvPr/>
      </p:nvGrpSpPr>
      <p:grpSpPr>
        <a:xfrm>
          <a:off x="0" y="0"/>
          <a:ext cx="0" cy="0"/>
          <a:chOff x="0" y="0"/>
          <a:chExt cx="0" cy="0"/>
        </a:xfrm>
      </p:grpSpPr>
      <p:sp>
        <p:nvSpPr>
          <p:cNvPr id="941" name="Google Shape;941;p86"/>
          <p:cNvSpPr txBox="1">
            <a:spLocks noGrp="1"/>
          </p:cNvSpPr>
          <p:nvPr>
            <p:ph type="title"/>
          </p:nvPr>
        </p:nvSpPr>
        <p:spPr>
          <a:xfrm>
            <a:off x="246634" y="1204722"/>
            <a:ext cx="8375015" cy="429894"/>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endParaRPr/>
          </a:p>
        </p:txBody>
      </p:sp>
      <p:sp>
        <p:nvSpPr>
          <p:cNvPr id="942" name="Google Shape;942;p86"/>
          <p:cNvSpPr txBox="1">
            <a:spLocks noGrp="1"/>
          </p:cNvSpPr>
          <p:nvPr>
            <p:ph type="body" idx="1"/>
          </p:nvPr>
        </p:nvSpPr>
        <p:spPr>
          <a:xfrm>
            <a:off x="314452" y="2009140"/>
            <a:ext cx="9031605" cy="3447098"/>
          </a:xfrm>
          <a:prstGeom prst="rect">
            <a:avLst/>
          </a:prstGeom>
          <a:noFill/>
          <a:ln>
            <a:noFill/>
          </a:ln>
        </p:spPr>
        <p:txBody>
          <a:bodyPr spcFirstLastPara="1" wrap="square" lIns="0" tIns="0" rIns="0" bIns="0" anchor="t" anchorCtr="0">
            <a:spAutoFit/>
          </a:bodyPr>
          <a:lstStyle/>
          <a:p>
            <a:pPr marL="0" lvl="0" indent="0" algn="just" rtl="0">
              <a:spcBef>
                <a:spcPts val="0"/>
              </a:spcBef>
              <a:spcAft>
                <a:spcPts val="0"/>
              </a:spcAft>
              <a:buNone/>
            </a:pPr>
            <a:r>
              <a:rPr lang="en-US" sz="3200"/>
              <a:t>“</a:t>
            </a:r>
            <a:r>
              <a:rPr lang="en-US" sz="3200">
                <a:solidFill>
                  <a:srgbClr val="0070C0"/>
                </a:solidFill>
              </a:rPr>
              <a:t>delicious cookies and milk</a:t>
            </a:r>
            <a:r>
              <a:rPr lang="en-US" sz="3200"/>
              <a:t>” </a:t>
            </a:r>
            <a:endParaRPr/>
          </a:p>
          <a:p>
            <a:pPr marL="0" lvl="0" indent="0" algn="just" rtl="0">
              <a:spcBef>
                <a:spcPts val="0"/>
              </a:spcBef>
              <a:spcAft>
                <a:spcPts val="0"/>
              </a:spcAft>
              <a:buNone/>
            </a:pPr>
            <a:endParaRPr sz="3200"/>
          </a:p>
          <a:p>
            <a:pPr marL="0" lvl="0" indent="0" algn="just" rtl="0">
              <a:spcBef>
                <a:spcPts val="0"/>
              </a:spcBef>
              <a:spcAft>
                <a:spcPts val="0"/>
              </a:spcAft>
              <a:buNone/>
            </a:pPr>
            <a:endParaRPr sz="3200"/>
          </a:p>
          <a:p>
            <a:pPr marL="0" lvl="0" indent="0" algn="just" rtl="0">
              <a:spcBef>
                <a:spcPts val="0"/>
              </a:spcBef>
              <a:spcAft>
                <a:spcPts val="0"/>
              </a:spcAft>
              <a:buNone/>
            </a:pPr>
            <a:r>
              <a:rPr lang="en-US" sz="3200"/>
              <a:t>could mean </a:t>
            </a:r>
            <a:endParaRPr/>
          </a:p>
          <a:p>
            <a:pPr marL="0" lvl="0" indent="0" algn="just" rtl="0">
              <a:spcBef>
                <a:spcPts val="0"/>
              </a:spcBef>
              <a:spcAft>
                <a:spcPts val="0"/>
              </a:spcAft>
              <a:buNone/>
            </a:pPr>
            <a:r>
              <a:rPr lang="en-US" sz="3200"/>
              <a:t>ⓐ “</a:t>
            </a:r>
            <a:r>
              <a:rPr lang="en-US" sz="3200">
                <a:solidFill>
                  <a:schemeClr val="accent2"/>
                </a:solidFill>
              </a:rPr>
              <a:t>delicious cookies</a:t>
            </a:r>
            <a:r>
              <a:rPr lang="en-US" sz="3200"/>
              <a:t>” + “milk”</a:t>
            </a:r>
            <a:endParaRPr/>
          </a:p>
          <a:p>
            <a:pPr marL="0" lvl="0" indent="0" algn="just" rtl="0">
              <a:spcBef>
                <a:spcPts val="0"/>
              </a:spcBef>
              <a:spcAft>
                <a:spcPts val="0"/>
              </a:spcAft>
              <a:buNone/>
            </a:pPr>
            <a:r>
              <a:rPr lang="en-US" sz="3200"/>
              <a:t>Or</a:t>
            </a:r>
            <a:endParaRPr/>
          </a:p>
          <a:p>
            <a:pPr marL="0" lvl="0" indent="0" algn="just" rtl="0">
              <a:spcBef>
                <a:spcPts val="0"/>
              </a:spcBef>
              <a:spcAft>
                <a:spcPts val="0"/>
              </a:spcAft>
              <a:buNone/>
            </a:pPr>
            <a:r>
              <a:rPr lang="en-US" sz="3200"/>
              <a:t> ⓑ “</a:t>
            </a:r>
            <a:r>
              <a:rPr lang="en-US" sz="3200">
                <a:solidFill>
                  <a:srgbClr val="C00000"/>
                </a:solidFill>
              </a:rPr>
              <a:t>delicious </a:t>
            </a:r>
            <a:r>
              <a:rPr lang="en-US" sz="3200"/>
              <a:t>cookies” + “</a:t>
            </a:r>
            <a:r>
              <a:rPr lang="en-US" sz="3200">
                <a:solidFill>
                  <a:srgbClr val="C00000"/>
                </a:solidFill>
              </a:rPr>
              <a:t>delicious </a:t>
            </a:r>
            <a:r>
              <a:rPr lang="en-US" sz="3200"/>
              <a:t>milk”</a:t>
            </a:r>
            <a:endParaRPr sz="3200"/>
          </a:p>
        </p:txBody>
      </p:sp>
      <p:sp>
        <p:nvSpPr>
          <p:cNvPr id="943" name="Google Shape;943;p86"/>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92</a:t>
            </a:fld>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Shape 947"/>
        <p:cNvGrpSpPr/>
        <p:nvPr/>
      </p:nvGrpSpPr>
      <p:grpSpPr>
        <a:xfrm>
          <a:off x="0" y="0"/>
          <a:ext cx="0" cy="0"/>
          <a:chOff x="0" y="0"/>
          <a:chExt cx="0" cy="0"/>
        </a:xfrm>
      </p:grpSpPr>
      <p:sp>
        <p:nvSpPr>
          <p:cNvPr id="948" name="Google Shape;948;p87"/>
          <p:cNvSpPr txBox="1"/>
          <p:nvPr/>
        </p:nvSpPr>
        <p:spPr>
          <a:xfrm>
            <a:off x="457200" y="381000"/>
            <a:ext cx="9220200" cy="1671676"/>
          </a:xfrm>
          <a:prstGeom prst="rect">
            <a:avLst/>
          </a:prstGeom>
          <a:noFill/>
          <a:ln>
            <a:noFill/>
          </a:ln>
        </p:spPr>
        <p:txBody>
          <a:bodyPr spcFirstLastPara="1" wrap="square" lIns="0" tIns="12700" rIns="0" bIns="0" anchor="t" anchorCtr="0">
            <a:spAutoFit/>
          </a:bodyPr>
          <a:lstStyle/>
          <a:p>
            <a:pPr marL="12700" marR="5080" lvl="0" indent="-167023" algn="l" rtl="0">
              <a:lnSpc>
                <a:spcPct val="131800"/>
              </a:lnSpc>
              <a:spcBef>
                <a:spcPts val="0"/>
              </a:spcBef>
              <a:spcAft>
                <a:spcPts val="0"/>
              </a:spcAft>
              <a:buClr>
                <a:schemeClr val="dk1"/>
              </a:buClr>
              <a:buSzPts val="2630"/>
              <a:buFont typeface="Arial"/>
              <a:buChar char="•"/>
            </a:pPr>
            <a:r>
              <a:rPr lang="en-US" sz="2800">
                <a:solidFill>
                  <a:schemeClr val="dk1"/>
                </a:solidFill>
                <a:latin typeface="Calibri"/>
                <a:ea typeface="Calibri"/>
                <a:cs typeface="Calibri"/>
                <a:sym typeface="Calibri"/>
              </a:rPr>
              <a:t>Ex. Show me the meal on Flight UA 386 from San Francisco to Denver.  Total 14 parse for this statement – tree below shows a reasonable parse</a:t>
            </a:r>
            <a:endParaRPr sz="2800">
              <a:solidFill>
                <a:schemeClr val="dk1"/>
              </a:solidFill>
              <a:latin typeface="Calibri"/>
              <a:ea typeface="Calibri"/>
              <a:cs typeface="Calibri"/>
              <a:sym typeface="Calibri"/>
            </a:endParaRPr>
          </a:p>
        </p:txBody>
      </p:sp>
      <p:pic>
        <p:nvPicPr>
          <p:cNvPr id="949" name="Google Shape;949;p87"/>
          <p:cNvPicPr preferRelativeResize="0"/>
          <p:nvPr/>
        </p:nvPicPr>
        <p:blipFill rotWithShape="1">
          <a:blip r:embed="rId3">
            <a:alphaModFix/>
          </a:blip>
          <a:srcRect/>
          <a:stretch/>
        </p:blipFill>
        <p:spPr>
          <a:xfrm>
            <a:off x="304800" y="2378964"/>
            <a:ext cx="8991600" cy="5164836"/>
          </a:xfrm>
          <a:prstGeom prst="rect">
            <a:avLst/>
          </a:prstGeom>
          <a:noFill/>
          <a:ln>
            <a:noFill/>
          </a:ln>
        </p:spPr>
      </p:pic>
      <p:sp>
        <p:nvSpPr>
          <p:cNvPr id="950" name="Google Shape;950;p87"/>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93</a:t>
            </a:fld>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Shape 954"/>
        <p:cNvGrpSpPr/>
        <p:nvPr/>
      </p:nvGrpSpPr>
      <p:grpSpPr>
        <a:xfrm>
          <a:off x="0" y="0"/>
          <a:ext cx="0" cy="0"/>
          <a:chOff x="0" y="0"/>
          <a:chExt cx="0" cy="0"/>
        </a:xfrm>
      </p:grpSpPr>
      <p:sp>
        <p:nvSpPr>
          <p:cNvPr id="955" name="Google Shape;955;p88"/>
          <p:cNvSpPr txBox="1"/>
          <p:nvPr/>
        </p:nvSpPr>
        <p:spPr>
          <a:xfrm>
            <a:off x="539114" y="401996"/>
            <a:ext cx="8751570" cy="1565557"/>
          </a:xfrm>
          <a:prstGeom prst="rect">
            <a:avLst/>
          </a:prstGeom>
          <a:noFill/>
          <a:ln>
            <a:noFill/>
          </a:ln>
        </p:spPr>
        <p:txBody>
          <a:bodyPr spcFirstLastPara="1" wrap="square" lIns="0" tIns="50800" rIns="0" bIns="0" anchor="t" anchorCtr="0">
            <a:spAutoFit/>
          </a:bodyPr>
          <a:lstStyle/>
          <a:p>
            <a:pPr marL="13334" marR="0" lvl="0" indent="0" algn="l" rtl="0">
              <a:lnSpc>
                <a:spcPct val="100000"/>
              </a:lnSpc>
              <a:spcBef>
                <a:spcPts val="0"/>
              </a:spcBef>
              <a:spcAft>
                <a:spcPts val="0"/>
              </a:spcAft>
              <a:buNone/>
            </a:pPr>
            <a:r>
              <a:rPr lang="en-US" sz="2000" dirty="0">
                <a:solidFill>
                  <a:schemeClr val="dk1"/>
                </a:solidFill>
                <a:latin typeface="Calibri"/>
                <a:ea typeface="Calibri"/>
                <a:cs typeface="Calibri"/>
                <a:sym typeface="Calibri"/>
              </a:rPr>
              <a:t>Disambiguation -</a:t>
            </a:r>
            <a:endParaRPr sz="2000" dirty="0">
              <a:solidFill>
                <a:schemeClr val="dk1"/>
              </a:solidFill>
              <a:latin typeface="Calibri"/>
              <a:ea typeface="Calibri"/>
              <a:cs typeface="Calibri"/>
              <a:sym typeface="Calibri"/>
            </a:endParaRPr>
          </a:p>
          <a:p>
            <a:pPr marL="201295" marR="0" lvl="0" indent="-189230" algn="l" rtl="0">
              <a:lnSpc>
                <a:spcPct val="100000"/>
              </a:lnSpc>
              <a:spcBef>
                <a:spcPts val="300"/>
              </a:spcBef>
              <a:spcAft>
                <a:spcPts val="0"/>
              </a:spcAft>
              <a:buClr>
                <a:schemeClr val="dk1"/>
              </a:buClr>
              <a:buSzPts val="1550"/>
              <a:buFont typeface="Arial"/>
              <a:buChar char="•"/>
            </a:pPr>
            <a:r>
              <a:rPr lang="en-US" sz="2000" dirty="0">
                <a:solidFill>
                  <a:schemeClr val="dk1"/>
                </a:solidFill>
                <a:latin typeface="Calibri"/>
                <a:ea typeface="Calibri"/>
                <a:cs typeface="Calibri"/>
                <a:sym typeface="Calibri"/>
              </a:rPr>
              <a:t>Explore all possible parse trees in parallel …. Unrealistic based on memory requirement</a:t>
            </a:r>
            <a:endParaRPr sz="2000" dirty="0">
              <a:solidFill>
                <a:schemeClr val="dk1"/>
              </a:solidFill>
              <a:latin typeface="Calibri"/>
              <a:ea typeface="Calibri"/>
              <a:cs typeface="Calibri"/>
              <a:sym typeface="Calibri"/>
            </a:endParaRPr>
          </a:p>
          <a:p>
            <a:pPr marL="201295" marR="5080" lvl="0" indent="-189230" algn="l" rtl="0">
              <a:lnSpc>
                <a:spcPct val="71300"/>
              </a:lnSpc>
              <a:spcBef>
                <a:spcPts val="869"/>
              </a:spcBef>
              <a:spcAft>
                <a:spcPts val="0"/>
              </a:spcAft>
              <a:buClr>
                <a:schemeClr val="dk1"/>
              </a:buClr>
              <a:buSzPts val="1550"/>
              <a:buFont typeface="Arial"/>
              <a:buChar char="•"/>
            </a:pPr>
            <a:r>
              <a:rPr lang="en-US" sz="2000" dirty="0">
                <a:solidFill>
                  <a:schemeClr val="dk1"/>
                </a:solidFill>
                <a:latin typeface="Calibri"/>
                <a:ea typeface="Calibri"/>
                <a:cs typeface="Calibri"/>
                <a:sym typeface="Calibri"/>
              </a:rPr>
              <a:t>Use backtracking strategy – expand the search –space tree by exploring one state at a time and backtrack if  required. Inefficient as many subtrees to be rebuilt.</a:t>
            </a:r>
            <a:endParaRPr sz="2000" dirty="0">
              <a:solidFill>
                <a:schemeClr val="dk1"/>
              </a:solidFill>
              <a:latin typeface="Calibri"/>
              <a:ea typeface="Calibri"/>
              <a:cs typeface="Calibri"/>
              <a:sym typeface="Calibri"/>
            </a:endParaRPr>
          </a:p>
        </p:txBody>
      </p:sp>
      <p:pic>
        <p:nvPicPr>
          <p:cNvPr id="956" name="Google Shape;956;p88"/>
          <p:cNvPicPr preferRelativeResize="0"/>
          <p:nvPr/>
        </p:nvPicPr>
        <p:blipFill rotWithShape="1">
          <a:blip r:embed="rId3">
            <a:alphaModFix/>
          </a:blip>
          <a:srcRect/>
          <a:stretch/>
        </p:blipFill>
        <p:spPr>
          <a:xfrm>
            <a:off x="152399" y="2343149"/>
            <a:ext cx="9524999" cy="5079493"/>
          </a:xfrm>
          <a:prstGeom prst="rect">
            <a:avLst/>
          </a:prstGeom>
          <a:noFill/>
          <a:ln>
            <a:noFill/>
          </a:ln>
        </p:spPr>
      </p:pic>
      <p:sp>
        <p:nvSpPr>
          <p:cNvPr id="957" name="Google Shape;957;p88"/>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94</a:t>
            </a:fld>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sp>
        <p:nvSpPr>
          <p:cNvPr id="962" name="Google Shape;962;p89"/>
          <p:cNvSpPr txBox="1"/>
          <p:nvPr/>
        </p:nvSpPr>
        <p:spPr>
          <a:xfrm>
            <a:off x="1143000" y="838200"/>
            <a:ext cx="94488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2"/>
                </a:solidFill>
                <a:latin typeface="Calibri"/>
                <a:ea typeface="Calibri"/>
                <a:cs typeface="Calibri"/>
                <a:sym typeface="Calibri"/>
              </a:rPr>
              <a:t>EFFICIENT PARSING FOR CONTEXT FREE GRAMMAR</a:t>
            </a:r>
            <a:endParaRPr/>
          </a:p>
        </p:txBody>
      </p:sp>
      <p:sp>
        <p:nvSpPr>
          <p:cNvPr id="963" name="Google Shape;963;p89"/>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95</a:t>
            </a:fld>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1" name="Shape 967"/>
        <p:cNvGrpSpPr/>
        <p:nvPr/>
      </p:nvGrpSpPr>
      <p:grpSpPr>
        <a:xfrm>
          <a:off x="0" y="0"/>
          <a:ext cx="0" cy="0"/>
          <a:chOff x="0" y="0"/>
          <a:chExt cx="0" cy="0"/>
        </a:xfrm>
      </p:grpSpPr>
      <p:sp>
        <p:nvSpPr>
          <p:cNvPr id="968" name="Google Shape;968;p90"/>
          <p:cNvSpPr txBox="1"/>
          <p:nvPr/>
        </p:nvSpPr>
        <p:spPr>
          <a:xfrm>
            <a:off x="690301" y="648935"/>
            <a:ext cx="8232140" cy="5124544"/>
          </a:xfrm>
          <a:prstGeom prst="rect">
            <a:avLst/>
          </a:prstGeom>
          <a:noFill/>
          <a:ln>
            <a:noFill/>
          </a:ln>
        </p:spPr>
        <p:txBody>
          <a:bodyPr spcFirstLastPara="1" wrap="square" lIns="0" tIns="12700" rIns="0" bIns="0" anchor="t" anchorCtr="0">
            <a:spAutoFit/>
          </a:bodyPr>
          <a:lstStyle/>
          <a:p>
            <a:pPr marL="12065" marR="0" lvl="0" algn="l" rtl="0">
              <a:lnSpc>
                <a:spcPct val="100000"/>
              </a:lnSpc>
              <a:spcBef>
                <a:spcPts val="0"/>
              </a:spcBef>
              <a:spcAft>
                <a:spcPts val="0"/>
              </a:spcAft>
              <a:buClr>
                <a:schemeClr val="dk1"/>
              </a:buClr>
              <a:buSzPts val="2650"/>
            </a:pPr>
            <a:r>
              <a:rPr lang="en-US" sz="2650" dirty="0">
                <a:solidFill>
                  <a:schemeClr val="dk1"/>
                </a:solidFill>
                <a:latin typeface="Calibri"/>
                <a:ea typeface="Calibri"/>
                <a:cs typeface="Calibri"/>
                <a:sym typeface="Calibri"/>
              </a:rPr>
              <a:t>Dynamic programming parsing methods</a:t>
            </a:r>
            <a:endParaRPr sz="2650" dirty="0">
              <a:solidFill>
                <a:schemeClr val="dk1"/>
              </a:solidFill>
              <a:latin typeface="Calibri"/>
              <a:ea typeface="Calibri"/>
              <a:cs typeface="Calibri"/>
              <a:sym typeface="Calibri"/>
            </a:endParaRPr>
          </a:p>
          <a:p>
            <a:pPr marL="0" marR="0" lvl="0" indent="0" algn="l" rtl="0">
              <a:lnSpc>
                <a:spcPct val="100000"/>
              </a:lnSpc>
              <a:spcBef>
                <a:spcPts val="45"/>
              </a:spcBef>
              <a:spcAft>
                <a:spcPts val="0"/>
              </a:spcAft>
              <a:buNone/>
            </a:pPr>
            <a:endParaRPr sz="3450" dirty="0">
              <a:solidFill>
                <a:schemeClr val="dk1"/>
              </a:solidFill>
              <a:latin typeface="Calibri"/>
              <a:ea typeface="Calibri"/>
              <a:cs typeface="Calibri"/>
              <a:sym typeface="Calibri"/>
            </a:endParaRPr>
          </a:p>
          <a:p>
            <a:pPr marL="13334" marR="5080" lvl="0" indent="0" algn="l" rtl="0">
              <a:lnSpc>
                <a:spcPct val="97435"/>
              </a:lnSpc>
              <a:spcBef>
                <a:spcPts val="0"/>
              </a:spcBef>
              <a:spcAft>
                <a:spcPts val="0"/>
              </a:spcAft>
              <a:buNone/>
            </a:pPr>
            <a:r>
              <a:rPr lang="en-US" sz="2400" dirty="0">
                <a:solidFill>
                  <a:schemeClr val="dk1"/>
                </a:solidFill>
                <a:latin typeface="Calibri"/>
                <a:ea typeface="Calibri"/>
                <a:cs typeface="Calibri"/>
                <a:sym typeface="Calibri"/>
              </a:rPr>
              <a:t>Dynamic programming is based on Principle of Optimality. It systematically solves  sub-problems and stores intermediate results – no work duplication</a:t>
            </a:r>
            <a:endParaRPr sz="2400" dirty="0">
              <a:solidFill>
                <a:schemeClr val="dk1"/>
              </a:solidFill>
              <a:latin typeface="Calibri"/>
              <a:ea typeface="Calibri"/>
              <a:cs typeface="Calibri"/>
              <a:sym typeface="Calibri"/>
            </a:endParaRPr>
          </a:p>
          <a:p>
            <a:pPr marL="0" marR="0" lvl="0" indent="0" algn="l" rtl="0">
              <a:lnSpc>
                <a:spcPct val="100000"/>
              </a:lnSpc>
              <a:spcBef>
                <a:spcPts val="30"/>
              </a:spcBef>
              <a:spcAft>
                <a:spcPts val="0"/>
              </a:spcAft>
              <a:buNone/>
            </a:pPr>
            <a:endParaRPr sz="2400" dirty="0">
              <a:solidFill>
                <a:schemeClr val="dk1"/>
              </a:solidFill>
              <a:latin typeface="Calibri"/>
              <a:ea typeface="Calibri"/>
              <a:cs typeface="Calibri"/>
              <a:sym typeface="Calibri"/>
            </a:endParaRPr>
          </a:p>
          <a:p>
            <a:pPr marL="13334" marR="0" lvl="0" indent="0" algn="l" rtl="0">
              <a:lnSpc>
                <a:spcPct val="100000"/>
              </a:lnSpc>
              <a:spcBef>
                <a:spcPts val="0"/>
              </a:spcBef>
              <a:spcAft>
                <a:spcPts val="0"/>
              </a:spcAft>
              <a:buNone/>
            </a:pPr>
            <a:r>
              <a:rPr lang="en-US" sz="2400" dirty="0">
                <a:solidFill>
                  <a:schemeClr val="dk1"/>
                </a:solidFill>
                <a:latin typeface="Calibri"/>
                <a:ea typeface="Calibri"/>
                <a:cs typeface="Calibri"/>
                <a:sym typeface="Calibri"/>
              </a:rPr>
              <a:t>In parsing with Dynamic programming, the subtrees are computed once, </a:t>
            </a:r>
            <a:r>
              <a:rPr lang="en-US" sz="2400" dirty="0" smtClean="0">
                <a:solidFill>
                  <a:schemeClr val="dk1"/>
                </a:solidFill>
                <a:latin typeface="Calibri"/>
                <a:ea typeface="Calibri"/>
                <a:cs typeface="Calibri"/>
                <a:sym typeface="Calibri"/>
              </a:rPr>
              <a:t>stored (</a:t>
            </a:r>
            <a:r>
              <a:rPr lang="en-US" sz="2400" dirty="0">
                <a:solidFill>
                  <a:schemeClr val="dk1"/>
                </a:solidFill>
                <a:latin typeface="Calibri"/>
                <a:ea typeface="Calibri"/>
                <a:cs typeface="Calibri"/>
                <a:sym typeface="Calibri"/>
              </a:rPr>
              <a:t>in tables) and reused.</a:t>
            </a:r>
            <a:endParaRPr sz="2400" dirty="0">
              <a:solidFill>
                <a:schemeClr val="dk1"/>
              </a:solidFill>
              <a:latin typeface="Calibri"/>
              <a:ea typeface="Calibri"/>
              <a:cs typeface="Calibri"/>
              <a:sym typeface="Calibri"/>
            </a:endParaRPr>
          </a:p>
          <a:p>
            <a:pPr marL="201295" marR="0" lvl="0" indent="-189230" algn="l" rtl="0">
              <a:lnSpc>
                <a:spcPct val="100000"/>
              </a:lnSpc>
              <a:spcBef>
                <a:spcPts val="575"/>
              </a:spcBef>
              <a:spcAft>
                <a:spcPts val="0"/>
              </a:spcAft>
              <a:buClr>
                <a:schemeClr val="dk1"/>
              </a:buClr>
              <a:buSzPts val="1950"/>
              <a:buFont typeface="Calibri"/>
              <a:buChar char="-"/>
            </a:pPr>
            <a:r>
              <a:rPr lang="en-US" sz="2400" dirty="0">
                <a:solidFill>
                  <a:schemeClr val="dk1"/>
                </a:solidFill>
                <a:latin typeface="Calibri"/>
                <a:ea typeface="Calibri"/>
                <a:cs typeface="Calibri"/>
                <a:sym typeface="Calibri"/>
              </a:rPr>
              <a:t>CKY parsing – uses CNF grammar</a:t>
            </a:r>
            <a:endParaRPr sz="2400" dirty="0">
              <a:solidFill>
                <a:schemeClr val="dk1"/>
              </a:solidFill>
              <a:latin typeface="Calibri"/>
              <a:ea typeface="Calibri"/>
              <a:cs typeface="Calibri"/>
              <a:sym typeface="Calibri"/>
            </a:endParaRPr>
          </a:p>
          <a:p>
            <a:pPr marL="201295" marR="0" lvl="0" indent="-189230" algn="l" rtl="0">
              <a:lnSpc>
                <a:spcPct val="100000"/>
              </a:lnSpc>
              <a:spcBef>
                <a:spcPts val="395"/>
              </a:spcBef>
              <a:spcAft>
                <a:spcPts val="0"/>
              </a:spcAft>
              <a:buClr>
                <a:schemeClr val="dk1"/>
              </a:buClr>
              <a:buSzPts val="1950"/>
              <a:buFont typeface="Calibri"/>
              <a:buChar char="-"/>
            </a:pPr>
            <a:r>
              <a:rPr lang="en-US" sz="2400" dirty="0">
                <a:solidFill>
                  <a:schemeClr val="dk1"/>
                </a:solidFill>
                <a:latin typeface="Calibri"/>
                <a:ea typeface="Calibri"/>
                <a:cs typeface="Calibri"/>
                <a:sym typeface="Calibri"/>
              </a:rPr>
              <a:t>The Early algorithm – CFG</a:t>
            </a:r>
            <a:endParaRPr sz="2400" dirty="0">
              <a:solidFill>
                <a:schemeClr val="dk1"/>
              </a:solidFill>
              <a:latin typeface="Calibri"/>
              <a:ea typeface="Calibri"/>
              <a:cs typeface="Calibri"/>
              <a:sym typeface="Calibri"/>
            </a:endParaRPr>
          </a:p>
          <a:p>
            <a:pPr marL="201295" marR="0" lvl="0" indent="-189230" algn="l" rtl="0">
              <a:lnSpc>
                <a:spcPct val="100000"/>
              </a:lnSpc>
              <a:spcBef>
                <a:spcPts val="400"/>
              </a:spcBef>
              <a:spcAft>
                <a:spcPts val="0"/>
              </a:spcAft>
              <a:buClr>
                <a:schemeClr val="dk1"/>
              </a:buClr>
              <a:buSzPts val="1950"/>
              <a:buFont typeface="Calibri"/>
              <a:buChar char="-"/>
            </a:pPr>
            <a:r>
              <a:rPr lang="en-US" sz="2400" dirty="0">
                <a:solidFill>
                  <a:schemeClr val="dk1"/>
                </a:solidFill>
                <a:latin typeface="Calibri"/>
                <a:ea typeface="Calibri"/>
                <a:cs typeface="Calibri"/>
                <a:sym typeface="Calibri"/>
              </a:rPr>
              <a:t>Chart parsing </a:t>
            </a:r>
            <a:r>
              <a:rPr lang="en-US" sz="2400" dirty="0" smtClean="0">
                <a:solidFill>
                  <a:schemeClr val="dk1"/>
                </a:solidFill>
                <a:latin typeface="Calibri"/>
                <a:ea typeface="Calibri"/>
                <a:cs typeface="Calibri"/>
                <a:sym typeface="Calibri"/>
              </a:rPr>
              <a:t>– CFG</a:t>
            </a:r>
          </a:p>
          <a:p>
            <a:pPr marL="201295" marR="0" lvl="0" indent="-189230" algn="l" rtl="0">
              <a:lnSpc>
                <a:spcPct val="100000"/>
              </a:lnSpc>
              <a:spcBef>
                <a:spcPts val="400"/>
              </a:spcBef>
              <a:spcAft>
                <a:spcPts val="0"/>
              </a:spcAft>
              <a:buClr>
                <a:schemeClr val="dk1"/>
              </a:buClr>
              <a:buSzPts val="1950"/>
              <a:buFont typeface="Calibri"/>
              <a:buChar char="-"/>
            </a:pPr>
            <a:endParaRPr lang="en-US" sz="1950" dirty="0">
              <a:solidFill>
                <a:schemeClr val="dk1"/>
              </a:solidFill>
              <a:latin typeface="Calibri"/>
              <a:ea typeface="Calibri"/>
              <a:cs typeface="Calibri"/>
              <a:sym typeface="Calibri"/>
            </a:endParaRPr>
          </a:p>
          <a:p>
            <a:pPr marL="201295" marR="0" lvl="0" indent="-189230" algn="l" rtl="0">
              <a:lnSpc>
                <a:spcPct val="100000"/>
              </a:lnSpc>
              <a:spcBef>
                <a:spcPts val="400"/>
              </a:spcBef>
              <a:spcAft>
                <a:spcPts val="0"/>
              </a:spcAft>
              <a:buClr>
                <a:schemeClr val="dk1"/>
              </a:buClr>
              <a:buSzPts val="1950"/>
              <a:buFont typeface="Calibri"/>
              <a:buChar char="-"/>
            </a:pPr>
            <a:endParaRPr sz="1950" dirty="0">
              <a:solidFill>
                <a:schemeClr val="dk1"/>
              </a:solidFill>
              <a:latin typeface="Calibri"/>
              <a:ea typeface="Calibri"/>
              <a:cs typeface="Calibri"/>
              <a:sym typeface="Calibri"/>
            </a:endParaRPr>
          </a:p>
        </p:txBody>
      </p:sp>
      <p:sp>
        <p:nvSpPr>
          <p:cNvPr id="969" name="Google Shape;969;p90"/>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96</a:t>
            </a:fld>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973"/>
        <p:cNvGrpSpPr/>
        <p:nvPr/>
      </p:nvGrpSpPr>
      <p:grpSpPr>
        <a:xfrm>
          <a:off x="0" y="0"/>
          <a:ext cx="0" cy="0"/>
          <a:chOff x="0" y="0"/>
          <a:chExt cx="0" cy="0"/>
        </a:xfrm>
      </p:grpSpPr>
      <p:sp>
        <p:nvSpPr>
          <p:cNvPr id="974" name="Google Shape;974;p91"/>
          <p:cNvSpPr txBox="1"/>
          <p:nvPr/>
        </p:nvSpPr>
        <p:spPr>
          <a:xfrm>
            <a:off x="212834" y="436114"/>
            <a:ext cx="9601200" cy="698652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800" dirty="0">
                <a:solidFill>
                  <a:schemeClr val="dk1"/>
                </a:solidFill>
                <a:highlight>
                  <a:srgbClr val="FFFF00"/>
                </a:highlight>
                <a:latin typeface="Times New Roman"/>
                <a:ea typeface="Times New Roman"/>
                <a:cs typeface="Times New Roman"/>
                <a:sym typeface="Times New Roman"/>
              </a:rPr>
              <a:t>What is CKY in NLP?</a:t>
            </a:r>
            <a:endParaRPr dirty="0"/>
          </a:p>
          <a:p>
            <a:pPr marL="0" marR="0" lvl="0" indent="0" algn="just" rtl="0">
              <a:spcBef>
                <a:spcPts val="0"/>
              </a:spcBef>
              <a:spcAft>
                <a:spcPts val="0"/>
              </a:spcAft>
              <a:buNone/>
            </a:pPr>
            <a:endParaRPr sz="2800" dirty="0">
              <a:solidFill>
                <a:schemeClr val="dk1"/>
              </a:solidFill>
              <a:latin typeface="Times New Roman"/>
              <a:ea typeface="Times New Roman"/>
              <a:cs typeface="Times New Roman"/>
              <a:sym typeface="Times New Roman"/>
            </a:endParaRPr>
          </a:p>
          <a:p>
            <a:pPr marL="457200" marR="0" lvl="0" indent="-457200" algn="just" rtl="0">
              <a:spcBef>
                <a:spcPts val="0"/>
              </a:spcBef>
              <a:spcAft>
                <a:spcPts val="0"/>
              </a:spcAft>
              <a:buClr>
                <a:schemeClr val="dk1"/>
              </a:buClr>
              <a:buSzPts val="2800"/>
              <a:buFont typeface="Arial"/>
              <a:buChar char="•"/>
            </a:pPr>
            <a:r>
              <a:rPr lang="en-US" sz="2800" dirty="0">
                <a:solidFill>
                  <a:schemeClr val="dk1"/>
                </a:solidFill>
                <a:latin typeface="Times New Roman"/>
                <a:ea typeface="Times New Roman"/>
                <a:cs typeface="Times New Roman"/>
                <a:sym typeface="Times New Roman"/>
              </a:rPr>
              <a:t>CKY means </a:t>
            </a:r>
            <a:r>
              <a:rPr lang="en-US" sz="2800" b="1" dirty="0" err="1">
                <a:solidFill>
                  <a:schemeClr val="dk1"/>
                </a:solidFill>
                <a:latin typeface="Times New Roman"/>
                <a:ea typeface="Times New Roman"/>
                <a:cs typeface="Times New Roman"/>
                <a:sym typeface="Times New Roman"/>
              </a:rPr>
              <a:t>Cocke</a:t>
            </a:r>
            <a:r>
              <a:rPr lang="en-US" sz="2800" b="1" dirty="0">
                <a:solidFill>
                  <a:schemeClr val="dk1"/>
                </a:solidFill>
                <a:latin typeface="Times New Roman"/>
                <a:ea typeface="Times New Roman"/>
                <a:cs typeface="Times New Roman"/>
                <a:sym typeface="Times New Roman"/>
              </a:rPr>
              <a:t>-</a:t>
            </a:r>
            <a:r>
              <a:rPr lang="en-US" sz="2800" b="1" dirty="0" err="1">
                <a:solidFill>
                  <a:schemeClr val="dk1"/>
                </a:solidFill>
                <a:latin typeface="Times New Roman"/>
                <a:ea typeface="Times New Roman"/>
                <a:cs typeface="Times New Roman"/>
                <a:sym typeface="Times New Roman"/>
              </a:rPr>
              <a:t>Kasami</a:t>
            </a:r>
            <a:r>
              <a:rPr lang="en-US" sz="2800" b="1" dirty="0">
                <a:solidFill>
                  <a:schemeClr val="dk1"/>
                </a:solidFill>
                <a:latin typeface="Times New Roman"/>
                <a:ea typeface="Times New Roman"/>
                <a:cs typeface="Times New Roman"/>
                <a:sym typeface="Times New Roman"/>
              </a:rPr>
              <a:t>-Younger</a:t>
            </a:r>
            <a:r>
              <a:rPr lang="en-US" sz="2800" dirty="0">
                <a:solidFill>
                  <a:schemeClr val="dk1"/>
                </a:solidFill>
                <a:latin typeface="Times New Roman"/>
                <a:ea typeface="Times New Roman"/>
                <a:cs typeface="Times New Roman"/>
                <a:sym typeface="Times New Roman"/>
              </a:rPr>
              <a:t>. </a:t>
            </a:r>
            <a:endParaRPr dirty="0"/>
          </a:p>
          <a:p>
            <a:pPr marL="457200" marR="0" lvl="0" indent="-279400" algn="just" rtl="0">
              <a:spcBef>
                <a:spcPts val="0"/>
              </a:spcBef>
              <a:spcAft>
                <a:spcPts val="0"/>
              </a:spcAft>
              <a:buClr>
                <a:schemeClr val="dk1"/>
              </a:buClr>
              <a:buSzPts val="2800"/>
              <a:buFont typeface="Arial"/>
              <a:buNone/>
            </a:pPr>
            <a:endParaRPr sz="2800" dirty="0">
              <a:solidFill>
                <a:schemeClr val="dk1"/>
              </a:solidFill>
              <a:latin typeface="Times New Roman"/>
              <a:ea typeface="Times New Roman"/>
              <a:cs typeface="Times New Roman"/>
              <a:sym typeface="Times New Roman"/>
            </a:endParaRPr>
          </a:p>
          <a:p>
            <a:pPr marL="457200" marR="0" lvl="0" indent="-457200" algn="just" rtl="0">
              <a:spcBef>
                <a:spcPts val="0"/>
              </a:spcBef>
              <a:spcAft>
                <a:spcPts val="0"/>
              </a:spcAft>
              <a:buClr>
                <a:schemeClr val="dk1"/>
              </a:buClr>
              <a:buSzPts val="2800"/>
              <a:buFont typeface="Arial"/>
              <a:buChar char="•"/>
            </a:pPr>
            <a:r>
              <a:rPr lang="en-US" sz="2800" dirty="0">
                <a:solidFill>
                  <a:schemeClr val="dk1"/>
                </a:solidFill>
                <a:latin typeface="Times New Roman"/>
                <a:ea typeface="Times New Roman"/>
                <a:cs typeface="Times New Roman"/>
                <a:sym typeface="Times New Roman"/>
              </a:rPr>
              <a:t>It is one of the earliest recognition and parsing algorithms. </a:t>
            </a:r>
            <a:endParaRPr dirty="0"/>
          </a:p>
          <a:p>
            <a:pPr marL="457200" marR="0" lvl="0" indent="-457200" algn="just" rtl="0">
              <a:spcBef>
                <a:spcPts val="0"/>
              </a:spcBef>
              <a:spcAft>
                <a:spcPts val="0"/>
              </a:spcAft>
              <a:buClr>
                <a:schemeClr val="dk1"/>
              </a:buClr>
              <a:buSzPts val="2800"/>
              <a:buFont typeface="Arial"/>
              <a:buChar char="•"/>
            </a:pPr>
            <a:r>
              <a:rPr lang="en-US" sz="2800" dirty="0">
                <a:solidFill>
                  <a:schemeClr val="dk1"/>
                </a:solidFill>
                <a:latin typeface="Times New Roman"/>
                <a:ea typeface="Times New Roman"/>
                <a:cs typeface="Times New Roman"/>
                <a:sym typeface="Times New Roman"/>
              </a:rPr>
              <a:t>The standard version of CKY can only recognize languages defined by context-free grammars in Chomsky Normal Form (CNF).</a:t>
            </a:r>
            <a:endParaRPr dirty="0"/>
          </a:p>
          <a:p>
            <a:pPr marL="457200" marR="0" lvl="0" indent="-279400" algn="just" rtl="0">
              <a:spcBef>
                <a:spcPts val="0"/>
              </a:spcBef>
              <a:spcAft>
                <a:spcPts val="0"/>
              </a:spcAft>
              <a:buClr>
                <a:schemeClr val="dk1"/>
              </a:buClr>
              <a:buSzPts val="2800"/>
              <a:buFont typeface="Arial"/>
              <a:buNone/>
            </a:pPr>
            <a:endParaRPr sz="2800" dirty="0">
              <a:solidFill>
                <a:schemeClr val="dk1"/>
              </a:solidFill>
              <a:latin typeface="Times New Roman"/>
              <a:ea typeface="Times New Roman"/>
              <a:cs typeface="Times New Roman"/>
              <a:sym typeface="Times New Roman"/>
            </a:endParaRPr>
          </a:p>
          <a:p>
            <a:pPr marL="457200" marR="0" lvl="0" indent="-457200" algn="just" rtl="0">
              <a:spcBef>
                <a:spcPts val="0"/>
              </a:spcBef>
              <a:spcAft>
                <a:spcPts val="0"/>
              </a:spcAft>
              <a:buClr>
                <a:schemeClr val="dk1"/>
              </a:buClr>
              <a:buSzPts val="2800"/>
              <a:buFont typeface="Arial"/>
              <a:buChar char="•"/>
            </a:pPr>
            <a:r>
              <a:rPr lang="en-US" sz="2800" dirty="0">
                <a:solidFill>
                  <a:schemeClr val="dk1"/>
                </a:solidFill>
                <a:latin typeface="Times New Roman"/>
                <a:ea typeface="Times New Roman"/>
                <a:cs typeface="Times New Roman"/>
                <a:sym typeface="Times New Roman"/>
              </a:rPr>
              <a:t>In its simplest form, the CYK algorithm </a:t>
            </a:r>
            <a:r>
              <a:rPr lang="en-US" sz="2800" b="1" dirty="0">
                <a:solidFill>
                  <a:schemeClr val="dk1"/>
                </a:solidFill>
                <a:latin typeface="Times New Roman"/>
                <a:ea typeface="Times New Roman"/>
                <a:cs typeface="Times New Roman"/>
                <a:sym typeface="Times New Roman"/>
              </a:rPr>
              <a:t>solves the recognition problem; it determines whether a string can be derived from a grammar</a:t>
            </a:r>
            <a:r>
              <a:rPr lang="en-US" sz="2800" dirty="0">
                <a:solidFill>
                  <a:schemeClr val="dk1"/>
                </a:solidFill>
                <a:latin typeface="Times New Roman"/>
                <a:ea typeface="Times New Roman"/>
                <a:cs typeface="Times New Roman"/>
                <a:sym typeface="Times New Roman"/>
              </a:rPr>
              <a:t> .</a:t>
            </a:r>
            <a:endParaRPr dirty="0"/>
          </a:p>
          <a:p>
            <a:pPr marL="457200" marR="0" lvl="0" indent="-279400" algn="just" rtl="0">
              <a:spcBef>
                <a:spcPts val="0"/>
              </a:spcBef>
              <a:spcAft>
                <a:spcPts val="0"/>
              </a:spcAft>
              <a:buClr>
                <a:schemeClr val="dk1"/>
              </a:buClr>
              <a:buSzPts val="2800"/>
              <a:buFont typeface="Arial"/>
              <a:buNone/>
            </a:pPr>
            <a:endParaRPr sz="2800" dirty="0">
              <a:solidFill>
                <a:schemeClr val="dk1"/>
              </a:solidFill>
              <a:latin typeface="Times New Roman"/>
              <a:ea typeface="Times New Roman"/>
              <a:cs typeface="Times New Roman"/>
              <a:sym typeface="Times New Roman"/>
            </a:endParaRPr>
          </a:p>
          <a:p>
            <a:pPr marL="457200" marR="0" lvl="0" indent="-457200" algn="just" rtl="0">
              <a:spcBef>
                <a:spcPts val="0"/>
              </a:spcBef>
              <a:spcAft>
                <a:spcPts val="0"/>
              </a:spcAft>
              <a:buClr>
                <a:schemeClr val="dk1"/>
              </a:buClr>
              <a:buSzPts val="2800"/>
              <a:buFont typeface="Arial"/>
              <a:buChar char="•"/>
            </a:pPr>
            <a:r>
              <a:rPr lang="en-US" sz="2800" dirty="0">
                <a:solidFill>
                  <a:schemeClr val="dk1"/>
                </a:solidFill>
                <a:latin typeface="Times New Roman"/>
                <a:ea typeface="Times New Roman"/>
                <a:cs typeface="Times New Roman"/>
                <a:sym typeface="Times New Roman"/>
              </a:rPr>
              <a:t> In other words, the algorithm takes a sentence and a context-free grammar and returns TRUE if there is a valid parse tree or FALSE otherwise</a:t>
            </a:r>
            <a:endParaRPr sz="2800" dirty="0">
              <a:solidFill>
                <a:schemeClr val="dk1"/>
              </a:solidFill>
              <a:latin typeface="Times New Roman"/>
              <a:ea typeface="Times New Roman"/>
              <a:cs typeface="Times New Roman"/>
              <a:sym typeface="Times New Roman"/>
            </a:endParaRPr>
          </a:p>
        </p:txBody>
      </p:sp>
      <p:sp>
        <p:nvSpPr>
          <p:cNvPr id="975" name="Google Shape;975;p91"/>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97</a:t>
            </a:fld>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Shape 979"/>
        <p:cNvGrpSpPr/>
        <p:nvPr/>
      </p:nvGrpSpPr>
      <p:grpSpPr>
        <a:xfrm>
          <a:off x="0" y="0"/>
          <a:ext cx="0" cy="0"/>
          <a:chOff x="0" y="0"/>
          <a:chExt cx="0" cy="0"/>
        </a:xfrm>
      </p:grpSpPr>
      <p:sp>
        <p:nvSpPr>
          <p:cNvPr id="980" name="Google Shape;980;p92"/>
          <p:cNvSpPr txBox="1">
            <a:spLocks noGrp="1"/>
          </p:cNvSpPr>
          <p:nvPr>
            <p:ph type="title"/>
          </p:nvPr>
        </p:nvSpPr>
        <p:spPr>
          <a:xfrm>
            <a:off x="423864" y="417015"/>
            <a:ext cx="6096000" cy="50526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200" b="1" dirty="0">
                <a:solidFill>
                  <a:schemeClr val="dk2"/>
                </a:solidFill>
              </a:rPr>
              <a:t>Partial Parsing</a:t>
            </a:r>
            <a:endParaRPr dirty="0"/>
          </a:p>
        </p:txBody>
      </p:sp>
      <p:sp>
        <p:nvSpPr>
          <p:cNvPr id="981" name="Google Shape;981;p92"/>
          <p:cNvSpPr txBox="1"/>
          <p:nvPr/>
        </p:nvSpPr>
        <p:spPr>
          <a:xfrm>
            <a:off x="423864" y="1477106"/>
            <a:ext cx="8795385" cy="4237057"/>
          </a:xfrm>
          <a:prstGeom prst="rect">
            <a:avLst/>
          </a:prstGeom>
          <a:noFill/>
          <a:ln>
            <a:noFill/>
          </a:ln>
        </p:spPr>
        <p:txBody>
          <a:bodyPr spcFirstLastPara="1" wrap="square" lIns="0" tIns="12700" rIns="0" bIns="0" anchor="t" anchorCtr="0">
            <a:spAutoFit/>
          </a:bodyPr>
          <a:lstStyle/>
          <a:p>
            <a:pPr marL="201295" marR="0" lvl="0" indent="-203200" algn="just" rtl="0">
              <a:lnSpc>
                <a:spcPct val="70937"/>
              </a:lnSpc>
              <a:spcBef>
                <a:spcPts val="0"/>
              </a:spcBef>
              <a:spcAft>
                <a:spcPts val="0"/>
              </a:spcAft>
              <a:buClr>
                <a:schemeClr val="dk1"/>
              </a:buClr>
              <a:buSzPts val="3200"/>
              <a:buFont typeface="Arial"/>
              <a:buChar char="•"/>
            </a:pPr>
            <a:r>
              <a:rPr lang="en-US" sz="3200" dirty="0">
                <a:solidFill>
                  <a:schemeClr val="dk1"/>
                </a:solidFill>
                <a:latin typeface="Times New Roman"/>
                <a:ea typeface="Times New Roman"/>
                <a:cs typeface="Times New Roman"/>
                <a:sym typeface="Times New Roman"/>
              </a:rPr>
              <a:t>Many language processing tasks do not require complete parse trees to be generated</a:t>
            </a:r>
            <a:endParaRPr sz="3200" dirty="0">
              <a:solidFill>
                <a:schemeClr val="dk1"/>
              </a:solidFill>
              <a:latin typeface="Times New Roman"/>
              <a:ea typeface="Times New Roman"/>
              <a:cs typeface="Times New Roman"/>
              <a:sym typeface="Times New Roman"/>
            </a:endParaRPr>
          </a:p>
          <a:p>
            <a:pPr marL="201295" marR="0" lvl="0" indent="0" algn="just" rtl="0">
              <a:lnSpc>
                <a:spcPct val="70937"/>
              </a:lnSpc>
              <a:spcBef>
                <a:spcPts val="0"/>
              </a:spcBef>
              <a:spcAft>
                <a:spcPts val="0"/>
              </a:spcAft>
              <a:buNone/>
            </a:pPr>
            <a:r>
              <a:rPr lang="en-US" sz="3200" dirty="0">
                <a:solidFill>
                  <a:schemeClr val="dk1"/>
                </a:solidFill>
                <a:latin typeface="Times New Roman"/>
                <a:ea typeface="Times New Roman"/>
                <a:cs typeface="Times New Roman"/>
                <a:sym typeface="Times New Roman"/>
              </a:rPr>
              <a:t>…..complete parse tree is a complex process</a:t>
            </a:r>
            <a:endParaRPr sz="3200" dirty="0">
              <a:solidFill>
                <a:schemeClr val="dk1"/>
              </a:solidFill>
              <a:latin typeface="Times New Roman"/>
              <a:ea typeface="Times New Roman"/>
              <a:cs typeface="Times New Roman"/>
              <a:sym typeface="Times New Roman"/>
            </a:endParaRPr>
          </a:p>
          <a:p>
            <a:pPr marL="201295" marR="0" lvl="0" indent="-203200" algn="just" rtl="0">
              <a:lnSpc>
                <a:spcPct val="100000"/>
              </a:lnSpc>
              <a:spcBef>
                <a:spcPts val="600"/>
              </a:spcBef>
              <a:spcAft>
                <a:spcPts val="0"/>
              </a:spcAft>
              <a:buClr>
                <a:schemeClr val="dk1"/>
              </a:buClr>
              <a:buSzPts val="3200"/>
              <a:buFont typeface="Arial"/>
              <a:buChar char="•"/>
            </a:pPr>
            <a:r>
              <a:rPr lang="en-US" sz="3200" dirty="0">
                <a:solidFill>
                  <a:schemeClr val="dk1"/>
                </a:solidFill>
                <a:latin typeface="Times New Roman"/>
                <a:ea typeface="Times New Roman"/>
                <a:cs typeface="Times New Roman"/>
                <a:sym typeface="Times New Roman"/>
              </a:rPr>
              <a:t>Partial parse or shallow parse is generated</a:t>
            </a:r>
            <a:endParaRPr sz="3200" dirty="0">
              <a:solidFill>
                <a:schemeClr val="dk1"/>
              </a:solidFill>
              <a:latin typeface="Times New Roman"/>
              <a:ea typeface="Times New Roman"/>
              <a:cs typeface="Times New Roman"/>
              <a:sym typeface="Times New Roman"/>
            </a:endParaRPr>
          </a:p>
          <a:p>
            <a:pPr marL="201295" marR="0" lvl="0" indent="-203200" algn="just" rtl="0">
              <a:lnSpc>
                <a:spcPct val="100000"/>
              </a:lnSpc>
              <a:spcBef>
                <a:spcPts val="600"/>
              </a:spcBef>
              <a:spcAft>
                <a:spcPts val="0"/>
              </a:spcAft>
              <a:buClr>
                <a:schemeClr val="dk1"/>
              </a:buClr>
              <a:buSzPts val="3200"/>
              <a:buFont typeface="Arial"/>
              <a:buChar char="•"/>
            </a:pPr>
            <a:r>
              <a:rPr lang="en-US" sz="3200" dirty="0">
                <a:solidFill>
                  <a:schemeClr val="dk1"/>
                </a:solidFill>
                <a:latin typeface="Times New Roman"/>
                <a:ea typeface="Times New Roman"/>
                <a:cs typeface="Times New Roman"/>
                <a:sym typeface="Times New Roman"/>
              </a:rPr>
              <a:t>Ex. Information extraction, Information retrieval</a:t>
            </a:r>
            <a:endParaRPr sz="3200" dirty="0">
              <a:solidFill>
                <a:schemeClr val="dk1"/>
              </a:solidFill>
              <a:latin typeface="Times New Roman"/>
              <a:ea typeface="Times New Roman"/>
              <a:cs typeface="Times New Roman"/>
              <a:sym typeface="Times New Roman"/>
            </a:endParaRPr>
          </a:p>
          <a:p>
            <a:pPr marL="201295" marR="0" lvl="0" indent="-203200" algn="just" rtl="0">
              <a:lnSpc>
                <a:spcPct val="100000"/>
              </a:lnSpc>
              <a:spcBef>
                <a:spcPts val="600"/>
              </a:spcBef>
              <a:spcAft>
                <a:spcPts val="0"/>
              </a:spcAft>
              <a:buClr>
                <a:schemeClr val="dk1"/>
              </a:buClr>
              <a:buSzPts val="3200"/>
              <a:buFont typeface="Arial"/>
              <a:buChar char="•"/>
            </a:pPr>
            <a:r>
              <a:rPr lang="en-US" sz="3200" dirty="0">
                <a:solidFill>
                  <a:schemeClr val="dk1"/>
                </a:solidFill>
                <a:latin typeface="Times New Roman"/>
                <a:ea typeface="Times New Roman"/>
                <a:cs typeface="Times New Roman"/>
                <a:sym typeface="Times New Roman"/>
              </a:rPr>
              <a:t>Chunking – one of the ways of performing partial parsing</a:t>
            </a:r>
            <a:endParaRPr sz="3200" dirty="0">
              <a:solidFill>
                <a:schemeClr val="dk1"/>
              </a:solidFill>
              <a:latin typeface="Times New Roman"/>
              <a:ea typeface="Times New Roman"/>
              <a:cs typeface="Times New Roman"/>
              <a:sym typeface="Times New Roman"/>
            </a:endParaRPr>
          </a:p>
          <a:p>
            <a:pPr marL="201930" marR="0" lvl="0" indent="-203200" algn="just" rtl="0">
              <a:lnSpc>
                <a:spcPct val="100000"/>
              </a:lnSpc>
              <a:spcBef>
                <a:spcPts val="600"/>
              </a:spcBef>
              <a:spcAft>
                <a:spcPts val="0"/>
              </a:spcAft>
              <a:buClr>
                <a:schemeClr val="dk1"/>
              </a:buClr>
              <a:buSzPts val="3200"/>
              <a:buFont typeface="Times New Roman"/>
              <a:buChar char="-"/>
            </a:pPr>
            <a:r>
              <a:rPr lang="en-US" sz="3200" dirty="0">
                <a:solidFill>
                  <a:schemeClr val="dk1"/>
                </a:solidFill>
                <a:latin typeface="Times New Roman"/>
                <a:ea typeface="Times New Roman"/>
                <a:cs typeface="Times New Roman"/>
                <a:sym typeface="Times New Roman"/>
              </a:rPr>
              <a:t>Finite state Rule based chunking</a:t>
            </a:r>
            <a:endParaRPr sz="3200" dirty="0">
              <a:solidFill>
                <a:schemeClr val="dk1"/>
              </a:solidFill>
              <a:latin typeface="Times New Roman"/>
              <a:ea typeface="Times New Roman"/>
              <a:cs typeface="Times New Roman"/>
              <a:sym typeface="Times New Roman"/>
            </a:endParaRPr>
          </a:p>
          <a:p>
            <a:pPr marL="201930" marR="0" lvl="0" indent="-203200" algn="just" rtl="0">
              <a:lnSpc>
                <a:spcPct val="100000"/>
              </a:lnSpc>
              <a:spcBef>
                <a:spcPts val="600"/>
              </a:spcBef>
              <a:spcAft>
                <a:spcPts val="0"/>
              </a:spcAft>
              <a:buClr>
                <a:schemeClr val="dk1"/>
              </a:buClr>
              <a:buSzPts val="3200"/>
              <a:buFont typeface="Times New Roman"/>
              <a:buChar char="-"/>
            </a:pPr>
            <a:r>
              <a:rPr lang="en-US" sz="3200" dirty="0">
                <a:solidFill>
                  <a:schemeClr val="dk1"/>
                </a:solidFill>
                <a:latin typeface="Times New Roman"/>
                <a:ea typeface="Times New Roman"/>
                <a:cs typeface="Times New Roman"/>
                <a:sym typeface="Times New Roman"/>
              </a:rPr>
              <a:t>Machine Learning-based chunking</a:t>
            </a:r>
            <a:endParaRPr sz="3200" dirty="0">
              <a:solidFill>
                <a:schemeClr val="dk1"/>
              </a:solidFill>
              <a:latin typeface="Times New Roman"/>
              <a:ea typeface="Times New Roman"/>
              <a:cs typeface="Times New Roman"/>
              <a:sym typeface="Times New Roman"/>
            </a:endParaRPr>
          </a:p>
        </p:txBody>
      </p:sp>
      <p:sp>
        <p:nvSpPr>
          <p:cNvPr id="982" name="Google Shape;982;p92"/>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98</a:t>
            </a:fld>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986"/>
        <p:cNvGrpSpPr/>
        <p:nvPr/>
      </p:nvGrpSpPr>
      <p:grpSpPr>
        <a:xfrm>
          <a:off x="0" y="0"/>
          <a:ext cx="0" cy="0"/>
          <a:chOff x="0" y="0"/>
          <a:chExt cx="0" cy="0"/>
        </a:xfrm>
      </p:grpSpPr>
      <p:sp>
        <p:nvSpPr>
          <p:cNvPr id="987" name="Google Shape;987;p93"/>
          <p:cNvSpPr txBox="1">
            <a:spLocks noGrp="1"/>
          </p:cNvSpPr>
          <p:nvPr>
            <p:ph type="title"/>
          </p:nvPr>
        </p:nvSpPr>
        <p:spPr>
          <a:xfrm>
            <a:off x="451586" y="346492"/>
            <a:ext cx="8375015" cy="429894"/>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endParaRPr/>
          </a:p>
        </p:txBody>
      </p:sp>
      <p:sp>
        <p:nvSpPr>
          <p:cNvPr id="988" name="Google Shape;988;p93"/>
          <p:cNvSpPr txBox="1">
            <a:spLocks noGrp="1"/>
          </p:cNvSpPr>
          <p:nvPr>
            <p:ph type="body" idx="1"/>
          </p:nvPr>
        </p:nvSpPr>
        <p:spPr>
          <a:xfrm>
            <a:off x="451586" y="1331222"/>
            <a:ext cx="9031605" cy="5539978"/>
          </a:xfrm>
          <a:prstGeom prst="rect">
            <a:avLst/>
          </a:prstGeom>
          <a:noFill/>
          <a:ln>
            <a:noFill/>
          </a:ln>
        </p:spPr>
        <p:txBody>
          <a:bodyPr spcFirstLastPara="1" wrap="square" lIns="0" tIns="0" rIns="0" bIns="0" anchor="t" anchorCtr="0">
            <a:spAutoFit/>
          </a:bodyPr>
          <a:lstStyle/>
          <a:p>
            <a:pPr marL="0" lvl="0" indent="0" algn="just" rtl="0">
              <a:spcBef>
                <a:spcPts val="0"/>
              </a:spcBef>
              <a:spcAft>
                <a:spcPts val="0"/>
              </a:spcAft>
              <a:buNone/>
            </a:pPr>
            <a:r>
              <a:rPr lang="en-US" sz="2400" dirty="0">
                <a:latin typeface="Calibri" panose="020F0502020204030204" pitchFamily="34" charset="0"/>
                <a:cs typeface="Calibri" panose="020F0502020204030204" pitchFamily="34" charset="0"/>
              </a:rPr>
              <a:t>Shallow parsing (also chunking or light parsing) is an analysis of a sentence which first identifies constituent parts of sentences (nouns, verbs, adjectives, etc.) and then links them to higher order units that have discrete grammatical meanings (noun groups or phrases, verb groups, etc.).</a:t>
            </a:r>
            <a:endParaRPr sz="2400" dirty="0">
              <a:latin typeface="Calibri" panose="020F0502020204030204" pitchFamily="34" charset="0"/>
              <a:cs typeface="Calibri" panose="020F0502020204030204" pitchFamily="34" charset="0"/>
            </a:endParaRPr>
          </a:p>
          <a:p>
            <a:pPr marL="0" lvl="0" indent="0" algn="just" rtl="0">
              <a:spcBef>
                <a:spcPts val="0"/>
              </a:spcBef>
              <a:spcAft>
                <a:spcPts val="0"/>
              </a:spcAft>
              <a:buNone/>
            </a:pPr>
            <a:r>
              <a:rPr lang="en-US" sz="2400" dirty="0">
                <a:latin typeface="Calibri" panose="020F0502020204030204" pitchFamily="34" charset="0"/>
                <a:cs typeface="Calibri" panose="020F0502020204030204" pitchFamily="34" charset="0"/>
              </a:rPr>
              <a:t>Chunking is used to get the required phrases from a given sentence. However, POS tagging can be used only to spot the parts of speech that every word of the sentence belongs to.</a:t>
            </a:r>
            <a:endParaRPr sz="2400" dirty="0">
              <a:latin typeface="Calibri" panose="020F0502020204030204" pitchFamily="34" charset="0"/>
              <a:cs typeface="Calibri" panose="020F0502020204030204" pitchFamily="34" charset="0"/>
            </a:endParaRPr>
          </a:p>
          <a:p>
            <a:pPr marL="0" lvl="0" indent="0" algn="just" rtl="0">
              <a:spcBef>
                <a:spcPts val="0"/>
              </a:spcBef>
              <a:spcAft>
                <a:spcPts val="0"/>
              </a:spcAft>
              <a:buNone/>
            </a:pPr>
            <a:r>
              <a:rPr lang="en-US" sz="2400" dirty="0">
                <a:latin typeface="Calibri" panose="020F0502020204030204" pitchFamily="34" charset="0"/>
                <a:cs typeface="Calibri" panose="020F0502020204030204" pitchFamily="34" charset="0"/>
              </a:rPr>
              <a:t>When we have loads of descriptions or modifications around a particular word or the phrase of our interest, we use chunking to grab the required phrase alone, ignoring the rest around it. Hence, chunking paves a way to group the required phrases and exclude all the modifiers around them which are not necessary for our analysis. Summing up, chunking helps us extract the important words alone from lengthy descriptions. Thus, chunking is a step in information extraction.</a:t>
            </a:r>
            <a:endParaRPr sz="2400" dirty="0">
              <a:latin typeface="Calibri" panose="020F0502020204030204" pitchFamily="34" charset="0"/>
              <a:cs typeface="Calibri" panose="020F0502020204030204" pitchFamily="34" charset="0"/>
            </a:endParaRPr>
          </a:p>
        </p:txBody>
      </p:sp>
      <p:sp>
        <p:nvSpPr>
          <p:cNvPr id="989" name="Google Shape;989;p93"/>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99</a:t>
            </a:fld>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993"/>
        <p:cNvGrpSpPr/>
        <p:nvPr/>
      </p:nvGrpSpPr>
      <p:grpSpPr>
        <a:xfrm>
          <a:off x="0" y="0"/>
          <a:ext cx="0" cy="0"/>
          <a:chOff x="0" y="0"/>
          <a:chExt cx="0" cy="0"/>
        </a:xfrm>
      </p:grpSpPr>
      <p:pic>
        <p:nvPicPr>
          <p:cNvPr id="996" name="Google Shape;996;p94"/>
          <p:cNvPicPr preferRelativeResize="0"/>
          <p:nvPr/>
        </p:nvPicPr>
        <p:blipFill rotWithShape="1">
          <a:blip r:embed="rId3">
            <a:alphaModFix/>
          </a:blip>
          <a:srcRect/>
          <a:stretch/>
        </p:blipFill>
        <p:spPr>
          <a:xfrm>
            <a:off x="1847850" y="1447800"/>
            <a:ext cx="6362700" cy="5715000"/>
          </a:xfrm>
          <a:prstGeom prst="rect">
            <a:avLst/>
          </a:prstGeom>
          <a:noFill/>
          <a:ln>
            <a:noFill/>
          </a:ln>
        </p:spPr>
      </p:pic>
      <p:sp>
        <p:nvSpPr>
          <p:cNvPr id="997" name="Google Shape;997;p94"/>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100</a:t>
            </a:fld>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Shape 1001"/>
        <p:cNvGrpSpPr/>
        <p:nvPr/>
      </p:nvGrpSpPr>
      <p:grpSpPr>
        <a:xfrm>
          <a:off x="0" y="0"/>
          <a:ext cx="0" cy="0"/>
          <a:chOff x="0" y="0"/>
          <a:chExt cx="0" cy="0"/>
        </a:xfrm>
      </p:grpSpPr>
      <p:sp>
        <p:nvSpPr>
          <p:cNvPr id="1002" name="Google Shape;1002;p95"/>
          <p:cNvSpPr txBox="1">
            <a:spLocks noGrp="1"/>
          </p:cNvSpPr>
          <p:nvPr>
            <p:ph type="title"/>
          </p:nvPr>
        </p:nvSpPr>
        <p:spPr>
          <a:xfrm>
            <a:off x="580704" y="516841"/>
            <a:ext cx="4700743" cy="47561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950" dirty="0"/>
              <a:t>Statistical Parsing</a:t>
            </a:r>
            <a:endParaRPr sz="2950" dirty="0"/>
          </a:p>
        </p:txBody>
      </p:sp>
      <p:sp>
        <p:nvSpPr>
          <p:cNvPr id="1003" name="Google Shape;1003;p95"/>
          <p:cNvSpPr txBox="1">
            <a:spLocks noGrp="1"/>
          </p:cNvSpPr>
          <p:nvPr>
            <p:ph type="body" idx="1"/>
          </p:nvPr>
        </p:nvSpPr>
        <p:spPr>
          <a:xfrm>
            <a:off x="523875" y="1220864"/>
            <a:ext cx="9031605" cy="4195359"/>
          </a:xfrm>
          <a:prstGeom prst="rect">
            <a:avLst/>
          </a:prstGeom>
          <a:noFill/>
          <a:ln>
            <a:noFill/>
          </a:ln>
        </p:spPr>
        <p:txBody>
          <a:bodyPr spcFirstLastPara="1" wrap="square" lIns="0" tIns="96500" rIns="0" bIns="0" anchor="t" anchorCtr="0">
            <a:spAutoFit/>
          </a:bodyPr>
          <a:lstStyle/>
          <a:p>
            <a:pPr marL="201295" lvl="0" indent="-189230" algn="l" rtl="0">
              <a:lnSpc>
                <a:spcPct val="100000"/>
              </a:lnSpc>
              <a:spcBef>
                <a:spcPts val="0"/>
              </a:spcBef>
              <a:spcAft>
                <a:spcPts val="0"/>
              </a:spcAft>
              <a:buClr>
                <a:schemeClr val="dk1"/>
              </a:buClr>
              <a:buSzPts val="1900"/>
              <a:buFont typeface="Arial"/>
              <a:buChar char="•"/>
            </a:pPr>
            <a:r>
              <a:rPr lang="en-US" dirty="0"/>
              <a:t>Statistical /Probabilistic parsing helps to solve the problem of disambiguation</a:t>
            </a:r>
            <a:endParaRPr dirty="0"/>
          </a:p>
          <a:p>
            <a:pPr marL="201295" marR="5080" lvl="0" indent="-189230" algn="l" rtl="0">
              <a:lnSpc>
                <a:spcPct val="110526"/>
              </a:lnSpc>
              <a:spcBef>
                <a:spcPts val="930"/>
              </a:spcBef>
              <a:spcAft>
                <a:spcPts val="0"/>
              </a:spcAft>
              <a:buClr>
                <a:schemeClr val="dk1"/>
              </a:buClr>
              <a:buSzPts val="1900"/>
              <a:buFont typeface="Arial"/>
              <a:buChar char="•"/>
            </a:pPr>
            <a:r>
              <a:rPr lang="en-US" dirty="0"/>
              <a:t>Compute the probability of each possible interpretation and choose the most probable  interpretation</a:t>
            </a:r>
            <a:endParaRPr dirty="0"/>
          </a:p>
          <a:p>
            <a:pPr marL="201295" lvl="0" indent="-189230" algn="l" rtl="0">
              <a:lnSpc>
                <a:spcPct val="100000"/>
              </a:lnSpc>
              <a:spcBef>
                <a:spcPts val="570"/>
              </a:spcBef>
              <a:spcAft>
                <a:spcPts val="0"/>
              </a:spcAft>
              <a:buClr>
                <a:schemeClr val="dk1"/>
              </a:buClr>
              <a:buSzPts val="1900"/>
              <a:buFont typeface="Arial"/>
              <a:buChar char="•"/>
            </a:pPr>
            <a:r>
              <a:rPr lang="en-US" dirty="0"/>
              <a:t>Most of the modern parsers in NLP are probabilistic</a:t>
            </a:r>
            <a:endParaRPr dirty="0"/>
          </a:p>
          <a:p>
            <a:pPr marL="201295" lvl="0" indent="-189230" algn="l" rtl="0">
              <a:lnSpc>
                <a:spcPct val="100000"/>
              </a:lnSpc>
              <a:spcBef>
                <a:spcPts val="600"/>
              </a:spcBef>
              <a:spcAft>
                <a:spcPts val="0"/>
              </a:spcAft>
              <a:buClr>
                <a:schemeClr val="dk1"/>
              </a:buClr>
              <a:buSzPts val="1900"/>
              <a:buFont typeface="Arial"/>
              <a:buChar char="•"/>
            </a:pPr>
            <a:r>
              <a:rPr lang="en-US" dirty="0"/>
              <a:t>Probabilistic parsers use Probabilistic / Stochastic CFG (PCFG)</a:t>
            </a:r>
            <a:endParaRPr dirty="0"/>
          </a:p>
          <a:p>
            <a:pPr marL="68580" lvl="0" indent="0" algn="l" rtl="0">
              <a:lnSpc>
                <a:spcPct val="100000"/>
              </a:lnSpc>
              <a:spcBef>
                <a:spcPts val="600"/>
              </a:spcBef>
              <a:spcAft>
                <a:spcPts val="0"/>
              </a:spcAft>
              <a:buNone/>
            </a:pPr>
            <a:r>
              <a:rPr lang="en-US" dirty="0"/>
              <a:t>- augmenting CFG with probabilities</a:t>
            </a:r>
            <a:endParaRPr dirty="0"/>
          </a:p>
          <a:p>
            <a:pPr marL="201295" lvl="0" indent="-189230" algn="l" rtl="0">
              <a:lnSpc>
                <a:spcPct val="100000"/>
              </a:lnSpc>
              <a:spcBef>
                <a:spcPts val="600"/>
              </a:spcBef>
              <a:spcAft>
                <a:spcPts val="0"/>
              </a:spcAft>
              <a:buClr>
                <a:schemeClr val="dk1"/>
              </a:buClr>
              <a:buSzPts val="1900"/>
              <a:buFont typeface="Arial"/>
              <a:buChar char="•"/>
            </a:pPr>
            <a:r>
              <a:rPr lang="en-US" dirty="0"/>
              <a:t>In PCFG, each production rule will be of the </a:t>
            </a:r>
            <a:r>
              <a:rPr lang="en-US" dirty="0" smtClean="0"/>
              <a:t>form</a:t>
            </a:r>
          </a:p>
          <a:p>
            <a:pPr marL="201295" lvl="0" indent="-189230" algn="l" rtl="0">
              <a:lnSpc>
                <a:spcPct val="100000"/>
              </a:lnSpc>
              <a:spcBef>
                <a:spcPts val="600"/>
              </a:spcBef>
              <a:spcAft>
                <a:spcPts val="0"/>
              </a:spcAft>
              <a:buClr>
                <a:schemeClr val="dk1"/>
              </a:buClr>
              <a:buSzPts val="1900"/>
              <a:buFont typeface="Arial"/>
              <a:buChar char="•"/>
            </a:pPr>
            <a:endParaRPr lang="en-US" dirty="0" smtClean="0"/>
          </a:p>
          <a:p>
            <a:pPr marL="201295" lvl="0" indent="-189230" algn="l" rtl="0">
              <a:lnSpc>
                <a:spcPct val="100000"/>
              </a:lnSpc>
              <a:spcBef>
                <a:spcPts val="600"/>
              </a:spcBef>
              <a:spcAft>
                <a:spcPts val="0"/>
              </a:spcAft>
              <a:buClr>
                <a:schemeClr val="dk1"/>
              </a:buClr>
              <a:buSzPts val="1900"/>
              <a:buFont typeface="Arial"/>
              <a:buChar char="•"/>
            </a:pPr>
            <a:endParaRPr lang="en-US" dirty="0"/>
          </a:p>
          <a:p>
            <a:pPr marL="201295" lvl="0" indent="-189230" algn="l" rtl="0">
              <a:lnSpc>
                <a:spcPct val="100000"/>
              </a:lnSpc>
              <a:spcBef>
                <a:spcPts val="600"/>
              </a:spcBef>
              <a:spcAft>
                <a:spcPts val="0"/>
              </a:spcAft>
              <a:buClr>
                <a:schemeClr val="dk1"/>
              </a:buClr>
              <a:buSzPts val="1900"/>
              <a:buFont typeface="Arial"/>
              <a:buChar char="•"/>
            </a:pPr>
            <a:endParaRPr lang="en-US" dirty="0" smtClean="0"/>
          </a:p>
          <a:p>
            <a:pPr marL="201295" lvl="0" indent="-189230" algn="l" rtl="0">
              <a:lnSpc>
                <a:spcPct val="100000"/>
              </a:lnSpc>
              <a:spcBef>
                <a:spcPts val="600"/>
              </a:spcBef>
              <a:spcAft>
                <a:spcPts val="0"/>
              </a:spcAft>
              <a:buClr>
                <a:schemeClr val="dk1"/>
              </a:buClr>
              <a:buSzPts val="1900"/>
              <a:buFont typeface="Arial"/>
              <a:buChar char="•"/>
            </a:pPr>
            <a:endParaRPr dirty="0"/>
          </a:p>
        </p:txBody>
      </p:sp>
      <p:sp>
        <p:nvSpPr>
          <p:cNvPr id="1004" name="Google Shape;1004;p95"/>
          <p:cNvSpPr txBox="1"/>
          <p:nvPr/>
        </p:nvSpPr>
        <p:spPr>
          <a:xfrm>
            <a:off x="895985" y="4075176"/>
            <a:ext cx="604520" cy="3225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950" dirty="0">
                <a:solidFill>
                  <a:schemeClr val="dk1"/>
                </a:solidFill>
                <a:latin typeface="Calibri"/>
                <a:ea typeface="Calibri"/>
                <a:cs typeface="Calibri"/>
                <a:sym typeface="Calibri"/>
              </a:rPr>
              <a:t>A -&gt; β</a:t>
            </a:r>
            <a:endParaRPr sz="1950" dirty="0">
              <a:solidFill>
                <a:schemeClr val="dk1"/>
              </a:solidFill>
              <a:latin typeface="Calibri"/>
              <a:ea typeface="Calibri"/>
              <a:cs typeface="Calibri"/>
              <a:sym typeface="Calibri"/>
            </a:endParaRPr>
          </a:p>
        </p:txBody>
      </p:sp>
      <p:sp>
        <p:nvSpPr>
          <p:cNvPr id="1005" name="Google Shape;1005;p95"/>
          <p:cNvSpPr txBox="1"/>
          <p:nvPr/>
        </p:nvSpPr>
        <p:spPr>
          <a:xfrm>
            <a:off x="1500505" y="4010406"/>
            <a:ext cx="5582920" cy="774700"/>
          </a:xfrm>
          <a:prstGeom prst="rect">
            <a:avLst/>
          </a:prstGeom>
          <a:noFill/>
          <a:ln>
            <a:noFill/>
          </a:ln>
        </p:spPr>
        <p:txBody>
          <a:bodyPr spcFirstLastPara="1" wrap="square" lIns="0" tIns="90150" rIns="0" bIns="0" anchor="t" anchorCtr="0">
            <a:spAutoFit/>
          </a:bodyPr>
          <a:lstStyle/>
          <a:p>
            <a:pPr marL="12700" marR="0" lvl="0" indent="0" algn="l" rtl="0">
              <a:lnSpc>
                <a:spcPct val="100000"/>
              </a:lnSpc>
              <a:spcBef>
                <a:spcPts val="0"/>
              </a:spcBef>
              <a:spcAft>
                <a:spcPts val="0"/>
              </a:spcAft>
              <a:buNone/>
            </a:pPr>
            <a:r>
              <a:rPr lang="en-US" sz="1950" dirty="0">
                <a:solidFill>
                  <a:schemeClr val="dk1"/>
                </a:solidFill>
                <a:latin typeface="Calibri"/>
                <a:ea typeface="Calibri"/>
                <a:cs typeface="Calibri"/>
                <a:sym typeface="Calibri"/>
              </a:rPr>
              <a:t>[p] ……………… p is </a:t>
            </a:r>
            <a:r>
              <a:rPr lang="en-US" sz="1950" dirty="0" err="1">
                <a:solidFill>
                  <a:schemeClr val="dk1"/>
                </a:solidFill>
                <a:latin typeface="Calibri"/>
                <a:ea typeface="Calibri"/>
                <a:cs typeface="Calibri"/>
                <a:sym typeface="Calibri"/>
              </a:rPr>
              <a:t>prob</a:t>
            </a:r>
            <a:r>
              <a:rPr lang="en-US" sz="1950" dirty="0">
                <a:solidFill>
                  <a:schemeClr val="dk1"/>
                </a:solidFill>
                <a:latin typeface="Calibri"/>
                <a:ea typeface="Calibri"/>
                <a:cs typeface="Calibri"/>
                <a:sym typeface="Calibri"/>
              </a:rPr>
              <a:t> that NT A will be expanded to β</a:t>
            </a:r>
            <a:endParaRPr sz="1950" dirty="0">
              <a:solidFill>
                <a:schemeClr val="dk1"/>
              </a:solidFill>
              <a:latin typeface="Calibri"/>
              <a:ea typeface="Calibri"/>
              <a:cs typeface="Calibri"/>
              <a:sym typeface="Calibri"/>
            </a:endParaRPr>
          </a:p>
          <a:p>
            <a:pPr marL="1557020" marR="0" lvl="0" indent="0" algn="l" rtl="0">
              <a:lnSpc>
                <a:spcPct val="100000"/>
              </a:lnSpc>
              <a:spcBef>
                <a:spcPts val="605"/>
              </a:spcBef>
              <a:spcAft>
                <a:spcPts val="0"/>
              </a:spcAft>
              <a:buNone/>
            </a:pPr>
            <a:r>
              <a:rPr lang="en-US" sz="1950" dirty="0">
                <a:solidFill>
                  <a:schemeClr val="dk1"/>
                </a:solidFill>
                <a:latin typeface="Calibri"/>
                <a:ea typeface="Calibri"/>
                <a:cs typeface="Calibri"/>
                <a:sym typeface="Calibri"/>
              </a:rPr>
              <a:t>p is a number between 0 and 1</a:t>
            </a:r>
            <a:endParaRPr sz="1950" dirty="0">
              <a:solidFill>
                <a:schemeClr val="dk1"/>
              </a:solidFill>
              <a:latin typeface="Calibri"/>
              <a:ea typeface="Calibri"/>
              <a:cs typeface="Calibri"/>
              <a:sym typeface="Calibri"/>
            </a:endParaRPr>
          </a:p>
        </p:txBody>
      </p:sp>
      <p:sp>
        <p:nvSpPr>
          <p:cNvPr id="1006" name="Google Shape;1006;p95"/>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101</a:t>
            </a:fld>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MasterSp="0">
  <p:cSld>
    <p:spTree>
      <p:nvGrpSpPr>
        <p:cNvPr id="1" name="Shape 1010"/>
        <p:cNvGrpSpPr/>
        <p:nvPr/>
      </p:nvGrpSpPr>
      <p:grpSpPr>
        <a:xfrm>
          <a:off x="0" y="0"/>
          <a:ext cx="0" cy="0"/>
          <a:chOff x="0" y="0"/>
          <a:chExt cx="0" cy="0"/>
        </a:xfrm>
      </p:grpSpPr>
      <p:sp>
        <p:nvSpPr>
          <p:cNvPr id="1011" name="Google Shape;1011;p96"/>
          <p:cNvSpPr txBox="1">
            <a:spLocks noGrp="1"/>
          </p:cNvSpPr>
          <p:nvPr>
            <p:ph type="title"/>
          </p:nvPr>
        </p:nvSpPr>
        <p:spPr>
          <a:xfrm>
            <a:off x="754126" y="1033017"/>
            <a:ext cx="827405" cy="47561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950"/>
              <a:t>PCFG</a:t>
            </a:r>
            <a:endParaRPr sz="2950"/>
          </a:p>
        </p:txBody>
      </p:sp>
      <p:pic>
        <p:nvPicPr>
          <p:cNvPr id="1012" name="Google Shape;1012;p96"/>
          <p:cNvPicPr preferRelativeResize="0"/>
          <p:nvPr/>
        </p:nvPicPr>
        <p:blipFill rotWithShape="1">
          <a:blip r:embed="rId3">
            <a:alphaModFix/>
          </a:blip>
          <a:srcRect/>
          <a:stretch/>
        </p:blipFill>
        <p:spPr>
          <a:xfrm>
            <a:off x="1104900" y="1859279"/>
            <a:ext cx="7382256" cy="4741164"/>
          </a:xfrm>
          <a:prstGeom prst="rect">
            <a:avLst/>
          </a:prstGeom>
          <a:noFill/>
          <a:ln>
            <a:noFill/>
          </a:ln>
        </p:spPr>
      </p:pic>
      <p:sp>
        <p:nvSpPr>
          <p:cNvPr id="1013" name="Google Shape;1013;p96"/>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102</a:t>
            </a:fld>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Shape 1017"/>
        <p:cNvGrpSpPr/>
        <p:nvPr/>
      </p:nvGrpSpPr>
      <p:grpSpPr>
        <a:xfrm>
          <a:off x="0" y="0"/>
          <a:ext cx="0" cy="0"/>
          <a:chOff x="0" y="0"/>
          <a:chExt cx="0" cy="0"/>
        </a:xfrm>
      </p:grpSpPr>
      <p:sp>
        <p:nvSpPr>
          <p:cNvPr id="1018" name="Google Shape;1018;p97"/>
          <p:cNvSpPr txBox="1">
            <a:spLocks noGrp="1"/>
          </p:cNvSpPr>
          <p:nvPr>
            <p:ph type="title"/>
          </p:nvPr>
        </p:nvSpPr>
        <p:spPr>
          <a:xfrm>
            <a:off x="754125" y="1301750"/>
            <a:ext cx="4668600" cy="4215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None/>
            </a:pPr>
            <a:r>
              <a:rPr lang="en-US"/>
              <a:t>Disambiguation with PCFGs</a:t>
            </a:r>
            <a:endParaRPr/>
          </a:p>
        </p:txBody>
      </p:sp>
      <p:sp>
        <p:nvSpPr>
          <p:cNvPr id="1019" name="Google Shape;1019;p97"/>
          <p:cNvSpPr txBox="1"/>
          <p:nvPr/>
        </p:nvSpPr>
        <p:spPr>
          <a:xfrm>
            <a:off x="267461" y="1977389"/>
            <a:ext cx="8959215" cy="1428115"/>
          </a:xfrm>
          <a:prstGeom prst="rect">
            <a:avLst/>
          </a:prstGeom>
          <a:noFill/>
          <a:ln>
            <a:noFill/>
          </a:ln>
        </p:spPr>
        <p:txBody>
          <a:bodyPr spcFirstLastPara="1" wrap="square" lIns="0" tIns="96500" rIns="0" bIns="0" anchor="t" anchorCtr="0">
            <a:spAutoFit/>
          </a:bodyPr>
          <a:lstStyle/>
          <a:p>
            <a:pPr marL="227329" marR="0" lvl="0" indent="-189865" algn="l" rtl="0">
              <a:lnSpc>
                <a:spcPct val="100000"/>
              </a:lnSpc>
              <a:spcBef>
                <a:spcPts val="0"/>
              </a:spcBef>
              <a:spcAft>
                <a:spcPts val="0"/>
              </a:spcAft>
              <a:buClr>
                <a:schemeClr val="dk1"/>
              </a:buClr>
              <a:buSzPts val="1950"/>
              <a:buFont typeface="Arial"/>
              <a:buChar char="•"/>
            </a:pPr>
            <a:r>
              <a:rPr lang="en-US" sz="1950">
                <a:solidFill>
                  <a:schemeClr val="dk1"/>
                </a:solidFill>
                <a:latin typeface="Calibri"/>
                <a:ea typeface="Calibri"/>
                <a:cs typeface="Calibri"/>
                <a:sym typeface="Calibri"/>
              </a:rPr>
              <a:t>PCFG assigns probability to each parse tree (ie. Each derivation) of a sentence S</a:t>
            </a:r>
            <a:endParaRPr sz="1950">
              <a:solidFill>
                <a:schemeClr val="dk1"/>
              </a:solidFill>
              <a:latin typeface="Calibri"/>
              <a:ea typeface="Calibri"/>
              <a:cs typeface="Calibri"/>
              <a:sym typeface="Calibri"/>
            </a:endParaRPr>
          </a:p>
          <a:p>
            <a:pPr marL="227329" marR="0" lvl="0" indent="-189865" algn="l" rtl="0">
              <a:lnSpc>
                <a:spcPct val="113846"/>
              </a:lnSpc>
              <a:spcBef>
                <a:spcPts val="660"/>
              </a:spcBef>
              <a:spcAft>
                <a:spcPts val="0"/>
              </a:spcAft>
              <a:buClr>
                <a:schemeClr val="dk1"/>
              </a:buClr>
              <a:buSzPts val="1950"/>
              <a:buFont typeface="Arial"/>
              <a:buChar char="•"/>
            </a:pPr>
            <a:r>
              <a:rPr lang="en-US" sz="1950">
                <a:solidFill>
                  <a:schemeClr val="dk1"/>
                </a:solidFill>
                <a:latin typeface="Calibri"/>
                <a:ea typeface="Calibri"/>
                <a:cs typeface="Calibri"/>
                <a:sym typeface="Calibri"/>
              </a:rPr>
              <a:t>The probability of a particular parse T is defined as a product of the probabilities of all</a:t>
            </a:r>
            <a:endParaRPr sz="1950">
              <a:solidFill>
                <a:schemeClr val="dk1"/>
              </a:solidFill>
              <a:latin typeface="Calibri"/>
              <a:ea typeface="Calibri"/>
              <a:cs typeface="Calibri"/>
              <a:sym typeface="Calibri"/>
            </a:endParaRPr>
          </a:p>
          <a:p>
            <a:pPr marL="227329" marR="0" lvl="0" indent="0" algn="l" rtl="0">
              <a:lnSpc>
                <a:spcPct val="113846"/>
              </a:lnSpc>
              <a:spcBef>
                <a:spcPts val="0"/>
              </a:spcBef>
              <a:spcAft>
                <a:spcPts val="0"/>
              </a:spcAft>
              <a:buNone/>
            </a:pPr>
            <a:r>
              <a:rPr lang="en-US" sz="1950">
                <a:solidFill>
                  <a:schemeClr val="dk1"/>
                </a:solidFill>
                <a:latin typeface="Calibri"/>
                <a:ea typeface="Calibri"/>
                <a:cs typeface="Calibri"/>
                <a:sym typeface="Calibri"/>
              </a:rPr>
              <a:t>the n rules used to expand each of the non-terminal nodes in the parse tree T,</a:t>
            </a:r>
            <a:endParaRPr sz="1950">
              <a:solidFill>
                <a:schemeClr val="dk1"/>
              </a:solidFill>
              <a:latin typeface="Calibri"/>
              <a:ea typeface="Calibri"/>
              <a:cs typeface="Calibri"/>
              <a:sym typeface="Calibri"/>
            </a:endParaRPr>
          </a:p>
          <a:p>
            <a:pPr marL="264160" marR="0" lvl="0" indent="0" algn="l" rtl="0">
              <a:lnSpc>
                <a:spcPct val="100000"/>
              </a:lnSpc>
              <a:spcBef>
                <a:spcPts val="600"/>
              </a:spcBef>
              <a:spcAft>
                <a:spcPts val="0"/>
              </a:spcAft>
              <a:buNone/>
            </a:pPr>
            <a:r>
              <a:rPr lang="en-US" sz="1950">
                <a:solidFill>
                  <a:schemeClr val="dk1"/>
                </a:solidFill>
                <a:latin typeface="Calibri"/>
                <a:ea typeface="Calibri"/>
                <a:cs typeface="Calibri"/>
                <a:sym typeface="Calibri"/>
              </a:rPr>
              <a:t>where each rule i can be expressed </a:t>
            </a:r>
            <a:r>
              <a:rPr lang="en-US" sz="1650">
                <a:solidFill>
                  <a:schemeClr val="dk1"/>
                </a:solidFill>
                <a:latin typeface="Calibri"/>
                <a:ea typeface="Calibri"/>
                <a:cs typeface="Calibri"/>
                <a:sym typeface="Calibri"/>
              </a:rPr>
              <a:t>as </a:t>
            </a:r>
            <a:r>
              <a:rPr lang="en-US" sz="1950">
                <a:solidFill>
                  <a:schemeClr val="dk1"/>
                </a:solidFill>
                <a:latin typeface="Calibri"/>
                <a:ea typeface="Calibri"/>
                <a:cs typeface="Calibri"/>
                <a:sym typeface="Calibri"/>
              </a:rPr>
              <a:t>LHS</a:t>
            </a:r>
            <a:r>
              <a:rPr lang="en-US" sz="1950" baseline="-25000">
                <a:solidFill>
                  <a:schemeClr val="dk1"/>
                </a:solidFill>
                <a:latin typeface="Calibri"/>
                <a:ea typeface="Calibri"/>
                <a:cs typeface="Calibri"/>
                <a:sym typeface="Calibri"/>
              </a:rPr>
              <a:t>i </a:t>
            </a:r>
            <a:r>
              <a:rPr lang="en-US" sz="1950">
                <a:solidFill>
                  <a:schemeClr val="dk1"/>
                </a:solidFill>
                <a:latin typeface="Calibri"/>
                <a:ea typeface="Calibri"/>
                <a:cs typeface="Calibri"/>
                <a:sym typeface="Calibri"/>
              </a:rPr>
              <a:t>= RHS</a:t>
            </a:r>
            <a:r>
              <a:rPr lang="en-US" sz="1950" baseline="-25000">
                <a:solidFill>
                  <a:schemeClr val="dk1"/>
                </a:solidFill>
                <a:latin typeface="Calibri"/>
                <a:ea typeface="Calibri"/>
                <a:cs typeface="Calibri"/>
                <a:sym typeface="Calibri"/>
              </a:rPr>
              <a:t>i</a:t>
            </a:r>
            <a:endParaRPr sz="1950" baseline="-25000">
              <a:solidFill>
                <a:schemeClr val="dk1"/>
              </a:solidFill>
              <a:latin typeface="Calibri"/>
              <a:ea typeface="Calibri"/>
              <a:cs typeface="Calibri"/>
              <a:sym typeface="Calibri"/>
            </a:endParaRPr>
          </a:p>
        </p:txBody>
      </p:sp>
      <p:sp>
        <p:nvSpPr>
          <p:cNvPr id="1020" name="Google Shape;1020;p97"/>
          <p:cNvSpPr txBox="1"/>
          <p:nvPr/>
        </p:nvSpPr>
        <p:spPr>
          <a:xfrm>
            <a:off x="1859026" y="3839972"/>
            <a:ext cx="779780" cy="3232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950">
                <a:solidFill>
                  <a:schemeClr val="dk1"/>
                </a:solidFill>
                <a:latin typeface="Calibri"/>
                <a:ea typeface="Calibri"/>
                <a:cs typeface="Calibri"/>
                <a:sym typeface="Calibri"/>
              </a:rPr>
              <a:t>P(T, S) =</a:t>
            </a:r>
            <a:endParaRPr sz="1950">
              <a:solidFill>
                <a:schemeClr val="dk1"/>
              </a:solidFill>
              <a:latin typeface="Calibri"/>
              <a:ea typeface="Calibri"/>
              <a:cs typeface="Calibri"/>
              <a:sym typeface="Calibri"/>
            </a:endParaRPr>
          </a:p>
        </p:txBody>
      </p:sp>
      <p:pic>
        <p:nvPicPr>
          <p:cNvPr id="1021" name="Google Shape;1021;p97"/>
          <p:cNvPicPr preferRelativeResize="0"/>
          <p:nvPr/>
        </p:nvPicPr>
        <p:blipFill rotWithShape="1">
          <a:blip r:embed="rId3">
            <a:alphaModFix/>
          </a:blip>
          <a:srcRect/>
          <a:stretch/>
        </p:blipFill>
        <p:spPr>
          <a:xfrm>
            <a:off x="2734817" y="3930396"/>
            <a:ext cx="179831" cy="228600"/>
          </a:xfrm>
          <a:prstGeom prst="rect">
            <a:avLst/>
          </a:prstGeom>
          <a:noFill/>
          <a:ln>
            <a:noFill/>
          </a:ln>
        </p:spPr>
      </p:pic>
      <p:pic>
        <p:nvPicPr>
          <p:cNvPr id="1022" name="Google Shape;1022;p97"/>
          <p:cNvPicPr preferRelativeResize="0"/>
          <p:nvPr/>
        </p:nvPicPr>
        <p:blipFill rotWithShape="1">
          <a:blip r:embed="rId4">
            <a:alphaModFix/>
          </a:blip>
          <a:srcRect/>
          <a:stretch/>
        </p:blipFill>
        <p:spPr>
          <a:xfrm>
            <a:off x="3286505" y="3939540"/>
            <a:ext cx="806196" cy="231648"/>
          </a:xfrm>
          <a:prstGeom prst="rect">
            <a:avLst/>
          </a:prstGeom>
          <a:noFill/>
          <a:ln>
            <a:noFill/>
          </a:ln>
        </p:spPr>
      </p:pic>
      <p:grpSp>
        <p:nvGrpSpPr>
          <p:cNvPr id="1023" name="Google Shape;1023;p97"/>
          <p:cNvGrpSpPr/>
          <p:nvPr/>
        </p:nvGrpSpPr>
        <p:grpSpPr>
          <a:xfrm>
            <a:off x="4171950" y="3939540"/>
            <a:ext cx="614933" cy="231648"/>
            <a:chOff x="4171950" y="3939540"/>
            <a:chExt cx="614933" cy="231648"/>
          </a:xfrm>
        </p:grpSpPr>
        <p:pic>
          <p:nvPicPr>
            <p:cNvPr id="1024" name="Google Shape;1024;p97"/>
            <p:cNvPicPr preferRelativeResize="0"/>
            <p:nvPr/>
          </p:nvPicPr>
          <p:blipFill rotWithShape="1">
            <a:blip r:embed="rId5">
              <a:alphaModFix/>
            </a:blip>
            <a:srcRect/>
            <a:stretch/>
          </p:blipFill>
          <p:spPr>
            <a:xfrm>
              <a:off x="4171950" y="3947160"/>
              <a:ext cx="439292" cy="170561"/>
            </a:xfrm>
            <a:prstGeom prst="rect">
              <a:avLst/>
            </a:prstGeom>
            <a:noFill/>
            <a:ln>
              <a:noFill/>
            </a:ln>
          </p:spPr>
        </p:pic>
        <p:sp>
          <p:nvSpPr>
            <p:cNvPr id="1025" name="Google Shape;1025;p97"/>
            <p:cNvSpPr/>
            <p:nvPr/>
          </p:nvSpPr>
          <p:spPr>
            <a:xfrm>
              <a:off x="4631690" y="3950207"/>
              <a:ext cx="53975" cy="167640"/>
            </a:xfrm>
            <a:custGeom>
              <a:avLst/>
              <a:gdLst/>
              <a:ahLst/>
              <a:cxnLst/>
              <a:rect l="l" t="t" r="r" b="b"/>
              <a:pathLst>
                <a:path w="53975" h="167639" extrusionOk="0">
                  <a:moveTo>
                    <a:pt x="52070" y="0"/>
                  </a:moveTo>
                  <a:lnTo>
                    <a:pt x="30353" y="0"/>
                  </a:lnTo>
                  <a:lnTo>
                    <a:pt x="24638" y="24384"/>
                  </a:lnTo>
                  <a:lnTo>
                    <a:pt x="46482" y="24384"/>
                  </a:lnTo>
                  <a:lnTo>
                    <a:pt x="52070" y="0"/>
                  </a:lnTo>
                  <a:close/>
                </a:path>
                <a:path w="53975" h="167639" extrusionOk="0">
                  <a:moveTo>
                    <a:pt x="53848" y="145542"/>
                  </a:moveTo>
                  <a:lnTo>
                    <a:pt x="46863" y="138557"/>
                  </a:lnTo>
                  <a:lnTo>
                    <a:pt x="41783" y="144653"/>
                  </a:lnTo>
                  <a:lnTo>
                    <a:pt x="37973" y="148717"/>
                  </a:lnTo>
                  <a:lnTo>
                    <a:pt x="35052" y="150749"/>
                  </a:lnTo>
                  <a:lnTo>
                    <a:pt x="32258" y="152908"/>
                  </a:lnTo>
                  <a:lnTo>
                    <a:pt x="29591" y="153924"/>
                  </a:lnTo>
                  <a:lnTo>
                    <a:pt x="27178" y="153797"/>
                  </a:lnTo>
                  <a:lnTo>
                    <a:pt x="24892" y="153924"/>
                  </a:lnTo>
                  <a:lnTo>
                    <a:pt x="23241" y="153289"/>
                  </a:lnTo>
                  <a:lnTo>
                    <a:pt x="21209" y="150241"/>
                  </a:lnTo>
                  <a:lnTo>
                    <a:pt x="20574" y="147955"/>
                  </a:lnTo>
                  <a:lnTo>
                    <a:pt x="20574" y="140462"/>
                  </a:lnTo>
                  <a:lnTo>
                    <a:pt x="21590" y="134366"/>
                  </a:lnTo>
                  <a:lnTo>
                    <a:pt x="23241" y="126238"/>
                  </a:lnTo>
                  <a:lnTo>
                    <a:pt x="41021" y="47244"/>
                  </a:lnTo>
                  <a:lnTo>
                    <a:pt x="33782" y="47244"/>
                  </a:lnTo>
                  <a:lnTo>
                    <a:pt x="3683" y="48768"/>
                  </a:lnTo>
                  <a:lnTo>
                    <a:pt x="2413" y="54864"/>
                  </a:lnTo>
                  <a:lnTo>
                    <a:pt x="7493" y="55118"/>
                  </a:lnTo>
                  <a:lnTo>
                    <a:pt x="11049" y="55880"/>
                  </a:lnTo>
                  <a:lnTo>
                    <a:pt x="14605" y="58420"/>
                  </a:lnTo>
                  <a:lnTo>
                    <a:pt x="15494" y="60960"/>
                  </a:lnTo>
                  <a:lnTo>
                    <a:pt x="15494" y="68707"/>
                  </a:lnTo>
                  <a:lnTo>
                    <a:pt x="14478" y="74930"/>
                  </a:lnTo>
                  <a:lnTo>
                    <a:pt x="1016" y="132715"/>
                  </a:lnTo>
                  <a:lnTo>
                    <a:pt x="0" y="140462"/>
                  </a:lnTo>
                  <a:lnTo>
                    <a:pt x="0" y="153289"/>
                  </a:lnTo>
                  <a:lnTo>
                    <a:pt x="1524" y="157988"/>
                  </a:lnTo>
                  <a:lnTo>
                    <a:pt x="8001" y="165735"/>
                  </a:lnTo>
                  <a:lnTo>
                    <a:pt x="12192" y="167513"/>
                  </a:lnTo>
                  <a:lnTo>
                    <a:pt x="23749" y="167513"/>
                  </a:lnTo>
                  <a:lnTo>
                    <a:pt x="48133" y="151384"/>
                  </a:lnTo>
                  <a:lnTo>
                    <a:pt x="53848" y="145542"/>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026" name="Google Shape;1026;p97"/>
            <p:cNvPicPr preferRelativeResize="0"/>
            <p:nvPr/>
          </p:nvPicPr>
          <p:blipFill rotWithShape="1">
            <a:blip r:embed="rId6">
              <a:alphaModFix/>
            </a:blip>
            <a:srcRect/>
            <a:stretch/>
          </p:blipFill>
          <p:spPr>
            <a:xfrm>
              <a:off x="4709159" y="3939540"/>
              <a:ext cx="77724" cy="231648"/>
            </a:xfrm>
            <a:prstGeom prst="rect">
              <a:avLst/>
            </a:prstGeom>
            <a:noFill/>
            <a:ln>
              <a:noFill/>
            </a:ln>
          </p:spPr>
        </p:pic>
      </p:grpSp>
      <p:sp>
        <p:nvSpPr>
          <p:cNvPr id="1027" name="Google Shape;1027;p97"/>
          <p:cNvSpPr txBox="1"/>
          <p:nvPr/>
        </p:nvSpPr>
        <p:spPr>
          <a:xfrm>
            <a:off x="2915411" y="3813555"/>
            <a:ext cx="331470" cy="413384"/>
          </a:xfrm>
          <a:prstGeom prst="rect">
            <a:avLst/>
          </a:prstGeom>
          <a:noFill/>
          <a:ln>
            <a:noFill/>
          </a:ln>
        </p:spPr>
        <p:txBody>
          <a:bodyPr spcFirstLastPara="1" wrap="square" lIns="0" tIns="12700" rIns="0" bIns="0" anchor="t" anchorCtr="0">
            <a:spAutoFit/>
          </a:bodyPr>
          <a:lstStyle/>
          <a:p>
            <a:pPr marL="12700" marR="0" lvl="0" indent="0" algn="l" rtl="0">
              <a:lnSpc>
                <a:spcPct val="105172"/>
              </a:lnSpc>
              <a:spcBef>
                <a:spcPts val="0"/>
              </a:spcBef>
              <a:spcAft>
                <a:spcPts val="0"/>
              </a:spcAft>
              <a:buNone/>
            </a:pPr>
            <a:r>
              <a:rPr lang="en-US" sz="1450">
                <a:solidFill>
                  <a:schemeClr val="dk1"/>
                </a:solidFill>
                <a:latin typeface="Cambria Math"/>
                <a:ea typeface="Cambria Math"/>
                <a:cs typeface="Cambria Math"/>
                <a:sym typeface="Cambria Math"/>
              </a:rPr>
              <a:t>n</a:t>
            </a:r>
            <a:endParaRPr sz="1450">
              <a:solidFill>
                <a:schemeClr val="dk1"/>
              </a:solidFill>
              <a:latin typeface="Cambria Math"/>
              <a:ea typeface="Cambria Math"/>
              <a:cs typeface="Cambria Math"/>
              <a:sym typeface="Cambria Math"/>
            </a:endParaRPr>
          </a:p>
          <a:p>
            <a:pPr marL="12700" marR="0" lvl="0" indent="0" algn="l" rtl="0">
              <a:lnSpc>
                <a:spcPct val="105172"/>
              </a:lnSpc>
              <a:spcBef>
                <a:spcPts val="0"/>
              </a:spcBef>
              <a:spcAft>
                <a:spcPts val="0"/>
              </a:spcAft>
              <a:buNone/>
            </a:pPr>
            <a:r>
              <a:rPr lang="en-US" sz="1450">
                <a:solidFill>
                  <a:schemeClr val="dk1"/>
                </a:solidFill>
                <a:latin typeface="Cambria Math"/>
                <a:ea typeface="Cambria Math"/>
                <a:cs typeface="Cambria Math"/>
                <a:sym typeface="Cambria Math"/>
              </a:rPr>
              <a:t>i=1</a:t>
            </a:r>
            <a:endParaRPr sz="1450">
              <a:solidFill>
                <a:schemeClr val="dk1"/>
              </a:solidFill>
              <a:latin typeface="Cambria Math"/>
              <a:ea typeface="Cambria Math"/>
              <a:cs typeface="Cambria Math"/>
              <a:sym typeface="Cambria Math"/>
            </a:endParaRPr>
          </a:p>
        </p:txBody>
      </p:sp>
      <p:sp>
        <p:nvSpPr>
          <p:cNvPr id="1028" name="Google Shape;1028;p97"/>
          <p:cNvSpPr txBox="1"/>
          <p:nvPr/>
        </p:nvSpPr>
        <p:spPr>
          <a:xfrm>
            <a:off x="293877" y="4591811"/>
            <a:ext cx="5382895" cy="3225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950">
                <a:solidFill>
                  <a:schemeClr val="dk1"/>
                </a:solidFill>
                <a:latin typeface="Calibri"/>
                <a:ea typeface="Calibri"/>
                <a:cs typeface="Calibri"/>
                <a:sym typeface="Calibri"/>
              </a:rPr>
              <a:t>Refer figure for ex statement “Book the dinner flight”</a:t>
            </a:r>
            <a:endParaRPr sz="1950">
              <a:solidFill>
                <a:schemeClr val="dk1"/>
              </a:solidFill>
              <a:latin typeface="Calibri"/>
              <a:ea typeface="Calibri"/>
              <a:cs typeface="Calibri"/>
              <a:sym typeface="Calibri"/>
            </a:endParaRPr>
          </a:p>
        </p:txBody>
      </p:sp>
      <p:sp>
        <p:nvSpPr>
          <p:cNvPr id="1029" name="Google Shape;1029;p97"/>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103</a:t>
            </a:fld>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MasterSp="0">
  <p:cSld>
    <p:spTree>
      <p:nvGrpSpPr>
        <p:cNvPr id="1" name="Shape 1033"/>
        <p:cNvGrpSpPr/>
        <p:nvPr/>
      </p:nvGrpSpPr>
      <p:grpSpPr>
        <a:xfrm>
          <a:off x="0" y="0"/>
          <a:ext cx="0" cy="0"/>
          <a:chOff x="0" y="0"/>
          <a:chExt cx="0" cy="0"/>
        </a:xfrm>
      </p:grpSpPr>
      <p:pic>
        <p:nvPicPr>
          <p:cNvPr id="1034" name="Google Shape;1034;p98"/>
          <p:cNvPicPr preferRelativeResize="0"/>
          <p:nvPr/>
        </p:nvPicPr>
        <p:blipFill rotWithShape="1">
          <a:blip r:embed="rId3">
            <a:alphaModFix/>
          </a:blip>
          <a:srcRect/>
          <a:stretch/>
        </p:blipFill>
        <p:spPr>
          <a:xfrm>
            <a:off x="1299972" y="1318260"/>
            <a:ext cx="7354824" cy="5303520"/>
          </a:xfrm>
          <a:prstGeom prst="rect">
            <a:avLst/>
          </a:prstGeom>
          <a:noFill/>
          <a:ln>
            <a:noFill/>
          </a:ln>
        </p:spPr>
      </p:pic>
      <p:sp>
        <p:nvSpPr>
          <p:cNvPr id="1035" name="Google Shape;1035;p98"/>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104</a:t>
            </a:fld>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1039"/>
        <p:cNvGrpSpPr/>
        <p:nvPr/>
      </p:nvGrpSpPr>
      <p:grpSpPr>
        <a:xfrm>
          <a:off x="0" y="0"/>
          <a:ext cx="0" cy="0"/>
          <a:chOff x="0" y="0"/>
          <a:chExt cx="0" cy="0"/>
        </a:xfrm>
      </p:grpSpPr>
      <p:sp>
        <p:nvSpPr>
          <p:cNvPr id="1040" name="Google Shape;1040;p99"/>
          <p:cNvSpPr txBox="1"/>
          <p:nvPr/>
        </p:nvSpPr>
        <p:spPr>
          <a:xfrm>
            <a:off x="1524000" y="1905000"/>
            <a:ext cx="7391400" cy="12003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a:solidFill>
                  <a:schemeClr val="dk1"/>
                </a:solidFill>
                <a:latin typeface="Calibri"/>
                <a:ea typeface="Calibri"/>
                <a:cs typeface="Calibri"/>
                <a:sym typeface="Calibri"/>
              </a:rPr>
              <a:t>PoS Tagging using </a:t>
            </a:r>
            <a:endParaRPr/>
          </a:p>
          <a:p>
            <a:pPr marL="0" marR="0" lvl="0" indent="0" algn="ctr" rtl="0">
              <a:spcBef>
                <a:spcPts val="0"/>
              </a:spcBef>
              <a:spcAft>
                <a:spcPts val="0"/>
              </a:spcAft>
              <a:buNone/>
            </a:pPr>
            <a:r>
              <a:rPr lang="en-US" sz="3600">
                <a:solidFill>
                  <a:schemeClr val="dk1"/>
                </a:solidFill>
                <a:latin typeface="Calibri"/>
                <a:ea typeface="Calibri"/>
                <a:cs typeface="Calibri"/>
                <a:sym typeface="Calibri"/>
              </a:rPr>
              <a:t>Hidden Markov Model (HMM)</a:t>
            </a:r>
            <a:endParaRPr/>
          </a:p>
        </p:txBody>
      </p:sp>
      <p:sp>
        <p:nvSpPr>
          <p:cNvPr id="1041" name="Google Shape;1041;p99"/>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105</a:t>
            </a:fld>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1045"/>
        <p:cNvGrpSpPr/>
        <p:nvPr/>
      </p:nvGrpSpPr>
      <p:grpSpPr>
        <a:xfrm>
          <a:off x="0" y="0"/>
          <a:ext cx="0" cy="0"/>
          <a:chOff x="0" y="0"/>
          <a:chExt cx="0" cy="0"/>
        </a:xfrm>
      </p:grpSpPr>
      <p:sp>
        <p:nvSpPr>
          <p:cNvPr id="1046" name="Google Shape;1046;p100"/>
          <p:cNvSpPr/>
          <p:nvPr/>
        </p:nvSpPr>
        <p:spPr>
          <a:xfrm>
            <a:off x="597568" y="1231154"/>
            <a:ext cx="9448800" cy="4524315"/>
          </a:xfrm>
          <a:prstGeom prst="rect">
            <a:avLst/>
          </a:prstGeom>
          <a:solidFill>
            <a:srgbClr val="FFFFFF"/>
          </a:solid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222222"/>
              </a:buClr>
              <a:buSzPts val="2400"/>
              <a:buFont typeface="Roboto"/>
              <a:buNone/>
            </a:pPr>
            <a:r>
              <a:rPr lang="en-US" sz="2400" b="0" i="0" u="none" strike="noStrike" cap="none">
                <a:solidFill>
                  <a:srgbClr val="222222"/>
                </a:solidFill>
                <a:latin typeface="Roboto"/>
                <a:ea typeface="Roboto"/>
                <a:cs typeface="Roboto"/>
                <a:sym typeface="Roboto"/>
              </a:rPr>
              <a:t>1) An easy introduction to Hidden Markov Model (HMM) - Part 1</a:t>
            </a:r>
            <a:r>
              <a:rPr lang="en-US" sz="2400" b="0" i="0" u="none" strike="noStrike" cap="none">
                <a:solidFill>
                  <a:srgbClr val="222222"/>
                </a:solidFill>
                <a:latin typeface="Arial"/>
                <a:ea typeface="Arial"/>
                <a:cs typeface="Arial"/>
                <a:sym typeface="Arial"/>
              </a:rPr>
              <a:t/>
            </a:r>
            <a:br>
              <a:rPr lang="en-US" sz="2400" b="0" i="0" u="none" strike="noStrike" cap="none">
                <a:solidFill>
                  <a:srgbClr val="222222"/>
                </a:solidFill>
                <a:latin typeface="Arial"/>
                <a:ea typeface="Arial"/>
                <a:cs typeface="Arial"/>
                <a:sym typeface="Arial"/>
              </a:rPr>
            </a:br>
            <a:endParaRPr sz="2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1155CC"/>
              </a:buClr>
              <a:buSzPts val="2400"/>
              <a:buFont typeface="Arial"/>
              <a:buNone/>
            </a:pPr>
            <a:r>
              <a:rPr lang="en-US" sz="2400" b="0" i="0" u="sng" strike="noStrike" cap="none">
                <a:solidFill>
                  <a:srgbClr val="1155CC"/>
                </a:solidFill>
                <a:latin typeface="Arial"/>
                <a:ea typeface="Arial"/>
                <a:cs typeface="Arial"/>
                <a:sym typeface="Arial"/>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https://www.youtube.com/watch?v=YlL0YARYK-o</a:t>
            </a:r>
            <a:endParaRPr sz="2400" b="0" i="0" u="none" strike="noStrike" cap="none">
              <a:solidFill>
                <a:srgbClr val="1155CC"/>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Arial"/>
              <a:buNone/>
            </a:pPr>
            <a:endParaRPr sz="2400">
              <a:solidFill>
                <a:srgbClr val="1155CC"/>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Arial"/>
              <a:buNone/>
            </a:pPr>
            <a:endParaRPr sz="2400" b="0" i="0" u="none" strike="noStrike" cap="none">
              <a:solidFill>
                <a:srgbClr val="1155CC"/>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Arial"/>
              <a:buNone/>
            </a:pPr>
            <a:endParaRPr sz="2400">
              <a:solidFill>
                <a:srgbClr val="1155CC"/>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Arial"/>
              <a:buNone/>
            </a:pPr>
            <a:endParaRPr sz="2400" b="0" i="0" u="none" strike="noStrike" cap="none">
              <a:solidFill>
                <a:srgbClr val="1155CC"/>
              </a:solidFill>
              <a:latin typeface="Arial"/>
              <a:ea typeface="Arial"/>
              <a:cs typeface="Arial"/>
              <a:sym typeface="Arial"/>
            </a:endParaRPr>
          </a:p>
          <a:p>
            <a:pPr marL="0" marR="0" lvl="0" indent="0" algn="l" rtl="0">
              <a:spcBef>
                <a:spcPts val="0"/>
              </a:spcBef>
              <a:spcAft>
                <a:spcPts val="0"/>
              </a:spcAft>
              <a:buNone/>
            </a:pPr>
            <a:r>
              <a:rPr lang="en-US" sz="2400">
                <a:solidFill>
                  <a:schemeClr val="dk1"/>
                </a:solidFill>
                <a:latin typeface="Arial"/>
                <a:ea typeface="Arial"/>
                <a:cs typeface="Arial"/>
                <a:sym typeface="Arial"/>
              </a:rPr>
              <a:t>2) https://www.youtube.com/watch?v=7ak1_zDUgEg</a:t>
            </a:r>
            <a:endParaRPr/>
          </a:p>
          <a:p>
            <a:pPr marL="0" marR="0" lvl="0" indent="0" algn="l" rtl="0">
              <a:lnSpc>
                <a:spcPct val="100000"/>
              </a:lnSpc>
              <a:spcBef>
                <a:spcPts val="0"/>
              </a:spcBef>
              <a:spcAft>
                <a:spcPts val="0"/>
              </a:spcAft>
              <a:buClr>
                <a:srgbClr val="222222"/>
              </a:buClr>
              <a:buSzPts val="2400"/>
              <a:buFont typeface="Arial"/>
              <a:buNone/>
            </a:pPr>
            <a:r>
              <a:rPr lang="en-US" sz="2400" b="0" i="0" u="none" strike="noStrike" cap="none">
                <a:solidFill>
                  <a:srgbClr val="222222"/>
                </a:solidFill>
                <a:latin typeface="Arial"/>
                <a:ea typeface="Arial"/>
                <a:cs typeface="Arial"/>
                <a:sym typeface="Arial"/>
              </a:rPr>
              <a:t/>
            </a:r>
            <a:br>
              <a:rPr lang="en-US" sz="2400" b="0" i="0" u="none" strike="noStrike" cap="none">
                <a:solidFill>
                  <a:srgbClr val="222222"/>
                </a:solidFill>
                <a:latin typeface="Arial"/>
                <a:ea typeface="Arial"/>
                <a:cs typeface="Arial"/>
                <a:sym typeface="Arial"/>
              </a:rPr>
            </a:br>
            <a:endParaRPr sz="2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Arial"/>
              <a:buNone/>
            </a:pPr>
            <a:r>
              <a:rPr lang="en-US" sz="2400" b="0" i="0" u="none" strike="noStrike" cap="none">
                <a:solidFill>
                  <a:schemeClr val="dk1"/>
                </a:solidFill>
                <a:latin typeface="Arial"/>
                <a:ea typeface="Arial"/>
                <a:cs typeface="Arial"/>
                <a:sym typeface="Arial"/>
              </a:rPr>
              <a:t/>
            </a:r>
            <a:br>
              <a:rPr lang="en-US" sz="2400" b="0" i="0" u="none" strike="noStrike" cap="none">
                <a:solidFill>
                  <a:schemeClr val="dk1"/>
                </a:solidFill>
                <a:latin typeface="Arial"/>
                <a:ea typeface="Arial"/>
                <a:cs typeface="Arial"/>
                <a:sym typeface="Arial"/>
              </a:rPr>
            </a:br>
            <a:endParaRPr sz="2400" b="0" i="0" u="none" strike="noStrike" cap="none">
              <a:solidFill>
                <a:schemeClr val="dk1"/>
              </a:solidFill>
              <a:latin typeface="Arial"/>
              <a:ea typeface="Arial"/>
              <a:cs typeface="Arial"/>
              <a:sym typeface="Arial"/>
            </a:endParaRPr>
          </a:p>
        </p:txBody>
      </p:sp>
      <p:sp>
        <p:nvSpPr>
          <p:cNvPr id="1047" name="Google Shape;1047;p100"/>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106</a:t>
            </a:fld>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1051"/>
        <p:cNvGrpSpPr/>
        <p:nvPr/>
      </p:nvGrpSpPr>
      <p:grpSpPr>
        <a:xfrm>
          <a:off x="0" y="0"/>
          <a:ext cx="0" cy="0"/>
          <a:chOff x="0" y="0"/>
          <a:chExt cx="0" cy="0"/>
        </a:xfrm>
      </p:grpSpPr>
      <p:sp>
        <p:nvSpPr>
          <p:cNvPr id="1052" name="Google Shape;1052;p101"/>
          <p:cNvSpPr txBox="1"/>
          <p:nvPr/>
        </p:nvSpPr>
        <p:spPr>
          <a:xfrm>
            <a:off x="1905000" y="1524000"/>
            <a:ext cx="7467600" cy="13234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a:solidFill>
                  <a:schemeClr val="dk1"/>
                </a:solidFill>
                <a:latin typeface="Calibri"/>
                <a:ea typeface="Calibri"/>
                <a:cs typeface="Calibri"/>
                <a:sym typeface="Calibri"/>
              </a:rPr>
              <a:t>Extra reading material :</a:t>
            </a:r>
            <a:endParaRPr/>
          </a:p>
          <a:p>
            <a:pPr marL="0" marR="0" lvl="0" indent="0" algn="l" rtl="0">
              <a:spcBef>
                <a:spcPts val="0"/>
              </a:spcBef>
              <a:spcAft>
                <a:spcPts val="0"/>
              </a:spcAft>
              <a:buNone/>
            </a:pPr>
            <a:r>
              <a:rPr lang="en-US" sz="4000">
                <a:solidFill>
                  <a:schemeClr val="dk1"/>
                </a:solidFill>
                <a:latin typeface="Calibri"/>
                <a:ea typeface="Calibri"/>
                <a:cs typeface="Calibri"/>
                <a:sym typeface="Calibri"/>
              </a:rPr>
              <a:t>PPT on HMM</a:t>
            </a:r>
            <a:endParaRPr/>
          </a:p>
        </p:txBody>
      </p:sp>
      <p:sp>
        <p:nvSpPr>
          <p:cNvPr id="1053" name="Google Shape;1053;p101"/>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107</a:t>
            </a:fld>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1057"/>
        <p:cNvGrpSpPr/>
        <p:nvPr/>
      </p:nvGrpSpPr>
      <p:grpSpPr>
        <a:xfrm>
          <a:off x="0" y="0"/>
          <a:ext cx="0" cy="0"/>
          <a:chOff x="0" y="0"/>
          <a:chExt cx="0" cy="0"/>
        </a:xfrm>
      </p:grpSpPr>
      <p:sp>
        <p:nvSpPr>
          <p:cNvPr id="1058" name="Google Shape;1058;p102"/>
          <p:cNvSpPr txBox="1"/>
          <p:nvPr/>
        </p:nvSpPr>
        <p:spPr>
          <a:xfrm>
            <a:off x="381000" y="533400"/>
            <a:ext cx="9296400" cy="13234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a:solidFill>
                  <a:schemeClr val="dk1"/>
                </a:solidFill>
                <a:latin typeface="Times New Roman"/>
                <a:ea typeface="Times New Roman"/>
                <a:cs typeface="Times New Roman"/>
                <a:sym typeface="Times New Roman"/>
              </a:rPr>
              <a:t>TreeBank:  A data driven approach to Syntax</a:t>
            </a:r>
            <a:endParaRPr/>
          </a:p>
        </p:txBody>
      </p:sp>
      <p:sp>
        <p:nvSpPr>
          <p:cNvPr id="1059" name="Google Shape;1059;p102"/>
          <p:cNvSpPr txBox="1"/>
          <p:nvPr/>
        </p:nvSpPr>
        <p:spPr>
          <a:xfrm>
            <a:off x="152400" y="2140089"/>
            <a:ext cx="9067800" cy="563231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3600">
                <a:solidFill>
                  <a:schemeClr val="dk1"/>
                </a:solidFill>
                <a:latin typeface="Times New Roman"/>
                <a:ea typeface="Times New Roman"/>
                <a:cs typeface="Times New Roman"/>
                <a:sym typeface="Times New Roman"/>
              </a:rPr>
              <a:t>What is the meaning of treebank?</a:t>
            </a:r>
            <a:endParaRPr/>
          </a:p>
          <a:p>
            <a:pPr marL="0" marR="0" lvl="0" indent="0" algn="just" rtl="0">
              <a:spcBef>
                <a:spcPts val="0"/>
              </a:spcBef>
              <a:spcAft>
                <a:spcPts val="0"/>
              </a:spcAft>
              <a:buNone/>
            </a:pPr>
            <a:r>
              <a:rPr lang="en-US" sz="3600">
                <a:solidFill>
                  <a:schemeClr val="dk1"/>
                </a:solidFill>
                <a:latin typeface="Times New Roman"/>
                <a:ea typeface="Times New Roman"/>
                <a:cs typeface="Times New Roman"/>
                <a:sym typeface="Times New Roman"/>
              </a:rPr>
              <a:t>treebank (plural treebanks) </a:t>
            </a:r>
            <a:r>
              <a:rPr lang="en-US" sz="3600" b="1">
                <a:solidFill>
                  <a:schemeClr val="dk1"/>
                </a:solidFill>
                <a:latin typeface="Times New Roman"/>
                <a:ea typeface="Times New Roman"/>
                <a:cs typeface="Times New Roman"/>
                <a:sym typeface="Times New Roman"/>
              </a:rPr>
              <a:t>A database of sentences which are annotated with syntactic information, often in the form of a tree</a:t>
            </a:r>
            <a:r>
              <a:rPr lang="en-US" sz="3600">
                <a:solidFill>
                  <a:schemeClr val="dk1"/>
                </a:solidFill>
                <a:latin typeface="Times New Roman"/>
                <a:ea typeface="Times New Roman"/>
                <a:cs typeface="Times New Roman"/>
                <a:sym typeface="Times New Roman"/>
              </a:rPr>
              <a:t>.</a:t>
            </a:r>
            <a:endParaRPr/>
          </a:p>
          <a:p>
            <a:pPr marL="0" marR="0" lvl="0" indent="0" algn="just" rtl="0">
              <a:spcBef>
                <a:spcPts val="0"/>
              </a:spcBef>
              <a:spcAft>
                <a:spcPts val="0"/>
              </a:spcAft>
              <a:buNone/>
            </a:pPr>
            <a:endParaRPr sz="360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3600">
                <a:solidFill>
                  <a:schemeClr val="dk1"/>
                </a:solidFill>
                <a:latin typeface="Calibri"/>
                <a:ea typeface="Calibri"/>
                <a:cs typeface="Calibri"/>
                <a:sym typeface="Calibri"/>
              </a:rPr>
              <a:t>A treebank can be defined as a linguistically annotated corpus that includes some grammatical analysis beyond the part-of-speech level</a:t>
            </a:r>
            <a:endParaRPr sz="360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3600">
              <a:solidFill>
                <a:schemeClr val="dk1"/>
              </a:solidFill>
              <a:latin typeface="Times New Roman"/>
              <a:ea typeface="Times New Roman"/>
              <a:cs typeface="Times New Roman"/>
              <a:sym typeface="Times New Roman"/>
            </a:endParaRPr>
          </a:p>
        </p:txBody>
      </p:sp>
      <p:sp>
        <p:nvSpPr>
          <p:cNvPr id="1060" name="Google Shape;1060;p102"/>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108</a:t>
            </a:fld>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1064"/>
        <p:cNvGrpSpPr/>
        <p:nvPr/>
      </p:nvGrpSpPr>
      <p:grpSpPr>
        <a:xfrm>
          <a:off x="0" y="0"/>
          <a:ext cx="0" cy="0"/>
          <a:chOff x="0" y="0"/>
          <a:chExt cx="0" cy="0"/>
        </a:xfrm>
      </p:grpSpPr>
      <p:sp>
        <p:nvSpPr>
          <p:cNvPr id="1065" name="Google Shape;1065;p103"/>
          <p:cNvSpPr/>
          <p:nvPr/>
        </p:nvSpPr>
        <p:spPr>
          <a:xfrm>
            <a:off x="0" y="1752600"/>
            <a:ext cx="9601200" cy="304698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3200">
                <a:solidFill>
                  <a:srgbClr val="202124"/>
                </a:solidFill>
                <a:latin typeface="Times New Roman"/>
                <a:ea typeface="Times New Roman"/>
                <a:cs typeface="Times New Roman"/>
                <a:sym typeface="Times New Roman"/>
              </a:rPr>
              <a:t>What is treebank dataset?</a:t>
            </a:r>
            <a:endParaRPr/>
          </a:p>
          <a:p>
            <a:pPr marL="0" marR="0" lvl="0" indent="0" algn="just" rtl="0">
              <a:spcBef>
                <a:spcPts val="0"/>
              </a:spcBef>
              <a:spcAft>
                <a:spcPts val="0"/>
              </a:spcAft>
              <a:buNone/>
            </a:pPr>
            <a:endParaRPr sz="3200">
              <a:solidFill>
                <a:srgbClr val="202124"/>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3200">
                <a:solidFill>
                  <a:srgbClr val="202124"/>
                </a:solidFill>
                <a:latin typeface="Times New Roman"/>
                <a:ea typeface="Times New Roman"/>
                <a:cs typeface="Times New Roman"/>
                <a:sym typeface="Times New Roman"/>
              </a:rPr>
              <a:t>English Web Treebank is a dataset containing 254,830 word-level tokens and 16,624 sentence-level tokens of webtext in 1174 files annotated for sentence- and word-level tokenization, part-of-speech, and syntactic structure</a:t>
            </a:r>
            <a:endParaRPr sz="3200" b="0" i="0">
              <a:solidFill>
                <a:srgbClr val="202124"/>
              </a:solidFill>
              <a:latin typeface="Times New Roman"/>
              <a:ea typeface="Times New Roman"/>
              <a:cs typeface="Times New Roman"/>
              <a:sym typeface="Times New Roman"/>
            </a:endParaRPr>
          </a:p>
        </p:txBody>
      </p:sp>
      <p:sp>
        <p:nvSpPr>
          <p:cNvPr id="1066" name="Google Shape;1066;p103"/>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109</a:t>
            </a:fld>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1070"/>
        <p:cNvGrpSpPr/>
        <p:nvPr/>
      </p:nvGrpSpPr>
      <p:grpSpPr>
        <a:xfrm>
          <a:off x="0" y="0"/>
          <a:ext cx="0" cy="0"/>
          <a:chOff x="0" y="0"/>
          <a:chExt cx="0" cy="0"/>
        </a:xfrm>
      </p:grpSpPr>
      <p:sp>
        <p:nvSpPr>
          <p:cNvPr id="1071" name="Google Shape;1071;p104"/>
          <p:cNvSpPr txBox="1"/>
          <p:nvPr/>
        </p:nvSpPr>
        <p:spPr>
          <a:xfrm>
            <a:off x="533400" y="1143000"/>
            <a:ext cx="8839200" cy="255454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3200">
                <a:solidFill>
                  <a:schemeClr val="dk1"/>
                </a:solidFill>
                <a:latin typeface="Times New Roman"/>
                <a:ea typeface="Times New Roman"/>
                <a:cs typeface="Times New Roman"/>
                <a:sym typeface="Times New Roman"/>
              </a:rPr>
              <a:t>SUSANNE Corpus (Sampson 1995), where each token is represented by one line, with part-of-speech (including morphosyntactic features) in the first column, the actual token in the second column, and the lemma in the third column</a:t>
            </a:r>
            <a:endParaRPr sz="3200">
              <a:solidFill>
                <a:schemeClr val="dk1"/>
              </a:solidFill>
              <a:latin typeface="Times New Roman"/>
              <a:ea typeface="Times New Roman"/>
              <a:cs typeface="Times New Roman"/>
              <a:sym typeface="Times New Roman"/>
            </a:endParaRPr>
          </a:p>
        </p:txBody>
      </p:sp>
      <p:sp>
        <p:nvSpPr>
          <p:cNvPr id="1072" name="Google Shape;1072;p104"/>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110</a:t>
            </a:fld>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1076"/>
        <p:cNvGrpSpPr/>
        <p:nvPr/>
      </p:nvGrpSpPr>
      <p:grpSpPr>
        <a:xfrm>
          <a:off x="0" y="0"/>
          <a:ext cx="0" cy="0"/>
          <a:chOff x="0" y="0"/>
          <a:chExt cx="0" cy="0"/>
        </a:xfrm>
      </p:grpSpPr>
      <p:pic>
        <p:nvPicPr>
          <p:cNvPr id="1077" name="Google Shape;1077;p105"/>
          <p:cNvPicPr preferRelativeResize="0"/>
          <p:nvPr/>
        </p:nvPicPr>
        <p:blipFill rotWithShape="1">
          <a:blip r:embed="rId3">
            <a:alphaModFix/>
          </a:blip>
          <a:srcRect/>
          <a:stretch/>
        </p:blipFill>
        <p:spPr>
          <a:xfrm>
            <a:off x="685800" y="0"/>
            <a:ext cx="8153399" cy="7772400"/>
          </a:xfrm>
          <a:prstGeom prst="rect">
            <a:avLst/>
          </a:prstGeom>
          <a:noFill/>
          <a:ln>
            <a:noFill/>
          </a:ln>
        </p:spPr>
      </p:pic>
      <p:sp>
        <p:nvSpPr>
          <p:cNvPr id="1078" name="Google Shape;1078;p105"/>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111</a:t>
            </a:fld>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1082"/>
        <p:cNvGrpSpPr/>
        <p:nvPr/>
      </p:nvGrpSpPr>
      <p:grpSpPr>
        <a:xfrm>
          <a:off x="0" y="0"/>
          <a:ext cx="0" cy="0"/>
          <a:chOff x="0" y="0"/>
          <a:chExt cx="0" cy="0"/>
        </a:xfrm>
      </p:grpSpPr>
      <p:sp>
        <p:nvSpPr>
          <p:cNvPr id="1083" name="Google Shape;1083;p106"/>
          <p:cNvSpPr txBox="1"/>
          <p:nvPr/>
        </p:nvSpPr>
        <p:spPr>
          <a:xfrm>
            <a:off x="152400" y="457200"/>
            <a:ext cx="9372600" cy="618630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3600" b="1">
                <a:solidFill>
                  <a:schemeClr val="dk1"/>
                </a:solidFill>
                <a:latin typeface="Times New Roman"/>
                <a:ea typeface="Times New Roman"/>
                <a:cs typeface="Times New Roman"/>
                <a:sym typeface="Times New Roman"/>
              </a:rPr>
              <a:t>Treebank development </a:t>
            </a:r>
            <a:endParaRPr/>
          </a:p>
          <a:p>
            <a:pPr marL="0" marR="0" lvl="0" indent="0" algn="just" rtl="0">
              <a:spcBef>
                <a:spcPts val="0"/>
              </a:spcBef>
              <a:spcAft>
                <a:spcPts val="0"/>
              </a:spcAft>
              <a:buNone/>
            </a:pPr>
            <a:endParaRPr sz="360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360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3600">
                <a:solidFill>
                  <a:schemeClr val="dk1"/>
                </a:solidFill>
                <a:latin typeface="Times New Roman"/>
                <a:ea typeface="Times New Roman"/>
                <a:cs typeface="Times New Roman"/>
                <a:sym typeface="Times New Roman"/>
              </a:rPr>
              <a:t>The methods and tools for treebank development have evolved considerably from the very first treebank projects, where all annotation was done manually, to the present-day situation, which is characterized by a more or less elaborate combination of manual work and automatic processing, supported by emerging standards and customized software tools</a:t>
            </a:r>
            <a:endParaRPr sz="3600">
              <a:solidFill>
                <a:schemeClr val="dk1"/>
              </a:solidFill>
              <a:latin typeface="Times New Roman"/>
              <a:ea typeface="Times New Roman"/>
              <a:cs typeface="Times New Roman"/>
              <a:sym typeface="Times New Roman"/>
            </a:endParaRPr>
          </a:p>
        </p:txBody>
      </p:sp>
      <p:sp>
        <p:nvSpPr>
          <p:cNvPr id="1084" name="Google Shape;1084;p106"/>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112</a:t>
            </a:fld>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1088"/>
        <p:cNvGrpSpPr/>
        <p:nvPr/>
      </p:nvGrpSpPr>
      <p:grpSpPr>
        <a:xfrm>
          <a:off x="0" y="0"/>
          <a:ext cx="0" cy="0"/>
          <a:chOff x="0" y="0"/>
          <a:chExt cx="0" cy="0"/>
        </a:xfrm>
      </p:grpSpPr>
      <p:sp>
        <p:nvSpPr>
          <p:cNvPr id="1089" name="Google Shape;1089;p107"/>
          <p:cNvSpPr txBox="1"/>
          <p:nvPr/>
        </p:nvSpPr>
        <p:spPr>
          <a:xfrm>
            <a:off x="228600" y="152400"/>
            <a:ext cx="9601200" cy="501675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3200" b="1">
                <a:solidFill>
                  <a:schemeClr val="dk1"/>
                </a:solidFill>
                <a:latin typeface="Times New Roman"/>
                <a:ea typeface="Times New Roman"/>
                <a:cs typeface="Times New Roman"/>
                <a:sym typeface="Times New Roman"/>
              </a:rPr>
              <a:t>Tools and Standards </a:t>
            </a:r>
            <a:endParaRPr/>
          </a:p>
          <a:p>
            <a:pPr marL="0" marR="0" lvl="0" indent="0" algn="just" rtl="0">
              <a:spcBef>
                <a:spcPts val="0"/>
              </a:spcBef>
              <a:spcAft>
                <a:spcPts val="0"/>
              </a:spcAft>
              <a:buNone/>
            </a:pPr>
            <a:endParaRPr sz="3200" b="1">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3200">
                <a:solidFill>
                  <a:schemeClr val="dk1"/>
                </a:solidFill>
                <a:latin typeface="Times New Roman"/>
                <a:ea typeface="Times New Roman"/>
                <a:cs typeface="Times New Roman"/>
                <a:sym typeface="Times New Roman"/>
              </a:rPr>
              <a:t>Many of the software tools that are used in treebank development are tools that are needed in the development of any annotated corpus, such as </a:t>
            </a:r>
            <a:r>
              <a:rPr lang="en-US" sz="3200">
                <a:solidFill>
                  <a:schemeClr val="dk2"/>
                </a:solidFill>
                <a:latin typeface="Times New Roman"/>
                <a:ea typeface="Times New Roman"/>
                <a:cs typeface="Times New Roman"/>
                <a:sym typeface="Times New Roman"/>
              </a:rPr>
              <a:t>tokenizers and part-of speech tagger</a:t>
            </a:r>
            <a:r>
              <a:rPr lang="en-US" sz="3200">
                <a:solidFill>
                  <a:schemeClr val="dk1"/>
                </a:solidFill>
                <a:latin typeface="Times New Roman"/>
                <a:ea typeface="Times New Roman"/>
                <a:cs typeface="Times New Roman"/>
                <a:sym typeface="Times New Roman"/>
              </a:rPr>
              <a:t>s. </a:t>
            </a:r>
            <a:endParaRPr/>
          </a:p>
          <a:p>
            <a:pPr marL="0" marR="0" lvl="0" indent="0" algn="just" rtl="0">
              <a:spcBef>
                <a:spcPts val="0"/>
              </a:spcBef>
              <a:spcAft>
                <a:spcPts val="0"/>
              </a:spcAft>
              <a:buNone/>
            </a:pPr>
            <a:endParaRPr sz="320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3200">
                <a:solidFill>
                  <a:schemeClr val="dk1"/>
                </a:solidFill>
                <a:latin typeface="Times New Roman"/>
                <a:ea typeface="Times New Roman"/>
                <a:cs typeface="Times New Roman"/>
                <a:sym typeface="Times New Roman"/>
              </a:rPr>
              <a:t>Tools that are specific to treebank development are primarily tools for </a:t>
            </a:r>
            <a:r>
              <a:rPr lang="en-US" sz="3200">
                <a:solidFill>
                  <a:schemeClr val="dk2"/>
                </a:solidFill>
                <a:latin typeface="Times New Roman"/>
                <a:ea typeface="Times New Roman"/>
                <a:cs typeface="Times New Roman"/>
                <a:sym typeface="Times New Roman"/>
              </a:rPr>
              <a:t>syntactic preprocessing </a:t>
            </a:r>
            <a:r>
              <a:rPr lang="en-US" sz="3200">
                <a:solidFill>
                  <a:schemeClr val="dk1"/>
                </a:solidFill>
                <a:latin typeface="Times New Roman"/>
                <a:ea typeface="Times New Roman"/>
                <a:cs typeface="Times New Roman"/>
                <a:sym typeface="Times New Roman"/>
              </a:rPr>
              <a:t>and </a:t>
            </a:r>
            <a:r>
              <a:rPr lang="en-US" sz="3200">
                <a:solidFill>
                  <a:schemeClr val="dk2"/>
                </a:solidFill>
                <a:latin typeface="Times New Roman"/>
                <a:ea typeface="Times New Roman"/>
                <a:cs typeface="Times New Roman"/>
                <a:sym typeface="Times New Roman"/>
              </a:rPr>
              <a:t>specialized annotation tools</a:t>
            </a:r>
            <a:r>
              <a:rPr lang="en-US" sz="3200">
                <a:solidFill>
                  <a:schemeClr val="dk1"/>
                </a:solidFill>
                <a:latin typeface="Times New Roman"/>
                <a:ea typeface="Times New Roman"/>
                <a:cs typeface="Times New Roman"/>
                <a:sym typeface="Times New Roman"/>
              </a:rPr>
              <a:t>. </a:t>
            </a:r>
            <a:endParaRPr sz="3200">
              <a:solidFill>
                <a:schemeClr val="dk1"/>
              </a:solidFill>
              <a:latin typeface="Times New Roman"/>
              <a:ea typeface="Times New Roman"/>
              <a:cs typeface="Times New Roman"/>
              <a:sym typeface="Times New Roman"/>
            </a:endParaRPr>
          </a:p>
        </p:txBody>
      </p:sp>
      <p:sp>
        <p:nvSpPr>
          <p:cNvPr id="1090" name="Google Shape;1090;p107"/>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113</a:t>
            </a:fld>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1094"/>
        <p:cNvGrpSpPr/>
        <p:nvPr/>
      </p:nvGrpSpPr>
      <p:grpSpPr>
        <a:xfrm>
          <a:off x="0" y="0"/>
          <a:ext cx="0" cy="0"/>
          <a:chOff x="0" y="0"/>
          <a:chExt cx="0" cy="0"/>
        </a:xfrm>
      </p:grpSpPr>
      <p:sp>
        <p:nvSpPr>
          <p:cNvPr id="1095" name="Google Shape;1095;p108"/>
          <p:cNvSpPr txBox="1"/>
          <p:nvPr/>
        </p:nvSpPr>
        <p:spPr>
          <a:xfrm>
            <a:off x="457200" y="885378"/>
            <a:ext cx="9144000" cy="501675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3200">
                <a:solidFill>
                  <a:schemeClr val="dk1"/>
                </a:solidFill>
                <a:latin typeface="Times New Roman"/>
                <a:ea typeface="Times New Roman"/>
                <a:cs typeface="Times New Roman"/>
                <a:sym typeface="Times New Roman"/>
              </a:rPr>
              <a:t>Well-known examples of </a:t>
            </a:r>
            <a:r>
              <a:rPr lang="en-US" sz="3200">
                <a:solidFill>
                  <a:schemeClr val="dk2"/>
                </a:solidFill>
                <a:latin typeface="Times New Roman"/>
                <a:ea typeface="Times New Roman"/>
                <a:cs typeface="Times New Roman"/>
                <a:sym typeface="Times New Roman"/>
              </a:rPr>
              <a:t>syntactic parsers </a:t>
            </a:r>
            <a:r>
              <a:rPr lang="en-US" sz="3200">
                <a:solidFill>
                  <a:schemeClr val="dk1"/>
                </a:solidFill>
                <a:latin typeface="Times New Roman"/>
                <a:ea typeface="Times New Roman"/>
                <a:cs typeface="Times New Roman"/>
                <a:sym typeface="Times New Roman"/>
              </a:rPr>
              <a:t>used in treebank development are the deterministic Fidditch parser (Hindle 1994), used in the development of the Penn Treebank, and the </a:t>
            </a:r>
            <a:r>
              <a:rPr lang="en-US" sz="3200">
                <a:solidFill>
                  <a:schemeClr val="dk2"/>
                </a:solidFill>
                <a:latin typeface="Times New Roman"/>
                <a:ea typeface="Times New Roman"/>
                <a:cs typeface="Times New Roman"/>
                <a:sym typeface="Times New Roman"/>
              </a:rPr>
              <a:t>statistical parser </a:t>
            </a:r>
            <a:r>
              <a:rPr lang="en-US" sz="3200">
                <a:solidFill>
                  <a:schemeClr val="dk1"/>
                </a:solidFill>
                <a:latin typeface="Times New Roman"/>
                <a:ea typeface="Times New Roman"/>
                <a:cs typeface="Times New Roman"/>
                <a:sym typeface="Times New Roman"/>
              </a:rPr>
              <a:t>of Collins et al. (1999), used for the Prague Dependency Treebank.</a:t>
            </a:r>
            <a:endParaRPr/>
          </a:p>
          <a:p>
            <a:pPr marL="0" marR="0" lvl="0" indent="0" algn="just" rtl="0">
              <a:spcBef>
                <a:spcPts val="0"/>
              </a:spcBef>
              <a:spcAft>
                <a:spcPts val="0"/>
              </a:spcAft>
              <a:buNone/>
            </a:pPr>
            <a:endParaRPr sz="320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320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3200">
                <a:solidFill>
                  <a:schemeClr val="dk1"/>
                </a:solidFill>
                <a:latin typeface="Times New Roman"/>
                <a:ea typeface="Times New Roman"/>
                <a:cs typeface="Times New Roman"/>
                <a:sym typeface="Times New Roman"/>
              </a:rPr>
              <a:t>It is also common to use </a:t>
            </a:r>
            <a:r>
              <a:rPr lang="en-US" sz="3200">
                <a:solidFill>
                  <a:schemeClr val="dk2"/>
                </a:solidFill>
                <a:latin typeface="Times New Roman"/>
                <a:ea typeface="Times New Roman"/>
                <a:cs typeface="Times New Roman"/>
                <a:sym typeface="Times New Roman"/>
              </a:rPr>
              <a:t>partial parsers (or chunkers) </a:t>
            </a:r>
            <a:r>
              <a:rPr lang="en-US" sz="3200">
                <a:solidFill>
                  <a:schemeClr val="dk1"/>
                </a:solidFill>
                <a:latin typeface="Times New Roman"/>
                <a:ea typeface="Times New Roman"/>
                <a:cs typeface="Times New Roman"/>
                <a:sym typeface="Times New Roman"/>
              </a:rPr>
              <a:t>for syntactic preprocessing, since partial parsing can be performed with higher accuracy than full parsing</a:t>
            </a:r>
            <a:endParaRPr sz="3200">
              <a:solidFill>
                <a:schemeClr val="dk1"/>
              </a:solidFill>
              <a:latin typeface="Calibri"/>
              <a:ea typeface="Calibri"/>
              <a:cs typeface="Calibri"/>
              <a:sym typeface="Calibri"/>
            </a:endParaRPr>
          </a:p>
        </p:txBody>
      </p:sp>
      <p:sp>
        <p:nvSpPr>
          <p:cNvPr id="1096" name="Google Shape;1096;p108"/>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114</a:t>
            </a:fld>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1100"/>
        <p:cNvGrpSpPr/>
        <p:nvPr/>
      </p:nvGrpSpPr>
      <p:grpSpPr>
        <a:xfrm>
          <a:off x="0" y="0"/>
          <a:ext cx="0" cy="0"/>
          <a:chOff x="0" y="0"/>
          <a:chExt cx="0" cy="0"/>
        </a:xfrm>
      </p:grpSpPr>
      <p:sp>
        <p:nvSpPr>
          <p:cNvPr id="1101" name="Google Shape;1101;p109"/>
          <p:cNvSpPr txBox="1"/>
          <p:nvPr/>
        </p:nvSpPr>
        <p:spPr>
          <a:xfrm>
            <a:off x="533400" y="457200"/>
            <a:ext cx="7772400"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a:solidFill>
                  <a:schemeClr val="dk1"/>
                </a:solidFill>
                <a:latin typeface="Calibri"/>
                <a:ea typeface="Calibri"/>
                <a:cs typeface="Calibri"/>
                <a:sym typeface="Calibri"/>
              </a:rPr>
              <a:t>References</a:t>
            </a:r>
            <a:endParaRPr/>
          </a:p>
        </p:txBody>
      </p:sp>
      <p:sp>
        <p:nvSpPr>
          <p:cNvPr id="1102" name="Google Shape;1102;p109"/>
          <p:cNvSpPr txBox="1"/>
          <p:nvPr/>
        </p:nvSpPr>
        <p:spPr>
          <a:xfrm>
            <a:off x="762000" y="1905000"/>
            <a:ext cx="85344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https://www.ibm.com/in-en/topics/natural-language-processing</a:t>
            </a:r>
            <a:endParaRPr/>
          </a:p>
        </p:txBody>
      </p:sp>
      <p:sp>
        <p:nvSpPr>
          <p:cNvPr id="1103" name="Google Shape;1103;p109"/>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115</a:t>
            </a:fld>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1107"/>
        <p:cNvGrpSpPr/>
        <p:nvPr/>
      </p:nvGrpSpPr>
      <p:grpSpPr>
        <a:xfrm>
          <a:off x="0" y="0"/>
          <a:ext cx="0" cy="0"/>
          <a:chOff x="0" y="0"/>
          <a:chExt cx="0" cy="0"/>
        </a:xfrm>
      </p:grpSpPr>
      <p:sp>
        <p:nvSpPr>
          <p:cNvPr id="1108" name="Google Shape;1108;p110"/>
          <p:cNvSpPr txBox="1"/>
          <p:nvPr/>
        </p:nvSpPr>
        <p:spPr>
          <a:xfrm>
            <a:off x="1295400" y="1066800"/>
            <a:ext cx="83058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END OF UNIT 2</a:t>
            </a:r>
            <a:endParaRPr/>
          </a:p>
        </p:txBody>
      </p:sp>
      <p:sp>
        <p:nvSpPr>
          <p:cNvPr id="1109" name="Google Shape;1109;p110"/>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116</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8716</TotalTime>
  <Words>6096</Words>
  <Application>Microsoft Office PowerPoint</Application>
  <PresentationFormat>Custom</PresentationFormat>
  <Paragraphs>1069</Paragraphs>
  <Slides>116</Slides>
  <Notes>114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116</vt:i4>
      </vt:variant>
    </vt:vector>
  </HeadingPairs>
  <TitlesOfParts>
    <vt:vector size="123" baseType="lpstr">
      <vt:lpstr>Nunito</vt:lpstr>
      <vt:lpstr>Calibri</vt:lpstr>
      <vt:lpstr>Cambria Math</vt:lpstr>
      <vt:lpstr>Roboto</vt:lpstr>
      <vt:lpstr>Arial</vt:lpstr>
      <vt:lpstr>Times New Roman</vt:lpstr>
      <vt:lpstr>Office Theme</vt:lpstr>
      <vt:lpstr>Unit 2</vt:lpstr>
      <vt:lpstr>PowerPoint Presentation</vt:lpstr>
      <vt:lpstr>Natural Language Processing (contd) </vt:lpstr>
      <vt:lpstr>PowerPoint Presentation</vt:lpstr>
      <vt:lpstr> </vt:lpstr>
      <vt:lpstr>2) Statistical NLP, machine learning, and deep learning </vt:lpstr>
      <vt:lpstr>NLP</vt:lpstr>
      <vt:lpstr>PowerPoint Presentation</vt:lpstr>
      <vt:lpstr>PowerPoint Presentation</vt:lpstr>
      <vt:lpstr>PowerPoint Presentation</vt:lpstr>
      <vt:lpstr>PowerPoint Presentation</vt:lpstr>
      <vt:lpstr>PowerPoint Presentation</vt:lpstr>
      <vt:lpstr>PowerPoint Presentation</vt:lpstr>
      <vt:lpstr>Lexical Analysis</vt:lpstr>
      <vt:lpstr>Regular Expression (RE)</vt:lpstr>
      <vt:lpstr>Searching using RE</vt:lpstr>
      <vt:lpstr>RE – NFA - DFA</vt:lpstr>
      <vt:lpstr>RE to NFA</vt:lpstr>
      <vt:lpstr>For (a/b)*</vt:lpstr>
      <vt:lpstr>ababb</vt:lpstr>
      <vt:lpstr>NFA to DFA</vt:lpstr>
      <vt:lpstr>PowerPoint Presentation</vt:lpstr>
      <vt:lpstr>PowerPoint Presentation</vt:lpstr>
      <vt:lpstr>Pattern recognition using Nondeterministic FSA (NFSA)</vt:lpstr>
      <vt:lpstr>Morphological Analysis / Parsing</vt:lpstr>
      <vt:lpstr>PowerPoint Presentation</vt:lpstr>
      <vt:lpstr>Morphemes</vt:lpstr>
      <vt:lpstr>Methods / Approaches to combine morphemes to from words</vt:lpstr>
      <vt:lpstr>Inflectional Morphology</vt:lpstr>
      <vt:lpstr>Verbs</vt:lpstr>
      <vt:lpstr>Derivational Morphology</vt:lpstr>
      <vt:lpstr>Cliticization</vt:lpstr>
      <vt:lpstr>Finite state morphological analysis / parsing</vt:lpstr>
      <vt:lpstr>How to build a Morphological parser?</vt:lpstr>
      <vt:lpstr>Exercise</vt:lpstr>
      <vt:lpstr>PowerPoint Presentation</vt:lpstr>
      <vt:lpstr>Construction of a Finite-State lexicon</vt:lpstr>
      <vt:lpstr>PowerPoint Presentation</vt:lpstr>
      <vt:lpstr>English verbal Inflection</vt:lpstr>
      <vt:lpstr>Derivational Morphology</vt:lpstr>
      <vt:lpstr>Exercise</vt:lpstr>
      <vt:lpstr>PowerPoint Presentation</vt:lpstr>
      <vt:lpstr>Finite State Transducer (FST)</vt:lpstr>
      <vt:lpstr>FST representation</vt:lpstr>
      <vt:lpstr>FST - for morphological parsing</vt:lpstr>
      <vt:lpstr>Morphological noun parser ^ - indicates a morpheme boundary  # - indicates a word boundary</vt:lpstr>
      <vt:lpstr>PowerPoint Presentation</vt:lpstr>
      <vt:lpstr>Transducers and Orthographic rules</vt:lpstr>
      <vt:lpstr>Part of Speech Tagging</vt:lpstr>
      <vt:lpstr>PowerPoint Presentation</vt:lpstr>
      <vt:lpstr>PowerPoint Presentation</vt:lpstr>
      <vt:lpstr>PowerPoint Presentation</vt:lpstr>
      <vt:lpstr>Closed classes in English</vt:lpstr>
      <vt:lpstr>Tagsets for English</vt:lpstr>
      <vt:lpstr>Small 45-tag Penn Treebank Tagset</vt:lpstr>
      <vt:lpstr>Ex. The grand jury commented on a number of topics.</vt:lpstr>
      <vt:lpstr>Exercise A part-of-speech tagger is a piece of software that reads text in some  language and decides category.</vt:lpstr>
      <vt:lpstr>PowerPoint Presentation</vt:lpstr>
      <vt:lpstr>Algorithms for POS tagging</vt:lpstr>
      <vt:lpstr>PowerPoint Presentation</vt:lpstr>
      <vt:lpstr>PowerPoint Presentation</vt:lpstr>
      <vt:lpstr>NER </vt:lpstr>
      <vt:lpstr>Example of NER</vt:lpstr>
      <vt:lpstr>HMM </vt:lpstr>
      <vt:lpstr>HMM </vt:lpstr>
      <vt:lpstr>HMM </vt:lpstr>
      <vt:lpstr>HMM Example</vt:lpstr>
      <vt:lpstr>PowerPoint Presentation</vt:lpstr>
      <vt:lpstr>PowerPoint Presentation</vt:lpstr>
      <vt:lpstr>PowerPoint Presentation</vt:lpstr>
      <vt:lpstr> Hidden Markov Model’s advantages and disadvantages for NLP? </vt:lpstr>
      <vt:lpstr> The Hidden Markov Model’s Applications in NLP?</vt:lpstr>
      <vt:lpstr>Research at IITB</vt:lpstr>
      <vt:lpstr>PowerPoint Presentation</vt:lpstr>
      <vt:lpstr>Parsing / Syntax Analysis</vt:lpstr>
      <vt:lpstr>Parsing</vt:lpstr>
      <vt:lpstr>Example of CFG</vt:lpstr>
      <vt:lpstr>PowerPoint Presentation</vt:lpstr>
      <vt:lpstr>The miniature English grammar and lexicon</vt:lpstr>
      <vt:lpstr>Does American airlines serves a meal?</vt:lpstr>
      <vt:lpstr>Bottom-up parse</vt:lpstr>
      <vt:lpstr>PowerPoint Presentation</vt:lpstr>
      <vt:lpstr>PowerPoint Presentation</vt:lpstr>
      <vt:lpstr>Ambiguity</vt:lpstr>
      <vt:lpstr>Attachment ambiguity</vt:lpstr>
      <vt:lpstr>PowerPoint Presentation</vt:lpstr>
      <vt:lpstr>Attachment ambiguity</vt:lpstr>
      <vt:lpstr>PowerPoint Presentation</vt:lpstr>
      <vt:lpstr>PowerPoint Presentation</vt:lpstr>
      <vt:lpstr>PowerPoint Presentation</vt:lpstr>
      <vt:lpstr>Coordination ambiguity</vt:lpstr>
      <vt:lpstr>PowerPoint Presentation</vt:lpstr>
      <vt:lpstr>PowerPoint Presentation</vt:lpstr>
      <vt:lpstr>PowerPoint Presentation</vt:lpstr>
      <vt:lpstr>PowerPoint Presentation</vt:lpstr>
      <vt:lpstr>PowerPoint Presentation</vt:lpstr>
      <vt:lpstr>PowerPoint Presentation</vt:lpstr>
      <vt:lpstr>Partial Parsing</vt:lpstr>
      <vt:lpstr>PowerPoint Presentation</vt:lpstr>
      <vt:lpstr>PowerPoint Presentation</vt:lpstr>
      <vt:lpstr>Statistical Parsing</vt:lpstr>
      <vt:lpstr>PCFG</vt:lpstr>
      <vt:lpstr>Disambiguation with PCFGs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2</dc:title>
  <dc:creator>DELL</dc:creator>
  <cp:lastModifiedBy>User</cp:lastModifiedBy>
  <cp:revision>29</cp:revision>
  <dcterms:created xsi:type="dcterms:W3CDTF">2023-03-06T07:30:57Z</dcterms:created>
  <dcterms:modified xsi:type="dcterms:W3CDTF">2025-02-05T06:18:15Z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2023-02-21T00:00:00Z</vt:filetime>
  </property>
  <property fmtid="{D5CDD505-2E9C-101B-9397-08002B2CF9AE}" pid="3" name="Creator">
    <vt:lpwstr>Microsoft® PowerPoint® 2019</vt:lpwstr>
  </property>
  <property fmtid="{D5CDD505-2E9C-101B-9397-08002B2CF9AE}" pid="4" name="LastSaved">
    <vt:filetime>2023-03-06T00:00:00Z</vt:filetime>
  </property>
</Properties>
</file>